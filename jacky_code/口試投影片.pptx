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84" r:id="rId1"/>
  </p:sldMasterIdLst>
  <p:notesMasterIdLst>
    <p:notesMasterId r:id="rId52"/>
  </p:notesMasterIdLst>
  <p:sldIdLst>
    <p:sldId id="256" r:id="rId2"/>
    <p:sldId id="257" r:id="rId3"/>
    <p:sldId id="362" r:id="rId4"/>
    <p:sldId id="366" r:id="rId5"/>
    <p:sldId id="356" r:id="rId6"/>
    <p:sldId id="353" r:id="rId7"/>
    <p:sldId id="321" r:id="rId8"/>
    <p:sldId id="381" r:id="rId9"/>
    <p:sldId id="382" r:id="rId10"/>
    <p:sldId id="391" r:id="rId11"/>
    <p:sldId id="392" r:id="rId12"/>
    <p:sldId id="394" r:id="rId13"/>
    <p:sldId id="399" r:id="rId14"/>
    <p:sldId id="398" r:id="rId15"/>
    <p:sldId id="395" r:id="rId16"/>
    <p:sldId id="400" r:id="rId17"/>
    <p:sldId id="401" r:id="rId18"/>
    <p:sldId id="403" r:id="rId19"/>
    <p:sldId id="397" r:id="rId20"/>
    <p:sldId id="408" r:id="rId21"/>
    <p:sldId id="406" r:id="rId22"/>
    <p:sldId id="404" r:id="rId23"/>
    <p:sldId id="407" r:id="rId24"/>
    <p:sldId id="345" r:id="rId25"/>
    <p:sldId id="347" r:id="rId26"/>
    <p:sldId id="349" r:id="rId27"/>
    <p:sldId id="350" r:id="rId28"/>
    <p:sldId id="351" r:id="rId29"/>
    <p:sldId id="352" r:id="rId30"/>
    <p:sldId id="361" r:id="rId31"/>
    <p:sldId id="380" r:id="rId32"/>
    <p:sldId id="300" r:id="rId33"/>
    <p:sldId id="357" r:id="rId34"/>
    <p:sldId id="367" r:id="rId35"/>
    <p:sldId id="368" r:id="rId36"/>
    <p:sldId id="369" r:id="rId37"/>
    <p:sldId id="374" r:id="rId38"/>
    <p:sldId id="359" r:id="rId39"/>
    <p:sldId id="375" r:id="rId40"/>
    <p:sldId id="376" r:id="rId41"/>
    <p:sldId id="377" r:id="rId42"/>
    <p:sldId id="378" r:id="rId43"/>
    <p:sldId id="379" r:id="rId44"/>
    <p:sldId id="383" r:id="rId45"/>
    <p:sldId id="385" r:id="rId46"/>
    <p:sldId id="386" r:id="rId47"/>
    <p:sldId id="387" r:id="rId48"/>
    <p:sldId id="388" r:id="rId49"/>
    <p:sldId id="389" r:id="rId50"/>
    <p:sldId id="390" r:id="rId51"/>
  </p:sldIdLst>
  <p:sldSz cx="9144000" cy="5143500" type="screen16x9"/>
  <p:notesSz cx="6735763" cy="9869488"/>
  <p:embeddedFontLst>
    <p:embeddedFont>
      <p:font typeface="Anton" pitchFamily="2" charset="0"/>
      <p:regular r:id="rId53"/>
    </p:embeddedFont>
    <p:embeddedFont>
      <p:font typeface="Barlow" panose="00000500000000000000" pitchFamily="2" charset="0"/>
      <p:regular r:id="rId54"/>
      <p:bold r:id="rId55"/>
      <p:italic r:id="rId56"/>
      <p:boldItalic r:id="rId57"/>
    </p:embeddedFont>
    <p:embeddedFont>
      <p:font typeface="Barlow Light" panose="00000400000000000000" pitchFamily="2" charset="0"/>
      <p:regular r:id="rId58"/>
      <p:bold r:id="rId59"/>
      <p:italic r:id="rId60"/>
      <p:boldItalic r:id="rId61"/>
    </p:embeddedFont>
    <p:embeddedFont>
      <p:font typeface="Cambria Math" panose="02040503050406030204" pitchFamily="18" charset="0"/>
      <p:regular r:id="rId6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73">
          <p15:clr>
            <a:srgbClr val="747775"/>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CFEB"/>
    <a:srgbClr val="FAA2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352E042-E7A3-428A-9A75-C5C3A70F1591}">
  <a:tblStyle styleId="{4352E042-E7A3-428A-9A75-C5C3A70F159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佈景主題樣式 1 - 輔色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佈景主題樣式 1 - 輔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佈景主題樣式 1 - 輔色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8A107856-5554-42FB-B03E-39F5DBC370BA}" styleName="中等深淺樣式 4 - 輔色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59" autoAdjust="0"/>
    <p:restoredTop sz="77358" autoAdjust="0"/>
  </p:normalViewPr>
  <p:slideViewPr>
    <p:cSldViewPr snapToGrid="0">
      <p:cViewPr varScale="1">
        <p:scale>
          <a:sx n="109" d="100"/>
          <a:sy n="109" d="100"/>
        </p:scale>
        <p:origin x="1506" y="96"/>
      </p:cViewPr>
      <p:guideLst>
        <p:guide orient="horz" pos="573"/>
        <p:guide pos="2880"/>
      </p:guideLst>
    </p:cSldViewPr>
  </p:slid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93" d="100"/>
          <a:sy n="93" d="100"/>
        </p:scale>
        <p:origin x="4094" y="9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3.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79375" y="739775"/>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73577" y="4688007"/>
            <a:ext cx="5388610" cy="444127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gfbe00dc3b8_0_125:notes"/>
          <p:cNvSpPr>
            <a:spLocks noGrp="1" noRot="1" noChangeAspect="1"/>
          </p:cNvSpPr>
          <p:nvPr>
            <p:ph type="sldImg" idx="2"/>
          </p:nvPr>
        </p:nvSpPr>
        <p:spPr>
          <a:xfrm>
            <a:off x="77788" y="739775"/>
            <a:ext cx="6580187" cy="37020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9" name="Google Shape;1119;gfbe00dc3b8_0_125:notes"/>
          <p:cNvSpPr txBox="1">
            <a:spLocks noGrp="1"/>
          </p:cNvSpPr>
          <p:nvPr>
            <p:ph type="body" idx="1"/>
          </p:nvPr>
        </p:nvSpPr>
        <p:spPr>
          <a:xfrm>
            <a:off x="673577" y="4688007"/>
            <a:ext cx="5388610" cy="444127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各位口試委員好 </a:t>
            </a:r>
            <a:r>
              <a:rPr lang="en" dirty="0">
                <a:solidFill>
                  <a:schemeClr val="dk1"/>
                </a:solidFill>
              </a:rPr>
              <a:t>我的名字是</a:t>
            </a:r>
            <a:r>
              <a:rPr lang="zh-TW" altLang="en-US" dirty="0">
                <a:solidFill>
                  <a:schemeClr val="dk1"/>
                </a:solidFill>
              </a:rPr>
              <a:t>胡嘉祐</a:t>
            </a:r>
            <a:endParaRPr lang="en-US" altLang="zh-TW" dirty="0">
              <a:solidFill>
                <a:schemeClr val="dk1"/>
              </a:solidFill>
            </a:endParaRPr>
          </a:p>
          <a:p>
            <a:pPr marL="0" lvl="0" indent="0" algn="l" rtl="0">
              <a:spcBef>
                <a:spcPts val="0"/>
              </a:spcBef>
              <a:spcAft>
                <a:spcPts val="0"/>
              </a:spcAft>
              <a:buNone/>
            </a:pPr>
            <a:r>
              <a:rPr lang="en" dirty="0">
                <a:solidFill>
                  <a:schemeClr val="dk1"/>
                </a:solidFill>
              </a:rPr>
              <a:t>我的指導教授是 張貴雲教授</a:t>
            </a:r>
            <a:endParaRPr dirty="0">
              <a:solidFill>
                <a:schemeClr val="dk1"/>
              </a:solidFill>
            </a:endParaRPr>
          </a:p>
          <a:p>
            <a:pPr marL="0" lvl="0" indent="0" algn="l" rtl="0">
              <a:spcBef>
                <a:spcPts val="0"/>
              </a:spcBef>
              <a:spcAft>
                <a:spcPts val="0"/>
              </a:spcAft>
              <a:buNone/>
            </a:pPr>
            <a:r>
              <a:rPr lang="zh-TW" altLang="en-US" dirty="0"/>
              <a:t>我的論文名稱為</a:t>
            </a:r>
            <a:endParaRPr dirty="0"/>
          </a:p>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g2d1aeb774a9_0_18:notes"/>
          <p:cNvSpPr>
            <a:spLocks noGrp="1" noRot="1" noChangeAspect="1"/>
          </p:cNvSpPr>
          <p:nvPr>
            <p:ph type="sldImg" idx="2"/>
          </p:nvPr>
        </p:nvSpPr>
        <p:spPr>
          <a:xfrm>
            <a:off x="77788" y="739775"/>
            <a:ext cx="6580187" cy="37020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9" name="Google Shape;1139;g2d1aeb774a9_0_18:notes"/>
          <p:cNvSpPr txBox="1">
            <a:spLocks noGrp="1"/>
          </p:cNvSpPr>
          <p:nvPr>
            <p:ph type="body" idx="1"/>
          </p:nvPr>
        </p:nvSpPr>
        <p:spPr>
          <a:xfrm>
            <a:off x="673577" y="4688007"/>
            <a:ext cx="5388610" cy="444127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這是報告的 outline</a:t>
            </a:r>
            <a:r>
              <a:rPr lang="zh-TW" altLang="en-US" dirty="0"/>
              <a:t>，總共分成六個章節來介紹</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en-US" altLang="zh-TW" b="0" dirty="0"/>
              <a:t>【Introduction - </a:t>
            </a:r>
            <a:r>
              <a:rPr lang="zh-TW" altLang="en-US" b="0" dirty="0"/>
              <a:t>產業現況</a:t>
            </a:r>
            <a:r>
              <a:rPr lang="en-US" altLang="zh-TW" b="0" dirty="0"/>
              <a:t>】</a:t>
            </a:r>
          </a:p>
          <a:p>
            <a:pPr marL="158750" indent="0">
              <a:buNone/>
            </a:pPr>
            <a:endParaRPr lang="en-US" altLang="zh-TW" b="0" dirty="0"/>
          </a:p>
          <a:p>
            <a:pPr marL="457200" indent="-298450"/>
            <a:r>
              <a:rPr lang="en-US" altLang="zh-TW" b="0" dirty="0"/>
              <a:t>NGSO</a:t>
            </a:r>
            <a:r>
              <a:rPr lang="zh-TW" altLang="en-US" b="0" dirty="0"/>
              <a:t>是</a:t>
            </a:r>
            <a:r>
              <a:rPr lang="zh-TW" altLang="en-US" dirty="0"/>
              <a:t>非地球同步軌道衛星，衛星會相對地面移動</a:t>
            </a:r>
            <a:r>
              <a:rPr lang="zh-TW" altLang="en-US" b="0" dirty="0"/>
              <a:t>，例如我們熟知的</a:t>
            </a:r>
            <a:r>
              <a:rPr lang="en-US" altLang="zh-TW" b="0" dirty="0"/>
              <a:t>LEO</a:t>
            </a:r>
            <a:r>
              <a:rPr lang="zh-TW" altLang="en-US" b="0" dirty="0"/>
              <a:t>，而隨著近年來 </a:t>
            </a:r>
            <a:r>
              <a:rPr lang="vi-VN" dirty="0"/>
              <a:t>NGSO</a:t>
            </a:r>
            <a:r>
              <a:rPr lang="en-US" altLang="zh-TW" b="0" dirty="0"/>
              <a:t> </a:t>
            </a:r>
            <a:r>
              <a:rPr lang="zh-TW" altLang="en-US" b="0" dirty="0"/>
              <a:t>星座逐漸成熟，越來越多業者開始提供穩定、快速的衛星網路服務。</a:t>
            </a:r>
            <a:endParaRPr lang="en-US" altLang="zh-TW" b="0" dirty="0"/>
          </a:p>
          <a:p>
            <a:pPr marL="457200" indent="-298450"/>
            <a:endParaRPr lang="en-US" altLang="zh-TW" b="0" dirty="0"/>
          </a:p>
          <a:p>
            <a:pPr marL="457200" indent="-298450"/>
            <a:r>
              <a:rPr lang="zh-TW" altLang="en-US" dirty="0"/>
              <a:t>而</a:t>
            </a:r>
            <a:r>
              <a:rPr lang="en-US" altLang="zh-TW" dirty="0"/>
              <a:t>GSO</a:t>
            </a:r>
            <a:r>
              <a:rPr lang="zh-TW" altLang="en-US" dirty="0"/>
              <a:t>是地球同步軌道衛星，位於赤道上方，從地面觀察時位置固定，相較於傳統的 </a:t>
            </a:r>
            <a:r>
              <a:rPr lang="en-US" altLang="zh-TW" dirty="0"/>
              <a:t>GSO </a:t>
            </a:r>
            <a:r>
              <a:rPr lang="zh-TW" altLang="en-US" dirty="0"/>
              <a:t>，</a:t>
            </a:r>
            <a:r>
              <a:rPr lang="en-US" altLang="zh-TW" dirty="0"/>
              <a:t>LEO </a:t>
            </a:r>
            <a:r>
              <a:rPr lang="zh-TW" altLang="en-US" dirty="0"/>
              <a:t>因為軌道高度較低，所以可以提供較低延遲，也能提供更彈性的覆蓋。</a:t>
            </a:r>
            <a:endParaRPr lang="en-US" altLang="zh-TW" dirty="0"/>
          </a:p>
          <a:p>
            <a:pPr marL="457200" indent="-298450"/>
            <a:endParaRPr lang="en-US" altLang="zh-TW" b="0" dirty="0"/>
          </a:p>
          <a:p>
            <a:pPr marL="457200" indent="-298450"/>
            <a:r>
              <a:rPr lang="zh-TW" altLang="en-US" dirty="0"/>
              <a:t>但是，隨著越來越多的 </a:t>
            </a:r>
            <a:r>
              <a:rPr lang="en-US" altLang="zh-TW" dirty="0"/>
              <a:t>LEO </a:t>
            </a:r>
            <a:r>
              <a:rPr lang="zh-TW" altLang="en-US" dirty="0"/>
              <a:t>系統部署，軌道與頻譜資源會變得更加密集。</a:t>
            </a:r>
            <a:endParaRPr lang="en-US" altLang="zh-TW" dirty="0"/>
          </a:p>
          <a:p>
            <a:pPr marL="457200" indent="-298450"/>
            <a:endParaRPr lang="en-US" altLang="zh-TW" b="0" dirty="0"/>
          </a:p>
          <a:p>
            <a:pPr marL="457200" indent="-298450"/>
            <a:r>
              <a:rPr lang="zh-TW" altLang="en-US" dirty="0"/>
              <a:t>因此，當 </a:t>
            </a:r>
            <a:r>
              <a:rPr lang="en-US" altLang="zh-TW" dirty="0"/>
              <a:t>NGSO </a:t>
            </a:r>
            <a:r>
              <a:rPr lang="zh-TW" altLang="en-US" dirty="0"/>
              <a:t>和既有 </a:t>
            </a:r>
            <a:r>
              <a:rPr lang="en-US" altLang="zh-TW" dirty="0"/>
              <a:t>GSO </a:t>
            </a:r>
            <a:r>
              <a:rPr lang="zh-TW" altLang="en-US" dirty="0"/>
              <a:t>系統需要共用相同的頻段時，頻譜共存就成為一個重要問題。</a:t>
            </a:r>
            <a:endParaRPr lang="en-US" altLang="zh-TW" b="0" dirty="0"/>
          </a:p>
          <a:p>
            <a:pPr marL="457200" indent="-298450"/>
            <a:endParaRPr lang="en-US" altLang="zh-TW" b="0" dirty="0"/>
          </a:p>
          <a:p>
            <a:pPr marL="457200" indent="-298450"/>
            <a:endParaRPr lang="en-US" altLang="zh-TW" b="0" dirty="0"/>
          </a:p>
          <a:p>
            <a:pPr marL="457200" indent="-298450"/>
            <a:endParaRPr lang="en-US" altLang="zh-TW" b="0" dirty="0"/>
          </a:p>
          <a:p>
            <a:pPr marL="457200" indent="-298450"/>
            <a:endParaRPr lang="en-US" altLang="zh-TW" b="0" dirty="0"/>
          </a:p>
          <a:p>
            <a:pPr marL="457200" indent="-298450"/>
            <a:endParaRPr lang="en-US" altLang="zh-TW" b="0" dirty="0"/>
          </a:p>
          <a:p>
            <a:pPr marL="457200" indent="-298450"/>
            <a:endParaRPr lang="en-US" altLang="zh-TW" b="0" dirty="0"/>
          </a:p>
          <a:p>
            <a:pPr marL="457200" indent="-298450"/>
            <a:endParaRPr lang="en-US" altLang="zh-TW" b="0" dirty="0"/>
          </a:p>
          <a:p>
            <a:pPr marL="0" lvl="0" indent="0" algn="l" rtl="0">
              <a:spcBef>
                <a:spcPts val="0"/>
              </a:spcBef>
              <a:spcAft>
                <a:spcPts val="0"/>
              </a:spcAft>
              <a:buClr>
                <a:schemeClr val="dk1"/>
              </a:buClr>
              <a:buFont typeface="Arial"/>
              <a:buNone/>
            </a:pPr>
            <a:endParaRPr lang="zh-TW" altLang="en-US" dirty="0"/>
          </a:p>
        </p:txBody>
      </p:sp>
    </p:spTree>
    <p:extLst>
      <p:ext uri="{BB962C8B-B14F-4D97-AF65-F5344CB8AC3E}">
        <p14:creationId xmlns:p14="http://schemas.microsoft.com/office/powerpoint/2010/main" val="1992968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E6A51-B8AC-B382-D6FD-412846F3BEB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6DC0D29-D107-BF4A-497C-5A1A3598663A}"/>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06718AF1-577A-7C09-CD9B-0D87DDBD28DE}"/>
              </a:ext>
            </a:extLst>
          </p:cNvPr>
          <p:cNvSpPr>
            <a:spLocks noGrp="1"/>
          </p:cNvSpPr>
          <p:nvPr>
            <p:ph type="body" idx="1"/>
          </p:nvPr>
        </p:nvSpPr>
        <p:spPr/>
        <p:txBody>
          <a:bodyPr/>
          <a:lstStyle/>
          <a:p>
            <a:r>
              <a:rPr lang="zh-TW" altLang="en-US" dirty="0"/>
              <a:t>說明一下頻譜共存為何會成為問題</a:t>
            </a:r>
            <a:endParaRPr lang="en-US" altLang="zh-TW" dirty="0"/>
          </a:p>
          <a:p>
            <a:endParaRPr lang="en-US" altLang="zh-TW" b="0" dirty="0"/>
          </a:p>
          <a:p>
            <a:pPr marL="457200" indent="-298450"/>
            <a:r>
              <a:rPr lang="zh-TW" altLang="en-US" dirty="0"/>
              <a:t>由於頻譜資源有限，</a:t>
            </a:r>
            <a:r>
              <a:rPr lang="en-US" altLang="zh-TW" dirty="0"/>
              <a:t>NGSO </a:t>
            </a:r>
            <a:r>
              <a:rPr lang="zh-TW" altLang="en-US" dirty="0"/>
              <a:t>可能會使用到 </a:t>
            </a:r>
            <a:r>
              <a:rPr lang="en-US" altLang="zh-TW" dirty="0"/>
              <a:t>GSO </a:t>
            </a:r>
            <a:r>
              <a:rPr lang="zh-TW" altLang="en-US" dirty="0"/>
              <a:t>原本在使用的頻段。</a:t>
            </a:r>
            <a:endParaRPr lang="en-US" altLang="zh-TW" dirty="0"/>
          </a:p>
          <a:p>
            <a:pPr marL="457200" indent="-298450"/>
            <a:endParaRPr lang="en-US" altLang="zh-TW" dirty="0"/>
          </a:p>
          <a:p>
            <a:pPr marL="457200" indent="-298450"/>
            <a:r>
              <a:rPr lang="zh-TW" altLang="en-US" dirty="0"/>
              <a:t>當兩者在相同頻段運作時，如右圖所示，</a:t>
            </a:r>
            <a:r>
              <a:rPr lang="en-US" altLang="zh-TW" dirty="0"/>
              <a:t>GSO</a:t>
            </a:r>
            <a:r>
              <a:rPr lang="zh-TW" altLang="en-US" dirty="0"/>
              <a:t>對著赤道上的地面站</a:t>
            </a:r>
            <a:r>
              <a:rPr lang="en-US" altLang="zh-TW" dirty="0"/>
              <a:t>GS</a:t>
            </a:r>
            <a:r>
              <a:rPr lang="zh-TW" altLang="en-US" dirty="0"/>
              <a:t>做傳輸，而由於</a:t>
            </a:r>
            <a:r>
              <a:rPr lang="en-US" altLang="zh-TW" dirty="0"/>
              <a:t>LEO</a:t>
            </a:r>
            <a:r>
              <a:rPr lang="zh-TW" altLang="en-US" dirty="0"/>
              <a:t>會在軌道上移動，當它移動到</a:t>
            </a:r>
            <a:r>
              <a:rPr lang="en-US" altLang="zh-TW" dirty="0"/>
              <a:t>GS</a:t>
            </a:r>
            <a:r>
              <a:rPr lang="zh-TW" altLang="en-US" dirty="0"/>
              <a:t>附近或著上方時，</a:t>
            </a:r>
            <a:r>
              <a:rPr lang="en-US" altLang="zh-TW" dirty="0"/>
              <a:t>LEO</a:t>
            </a:r>
            <a:r>
              <a:rPr lang="zh-TW" altLang="en-US" dirty="0"/>
              <a:t>的 下傳就會對 </a:t>
            </a:r>
            <a:r>
              <a:rPr lang="vi-VN" dirty="0"/>
              <a:t>GS</a:t>
            </a:r>
            <a:r>
              <a:rPr lang="zh-TW" altLang="en-US" dirty="0"/>
              <a:t>造成訊號干擾</a:t>
            </a:r>
            <a:r>
              <a:rPr lang="vi-VN" dirty="0"/>
              <a:t>。</a:t>
            </a:r>
            <a:r>
              <a:rPr lang="zh-TW" altLang="en-US" dirty="0"/>
              <a:t>因此需要一套規範來保護 </a:t>
            </a:r>
            <a:r>
              <a:rPr lang="vi-VN" dirty="0"/>
              <a:t>GSO </a:t>
            </a:r>
            <a:r>
              <a:rPr lang="zh-TW" altLang="en-US" dirty="0"/>
              <a:t>系統。</a:t>
            </a:r>
            <a:endParaRPr lang="en-US" altLang="zh-TW" dirty="0"/>
          </a:p>
          <a:p>
            <a:pPr marL="457200" indent="-298450"/>
            <a:endParaRPr lang="en-US" altLang="zh-TW" b="0" dirty="0"/>
          </a:p>
          <a:p>
            <a:pPr marL="457200" indent="-298450"/>
            <a:r>
              <a:rPr lang="zh-TW" altLang="en-US" b="0" dirty="0"/>
              <a:t>國際電信聯盟</a:t>
            </a:r>
            <a:r>
              <a:rPr lang="en-US" altLang="zh-TW" b="0" dirty="0"/>
              <a:t>ITU</a:t>
            </a:r>
            <a:r>
              <a:rPr lang="zh-TW" altLang="en-US" dirty="0"/>
              <a:t>是聯合國底下負責全球電信與無線電頻譜協調的專門機構，他為此定義了</a:t>
            </a:r>
            <a:r>
              <a:rPr lang="en-US" altLang="zh-TW" dirty="0"/>
              <a:t>EPFD limits</a:t>
            </a:r>
            <a:r>
              <a:rPr lang="zh-TW" altLang="en-US" dirty="0"/>
              <a:t>值作為干擾保護指標，用來限制</a:t>
            </a:r>
            <a:r>
              <a:rPr lang="en-US" altLang="zh-TW" dirty="0"/>
              <a:t>LEO</a:t>
            </a:r>
            <a:r>
              <a:rPr lang="zh-TW" altLang="en-US" dirty="0"/>
              <a:t> 對 </a:t>
            </a:r>
            <a:r>
              <a:rPr lang="en-US" altLang="zh-TW" dirty="0"/>
              <a:t>GSO </a:t>
            </a:r>
            <a:r>
              <a:rPr lang="zh-TW" altLang="en-US" dirty="0"/>
              <a:t>造成的干擾。</a:t>
            </a:r>
            <a:endParaRPr lang="en-US" altLang="zh-TW" b="0" dirty="0"/>
          </a:p>
          <a:p>
            <a:pPr marL="457200" indent="-298450"/>
            <a:endParaRPr lang="en-US" altLang="zh-TW" b="0" dirty="0"/>
          </a:p>
          <a:p>
            <a:pPr marL="457200" indent="-298450"/>
            <a:endParaRPr lang="en-US" altLang="zh-TW" b="0" dirty="0"/>
          </a:p>
          <a:p>
            <a:pPr marL="457200" indent="-298450"/>
            <a:endParaRPr lang="en-US" altLang="zh-TW" b="0" dirty="0"/>
          </a:p>
          <a:p>
            <a:pPr marL="457200" indent="-298450"/>
            <a:endParaRPr lang="en-US" altLang="zh-TW" b="0" dirty="0"/>
          </a:p>
          <a:p>
            <a:pPr marL="0" lvl="0" indent="0" algn="l" rtl="0">
              <a:spcBef>
                <a:spcPts val="0"/>
              </a:spcBef>
              <a:spcAft>
                <a:spcPts val="0"/>
              </a:spcAft>
              <a:buClr>
                <a:schemeClr val="dk1"/>
              </a:buClr>
              <a:buFont typeface="Arial"/>
              <a:buNone/>
            </a:pPr>
            <a:endParaRPr lang="zh-TW" altLang="en-US" dirty="0"/>
          </a:p>
        </p:txBody>
      </p:sp>
    </p:spTree>
    <p:extLst>
      <p:ext uri="{BB962C8B-B14F-4D97-AF65-F5344CB8AC3E}">
        <p14:creationId xmlns:p14="http://schemas.microsoft.com/office/powerpoint/2010/main" val="3872238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目前已有的解決方法有這四個</a:t>
            </a:r>
            <a:r>
              <a:rPr lang="vi-VN" dirty="0"/>
              <a:t>。</a:t>
            </a:r>
            <a:endParaRPr lang="en-US" dirty="0"/>
          </a:p>
          <a:p>
            <a:endParaRPr lang="en-US" altLang="zh-TW" dirty="0"/>
          </a:p>
          <a:p>
            <a:r>
              <a:rPr lang="zh-TW" altLang="en-US" dirty="0"/>
              <a:t>前三種，當</a:t>
            </a:r>
            <a:r>
              <a:rPr lang="en-US" altLang="zh-TW" dirty="0"/>
              <a:t>LEO</a:t>
            </a:r>
            <a:r>
              <a:rPr lang="zh-TW" altLang="en-US" dirty="0"/>
              <a:t>隨著軌道運行開始覆蓋並飛越</a:t>
            </a:r>
            <a:r>
              <a:rPr lang="en-US" altLang="zh-TW" dirty="0"/>
              <a:t>GS</a:t>
            </a:r>
            <a:r>
              <a:rPr lang="zh-TW" altLang="en-US" dirty="0"/>
              <a:t>時，為了避免造成太大的干擾，超過 </a:t>
            </a:r>
            <a:r>
              <a:rPr lang="en-US" altLang="zh-TW" dirty="0"/>
              <a:t>EPFD</a:t>
            </a:r>
            <a:r>
              <a:rPr lang="zh-TW" altLang="en-US" dirty="0"/>
              <a:t> 限制，這時就會使用關</a:t>
            </a:r>
            <a:r>
              <a:rPr lang="en-US" altLang="zh-TW" dirty="0"/>
              <a:t>beam</a:t>
            </a:r>
            <a:r>
              <a:rPr lang="zh-TW" altLang="en-US" dirty="0"/>
              <a:t>，降低功率，以及姿態調整，這裡的姿態調整是為了把</a:t>
            </a:r>
            <a:r>
              <a:rPr lang="en-US" altLang="zh-TW" dirty="0"/>
              <a:t>LEO</a:t>
            </a:r>
            <a:r>
              <a:rPr lang="zh-TW" altLang="en-US" dirty="0"/>
              <a:t>跟</a:t>
            </a:r>
            <a:r>
              <a:rPr lang="en-US" altLang="zh-TW" dirty="0"/>
              <a:t>GSO</a:t>
            </a:r>
            <a:r>
              <a:rPr lang="zh-TW" altLang="en-US" dirty="0"/>
              <a:t>分別打向</a:t>
            </a:r>
            <a:r>
              <a:rPr lang="en-US" altLang="zh-TW" dirty="0"/>
              <a:t>GS</a:t>
            </a:r>
            <a:r>
              <a:rPr lang="zh-TW" altLang="en-US" dirty="0"/>
              <a:t>的</a:t>
            </a:r>
            <a:r>
              <a:rPr lang="en-US" altLang="zh-TW" dirty="0"/>
              <a:t>downlink</a:t>
            </a:r>
            <a:r>
              <a:rPr lang="zh-TW" altLang="en-US" dirty="0"/>
              <a:t>夾角擴大，讓</a:t>
            </a:r>
            <a:r>
              <a:rPr lang="en-US" altLang="zh-TW" dirty="0"/>
              <a:t>LEO</a:t>
            </a:r>
            <a:r>
              <a:rPr lang="zh-TW" altLang="en-US" dirty="0"/>
              <a:t>不要直接的對準</a:t>
            </a:r>
            <a:r>
              <a:rPr lang="en-US" altLang="zh-TW" dirty="0"/>
              <a:t>GS</a:t>
            </a:r>
            <a:r>
              <a:rPr lang="zh-TW" altLang="en-US" dirty="0"/>
              <a:t>下傳，來降低干擾</a:t>
            </a:r>
            <a:endParaRPr lang="en-US" altLang="zh-TW" dirty="0"/>
          </a:p>
          <a:p>
            <a:endParaRPr lang="en-US" altLang="zh-TW" dirty="0"/>
          </a:p>
          <a:p>
            <a:r>
              <a:rPr lang="zh-TW" altLang="en-US" dirty="0"/>
              <a:t>但這三種方式都會有一個共通問題，原先這些</a:t>
            </a:r>
            <a:r>
              <a:rPr lang="en-US" altLang="zh-TW" dirty="0"/>
              <a:t>beam</a:t>
            </a:r>
            <a:r>
              <a:rPr lang="zh-TW" altLang="en-US" dirty="0"/>
              <a:t>所服務的</a:t>
            </a:r>
            <a:r>
              <a:rPr lang="en-US" altLang="zh-TW" dirty="0"/>
              <a:t>LEO</a:t>
            </a:r>
            <a:r>
              <a:rPr lang="zh-TW" altLang="en-US" dirty="0"/>
              <a:t> </a:t>
            </a:r>
            <a:r>
              <a:rPr lang="en-US" altLang="zh-TW" dirty="0"/>
              <a:t>user</a:t>
            </a:r>
            <a:r>
              <a:rPr lang="zh-TW" altLang="en-US" dirty="0"/>
              <a:t>就會失去其原本的服務品質</a:t>
            </a:r>
            <a:endParaRPr lang="en-US" altLang="zh-TW" dirty="0"/>
          </a:p>
          <a:p>
            <a:endParaRPr lang="en-US" altLang="zh-TW" dirty="0"/>
          </a:p>
          <a:p>
            <a:r>
              <a:rPr lang="zh-TW" altLang="en-US" dirty="0"/>
              <a:t>而</a:t>
            </a:r>
            <a:r>
              <a:rPr lang="en-US" altLang="zh-TW" dirty="0"/>
              <a:t>Beamforming</a:t>
            </a:r>
            <a:r>
              <a:rPr lang="zh-TW" altLang="en-US" dirty="0"/>
              <a:t>是從天線的角度出發，透過調整</a:t>
            </a:r>
            <a:r>
              <a:rPr lang="en-US" altLang="zh-TW" dirty="0"/>
              <a:t>beam</a:t>
            </a:r>
            <a:r>
              <a:rPr lang="zh-TW" altLang="en-US" dirty="0"/>
              <a:t>的方向或形狀，降低對 </a:t>
            </a:r>
            <a:r>
              <a:rPr lang="en-US" altLang="zh-TW" dirty="0"/>
              <a:t>GSO </a:t>
            </a:r>
            <a:r>
              <a:rPr lang="zh-TW" altLang="en-US" dirty="0"/>
              <a:t>的干擾。不過這通常需要昂貴的設備成本和較高的處理複雜度。</a:t>
            </a:r>
            <a:endParaRPr lang="en-US" altLang="zh-TW" dirty="0"/>
          </a:p>
          <a:p>
            <a:endParaRPr lang="en-US" altLang="zh-TW" dirty="0"/>
          </a:p>
          <a:p>
            <a:r>
              <a:rPr lang="zh-TW" altLang="en-US" dirty="0"/>
              <a:t>我的研究場景是 </a:t>
            </a:r>
            <a:r>
              <a:rPr lang="en-US" altLang="zh-TW" dirty="0"/>
              <a:t>beam </a:t>
            </a:r>
            <a:r>
              <a:rPr lang="zh-TW" altLang="en-US" dirty="0"/>
              <a:t>相對於</a:t>
            </a:r>
            <a:r>
              <a:rPr lang="zh-TW" altLang="en-US" sz="1100" b="1" i="0" u="none" strike="noStrike" cap="none" dirty="0">
                <a:solidFill>
                  <a:srgbClr val="000000"/>
                </a:solidFill>
                <a:effectLst/>
                <a:latin typeface="Arial"/>
                <a:ea typeface="Arial"/>
                <a:cs typeface="Arial"/>
                <a:sym typeface="Arial"/>
              </a:rPr>
              <a:t>衛星本體</a:t>
            </a:r>
            <a:r>
              <a:rPr lang="zh-TW" altLang="en-US" dirty="0"/>
              <a:t>的方向是固定不變的。因此不考慮這類複雜的技術</a:t>
            </a:r>
          </a:p>
          <a:p>
            <a:endParaRPr lang="zh-TW" altLang="en-US" dirty="0"/>
          </a:p>
        </p:txBody>
      </p:sp>
    </p:spTree>
    <p:extLst>
      <p:ext uri="{BB962C8B-B14F-4D97-AF65-F5344CB8AC3E}">
        <p14:creationId xmlns:p14="http://schemas.microsoft.com/office/powerpoint/2010/main" val="3134228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由此可知 </a:t>
            </a:r>
            <a:r>
              <a:rPr lang="vi-VN" dirty="0"/>
              <a:t>LEO users </a:t>
            </a:r>
            <a:r>
              <a:rPr lang="zh-TW" altLang="en-US" dirty="0"/>
              <a:t>的服務品質下降是一個共通的問題。</a:t>
            </a:r>
            <a:endParaRPr lang="en-US" altLang="zh-TW" dirty="0"/>
          </a:p>
          <a:p>
            <a:endParaRPr lang="vi-VN" dirty="0"/>
          </a:p>
          <a:p>
            <a:r>
              <a:rPr lang="zh-TW" altLang="en-US" dirty="0"/>
              <a:t>另外，由於 </a:t>
            </a:r>
            <a:r>
              <a:rPr lang="vi-VN" dirty="0"/>
              <a:t>LEO </a:t>
            </a:r>
            <a:r>
              <a:rPr lang="zh-TW" altLang="en-US" dirty="0"/>
              <a:t>衛星移動速度快，並且干擾風險會隨時間變化。如果在每個連續短時間內都要進行即時細微的調整功率和姿態調整</a:t>
            </a:r>
            <a:r>
              <a:rPr lang="vi-VN" dirty="0"/>
              <a:t>，</a:t>
            </a:r>
            <a:r>
              <a:rPr lang="zh-TW" altLang="en-US" dirty="0"/>
              <a:t>實作上會有較高的運算難度。</a:t>
            </a:r>
            <a:endParaRPr lang="en-US" altLang="zh-TW" dirty="0"/>
          </a:p>
          <a:p>
            <a:endParaRPr lang="zh-TW" altLang="en-US" dirty="0"/>
          </a:p>
          <a:p>
            <a:r>
              <a:rPr lang="zh-TW" altLang="en-US" dirty="0"/>
              <a:t>因此，本文提出的演算法利用相鄰衛星</a:t>
            </a:r>
            <a:r>
              <a:rPr lang="en-US" altLang="zh-TW" dirty="0"/>
              <a:t>beam</a:t>
            </a:r>
            <a:r>
              <a:rPr lang="zh-TW" altLang="en-US" dirty="0"/>
              <a:t>的重疊覆蓋</a:t>
            </a:r>
            <a:r>
              <a:rPr lang="vi-VN" dirty="0"/>
              <a:t>。</a:t>
            </a:r>
            <a:r>
              <a:rPr lang="zh-TW" altLang="en-US" dirty="0"/>
              <a:t>來把受影響的 </a:t>
            </a:r>
            <a:r>
              <a:rPr lang="en-US" altLang="zh-TW" dirty="0"/>
              <a:t>LEO</a:t>
            </a:r>
            <a:r>
              <a:rPr lang="zh-TW" altLang="en-US" dirty="0"/>
              <a:t> </a:t>
            </a:r>
            <a:r>
              <a:rPr lang="en-US" altLang="zh-TW" dirty="0"/>
              <a:t>user </a:t>
            </a:r>
            <a:r>
              <a:rPr lang="zh-TW" altLang="en-US" dirty="0"/>
              <a:t>給相鄰衛星服務，藉此恢復其服務品質，並且符合 </a:t>
            </a:r>
            <a:r>
              <a:rPr lang="vi-VN" dirty="0"/>
              <a:t>EPFD </a:t>
            </a:r>
            <a:r>
              <a:rPr lang="zh-TW" altLang="en-US" dirty="0"/>
              <a:t>的規範</a:t>
            </a:r>
            <a:r>
              <a:rPr lang="vi-VN" dirty="0"/>
              <a:t>。</a:t>
            </a:r>
          </a:p>
          <a:p>
            <a:endParaRPr lang="zh-TW" altLang="en-US" dirty="0"/>
          </a:p>
        </p:txBody>
      </p:sp>
    </p:spTree>
    <p:extLst>
      <p:ext uri="{BB962C8B-B14F-4D97-AF65-F5344CB8AC3E}">
        <p14:creationId xmlns:p14="http://schemas.microsoft.com/office/powerpoint/2010/main" val="3870820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首先說明系統場景。</a:t>
            </a:r>
            <a:endParaRPr lang="en-US" altLang="zh-TW" dirty="0"/>
          </a:p>
          <a:p>
            <a:endParaRPr lang="en-US" altLang="zh-TW" dirty="0"/>
          </a:p>
          <a:p>
            <a:r>
              <a:rPr lang="zh-TW" altLang="en-US" dirty="0"/>
              <a:t>本文研究的是 </a:t>
            </a:r>
            <a:r>
              <a:rPr lang="en-US" altLang="zh-TW" dirty="0"/>
              <a:t>multi-beam LEO </a:t>
            </a:r>
            <a:r>
              <a:rPr lang="zh-TW" altLang="en-US" dirty="0"/>
              <a:t>衛星系統，並且和 </a:t>
            </a:r>
            <a:r>
              <a:rPr lang="en-US" altLang="zh-TW" dirty="0"/>
              <a:t>GSO </a:t>
            </a:r>
            <a:r>
              <a:rPr lang="zh-TW" altLang="en-US" dirty="0"/>
              <a:t>系統在相同頻段下共存的情境</a:t>
            </a:r>
            <a:endParaRPr lang="en-US" dirty="0"/>
          </a:p>
          <a:p>
            <a:endParaRPr lang="en-US" dirty="0"/>
          </a:p>
          <a:p>
            <a:r>
              <a:rPr lang="en-US" altLang="zh-TW" dirty="0"/>
              <a:t>GSO </a:t>
            </a:r>
            <a:r>
              <a:rPr lang="zh-TW" altLang="en-US" dirty="0"/>
              <a:t>衛星會和他的地面站 </a:t>
            </a:r>
            <a:r>
              <a:rPr lang="en-US" altLang="zh-TW" dirty="0"/>
              <a:t>GS</a:t>
            </a:r>
            <a:r>
              <a:rPr lang="zh-TW" altLang="en-US" dirty="0"/>
              <a:t> 通訊，從 </a:t>
            </a:r>
            <a:r>
              <a:rPr lang="en-US" altLang="zh-TW" dirty="0"/>
              <a:t>GSO</a:t>
            </a:r>
            <a:r>
              <a:rPr lang="zh-TW" altLang="en-US" dirty="0"/>
              <a:t> 指向 </a:t>
            </a:r>
            <a:r>
              <a:rPr lang="en-US" altLang="zh-TW" dirty="0"/>
              <a:t>GS</a:t>
            </a:r>
            <a:r>
              <a:rPr lang="zh-TW" altLang="en-US" dirty="0"/>
              <a:t> 的方向，在計算</a:t>
            </a:r>
            <a:r>
              <a:rPr lang="en-US" altLang="zh-TW" dirty="0"/>
              <a:t>EPFD</a:t>
            </a:r>
            <a:r>
              <a:rPr lang="zh-TW" altLang="en-US" dirty="0"/>
              <a:t>評估時是重要的參考方向</a:t>
            </a:r>
            <a:endParaRPr lang="en-US" altLang="zh-TW" dirty="0"/>
          </a:p>
          <a:p>
            <a:endParaRPr lang="en-US" dirty="0"/>
          </a:p>
          <a:p>
            <a:r>
              <a:rPr lang="zh-TW" altLang="en-US" dirty="0"/>
              <a:t>而總</a:t>
            </a:r>
            <a:r>
              <a:rPr lang="vi-VN" dirty="0"/>
              <a:t> EPFD </a:t>
            </a:r>
            <a:r>
              <a:rPr lang="zh-TW" altLang="en-US" dirty="0"/>
              <a:t>指的是 </a:t>
            </a:r>
            <a:r>
              <a:rPr lang="vi-VN" dirty="0"/>
              <a:t>GS </a:t>
            </a:r>
            <a:r>
              <a:rPr lang="zh-TW" altLang="en-US" dirty="0"/>
              <a:t>接收到的總干擾量，也就是所有可見的 </a:t>
            </a:r>
            <a:r>
              <a:rPr lang="vi-VN" dirty="0"/>
              <a:t>LEO </a:t>
            </a:r>
            <a:r>
              <a:rPr lang="zh-TW" altLang="en-US" dirty="0"/>
              <a:t>衛星對 </a:t>
            </a:r>
            <a:r>
              <a:rPr lang="vi-VN" dirty="0"/>
              <a:t>GS </a:t>
            </a:r>
            <a:r>
              <a:rPr lang="zh-TW" altLang="en-US" dirty="0"/>
              <a:t>造成的 </a:t>
            </a:r>
            <a:r>
              <a:rPr lang="vi-VN" dirty="0"/>
              <a:t>EPFD </a:t>
            </a:r>
            <a:r>
              <a:rPr lang="zh-TW" altLang="en-US" dirty="0"/>
              <a:t>干擾加總。</a:t>
            </a:r>
            <a:endParaRPr lang="en-US" altLang="zh-TW" dirty="0"/>
          </a:p>
          <a:p>
            <a:endParaRPr lang="en-US" altLang="zh-TW" dirty="0"/>
          </a:p>
          <a:p>
            <a:r>
              <a:rPr lang="zh-TW" altLang="en-US" dirty="0"/>
              <a:t>因此當某一顆可見的 </a:t>
            </a:r>
            <a:r>
              <a:rPr lang="vi-VN" dirty="0"/>
              <a:t>LEO </a:t>
            </a:r>
            <a:r>
              <a:rPr lang="zh-TW" altLang="en-US" dirty="0"/>
              <a:t>的</a:t>
            </a:r>
            <a:r>
              <a:rPr lang="en-US" altLang="zh-TW" dirty="0"/>
              <a:t>beam</a:t>
            </a:r>
            <a:r>
              <a:rPr lang="zh-TW" altLang="en-US" dirty="0"/>
              <a:t>覆蓋到 </a:t>
            </a:r>
            <a:r>
              <a:rPr lang="vi-VN" dirty="0"/>
              <a:t>GS</a:t>
            </a:r>
            <a:r>
              <a:rPr lang="zh-TW" altLang="en-US" dirty="0"/>
              <a:t>時</a:t>
            </a:r>
            <a:r>
              <a:rPr lang="vi-VN" dirty="0"/>
              <a:t>，</a:t>
            </a:r>
            <a:r>
              <a:rPr lang="zh-TW" altLang="en-US" dirty="0"/>
              <a:t>同時又接近 </a:t>
            </a:r>
            <a:r>
              <a:rPr lang="en-US" sz="1100" dirty="0">
                <a:latin typeface="Times New Roman" panose="02020603050405020304" pitchFamily="18" charset="0"/>
                <a:cs typeface="Times New Roman" panose="02020603050405020304" pitchFamily="18" charset="0"/>
              </a:rPr>
              <a:t>GSO–GS </a:t>
            </a:r>
            <a:r>
              <a:rPr lang="zh-TW" altLang="en-US" sz="1100" dirty="0">
                <a:latin typeface="Times New Roman" panose="02020603050405020304" pitchFamily="18" charset="0"/>
                <a:cs typeface="Times New Roman" panose="02020603050405020304" pitchFamily="18" charset="0"/>
              </a:rPr>
              <a:t>方向</a:t>
            </a:r>
            <a:r>
              <a:rPr lang="zh-TW" altLang="en-US" dirty="0"/>
              <a:t>，這顆</a:t>
            </a:r>
            <a:r>
              <a:rPr lang="en-US" altLang="zh-TW" dirty="0"/>
              <a:t>LEO</a:t>
            </a:r>
            <a:r>
              <a:rPr lang="zh-TW" altLang="en-US" dirty="0"/>
              <a:t>就會讓總 </a:t>
            </a:r>
            <a:r>
              <a:rPr lang="vi-VN" dirty="0"/>
              <a:t>EPFD </a:t>
            </a:r>
            <a:r>
              <a:rPr lang="zh-TW" altLang="en-US" dirty="0"/>
              <a:t>大幅上升，甚至超過限制</a:t>
            </a:r>
            <a:r>
              <a:rPr lang="vi-VN" dirty="0"/>
              <a:t>。</a:t>
            </a:r>
            <a:endParaRPr lang="en-US" dirty="0"/>
          </a:p>
        </p:txBody>
      </p:sp>
    </p:spTree>
    <p:extLst>
      <p:ext uri="{BB962C8B-B14F-4D97-AF65-F5344CB8AC3E}">
        <p14:creationId xmlns:p14="http://schemas.microsoft.com/office/powerpoint/2010/main" val="2478076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9D6C9-3B21-230D-06B0-BF03FA2D84D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650B7EB-CBB9-15B1-1AEB-091151C02CFC}"/>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14C95A78-5B11-04A1-DC0F-CC6FB29C9790}"/>
              </a:ext>
            </a:extLst>
          </p:cNvPr>
          <p:cNvSpPr>
            <a:spLocks noGrp="1"/>
          </p:cNvSpPr>
          <p:nvPr>
            <p:ph type="body" idx="1"/>
          </p:nvPr>
        </p:nvSpPr>
        <p:spPr/>
        <p:txBody>
          <a:bodyPr/>
          <a:lstStyle/>
          <a:p>
            <a:r>
              <a:rPr lang="zh-TW" altLang="en-US" dirty="0"/>
              <a:t>在一般情況下，每個 </a:t>
            </a:r>
            <a:r>
              <a:rPr lang="en-US" altLang="zh-TW" dirty="0"/>
              <a:t>LEO</a:t>
            </a:r>
            <a:r>
              <a:rPr lang="zh-TW" altLang="en-US" dirty="0"/>
              <a:t> 衛星的 </a:t>
            </a:r>
            <a:r>
              <a:rPr lang="vi-VN" dirty="0"/>
              <a:t>beam </a:t>
            </a:r>
            <a:r>
              <a:rPr lang="zh-TW" altLang="en-US" dirty="0"/>
              <a:t>都會使用預先設定好的傳輸功率。使地面上的每個</a:t>
            </a:r>
            <a:r>
              <a:rPr lang="en-US" altLang="zh-TW" dirty="0"/>
              <a:t>user</a:t>
            </a:r>
            <a:r>
              <a:rPr lang="zh-TW" altLang="en-US" dirty="0"/>
              <a:t>接收到的服務品質差不多。</a:t>
            </a:r>
            <a:endParaRPr lang="en-US" altLang="zh-TW" dirty="0"/>
          </a:p>
          <a:p>
            <a:endParaRPr lang="en-US" dirty="0"/>
          </a:p>
          <a:p>
            <a:r>
              <a:rPr lang="zh-TW" altLang="en-US" dirty="0"/>
              <a:t>每個</a:t>
            </a:r>
            <a:r>
              <a:rPr lang="en-US" dirty="0"/>
              <a:t>Beam</a:t>
            </a:r>
            <a:r>
              <a:rPr lang="zh-TW" altLang="en-US" dirty="0"/>
              <a:t>的發射功率會有上限</a:t>
            </a:r>
            <a:endParaRPr lang="en-US" altLang="zh-TW" dirty="0"/>
          </a:p>
          <a:p>
            <a:endParaRPr lang="en-US" altLang="zh-TW" dirty="0"/>
          </a:p>
          <a:p>
            <a:r>
              <a:rPr lang="zh-TW" altLang="en-US" dirty="0"/>
              <a:t>並且每顆衛星也有總功率上限</a:t>
            </a:r>
            <a:endParaRPr lang="en-US" altLang="zh-TW" dirty="0"/>
          </a:p>
          <a:p>
            <a:endParaRPr lang="en-US" dirty="0"/>
          </a:p>
        </p:txBody>
      </p:sp>
    </p:spTree>
    <p:extLst>
      <p:ext uri="{BB962C8B-B14F-4D97-AF65-F5344CB8AC3E}">
        <p14:creationId xmlns:p14="http://schemas.microsoft.com/office/powerpoint/2010/main" val="455421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4799A-9F55-A507-149E-2F274633B77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693C0C9-0777-F61D-C475-61E7BB30A207}"/>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ED13CEFE-EC87-1278-A9ED-C854B3C4E1EA}"/>
              </a:ext>
            </a:extLst>
          </p:cNvPr>
          <p:cNvSpPr>
            <a:spLocks noGrp="1"/>
          </p:cNvSpPr>
          <p:nvPr>
            <p:ph type="body" idx="1"/>
          </p:nvPr>
        </p:nvSpPr>
        <p:spPr/>
        <p:txBody>
          <a:bodyPr/>
          <a:lstStyle/>
          <a:p>
            <a:r>
              <a:rPr lang="zh-TW" altLang="en-US" dirty="0"/>
              <a:t>這張說明 </a:t>
            </a:r>
            <a:r>
              <a:rPr lang="en-US" altLang="zh-TW" dirty="0"/>
              <a:t>user  </a:t>
            </a:r>
            <a:r>
              <a:rPr lang="zh-TW" altLang="en-US" dirty="0"/>
              <a:t>跟 </a:t>
            </a:r>
            <a:r>
              <a:rPr lang="en-US" altLang="zh-TW" dirty="0"/>
              <a:t>Beam </a:t>
            </a:r>
            <a:r>
              <a:rPr lang="zh-TW" altLang="en-US" dirty="0"/>
              <a:t>的的服務關係</a:t>
            </a:r>
            <a:endParaRPr lang="en-US" altLang="zh-TW" dirty="0"/>
          </a:p>
          <a:p>
            <a:endParaRPr lang="en-US" altLang="zh-TW" dirty="0"/>
          </a:p>
          <a:p>
            <a:r>
              <a:rPr lang="zh-TW" altLang="en-US" dirty="0"/>
              <a:t>每個</a:t>
            </a:r>
            <a:r>
              <a:rPr lang="en-US" altLang="zh-TW" dirty="0"/>
              <a:t>user</a:t>
            </a:r>
            <a:r>
              <a:rPr lang="zh-TW" altLang="en-US" dirty="0"/>
              <a:t>在同一個</a:t>
            </a:r>
            <a:r>
              <a:rPr lang="en-US" altLang="zh-TW" dirty="0"/>
              <a:t>time slot </a:t>
            </a:r>
            <a:r>
              <a:rPr lang="zh-TW" altLang="en-US" dirty="0"/>
              <a:t>只會由一個</a:t>
            </a:r>
            <a:r>
              <a:rPr lang="en-US" altLang="zh-TW" dirty="0"/>
              <a:t>beam</a:t>
            </a:r>
            <a:r>
              <a:rPr lang="zh-TW" altLang="en-US" dirty="0"/>
              <a:t>服務</a:t>
            </a:r>
            <a:endParaRPr lang="en-US" altLang="zh-TW" dirty="0"/>
          </a:p>
          <a:p>
            <a:endParaRPr lang="en-US" altLang="zh-TW" dirty="0"/>
          </a:p>
          <a:p>
            <a:r>
              <a:rPr lang="zh-TW" altLang="en-US" dirty="0"/>
              <a:t>並且</a:t>
            </a:r>
            <a:r>
              <a:rPr lang="en-US" altLang="zh-TW" dirty="0"/>
              <a:t>beam</a:t>
            </a:r>
            <a:r>
              <a:rPr lang="zh-TW" altLang="en-US" dirty="0"/>
              <a:t>只有在他的</a:t>
            </a:r>
            <a:r>
              <a:rPr lang="en-US" altLang="zh-TW" dirty="0"/>
              <a:t>footprint</a:t>
            </a:r>
            <a:r>
              <a:rPr lang="zh-TW" altLang="en-US" dirty="0"/>
              <a:t>有覆蓋到該</a:t>
            </a:r>
            <a:r>
              <a:rPr lang="en-US" altLang="zh-TW" dirty="0"/>
              <a:t>user</a:t>
            </a:r>
            <a:r>
              <a:rPr lang="zh-TW" altLang="en-US" dirty="0"/>
              <a:t>時，才可以服務這個</a:t>
            </a:r>
            <a:r>
              <a:rPr lang="en-US" altLang="zh-TW" dirty="0"/>
              <a:t>user</a:t>
            </a:r>
          </a:p>
          <a:p>
            <a:endParaRPr lang="en-US" altLang="zh-TW" dirty="0"/>
          </a:p>
          <a:p>
            <a:r>
              <a:rPr lang="zh-TW" altLang="en-US" dirty="0"/>
              <a:t>由於不同 </a:t>
            </a:r>
            <a:r>
              <a:rPr lang="en-US" altLang="zh-TW" dirty="0"/>
              <a:t>LEO</a:t>
            </a:r>
            <a:r>
              <a:rPr lang="zh-TW" altLang="en-US" dirty="0"/>
              <a:t>的</a:t>
            </a:r>
            <a:r>
              <a:rPr lang="en-US" altLang="zh-TW" dirty="0"/>
              <a:t>beam footprints</a:t>
            </a:r>
            <a:r>
              <a:rPr lang="zh-TW" altLang="en-US" dirty="0"/>
              <a:t> 可能彼此重疊，所以同一個</a:t>
            </a:r>
            <a:r>
              <a:rPr lang="en-US" altLang="zh-TW" dirty="0"/>
              <a:t>user</a:t>
            </a:r>
            <a:r>
              <a:rPr lang="zh-TW" altLang="en-US" dirty="0"/>
              <a:t>可能同時被多個 </a:t>
            </a:r>
            <a:r>
              <a:rPr lang="en-US" altLang="zh-TW" dirty="0"/>
              <a:t>LEO</a:t>
            </a:r>
            <a:r>
              <a:rPr lang="zh-TW" altLang="en-US" dirty="0"/>
              <a:t> 的 </a:t>
            </a:r>
            <a:r>
              <a:rPr lang="en-US" altLang="zh-TW" dirty="0"/>
              <a:t>beams</a:t>
            </a:r>
            <a:r>
              <a:rPr lang="zh-TW" altLang="en-US" dirty="0"/>
              <a:t> 覆蓋，這時候會從中選擇一個做為服務它的 </a:t>
            </a:r>
            <a:r>
              <a:rPr lang="en-US" altLang="zh-TW" dirty="0"/>
              <a:t>beam</a:t>
            </a:r>
          </a:p>
          <a:p>
            <a:endParaRPr lang="en-US" altLang="zh-TW" dirty="0"/>
          </a:p>
          <a:p>
            <a:r>
              <a:rPr lang="zh-TW" altLang="en-US" dirty="0"/>
              <a:t>在同一個衛星系統裡，這些不同衛星的</a:t>
            </a:r>
            <a:r>
              <a:rPr lang="en-US" altLang="zh-TW" dirty="0"/>
              <a:t>beam</a:t>
            </a:r>
            <a:r>
              <a:rPr lang="zh-TW" altLang="en-US" dirty="0"/>
              <a:t>使用相容的下傳頻段和極化設定等</a:t>
            </a:r>
            <a:endParaRPr lang="en-US" altLang="zh-TW" dirty="0"/>
          </a:p>
          <a:p>
            <a:endParaRPr lang="en-US" altLang="zh-TW" dirty="0"/>
          </a:p>
          <a:p>
            <a:r>
              <a:rPr lang="zh-TW" altLang="en-US" dirty="0"/>
              <a:t>因此這裡的</a:t>
            </a:r>
            <a:r>
              <a:rPr lang="en-US" altLang="zh-TW" dirty="0"/>
              <a:t>reassociation</a:t>
            </a:r>
            <a:r>
              <a:rPr lang="zh-TW" altLang="en-US" dirty="0"/>
              <a:t>指的可以選擇其他覆蓋該</a:t>
            </a:r>
            <a:r>
              <a:rPr lang="en-US" altLang="zh-TW" dirty="0"/>
              <a:t>user</a:t>
            </a:r>
            <a:r>
              <a:rPr lang="zh-TW" altLang="en-US" dirty="0"/>
              <a:t>的</a:t>
            </a:r>
            <a:r>
              <a:rPr lang="en-US" altLang="zh-TW" dirty="0"/>
              <a:t>beam</a:t>
            </a:r>
            <a:r>
              <a:rPr lang="zh-TW" altLang="en-US" dirty="0"/>
              <a:t>來服務他，後續本文的方法建立在這個基礎上</a:t>
            </a:r>
            <a:endParaRPr lang="en-US" altLang="zh-TW" dirty="0"/>
          </a:p>
          <a:p>
            <a:endParaRPr lang="en-US" altLang="zh-TW" dirty="0"/>
          </a:p>
          <a:p>
            <a:endParaRPr lang="en-US" altLang="zh-TW" dirty="0"/>
          </a:p>
          <a:p>
            <a:endParaRPr lang="en-US" altLang="zh-TW" dirty="0"/>
          </a:p>
          <a:p>
            <a:endParaRPr lang="en-US" altLang="zh-TW" dirty="0"/>
          </a:p>
        </p:txBody>
      </p:sp>
    </p:spTree>
    <p:extLst>
      <p:ext uri="{BB962C8B-B14F-4D97-AF65-F5344CB8AC3E}">
        <p14:creationId xmlns:p14="http://schemas.microsoft.com/office/powerpoint/2010/main" val="578364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388B3-DA6F-3EDF-4C50-5308E55E7F5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0CDD458-10C6-BA7F-6B07-01159CB8A7B8}"/>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14D0FBA1-6D2C-15A7-97C1-59DFC9642A35}"/>
              </a:ext>
            </a:extLst>
          </p:cNvPr>
          <p:cNvSpPr>
            <a:spLocks noGrp="1"/>
          </p:cNvSpPr>
          <p:nvPr>
            <p:ph type="body" idx="1"/>
          </p:nvPr>
        </p:nvSpPr>
        <p:spPr/>
        <p:txBody>
          <a:bodyPr/>
          <a:lstStyle/>
          <a:p>
            <a:r>
              <a:rPr lang="zh-TW" altLang="en-US" dirty="0"/>
              <a:t>這張說明</a:t>
            </a:r>
            <a:r>
              <a:rPr lang="en-US" altLang="zh-TW" dirty="0"/>
              <a:t> </a:t>
            </a:r>
            <a:r>
              <a:rPr lang="zh-TW" altLang="en-US" dirty="0"/>
              <a:t>用來衡量服務品質的指標</a:t>
            </a:r>
            <a:endParaRPr lang="en-US" altLang="zh-TW" dirty="0"/>
          </a:p>
          <a:p>
            <a:endParaRPr lang="en-US" dirty="0"/>
          </a:p>
          <a:p>
            <a:r>
              <a:rPr lang="zh-TW" altLang="en-US" dirty="0"/>
              <a:t>當多個 </a:t>
            </a:r>
            <a:r>
              <a:rPr lang="en-US" altLang="zh-TW" dirty="0"/>
              <a:t>users </a:t>
            </a:r>
            <a:r>
              <a:rPr lang="zh-TW" altLang="en-US" dirty="0"/>
              <a:t>同時由同一個</a:t>
            </a:r>
            <a:r>
              <a:rPr lang="en-US" altLang="zh-TW" dirty="0"/>
              <a:t>beam</a:t>
            </a:r>
            <a:r>
              <a:rPr lang="zh-TW" altLang="en-US" dirty="0"/>
              <a:t>服務時，這些 </a:t>
            </a:r>
            <a:r>
              <a:rPr lang="en-US" altLang="zh-TW" dirty="0"/>
              <a:t>users </a:t>
            </a:r>
            <a:r>
              <a:rPr lang="zh-TW" altLang="en-US" dirty="0"/>
              <a:t>會共享該 </a:t>
            </a:r>
            <a:r>
              <a:rPr lang="en-US" altLang="zh-TW" dirty="0"/>
              <a:t>beam </a:t>
            </a:r>
            <a:r>
              <a:rPr lang="zh-TW" altLang="en-US" dirty="0"/>
              <a:t>的下傳資源</a:t>
            </a:r>
            <a:endParaRPr lang="en-US" altLang="zh-TW" dirty="0"/>
          </a:p>
          <a:p>
            <a:endParaRPr lang="en-US" altLang="zh-TW" dirty="0"/>
          </a:p>
          <a:p>
            <a:r>
              <a:rPr lang="zh-TW" altLang="en-US" dirty="0"/>
              <a:t>因此</a:t>
            </a:r>
            <a:r>
              <a:rPr lang="en-US" altLang="zh-TW" dirty="0"/>
              <a:t>user </a:t>
            </a:r>
            <a:r>
              <a:rPr lang="zh-TW" altLang="en-US" dirty="0"/>
              <a:t>實際能拿到的服務速率會受到</a:t>
            </a:r>
            <a:r>
              <a:rPr lang="en-US" altLang="zh-TW" dirty="0"/>
              <a:t>beam</a:t>
            </a:r>
            <a:r>
              <a:rPr lang="zh-TW" altLang="en-US" dirty="0"/>
              <a:t>的可達下行容量，以及同一個</a:t>
            </a:r>
            <a:r>
              <a:rPr lang="en-US" altLang="zh-TW" dirty="0"/>
              <a:t>beam </a:t>
            </a:r>
            <a:r>
              <a:rPr lang="zh-TW" altLang="en-US" dirty="0"/>
              <a:t>服務了多少個</a:t>
            </a:r>
            <a:r>
              <a:rPr lang="en-US" altLang="zh-TW" dirty="0"/>
              <a:t>user</a:t>
            </a:r>
          </a:p>
          <a:p>
            <a:endParaRPr lang="en-US" altLang="zh-TW" dirty="0"/>
          </a:p>
          <a:p>
            <a:r>
              <a:rPr lang="zh-TW" altLang="en-US" dirty="0"/>
              <a:t>本文使用 </a:t>
            </a:r>
            <a:r>
              <a:rPr lang="en-US" altLang="zh-TW" dirty="0"/>
              <a:t>user </a:t>
            </a:r>
            <a:r>
              <a:rPr lang="zh-TW" altLang="en-US" dirty="0"/>
              <a:t>滿足率來表示 </a:t>
            </a:r>
            <a:r>
              <a:rPr lang="en-US" altLang="zh-TW" dirty="0"/>
              <a:t>user </a:t>
            </a:r>
            <a:r>
              <a:rPr lang="zh-TW" altLang="en-US" dirty="0"/>
              <a:t>的服務需求被滿足的比例，介於</a:t>
            </a:r>
            <a:r>
              <a:rPr lang="en-US" altLang="zh-TW" dirty="0"/>
              <a:t>0</a:t>
            </a:r>
            <a:r>
              <a:rPr lang="zh-TW" altLang="en-US" dirty="0"/>
              <a:t>和</a:t>
            </a:r>
            <a:r>
              <a:rPr lang="en-US" altLang="zh-TW" dirty="0"/>
              <a:t>1</a:t>
            </a:r>
            <a:r>
              <a:rPr lang="zh-TW" altLang="en-US" dirty="0"/>
              <a:t>之間，</a:t>
            </a:r>
            <a:r>
              <a:rPr lang="en-US" altLang="zh-TW" dirty="0"/>
              <a:t>1</a:t>
            </a:r>
            <a:r>
              <a:rPr lang="zh-TW" altLang="en-US" dirty="0"/>
              <a:t>就代表</a:t>
            </a:r>
            <a:r>
              <a:rPr lang="en-US" altLang="zh-TW" dirty="0"/>
              <a:t>user </a:t>
            </a:r>
            <a:r>
              <a:rPr lang="zh-TW" altLang="en-US" dirty="0"/>
              <a:t>服務需求完全被滿足</a:t>
            </a:r>
            <a:endParaRPr lang="en-US" altLang="zh-TW" dirty="0"/>
          </a:p>
          <a:p>
            <a:endParaRPr lang="en-US" altLang="zh-TW" dirty="0"/>
          </a:p>
          <a:p>
            <a:r>
              <a:rPr lang="zh-TW" altLang="en-US" dirty="0"/>
              <a:t>此外，本文也考慮不同 </a:t>
            </a:r>
            <a:r>
              <a:rPr lang="vi-VN" dirty="0"/>
              <a:t>users </a:t>
            </a:r>
            <a:r>
              <a:rPr lang="zh-TW" altLang="en-US" dirty="0"/>
              <a:t>具有不同的服務優先權</a:t>
            </a:r>
            <a:r>
              <a:rPr lang="vi-VN" dirty="0"/>
              <a:t>。</a:t>
            </a:r>
            <a:r>
              <a:rPr lang="zh-TW" altLang="en-US" dirty="0"/>
              <a:t>因此，每個 </a:t>
            </a:r>
            <a:r>
              <a:rPr lang="vi-VN" dirty="0"/>
              <a:t>user </a:t>
            </a:r>
            <a:r>
              <a:rPr lang="zh-TW" altLang="en-US" dirty="0"/>
              <a:t>會對應到一個優先權的權重</a:t>
            </a:r>
            <a:r>
              <a:rPr lang="vi-VN" dirty="0"/>
              <a:t>。</a:t>
            </a:r>
            <a:r>
              <a:rPr lang="zh-TW" altLang="en-US" dirty="0"/>
              <a:t>服務優先權較高的 </a:t>
            </a:r>
            <a:r>
              <a:rPr lang="vi-VN" dirty="0"/>
              <a:t>users </a:t>
            </a:r>
            <a:r>
              <a:rPr lang="zh-TW" altLang="en-US" dirty="0"/>
              <a:t>會有比較大的權重</a:t>
            </a:r>
            <a:endParaRPr lang="en-US" altLang="zh-TW" dirty="0"/>
          </a:p>
        </p:txBody>
      </p:sp>
    </p:spTree>
    <p:extLst>
      <p:ext uri="{BB962C8B-B14F-4D97-AF65-F5344CB8AC3E}">
        <p14:creationId xmlns:p14="http://schemas.microsoft.com/office/powerpoint/2010/main" val="392069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2E16D-B0FF-B7CA-4D4F-64341557888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12F7FAD-44D6-0D4A-B18E-19B401A0DE5E}"/>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96CA8FB2-469B-A9C6-06BF-FA424FAA1B51}"/>
              </a:ext>
            </a:extLst>
          </p:cNvPr>
          <p:cNvSpPr>
            <a:spLocks noGrp="1"/>
          </p:cNvSpPr>
          <p:nvPr>
            <p:ph type="body" idx="1"/>
          </p:nvPr>
        </p:nvSpPr>
        <p:spPr/>
        <p:txBody>
          <a:bodyPr/>
          <a:lstStyle/>
          <a:p>
            <a:r>
              <a:rPr lang="zh-TW" altLang="en-US" dirty="0"/>
              <a:t>因此本文的目標就是在滿足 </a:t>
            </a:r>
            <a:r>
              <a:rPr lang="vi-VN" dirty="0"/>
              <a:t>EPFD limit </a:t>
            </a:r>
            <a:r>
              <a:rPr lang="zh-TW" altLang="en-US" dirty="0"/>
              <a:t>的前提下，提升系統整體的 </a:t>
            </a:r>
            <a:r>
              <a:rPr lang="vi-VN" dirty="0"/>
              <a:t>user </a:t>
            </a:r>
            <a:r>
              <a:rPr lang="zh-TW" altLang="en-US" dirty="0"/>
              <a:t>滿足率</a:t>
            </a:r>
            <a:r>
              <a:rPr lang="vi-VN" dirty="0"/>
              <a:t>。</a:t>
            </a:r>
            <a:endParaRPr lang="en-US" altLang="zh-TW" dirty="0"/>
          </a:p>
          <a:p>
            <a:endParaRPr lang="en-US" altLang="zh-TW" dirty="0"/>
          </a:p>
          <a:p>
            <a:pPr>
              <a:spcAft>
                <a:spcPts val="600"/>
              </a:spcAft>
            </a:pPr>
            <a:r>
              <a:rPr lang="zh-TW" altLang="en-US" dirty="0"/>
              <a:t>為了解決這個問題，本論文方法的核心概念是利用衛星星座的可預測特性，先掌握衛星之間的</a:t>
            </a:r>
            <a:r>
              <a:rPr lang="en-US" altLang="zh-TW" dirty="0"/>
              <a:t>beam</a:t>
            </a:r>
            <a:r>
              <a:rPr lang="zh-TW" altLang="en-US" dirty="0"/>
              <a:t>重疊覆蓋關係，讓受到影響的 </a:t>
            </a:r>
            <a:r>
              <a:rPr lang="vi-VN" dirty="0"/>
              <a:t>users，</a:t>
            </a:r>
            <a:r>
              <a:rPr lang="zh-TW" altLang="en-US" dirty="0"/>
              <a:t>可以被鄰近的衛星去接手服務。</a:t>
            </a:r>
            <a:endParaRPr lang="en-US" altLang="zh-TW" dirty="0"/>
          </a:p>
          <a:p>
            <a:pPr marL="158750" indent="0">
              <a:buNone/>
            </a:pPr>
            <a:endParaRPr lang="en-US" altLang="zh-TW" dirty="0"/>
          </a:p>
        </p:txBody>
      </p:sp>
    </p:spTree>
    <p:extLst>
      <p:ext uri="{BB962C8B-B14F-4D97-AF65-F5344CB8AC3E}">
        <p14:creationId xmlns:p14="http://schemas.microsoft.com/office/powerpoint/2010/main" val="19617203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928EA-851C-E636-EC46-EEB30D68F67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C97BA04-56D3-731B-539D-DD0230B4B69D}"/>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2E6B3961-A269-21C4-D86B-118E6827702B}"/>
              </a:ext>
            </a:extLst>
          </p:cNvPr>
          <p:cNvSpPr>
            <a:spLocks noGrp="1"/>
          </p:cNvSpPr>
          <p:nvPr>
            <p:ph type="body" idx="1"/>
          </p:nvPr>
        </p:nvSpPr>
        <p:spPr/>
        <p:txBody>
          <a:bodyPr/>
          <a:lstStyle/>
          <a:p>
            <a:pPr marL="457200" indent="-298450"/>
            <a:r>
              <a:rPr lang="zh-TW" altLang="en-US" dirty="0"/>
              <a:t>首先我會先利用衛星運動和 </a:t>
            </a:r>
            <a:r>
              <a:rPr lang="vi-VN" dirty="0"/>
              <a:t>beam footprint </a:t>
            </a:r>
            <a:r>
              <a:rPr lang="zh-TW" altLang="en-US" dirty="0"/>
              <a:t>的可預測性，為每一個 </a:t>
            </a:r>
            <a:r>
              <a:rPr lang="vi-VN" dirty="0"/>
              <a:t>time slot </a:t>
            </a:r>
            <a:r>
              <a:rPr lang="zh-TW" altLang="en-US" dirty="0"/>
              <a:t>建立 </a:t>
            </a:r>
            <a:r>
              <a:rPr lang="vi-VN" dirty="0"/>
              <a:t>time-slot beam role record。</a:t>
            </a:r>
            <a:endParaRPr lang="en-US" dirty="0"/>
          </a:p>
          <a:p>
            <a:pPr marL="457200" indent="-298450"/>
            <a:endParaRPr lang="en-US" altLang="zh-TW" dirty="0"/>
          </a:p>
          <a:p>
            <a:pPr marL="457200" indent="-298450"/>
            <a:r>
              <a:rPr lang="zh-TW" altLang="en-US" dirty="0"/>
              <a:t>這個 </a:t>
            </a:r>
            <a:r>
              <a:rPr lang="vi-VN" dirty="0"/>
              <a:t>record </a:t>
            </a:r>
            <a:r>
              <a:rPr lang="zh-TW" altLang="en-US" dirty="0"/>
              <a:t>第一步會檢查目前所有可視 </a:t>
            </a:r>
            <a:r>
              <a:rPr lang="vi-VN" dirty="0"/>
              <a:t>LEO </a:t>
            </a:r>
            <a:r>
              <a:rPr lang="zh-TW" altLang="en-US" dirty="0"/>
              <a:t>衛星對 </a:t>
            </a:r>
            <a:r>
              <a:rPr lang="vi-VN" dirty="0"/>
              <a:t>GS </a:t>
            </a:r>
            <a:r>
              <a:rPr lang="zh-TW" altLang="en-US" dirty="0"/>
              <a:t>造成的總 </a:t>
            </a:r>
            <a:r>
              <a:rPr lang="vi-VN" dirty="0"/>
              <a:t>EPFD。</a:t>
            </a:r>
            <a:r>
              <a:rPr lang="zh-TW" altLang="en-US" dirty="0"/>
              <a:t>如果超過限制，系統就會根據每個 </a:t>
            </a:r>
            <a:r>
              <a:rPr lang="vi-VN" dirty="0"/>
              <a:t>beam </a:t>
            </a:r>
            <a:r>
              <a:rPr lang="zh-TW" altLang="en-US" dirty="0"/>
              <a:t>對 </a:t>
            </a:r>
            <a:r>
              <a:rPr lang="vi-VN" dirty="0"/>
              <a:t>GS </a:t>
            </a:r>
            <a:r>
              <a:rPr lang="zh-TW" altLang="en-US" dirty="0"/>
              <a:t>的 </a:t>
            </a:r>
            <a:r>
              <a:rPr lang="vi-VN" dirty="0"/>
              <a:t>EPFD </a:t>
            </a:r>
            <a:r>
              <a:rPr lang="zh-TW" altLang="en-US" dirty="0"/>
              <a:t>干擾進行排序，並優先關閉干擾較高的 </a:t>
            </a:r>
            <a:r>
              <a:rPr lang="vi-VN" dirty="0"/>
              <a:t>beams，</a:t>
            </a:r>
            <a:r>
              <a:rPr lang="zh-TW" altLang="en-US" dirty="0"/>
              <a:t>直到 總</a:t>
            </a:r>
            <a:r>
              <a:rPr lang="vi-VN" dirty="0"/>
              <a:t> EPFD </a:t>
            </a:r>
            <a:r>
              <a:rPr lang="zh-TW" altLang="en-US" dirty="0"/>
              <a:t>符合限制，而原先這些</a:t>
            </a:r>
            <a:r>
              <a:rPr lang="en-US" altLang="zh-TW" dirty="0"/>
              <a:t>beam</a:t>
            </a:r>
            <a:r>
              <a:rPr lang="zh-TW" altLang="en-US" dirty="0"/>
              <a:t>所服務的</a:t>
            </a:r>
            <a:r>
              <a:rPr lang="en-US" altLang="zh-TW" dirty="0"/>
              <a:t>user</a:t>
            </a:r>
            <a:r>
              <a:rPr lang="zh-TW" altLang="en-US" dirty="0"/>
              <a:t>也就是後面要拯救的目標。</a:t>
            </a:r>
            <a:endParaRPr lang="en-US" altLang="zh-TW" dirty="0"/>
          </a:p>
          <a:p>
            <a:pPr marL="457200" indent="-298450"/>
            <a:endParaRPr lang="en-US" altLang="zh-TW" dirty="0"/>
          </a:p>
          <a:p>
            <a:pPr marL="457200" indent="-298450"/>
            <a:r>
              <a:rPr lang="zh-TW" altLang="en-US" dirty="0"/>
              <a:t>只要某一顆衛星上至少有一個 </a:t>
            </a:r>
            <a:r>
              <a:rPr lang="vi-VN" dirty="0"/>
              <a:t>beam </a:t>
            </a:r>
            <a:r>
              <a:rPr lang="zh-TW" altLang="en-US" dirty="0"/>
              <a:t>被關閉</a:t>
            </a:r>
            <a:r>
              <a:rPr lang="vi-VN" dirty="0"/>
              <a:t>，</a:t>
            </a:r>
            <a:r>
              <a:rPr lang="zh-TW" altLang="en-US" dirty="0"/>
              <a:t>這顆衛星我們定義為 </a:t>
            </a:r>
            <a:r>
              <a:rPr lang="vi-VN" dirty="0"/>
              <a:t>critical </a:t>
            </a:r>
            <a:r>
              <a:rPr lang="zh-TW" altLang="en-US" dirty="0"/>
              <a:t>衛星</a:t>
            </a:r>
            <a:r>
              <a:rPr lang="vi-VN" dirty="0"/>
              <a:t>。</a:t>
            </a:r>
            <a:endParaRPr lang="en-US" dirty="0"/>
          </a:p>
          <a:p>
            <a:pPr marL="457200" indent="-298450"/>
            <a:endParaRPr lang="en-US" altLang="zh-TW" dirty="0"/>
          </a:p>
          <a:p>
            <a:pPr marL="457200" indent="-298450"/>
            <a:r>
              <a:rPr lang="zh-TW" altLang="en-US" dirty="0"/>
              <a:t>接著，系統會根據與 </a:t>
            </a:r>
            <a:r>
              <a:rPr lang="en-US" altLang="zh-TW" dirty="0"/>
              <a:t>critical beam</a:t>
            </a:r>
            <a:r>
              <a:rPr lang="zh-TW" altLang="en-US" dirty="0"/>
              <a:t> 具有重疊關係的相鄰 </a:t>
            </a:r>
            <a:r>
              <a:rPr lang="vi-VN" dirty="0"/>
              <a:t>LEO </a:t>
            </a:r>
            <a:r>
              <a:rPr lang="zh-TW" altLang="en-US" dirty="0"/>
              <a:t>衛星，此類衛星我們定義為 </a:t>
            </a:r>
            <a:r>
              <a:rPr lang="vi-VN" dirty="0"/>
              <a:t>helper </a:t>
            </a:r>
            <a:r>
              <a:rPr lang="zh-TW" altLang="en-US" dirty="0"/>
              <a:t>衛星</a:t>
            </a:r>
            <a:r>
              <a:rPr lang="vi-VN" dirty="0"/>
              <a:t>。</a:t>
            </a:r>
            <a:endParaRPr lang="en-US" altLang="zh-TW" dirty="0"/>
          </a:p>
        </p:txBody>
      </p:sp>
    </p:spTree>
    <p:extLst>
      <p:ext uri="{BB962C8B-B14F-4D97-AF65-F5344CB8AC3E}">
        <p14:creationId xmlns:p14="http://schemas.microsoft.com/office/powerpoint/2010/main" val="2743803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E07BF-C171-4A06-6E01-5EF89FAF889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3A061FA-40BD-E2D0-66FF-880102EBE733}"/>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99D4D4DA-6E66-A37E-9750-745650AA2E45}"/>
              </a:ext>
            </a:extLst>
          </p:cNvPr>
          <p:cNvSpPr>
            <a:spLocks noGrp="1"/>
          </p:cNvSpPr>
          <p:nvPr>
            <p:ph type="body" idx="1"/>
          </p:nvPr>
        </p:nvSpPr>
        <p:spPr/>
        <p:txBody>
          <a:bodyPr/>
          <a:lstStyle/>
          <a:p>
            <a:pPr marL="457200" indent="-298450"/>
            <a:r>
              <a:rPr lang="zh-TW" altLang="en-US" dirty="0"/>
              <a:t>而在 </a:t>
            </a:r>
            <a:r>
              <a:rPr lang="vi-VN" dirty="0"/>
              <a:t>critical </a:t>
            </a:r>
            <a:r>
              <a:rPr lang="zh-TW" altLang="en-US" dirty="0"/>
              <a:t>衛星上，</a:t>
            </a:r>
            <a:r>
              <a:rPr lang="vi-VN" dirty="0"/>
              <a:t>beams </a:t>
            </a:r>
            <a:r>
              <a:rPr lang="zh-TW" altLang="en-US" dirty="0"/>
              <a:t>會被分成兩類：第一類是 </a:t>
            </a:r>
            <a:r>
              <a:rPr lang="vi-VN" dirty="0"/>
              <a:t>closed beams，</a:t>
            </a:r>
            <a:r>
              <a:rPr lang="zh-TW" altLang="en-US" dirty="0"/>
              <a:t>也就是為了 </a:t>
            </a:r>
            <a:r>
              <a:rPr lang="vi-VN" dirty="0"/>
              <a:t>EPFD </a:t>
            </a:r>
            <a:r>
              <a:rPr lang="zh-TW" altLang="en-US" dirty="0"/>
              <a:t>限制而被關閉的 </a:t>
            </a:r>
            <a:r>
              <a:rPr lang="vi-VN" dirty="0"/>
              <a:t>beams；</a:t>
            </a:r>
            <a:r>
              <a:rPr lang="zh-TW" altLang="en-US" dirty="0"/>
              <a:t>第二類是 </a:t>
            </a:r>
            <a:r>
              <a:rPr lang="vi-VN" dirty="0"/>
              <a:t>safe beams，</a:t>
            </a:r>
            <a:r>
              <a:rPr lang="zh-TW" altLang="en-US" dirty="0"/>
              <a:t>也就是沒有被關閉</a:t>
            </a:r>
            <a:r>
              <a:rPr lang="vi-VN" dirty="0"/>
              <a:t>、</a:t>
            </a:r>
            <a:r>
              <a:rPr lang="zh-TW" altLang="en-US" dirty="0"/>
              <a:t>仍然保持開啟的 </a:t>
            </a:r>
            <a:r>
              <a:rPr lang="vi-VN" dirty="0"/>
              <a:t>beams。</a:t>
            </a:r>
            <a:endParaRPr lang="en-US" dirty="0"/>
          </a:p>
          <a:p>
            <a:pPr marL="457200" indent="-298450"/>
            <a:endParaRPr lang="en-US" altLang="zh-TW" dirty="0"/>
          </a:p>
          <a:p>
            <a:pPr marL="457200" indent="-298450"/>
            <a:r>
              <a:rPr lang="zh-TW" altLang="en-US" dirty="0"/>
              <a:t>同理</a:t>
            </a:r>
            <a:r>
              <a:rPr lang="en-US" dirty="0"/>
              <a:t>Helper</a:t>
            </a:r>
            <a:r>
              <a:rPr lang="zh-TW" altLang="en-US" dirty="0"/>
              <a:t>衛星上的</a:t>
            </a:r>
            <a:r>
              <a:rPr lang="vi-VN" dirty="0"/>
              <a:t>beams </a:t>
            </a:r>
            <a:r>
              <a:rPr lang="zh-TW" altLang="en-US" dirty="0"/>
              <a:t>也會被分成兩類：一種是 </a:t>
            </a:r>
            <a:r>
              <a:rPr lang="vi-VN" dirty="0"/>
              <a:t>helper recovery beam ，</a:t>
            </a:r>
            <a:r>
              <a:rPr lang="zh-TW" altLang="en-US" dirty="0"/>
              <a:t>與 </a:t>
            </a:r>
            <a:r>
              <a:rPr lang="en-US" altLang="zh-TW" dirty="0"/>
              <a:t>critical closed beam</a:t>
            </a:r>
            <a:r>
              <a:rPr lang="zh-TW" altLang="en-US" dirty="0"/>
              <a:t>具有重疊關係，代表在這重疊覆蓋區域內的</a:t>
            </a:r>
            <a:r>
              <a:rPr lang="en-US" altLang="zh-TW" dirty="0"/>
              <a:t>closed beam</a:t>
            </a:r>
            <a:r>
              <a:rPr lang="zh-TW" altLang="en-US" dirty="0"/>
              <a:t> </a:t>
            </a:r>
            <a:r>
              <a:rPr lang="vi-VN" dirty="0"/>
              <a:t>users </a:t>
            </a:r>
            <a:r>
              <a:rPr lang="zh-TW" altLang="en-US" dirty="0"/>
              <a:t>，可以被 </a:t>
            </a:r>
            <a:r>
              <a:rPr lang="vi-VN" dirty="0"/>
              <a:t>helper recovery beam</a:t>
            </a:r>
            <a:r>
              <a:rPr lang="zh-TW" altLang="en-US" dirty="0"/>
              <a:t>接手，目的就是恢復受影響</a:t>
            </a:r>
            <a:r>
              <a:rPr lang="en-US" altLang="zh-TW" dirty="0"/>
              <a:t>user</a:t>
            </a:r>
            <a:r>
              <a:rPr lang="zh-TW" altLang="en-US" dirty="0"/>
              <a:t>的服務品質</a:t>
            </a:r>
            <a:endParaRPr lang="en-US" altLang="zh-TW" dirty="0"/>
          </a:p>
          <a:p>
            <a:pPr marL="457200" indent="-298450"/>
            <a:endParaRPr lang="en-US" altLang="zh-TW" dirty="0"/>
          </a:p>
          <a:p>
            <a:pPr marL="457200" indent="-298450"/>
            <a:r>
              <a:rPr lang="zh-TW" altLang="en-US" dirty="0"/>
              <a:t>另一種是 </a:t>
            </a:r>
            <a:r>
              <a:rPr lang="vi-VN" dirty="0"/>
              <a:t>helper release beam </a:t>
            </a:r>
            <a:r>
              <a:rPr lang="zh-TW" altLang="en-US" dirty="0"/>
              <a:t>，與</a:t>
            </a:r>
            <a:r>
              <a:rPr lang="en-US" altLang="zh-TW" dirty="0"/>
              <a:t>critical safe beam</a:t>
            </a:r>
            <a:r>
              <a:rPr lang="zh-TW" altLang="en-US" dirty="0"/>
              <a:t>具有重疊關係</a:t>
            </a:r>
            <a:r>
              <a:rPr lang="vi-VN" dirty="0"/>
              <a:t>，</a:t>
            </a:r>
            <a:r>
              <a:rPr lang="zh-TW" altLang="en-US" dirty="0"/>
              <a:t>在這重疊覆蓋區域內的</a:t>
            </a:r>
            <a:r>
              <a:rPr lang="en-US" altLang="zh-TW" dirty="0"/>
              <a:t>helper </a:t>
            </a:r>
            <a:r>
              <a:rPr lang="zh-TW" altLang="en-US" dirty="0"/>
              <a:t> </a:t>
            </a:r>
            <a:r>
              <a:rPr lang="vi-VN" dirty="0"/>
              <a:t>users </a:t>
            </a:r>
            <a:r>
              <a:rPr lang="zh-TW" altLang="en-US" dirty="0"/>
              <a:t>，可以被 </a:t>
            </a:r>
            <a:r>
              <a:rPr lang="vi-VN" dirty="0"/>
              <a:t>critical safe beams </a:t>
            </a:r>
            <a:r>
              <a:rPr lang="zh-TW" altLang="en-US" dirty="0"/>
              <a:t>接手，目的是用來釋放 </a:t>
            </a:r>
            <a:r>
              <a:rPr lang="vi-VN" dirty="0"/>
              <a:t>helper </a:t>
            </a:r>
            <a:r>
              <a:rPr lang="zh-TW" altLang="en-US" dirty="0"/>
              <a:t>端的可用功率</a:t>
            </a:r>
            <a:endParaRPr lang="en-US" altLang="zh-TW" dirty="0"/>
          </a:p>
        </p:txBody>
      </p:sp>
    </p:spTree>
    <p:extLst>
      <p:ext uri="{BB962C8B-B14F-4D97-AF65-F5344CB8AC3E}">
        <p14:creationId xmlns:p14="http://schemas.microsoft.com/office/powerpoint/2010/main" val="3866395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C7901-81EA-05A1-AA30-DBD29881406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1B95D1B-9ABD-E467-5313-B2730925A7D7}"/>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2EFEBA49-92EE-C7D4-0680-D8CC6DCB3006}"/>
              </a:ext>
            </a:extLst>
          </p:cNvPr>
          <p:cNvSpPr>
            <a:spLocks noGrp="1"/>
          </p:cNvSpPr>
          <p:nvPr>
            <p:ph type="body" idx="1"/>
          </p:nvPr>
        </p:nvSpPr>
        <p:spPr/>
        <p:txBody>
          <a:bodyPr/>
          <a:lstStyle/>
          <a:p>
            <a:pPr marL="457200" indent="-298450"/>
            <a:r>
              <a:rPr lang="zh-TW" altLang="en-US" dirty="0"/>
              <a:t>接著會建立兩張圖來記錄</a:t>
            </a:r>
            <a:r>
              <a:rPr lang="en-US" altLang="zh-TW" dirty="0"/>
              <a:t>critical </a:t>
            </a:r>
            <a:r>
              <a:rPr lang="zh-TW" altLang="en-US" dirty="0"/>
              <a:t>和 </a:t>
            </a:r>
            <a:r>
              <a:rPr lang="en-US" altLang="zh-TW" dirty="0"/>
              <a:t>helper</a:t>
            </a:r>
            <a:r>
              <a:rPr lang="zh-TW" altLang="en-US" dirty="0"/>
              <a:t>衛星之間</a:t>
            </a:r>
            <a:r>
              <a:rPr lang="en-US" altLang="zh-TW" dirty="0"/>
              <a:t>beam</a:t>
            </a:r>
            <a:r>
              <a:rPr lang="zh-TW" altLang="en-US" dirty="0"/>
              <a:t>的對應狀況</a:t>
            </a:r>
            <a:endParaRPr lang="en-US" altLang="zh-TW" dirty="0"/>
          </a:p>
          <a:p>
            <a:pPr marL="457200" indent="-298450"/>
            <a:endParaRPr lang="en-US" altLang="zh-TW" dirty="0"/>
          </a:p>
          <a:p>
            <a:pPr marL="457200" indent="-298450"/>
            <a:r>
              <a:rPr lang="zh-TW" altLang="en-US" dirty="0"/>
              <a:t>每個</a:t>
            </a:r>
            <a:r>
              <a:rPr lang="en-US" altLang="zh-TW" dirty="0"/>
              <a:t>beam</a:t>
            </a:r>
            <a:r>
              <a:rPr lang="zh-TW" altLang="en-US" dirty="0"/>
              <a:t>代表一個節點，系統會根據</a:t>
            </a:r>
            <a:r>
              <a:rPr lang="en-US" altLang="zh-TW" dirty="0"/>
              <a:t>beam</a:t>
            </a:r>
            <a:r>
              <a:rPr lang="zh-TW" altLang="en-US" dirty="0"/>
              <a:t>之間是否具有重疊的</a:t>
            </a:r>
            <a:r>
              <a:rPr lang="en-US" altLang="zh-TW" dirty="0"/>
              <a:t>footprint</a:t>
            </a:r>
            <a:r>
              <a:rPr lang="zh-TW" altLang="en-US" dirty="0"/>
              <a:t>，有的話就把兩個</a:t>
            </a:r>
            <a:r>
              <a:rPr lang="en-US" altLang="zh-TW" dirty="0"/>
              <a:t>beam</a:t>
            </a:r>
            <a:r>
              <a:rPr lang="zh-TW" altLang="en-US" dirty="0"/>
              <a:t>用一條線連起來</a:t>
            </a:r>
            <a:endParaRPr lang="en-US" altLang="zh-TW" dirty="0"/>
          </a:p>
          <a:p>
            <a:pPr marL="457200" indent="-298450"/>
            <a:endParaRPr lang="en-US" altLang="zh-TW" dirty="0"/>
          </a:p>
          <a:p>
            <a:pPr marL="457200" indent="-298450"/>
            <a:r>
              <a:rPr lang="zh-TW" altLang="en-US" dirty="0"/>
              <a:t>如左圖所示，左邊節點是不同 </a:t>
            </a:r>
            <a:r>
              <a:rPr lang="en-US" altLang="zh-TW" dirty="0"/>
              <a:t>critical </a:t>
            </a:r>
            <a:r>
              <a:rPr lang="zh-TW" altLang="en-US" dirty="0"/>
              <a:t>衛星上各個的 </a:t>
            </a:r>
            <a:r>
              <a:rPr lang="en-US" altLang="zh-TW" dirty="0"/>
              <a:t>safe beam</a:t>
            </a:r>
            <a:r>
              <a:rPr lang="zh-TW" altLang="en-US" dirty="0"/>
              <a:t>，並且根據</a:t>
            </a:r>
            <a:r>
              <a:rPr lang="en-US" altLang="zh-TW" dirty="0"/>
              <a:t>footprint</a:t>
            </a:r>
            <a:r>
              <a:rPr lang="zh-TW" altLang="en-US" dirty="0"/>
              <a:t>是否有重疊找出右邊所對應的</a:t>
            </a:r>
            <a:r>
              <a:rPr lang="en-US" altLang="zh-TW" dirty="0"/>
              <a:t>helper</a:t>
            </a:r>
            <a:r>
              <a:rPr lang="zh-TW" altLang="en-US" dirty="0"/>
              <a:t>衛星的 </a:t>
            </a:r>
            <a:r>
              <a:rPr lang="en-US" altLang="zh-TW" dirty="0"/>
              <a:t>release beam </a:t>
            </a:r>
            <a:r>
              <a:rPr lang="zh-TW" altLang="en-US" dirty="0"/>
              <a:t>節點 </a:t>
            </a:r>
            <a:endParaRPr lang="en-US" altLang="zh-TW" dirty="0"/>
          </a:p>
          <a:p>
            <a:pPr marL="457200" indent="-298450"/>
            <a:endParaRPr lang="en-US" altLang="zh-TW" dirty="0"/>
          </a:p>
          <a:p>
            <a:pPr marL="457200" indent="-298450"/>
            <a:r>
              <a:rPr lang="zh-TW" altLang="en-US" dirty="0"/>
              <a:t>右圖一樣也會去紀錄</a:t>
            </a:r>
            <a:r>
              <a:rPr lang="en-US" altLang="zh-TW" dirty="0"/>
              <a:t>critical </a:t>
            </a:r>
            <a:r>
              <a:rPr lang="zh-TW" altLang="en-US" dirty="0"/>
              <a:t>上的 </a:t>
            </a:r>
            <a:r>
              <a:rPr lang="en-US" altLang="zh-TW" dirty="0"/>
              <a:t>closed beam</a:t>
            </a:r>
            <a:r>
              <a:rPr lang="zh-TW" altLang="en-US" dirty="0"/>
              <a:t>與其對應的</a:t>
            </a:r>
            <a:r>
              <a:rPr lang="en-US" altLang="zh-TW" dirty="0"/>
              <a:t>helper</a:t>
            </a:r>
            <a:r>
              <a:rPr lang="zh-TW" altLang="en-US" dirty="0"/>
              <a:t>衛星的 </a:t>
            </a:r>
            <a:r>
              <a:rPr lang="en-US" altLang="zh-TW" dirty="0"/>
              <a:t>recovery beam</a:t>
            </a:r>
          </a:p>
          <a:p>
            <a:pPr marL="457200" indent="-298450"/>
            <a:endParaRPr lang="en-US" altLang="zh-TW" dirty="0"/>
          </a:p>
          <a:p>
            <a:pPr marL="158750" indent="0">
              <a:buNone/>
            </a:pPr>
            <a:endParaRPr lang="en-US" altLang="zh-TW" dirty="0"/>
          </a:p>
        </p:txBody>
      </p:sp>
    </p:spTree>
    <p:extLst>
      <p:ext uri="{BB962C8B-B14F-4D97-AF65-F5344CB8AC3E}">
        <p14:creationId xmlns:p14="http://schemas.microsoft.com/office/powerpoint/2010/main" val="7881270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8ACB9-FBCF-8E5D-04C9-076973C7863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B639D5C-0773-ED50-737C-B685F3D33084}"/>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2D75A8AE-06E1-FFDA-0D21-E5850E24C592}"/>
              </a:ext>
            </a:extLst>
          </p:cNvPr>
          <p:cNvSpPr>
            <a:spLocks noGrp="1"/>
          </p:cNvSpPr>
          <p:nvPr>
            <p:ph type="body" idx="1"/>
          </p:nvPr>
        </p:nvSpPr>
        <p:spPr/>
        <p:txBody>
          <a:bodyPr/>
          <a:lstStyle/>
          <a:p>
            <a:pPr marL="457200" indent="-298450"/>
            <a:r>
              <a:rPr lang="zh-TW" altLang="en-US" sz="1100" b="1" dirty="0">
                <a:latin typeface="Times New Roman" panose="02020603050405020304" pitchFamily="18" charset="0"/>
                <a:cs typeface="Times New Roman" panose="02020603050405020304" pitchFamily="18" charset="0"/>
              </a:rPr>
              <a:t>接下來是演算法的第一步 </a:t>
            </a:r>
            <a:r>
              <a:rPr lang="en-US" sz="1100" b="1" dirty="0">
                <a:latin typeface="Times New Roman" panose="02020603050405020304" pitchFamily="18" charset="0"/>
                <a:cs typeface="Times New Roman" panose="02020603050405020304" pitchFamily="18" charset="0"/>
              </a:rPr>
              <a:t>SBR</a:t>
            </a:r>
          </a:p>
          <a:p>
            <a:pPr marL="457200" indent="-298450"/>
            <a:endParaRPr lang="en-US" altLang="zh-TW" sz="1100" b="1" dirty="0">
              <a:latin typeface="Times New Roman" panose="02020603050405020304" pitchFamily="18" charset="0"/>
              <a:cs typeface="Times New Roman" panose="02020603050405020304" pitchFamily="18" charset="0"/>
            </a:endParaRPr>
          </a:p>
          <a:p>
            <a:pPr marL="457200" indent="-298450"/>
            <a:r>
              <a:rPr lang="en-US" altLang="zh-TW" sz="1100" b="1" dirty="0">
                <a:latin typeface="Times New Roman" panose="02020603050405020304" pitchFamily="18" charset="0"/>
                <a:cs typeface="Times New Roman" panose="02020603050405020304" pitchFamily="18" charset="0"/>
              </a:rPr>
              <a:t>SBR</a:t>
            </a:r>
            <a:r>
              <a:rPr lang="zh-TW" altLang="en-US" sz="1100" b="1" dirty="0">
                <a:latin typeface="Times New Roman" panose="02020603050405020304" pitchFamily="18" charset="0"/>
                <a:cs typeface="Times New Roman" panose="02020603050405020304" pitchFamily="18" charset="0"/>
              </a:rPr>
              <a:t>目的是利用</a:t>
            </a:r>
            <a:r>
              <a:rPr lang="en-US" altLang="zh-TW" sz="1100" b="1" dirty="0">
                <a:latin typeface="Times New Roman" panose="02020603050405020304" pitchFamily="18" charset="0"/>
                <a:cs typeface="Times New Roman" panose="02020603050405020304" pitchFamily="18" charset="0"/>
              </a:rPr>
              <a:t>critical </a:t>
            </a:r>
            <a:r>
              <a:rPr lang="zh-TW" altLang="en-US" sz="1100" b="1" dirty="0">
                <a:latin typeface="Times New Roman" panose="02020603050405020304" pitchFamily="18" charset="0"/>
                <a:cs typeface="Times New Roman" panose="02020603050405020304" pitchFamily="18" charset="0"/>
              </a:rPr>
              <a:t>上的 </a:t>
            </a:r>
            <a:r>
              <a:rPr lang="en-US" altLang="zh-TW" sz="1100" b="1" dirty="0">
                <a:latin typeface="Times New Roman" panose="02020603050405020304" pitchFamily="18" charset="0"/>
                <a:cs typeface="Times New Roman" panose="02020603050405020304" pitchFamily="18" charset="0"/>
              </a:rPr>
              <a:t>safe beam</a:t>
            </a:r>
            <a:r>
              <a:rPr lang="zh-TW" altLang="en-US" sz="1100" b="1" dirty="0">
                <a:latin typeface="Times New Roman" panose="02020603050405020304" pitchFamily="18" charset="0"/>
                <a:cs typeface="Times New Roman" panose="02020603050405020304" pitchFamily="18" charset="0"/>
              </a:rPr>
              <a:t>來接手部分 </a:t>
            </a:r>
            <a:r>
              <a:rPr lang="en-US" altLang="zh-TW" sz="1100" b="1" dirty="0">
                <a:latin typeface="Times New Roman" panose="02020603050405020304" pitchFamily="18" charset="0"/>
                <a:cs typeface="Times New Roman" panose="02020603050405020304" pitchFamily="18" charset="0"/>
              </a:rPr>
              <a:t>helper release beam</a:t>
            </a:r>
            <a:r>
              <a:rPr lang="zh-TW" altLang="en-US" sz="1100" b="1" dirty="0">
                <a:latin typeface="Times New Roman" panose="02020603050405020304" pitchFamily="18" charset="0"/>
                <a:cs typeface="Times New Roman" panose="02020603050405020304" pitchFamily="18" charset="0"/>
              </a:rPr>
              <a:t> 上的</a:t>
            </a:r>
            <a:r>
              <a:rPr lang="en-US" altLang="zh-TW" sz="1100" b="1" dirty="0">
                <a:latin typeface="Times New Roman" panose="02020603050405020304" pitchFamily="18" charset="0"/>
                <a:cs typeface="Times New Roman" panose="02020603050405020304" pitchFamily="18" charset="0"/>
              </a:rPr>
              <a:t>user</a:t>
            </a:r>
            <a:r>
              <a:rPr lang="zh-TW" altLang="en-US" sz="1100" b="1" dirty="0">
                <a:latin typeface="Times New Roman" panose="02020603050405020304" pitchFamily="18" charset="0"/>
                <a:cs typeface="Times New Roman" panose="02020603050405020304" pitchFamily="18" charset="0"/>
              </a:rPr>
              <a:t>，</a:t>
            </a:r>
            <a:r>
              <a:rPr lang="zh-TW" altLang="en-US" dirty="0"/>
              <a:t>讓 </a:t>
            </a:r>
            <a:r>
              <a:rPr lang="vi-VN" dirty="0"/>
              <a:t>helper </a:t>
            </a:r>
            <a:r>
              <a:rPr lang="zh-TW" altLang="en-US" dirty="0"/>
              <a:t>衛星釋放出可用功率</a:t>
            </a:r>
            <a:r>
              <a:rPr lang="vi-VN" dirty="0"/>
              <a:t>。</a:t>
            </a:r>
            <a:r>
              <a:rPr lang="zh-TW" altLang="en-US" dirty="0"/>
              <a:t>這些功率後面會分配給 </a:t>
            </a:r>
            <a:r>
              <a:rPr lang="vi-VN" dirty="0"/>
              <a:t>helper recovery beams</a:t>
            </a:r>
            <a:r>
              <a:rPr lang="zh-TW" altLang="en-US" dirty="0"/>
              <a:t>去做使用</a:t>
            </a:r>
            <a:endParaRPr lang="en-US" dirty="0"/>
          </a:p>
          <a:p>
            <a:pPr marL="457200" indent="-298450"/>
            <a:endParaRPr lang="en-US" altLang="zh-TW" dirty="0"/>
          </a:p>
          <a:p>
            <a:pPr marL="457200" indent="-298450"/>
            <a:r>
              <a:rPr lang="zh-TW" altLang="en-US" dirty="0"/>
              <a:t>目前從圖知道了</a:t>
            </a:r>
            <a:r>
              <a:rPr lang="en-US" altLang="zh-TW" dirty="0"/>
              <a:t>beam</a:t>
            </a:r>
            <a:r>
              <a:rPr lang="zh-TW" altLang="en-US" dirty="0"/>
              <a:t>之間的覆蓋對應關係，但 </a:t>
            </a:r>
            <a:r>
              <a:rPr lang="en-US" altLang="zh-TW" dirty="0"/>
              <a:t>safe beam</a:t>
            </a:r>
            <a:r>
              <a:rPr lang="zh-TW" altLang="en-US" dirty="0"/>
              <a:t>真正要接手哪個 </a:t>
            </a:r>
            <a:r>
              <a:rPr lang="en-US" altLang="zh-TW" dirty="0"/>
              <a:t>release beam</a:t>
            </a:r>
            <a:r>
              <a:rPr lang="zh-TW" altLang="en-US" dirty="0"/>
              <a:t>是個問題，因為一個</a:t>
            </a:r>
            <a:r>
              <a:rPr lang="en-US" altLang="zh-TW" dirty="0"/>
              <a:t>safe beam</a:t>
            </a:r>
            <a:r>
              <a:rPr lang="zh-TW" altLang="en-US" dirty="0"/>
              <a:t>可能同時跟多個 </a:t>
            </a:r>
            <a:r>
              <a:rPr lang="en-US" altLang="zh-TW" dirty="0"/>
              <a:t>release beam</a:t>
            </a:r>
            <a:r>
              <a:rPr lang="zh-TW" altLang="en-US" dirty="0"/>
              <a:t>具有重疊覆蓋，如圖所示</a:t>
            </a:r>
            <a:endParaRPr lang="en-US" altLang="zh-TW" dirty="0"/>
          </a:p>
          <a:p>
            <a:pPr marL="457200" indent="-298450"/>
            <a:endParaRPr lang="en-US" altLang="zh-TW" dirty="0"/>
          </a:p>
          <a:p>
            <a:pPr marL="457200" indent="-298450"/>
            <a:r>
              <a:rPr lang="zh-TW" altLang="en-US" dirty="0"/>
              <a:t>因此我們會針對圖中的每一條</a:t>
            </a:r>
            <a:r>
              <a:rPr lang="en-US" altLang="zh-TW" dirty="0"/>
              <a:t>edge</a:t>
            </a:r>
            <a:r>
              <a:rPr lang="zh-TW" altLang="en-US" dirty="0"/>
              <a:t>設計 </a:t>
            </a:r>
            <a:r>
              <a:rPr lang="en-US" altLang="zh-TW" dirty="0"/>
              <a:t>release </a:t>
            </a:r>
            <a:r>
              <a:rPr lang="zh-TW" altLang="en-US" dirty="0"/>
              <a:t>分數，系統會先找重疊區域中原本由</a:t>
            </a:r>
            <a:r>
              <a:rPr lang="en-US" altLang="zh-TW" dirty="0"/>
              <a:t>release beam</a:t>
            </a:r>
            <a:r>
              <a:rPr lang="zh-TW" altLang="en-US" dirty="0"/>
              <a:t>服務的 </a:t>
            </a:r>
            <a:r>
              <a:rPr lang="en-US" altLang="zh-TW" dirty="0"/>
              <a:t>user</a:t>
            </a:r>
            <a:r>
              <a:rPr lang="zh-TW" altLang="en-US" dirty="0"/>
              <a:t> ，然後根據 </a:t>
            </a:r>
            <a:r>
              <a:rPr lang="vi-VN" dirty="0"/>
              <a:t>safe beam </a:t>
            </a:r>
            <a:r>
              <a:rPr lang="zh-TW" altLang="en-US" dirty="0"/>
              <a:t>的剩餘容量，計算最多可以接手多少 </a:t>
            </a:r>
            <a:r>
              <a:rPr lang="vi-VN" dirty="0"/>
              <a:t>helper </a:t>
            </a:r>
            <a:r>
              <a:rPr lang="zh-TW" altLang="en-US" dirty="0"/>
              <a:t>的付載</a:t>
            </a:r>
            <a:r>
              <a:rPr lang="vi-VN" dirty="0"/>
              <a:t>，</a:t>
            </a:r>
            <a:r>
              <a:rPr lang="zh-TW" altLang="en-US" dirty="0"/>
              <a:t>分數越高代表這條 </a:t>
            </a:r>
            <a:r>
              <a:rPr lang="vi-VN" dirty="0"/>
              <a:t>edge </a:t>
            </a:r>
            <a:r>
              <a:rPr lang="zh-TW" altLang="en-US" dirty="0"/>
              <a:t>能釋放的 </a:t>
            </a:r>
            <a:r>
              <a:rPr lang="vi-VN" dirty="0"/>
              <a:t>helper </a:t>
            </a:r>
            <a:r>
              <a:rPr lang="zh-TW" altLang="en-US" dirty="0"/>
              <a:t>端資源越多。</a:t>
            </a:r>
            <a:endParaRPr lang="en-US" altLang="zh-TW" dirty="0"/>
          </a:p>
        </p:txBody>
      </p:sp>
    </p:spTree>
    <p:extLst>
      <p:ext uri="{BB962C8B-B14F-4D97-AF65-F5344CB8AC3E}">
        <p14:creationId xmlns:p14="http://schemas.microsoft.com/office/powerpoint/2010/main" val="14934797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EF5EE-638D-276E-06E6-E4D6F9A9FC6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632D51F-02A5-FE7F-B5ED-D7CAD758182F}"/>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6AC410D0-B5D2-92D8-0271-308B12427C2A}"/>
              </a:ext>
            </a:extLst>
          </p:cNvPr>
          <p:cNvSpPr>
            <a:spLocks noGrp="1"/>
          </p:cNvSpPr>
          <p:nvPr>
            <p:ph type="body" idx="1"/>
          </p:nvPr>
        </p:nvSpPr>
        <p:spPr/>
        <p:txBody>
          <a:bodyPr/>
          <a:lstStyle/>
          <a:p>
            <a:pPr marL="457200" indent="-298450"/>
            <a:r>
              <a:rPr lang="zh-TW" altLang="en-US" dirty="0"/>
              <a:t>因此</a:t>
            </a:r>
            <a:r>
              <a:rPr lang="vi-VN" dirty="0"/>
              <a:t>SBR </a:t>
            </a:r>
            <a:r>
              <a:rPr lang="zh-TW" altLang="en-US" dirty="0"/>
              <a:t>會用迭代 </a:t>
            </a:r>
            <a:r>
              <a:rPr lang="vi-VN" dirty="0"/>
              <a:t>greedy </a:t>
            </a:r>
            <a:r>
              <a:rPr lang="zh-TW" altLang="en-US" dirty="0"/>
              <a:t>的方式。</a:t>
            </a:r>
            <a:endParaRPr lang="en-US" altLang="zh-TW" dirty="0"/>
          </a:p>
          <a:p>
            <a:pPr marL="457200" indent="-298450"/>
            <a:endParaRPr lang="en-US" altLang="zh-TW" dirty="0"/>
          </a:p>
          <a:p>
            <a:pPr marL="457200" indent="-298450"/>
            <a:r>
              <a:rPr lang="zh-TW" altLang="en-US" dirty="0"/>
              <a:t>在每一輪中，系統會先計算所有 </a:t>
            </a:r>
            <a:r>
              <a:rPr lang="vi-VN" dirty="0"/>
              <a:t>edges </a:t>
            </a:r>
            <a:r>
              <a:rPr lang="zh-TW" altLang="en-US" dirty="0"/>
              <a:t>的 </a:t>
            </a:r>
            <a:r>
              <a:rPr lang="vi-VN" dirty="0"/>
              <a:t>release score。</a:t>
            </a:r>
            <a:endParaRPr lang="en-US" dirty="0"/>
          </a:p>
          <a:p>
            <a:pPr marL="457200" indent="-298450"/>
            <a:endParaRPr lang="en-US" altLang="zh-TW" dirty="0"/>
          </a:p>
          <a:p>
            <a:pPr marL="457200" indent="-298450"/>
            <a:r>
              <a:rPr lang="zh-TW" altLang="en-US" dirty="0"/>
              <a:t>如右圖所示，有些</a:t>
            </a:r>
            <a:r>
              <a:rPr lang="en-US" altLang="zh-TW" dirty="0"/>
              <a:t>edge</a:t>
            </a:r>
            <a:r>
              <a:rPr lang="zh-TW" altLang="en-US" dirty="0"/>
              <a:t>分數高有些分數低</a:t>
            </a:r>
            <a:endParaRPr lang="en-US" altLang="zh-TW" dirty="0"/>
          </a:p>
        </p:txBody>
      </p:sp>
    </p:spTree>
    <p:extLst>
      <p:ext uri="{BB962C8B-B14F-4D97-AF65-F5344CB8AC3E}">
        <p14:creationId xmlns:p14="http://schemas.microsoft.com/office/powerpoint/2010/main" val="14415278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98AB4-DBFF-B754-D737-55F9CE60580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C0FF9D0-F7EC-A527-00ED-37E1A125388A}"/>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88BD5AA5-39E9-9D35-D31E-423C138614D0}"/>
              </a:ext>
            </a:extLst>
          </p:cNvPr>
          <p:cNvSpPr>
            <a:spLocks noGrp="1"/>
          </p:cNvSpPr>
          <p:nvPr>
            <p:ph type="body" idx="1"/>
          </p:nvPr>
        </p:nvSpPr>
        <p:spPr/>
        <p:txBody>
          <a:bodyPr/>
          <a:lstStyle/>
          <a:p>
            <a:pPr marL="457200" indent="-298450"/>
            <a:r>
              <a:rPr lang="zh-TW" altLang="en-US" dirty="0"/>
              <a:t>再算完每個</a:t>
            </a:r>
            <a:r>
              <a:rPr lang="en-US" altLang="zh-TW" dirty="0"/>
              <a:t>edge</a:t>
            </a:r>
            <a:r>
              <a:rPr lang="zh-TW" altLang="en-US" dirty="0"/>
              <a:t>的分數後</a:t>
            </a:r>
            <a:endParaRPr lang="en-US" altLang="zh-TW" dirty="0"/>
          </a:p>
          <a:p>
            <a:pPr marL="457200" indent="-298450"/>
            <a:endParaRPr lang="en-US" altLang="zh-TW" dirty="0"/>
          </a:p>
          <a:p>
            <a:pPr marL="457200" indent="-298450"/>
            <a:r>
              <a:rPr lang="zh-TW" altLang="en-US" dirty="0"/>
              <a:t>系統會先把圖分成不同的 </a:t>
            </a:r>
            <a:r>
              <a:rPr lang="vi-VN" dirty="0"/>
              <a:t>connected components。</a:t>
            </a:r>
            <a:r>
              <a:rPr lang="zh-TW" altLang="en-US" dirty="0"/>
              <a:t>因為不同 </a:t>
            </a:r>
            <a:r>
              <a:rPr lang="vi-VN" dirty="0"/>
              <a:t>component </a:t>
            </a:r>
            <a:r>
              <a:rPr lang="zh-TW" altLang="en-US" dirty="0"/>
              <a:t>之間不共享 </a:t>
            </a:r>
            <a:r>
              <a:rPr lang="vi-VN" dirty="0"/>
              <a:t>beam </a:t>
            </a:r>
            <a:r>
              <a:rPr lang="zh-TW" altLang="en-US" dirty="0"/>
              <a:t>的資源</a:t>
            </a:r>
            <a:r>
              <a:rPr lang="vi-VN" dirty="0"/>
              <a:t>，</a:t>
            </a:r>
            <a:r>
              <a:rPr lang="zh-TW" altLang="en-US" dirty="0"/>
              <a:t>所以可以各自處理。</a:t>
            </a:r>
            <a:endParaRPr lang="en-US" altLang="zh-TW" dirty="0"/>
          </a:p>
          <a:p>
            <a:pPr marL="457200" indent="-298450"/>
            <a:endParaRPr lang="en-US" altLang="zh-TW" dirty="0"/>
          </a:p>
          <a:p>
            <a:pPr marL="457200" indent="-298450"/>
            <a:r>
              <a:rPr lang="zh-TW" altLang="en-US" dirty="0"/>
              <a:t>每一輪中，系統會在每個 </a:t>
            </a:r>
            <a:r>
              <a:rPr lang="vi-VN" dirty="0"/>
              <a:t>component </a:t>
            </a:r>
            <a:r>
              <a:rPr lang="zh-TW" altLang="en-US" dirty="0"/>
              <a:t>裡選擇分數最高的 </a:t>
            </a:r>
            <a:r>
              <a:rPr lang="vi-VN" dirty="0"/>
              <a:t>edge，</a:t>
            </a:r>
            <a:r>
              <a:rPr lang="zh-TW" altLang="en-US" dirty="0"/>
              <a:t>並將該 </a:t>
            </a:r>
            <a:r>
              <a:rPr lang="vi-VN" dirty="0"/>
              <a:t>edge </a:t>
            </a:r>
            <a:r>
              <a:rPr lang="zh-TW" altLang="en-US" dirty="0"/>
              <a:t>對應的 </a:t>
            </a:r>
            <a:r>
              <a:rPr lang="vi-VN" dirty="0"/>
              <a:t>helper users </a:t>
            </a:r>
            <a:r>
              <a:rPr lang="zh-TW" altLang="en-US" dirty="0"/>
              <a:t>交由</a:t>
            </a:r>
            <a:r>
              <a:rPr lang="vi-VN" dirty="0"/>
              <a:t>critical safe beam</a:t>
            </a:r>
            <a:r>
              <a:rPr lang="zh-TW" altLang="en-US" dirty="0"/>
              <a:t> 服務</a:t>
            </a:r>
            <a:r>
              <a:rPr lang="vi-VN" dirty="0"/>
              <a:t>。</a:t>
            </a:r>
            <a:endParaRPr lang="en-US" altLang="zh-TW" dirty="0"/>
          </a:p>
        </p:txBody>
      </p:sp>
    </p:spTree>
    <p:extLst>
      <p:ext uri="{BB962C8B-B14F-4D97-AF65-F5344CB8AC3E}">
        <p14:creationId xmlns:p14="http://schemas.microsoft.com/office/powerpoint/2010/main" val="33025543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03597-5699-A171-B112-98B7AA138F3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641986A-B6D9-AC86-6A70-AC386A60F9A8}"/>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B0F6A443-A1A9-4A55-552C-70AF3054F88A}"/>
              </a:ext>
            </a:extLst>
          </p:cNvPr>
          <p:cNvSpPr>
            <a:spLocks noGrp="1"/>
          </p:cNvSpPr>
          <p:nvPr>
            <p:ph type="body" idx="1"/>
          </p:nvPr>
        </p:nvSpPr>
        <p:spPr/>
        <p:txBody>
          <a:bodyPr/>
          <a:lstStyle/>
          <a:p>
            <a:pPr marL="457200" indent="-298450"/>
            <a:r>
              <a:rPr lang="zh-TW" altLang="en-US" dirty="0"/>
              <a:t>完成後更新圖的狀態</a:t>
            </a:r>
            <a:r>
              <a:rPr lang="vi-VN" dirty="0"/>
              <a:t>，</a:t>
            </a:r>
            <a:r>
              <a:rPr lang="zh-TW" altLang="en-US" dirty="0"/>
              <a:t>包含 </a:t>
            </a:r>
            <a:r>
              <a:rPr lang="vi-VN" dirty="0"/>
              <a:t>safe beam </a:t>
            </a:r>
            <a:r>
              <a:rPr lang="zh-TW" altLang="en-US" dirty="0"/>
              <a:t>剩餘容量和 </a:t>
            </a:r>
            <a:r>
              <a:rPr lang="en-US" altLang="zh-TW" dirty="0"/>
              <a:t>helper release beam</a:t>
            </a:r>
            <a:r>
              <a:rPr lang="zh-TW" altLang="en-US" dirty="0"/>
              <a:t>上的</a:t>
            </a:r>
            <a:r>
              <a:rPr lang="en-US" altLang="zh-TW" dirty="0"/>
              <a:t>user</a:t>
            </a:r>
            <a:r>
              <a:rPr lang="zh-TW" altLang="en-US" dirty="0"/>
              <a:t>，並把上一輪選擇的</a:t>
            </a:r>
            <a:r>
              <a:rPr lang="en-US" altLang="zh-TW" dirty="0"/>
              <a:t>edge</a:t>
            </a:r>
            <a:r>
              <a:rPr lang="zh-TW" altLang="en-US" dirty="0"/>
              <a:t>標起來</a:t>
            </a:r>
            <a:r>
              <a:rPr lang="vi-VN" dirty="0"/>
              <a:t>，</a:t>
            </a:r>
            <a:r>
              <a:rPr lang="zh-TW" altLang="en-US" dirty="0"/>
              <a:t>接著重新計算剩餘 </a:t>
            </a:r>
            <a:r>
              <a:rPr lang="vi-VN" dirty="0"/>
              <a:t>edges </a:t>
            </a:r>
            <a:r>
              <a:rPr lang="zh-TW" altLang="en-US" dirty="0"/>
              <a:t>的分數</a:t>
            </a:r>
            <a:r>
              <a:rPr lang="vi-VN" dirty="0"/>
              <a:t>。</a:t>
            </a:r>
            <a:endParaRPr lang="en-US" dirty="0"/>
          </a:p>
          <a:p>
            <a:pPr marL="457200" indent="-298450"/>
            <a:endParaRPr lang="en-US" dirty="0"/>
          </a:p>
          <a:p>
            <a:pPr marL="457200" indent="-298450"/>
            <a:r>
              <a:rPr lang="zh-TW" altLang="en-US" dirty="0"/>
              <a:t>當</a:t>
            </a:r>
            <a:r>
              <a:rPr lang="en-US" altLang="zh-TW" dirty="0"/>
              <a:t>safe beam</a:t>
            </a:r>
            <a:r>
              <a:rPr lang="zh-TW" altLang="en-US" dirty="0"/>
              <a:t>上的剩餘容量沒有時，跟他連接的所有</a:t>
            </a:r>
            <a:r>
              <a:rPr lang="en-US" altLang="zh-TW" dirty="0"/>
              <a:t>edge</a:t>
            </a:r>
            <a:r>
              <a:rPr lang="zh-TW" altLang="en-US" dirty="0"/>
              <a:t>會更新成</a:t>
            </a:r>
            <a:r>
              <a:rPr lang="en-US" altLang="zh-TW" dirty="0"/>
              <a:t>0</a:t>
            </a:r>
            <a:r>
              <a:rPr lang="zh-TW" altLang="en-US" dirty="0"/>
              <a:t>，另外</a:t>
            </a:r>
            <a:r>
              <a:rPr lang="en-US" altLang="zh-TW" dirty="0"/>
              <a:t>helper release beam</a:t>
            </a:r>
            <a:r>
              <a:rPr lang="zh-TW" altLang="en-US" dirty="0"/>
              <a:t>上已經沒有</a:t>
            </a:r>
            <a:r>
              <a:rPr lang="en-US" altLang="zh-TW" dirty="0"/>
              <a:t>user</a:t>
            </a:r>
            <a:r>
              <a:rPr lang="zh-TW" altLang="en-US" dirty="0"/>
              <a:t>可以轉接的話，與它連接的</a:t>
            </a:r>
            <a:r>
              <a:rPr lang="en-US" altLang="zh-TW" dirty="0"/>
              <a:t>edge</a:t>
            </a:r>
            <a:r>
              <a:rPr lang="zh-TW" altLang="en-US" dirty="0"/>
              <a:t>也會變</a:t>
            </a:r>
            <a:r>
              <a:rPr lang="en-US" altLang="zh-TW" dirty="0"/>
              <a:t>0</a:t>
            </a:r>
            <a:endParaRPr lang="en-US" dirty="0"/>
          </a:p>
          <a:p>
            <a:pPr marL="457200" indent="-298450"/>
            <a:endParaRPr lang="en-US" altLang="zh-TW" dirty="0"/>
          </a:p>
          <a:p>
            <a:pPr marL="457200" indent="-298450"/>
            <a:r>
              <a:rPr lang="zh-TW" altLang="en-US" dirty="0"/>
              <a:t>這個流程會重複執行，直到沒有所有 </a:t>
            </a:r>
            <a:r>
              <a:rPr lang="vi-VN" dirty="0"/>
              <a:t>edge </a:t>
            </a:r>
            <a:r>
              <a:rPr lang="zh-TW" altLang="en-US" dirty="0"/>
              <a:t>變</a:t>
            </a:r>
            <a:r>
              <a:rPr lang="en-US" altLang="zh-TW" dirty="0"/>
              <a:t>0</a:t>
            </a:r>
            <a:r>
              <a:rPr lang="zh-TW" altLang="en-US" dirty="0"/>
              <a:t>為止。</a:t>
            </a:r>
            <a:endParaRPr lang="en-US" altLang="zh-TW" dirty="0"/>
          </a:p>
        </p:txBody>
      </p:sp>
    </p:spTree>
    <p:extLst>
      <p:ext uri="{BB962C8B-B14F-4D97-AF65-F5344CB8AC3E}">
        <p14:creationId xmlns:p14="http://schemas.microsoft.com/office/powerpoint/2010/main" val="40050004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34305-99A7-5D3B-730C-22FB013DF5E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1242497-84CB-ADD3-0FD0-05B6F83621F7}"/>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B4AD1288-B5B0-339B-54BB-AB3A84E30809}"/>
              </a:ext>
            </a:extLst>
          </p:cNvPr>
          <p:cNvSpPr>
            <a:spLocks noGrp="1"/>
          </p:cNvSpPr>
          <p:nvPr>
            <p:ph type="body" idx="1"/>
          </p:nvPr>
        </p:nvSpPr>
        <p:spPr/>
        <p:txBody>
          <a:bodyPr/>
          <a:lstStyle/>
          <a:p>
            <a:r>
              <a:rPr lang="zh-TW" altLang="en-US" dirty="0"/>
              <a:t>在 </a:t>
            </a:r>
            <a:r>
              <a:rPr lang="vi-VN" dirty="0"/>
              <a:t>SBR </a:t>
            </a:r>
            <a:r>
              <a:rPr lang="zh-TW" altLang="en-US" dirty="0"/>
              <a:t>完成後，</a:t>
            </a:r>
            <a:r>
              <a:rPr lang="vi-VN" dirty="0"/>
              <a:t>helper release beams </a:t>
            </a:r>
            <a:r>
              <a:rPr lang="zh-TW" altLang="en-US" dirty="0"/>
              <a:t>的付載下降後所釋放出的功率</a:t>
            </a:r>
            <a:r>
              <a:rPr lang="vi-VN" dirty="0"/>
              <a:t>，</a:t>
            </a:r>
            <a:r>
              <a:rPr lang="zh-TW" altLang="en-US" dirty="0"/>
              <a:t>會被加回到 </a:t>
            </a:r>
            <a:r>
              <a:rPr lang="vi-VN" dirty="0"/>
              <a:t>helper </a:t>
            </a:r>
            <a:r>
              <a:rPr lang="zh-TW" altLang="en-US" dirty="0"/>
              <a:t>衛星的可用功率預算</a:t>
            </a:r>
            <a:r>
              <a:rPr lang="vi-VN" dirty="0"/>
              <a:t>。</a:t>
            </a:r>
            <a:r>
              <a:rPr lang="zh-TW" altLang="en-US" dirty="0"/>
              <a:t>接下來，系統需要決定這些預算要優先分配給哪些的 </a:t>
            </a:r>
            <a:r>
              <a:rPr lang="vi-VN" dirty="0"/>
              <a:t>helper recovery beams。</a:t>
            </a:r>
            <a:endParaRPr lang="en-US" dirty="0"/>
          </a:p>
          <a:p>
            <a:endParaRPr lang="vi-VN" dirty="0"/>
          </a:p>
          <a:p>
            <a:r>
              <a:rPr lang="zh-TW" altLang="en-US" dirty="0"/>
              <a:t>因此系統會根據前面建立好的第二張圖</a:t>
            </a:r>
            <a:r>
              <a:rPr lang="vi-VN" dirty="0"/>
              <a:t>，</a:t>
            </a:r>
            <a:r>
              <a:rPr lang="zh-TW" altLang="en-US" dirty="0"/>
              <a:t>計算每個 </a:t>
            </a:r>
            <a:r>
              <a:rPr lang="vi-VN" dirty="0"/>
              <a:t>helper recovery beam </a:t>
            </a:r>
            <a:r>
              <a:rPr lang="zh-TW" altLang="en-US" dirty="0"/>
              <a:t>的 </a:t>
            </a:r>
            <a:r>
              <a:rPr lang="vi-VN" dirty="0"/>
              <a:t>recovery demand。</a:t>
            </a:r>
            <a:r>
              <a:rPr lang="zh-TW" altLang="en-US" dirty="0"/>
              <a:t>這個 </a:t>
            </a:r>
            <a:r>
              <a:rPr lang="vi-VN" dirty="0"/>
              <a:t>demand </a:t>
            </a:r>
            <a:r>
              <a:rPr lang="zh-TW" altLang="en-US" dirty="0"/>
              <a:t>會同時考慮 </a:t>
            </a:r>
            <a:r>
              <a:rPr lang="vi-VN" dirty="0"/>
              <a:t>closed-beam users </a:t>
            </a:r>
            <a:r>
              <a:rPr lang="zh-TW" altLang="en-US" dirty="0"/>
              <a:t>的服務需求以及他的優先權</a:t>
            </a:r>
            <a:r>
              <a:rPr lang="vi-VN" dirty="0"/>
              <a:t>。</a:t>
            </a:r>
            <a:r>
              <a:rPr lang="zh-TW" altLang="en-US" dirty="0"/>
              <a:t>代表有較多高優先權</a:t>
            </a:r>
            <a:r>
              <a:rPr lang="en-US" altLang="zh-TW" dirty="0"/>
              <a:t>user</a:t>
            </a:r>
            <a:r>
              <a:rPr lang="zh-TW" altLang="en-US" dirty="0"/>
              <a:t>並且服務需求較大時，</a:t>
            </a:r>
            <a:r>
              <a:rPr lang="en-US" altLang="zh-TW" dirty="0"/>
              <a:t>recovery demand</a:t>
            </a:r>
            <a:r>
              <a:rPr lang="zh-TW" altLang="en-US" dirty="0"/>
              <a:t>就會比較大</a:t>
            </a:r>
            <a:endParaRPr lang="en-US" dirty="0"/>
          </a:p>
          <a:p>
            <a:endParaRPr lang="zh-TW" altLang="en-US" dirty="0"/>
          </a:p>
          <a:p>
            <a:r>
              <a:rPr lang="zh-TW" altLang="en-US" dirty="0"/>
              <a:t>接著，</a:t>
            </a:r>
            <a:r>
              <a:rPr lang="zh-TW" altLang="en-US" b="1" dirty="0"/>
              <a:t>系統</a:t>
            </a:r>
            <a:r>
              <a:rPr lang="zh-TW" altLang="en-US" dirty="0"/>
              <a:t>會依照 </a:t>
            </a:r>
            <a:r>
              <a:rPr lang="vi-VN" dirty="0"/>
              <a:t>recovery demand </a:t>
            </a:r>
            <a:r>
              <a:rPr lang="zh-TW" altLang="en-US" dirty="0"/>
              <a:t>由高到低排序</a:t>
            </a:r>
            <a:r>
              <a:rPr lang="vi-VN" dirty="0"/>
              <a:t>，</a:t>
            </a:r>
            <a:r>
              <a:rPr lang="zh-TW" altLang="en-US" dirty="0"/>
              <a:t>並將可用功率依序分配給這些 </a:t>
            </a:r>
            <a:r>
              <a:rPr lang="vi-VN" dirty="0"/>
              <a:t>beams。</a:t>
            </a:r>
            <a:r>
              <a:rPr lang="zh-TW" altLang="en-US" dirty="0"/>
              <a:t>讓發射功率提高到上限，如果</a:t>
            </a:r>
            <a:r>
              <a:rPr lang="en-US" altLang="zh-TW" dirty="0"/>
              <a:t>helper</a:t>
            </a:r>
            <a:r>
              <a:rPr lang="zh-TW" altLang="en-US" dirty="0"/>
              <a:t>衛星可用功率不足以讓全部</a:t>
            </a:r>
            <a:r>
              <a:rPr lang="en-US" altLang="zh-TW" dirty="0"/>
              <a:t>helper recovery beam</a:t>
            </a:r>
            <a:r>
              <a:rPr lang="zh-TW" altLang="en-US" dirty="0"/>
              <a:t>達到發射功率上限的話，就讓其餘的</a:t>
            </a:r>
            <a:r>
              <a:rPr lang="vi-VN" dirty="0"/>
              <a:t>recovery beams</a:t>
            </a:r>
            <a:r>
              <a:rPr lang="zh-TW" altLang="en-US" dirty="0"/>
              <a:t>用原來預設的功率去接手</a:t>
            </a:r>
            <a:r>
              <a:rPr lang="en-US" altLang="zh-TW" dirty="0"/>
              <a:t>user</a:t>
            </a:r>
          </a:p>
          <a:p>
            <a:endParaRPr lang="vi-VN" dirty="0"/>
          </a:p>
          <a:p>
            <a:r>
              <a:rPr lang="zh-TW" altLang="en-US" dirty="0"/>
              <a:t>完成後，每個 </a:t>
            </a:r>
            <a:r>
              <a:rPr lang="vi-VN" dirty="0"/>
              <a:t>recovery beam </a:t>
            </a:r>
            <a:r>
              <a:rPr lang="zh-TW" altLang="en-US" dirty="0"/>
              <a:t>會得到更新後的發射功率</a:t>
            </a:r>
            <a:r>
              <a:rPr lang="vi-VN" dirty="0"/>
              <a:t>，</a:t>
            </a:r>
            <a:r>
              <a:rPr lang="zh-TW" altLang="en-US" dirty="0"/>
              <a:t>作為下一步恢復 </a:t>
            </a:r>
            <a:r>
              <a:rPr lang="vi-VN" dirty="0"/>
              <a:t>closed-beam users </a:t>
            </a:r>
            <a:r>
              <a:rPr lang="zh-TW" altLang="en-US" dirty="0"/>
              <a:t>的基礎。</a:t>
            </a:r>
          </a:p>
        </p:txBody>
      </p:sp>
    </p:spTree>
    <p:extLst>
      <p:ext uri="{BB962C8B-B14F-4D97-AF65-F5344CB8AC3E}">
        <p14:creationId xmlns:p14="http://schemas.microsoft.com/office/powerpoint/2010/main" val="32085939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CE9F3-5F2A-E0D4-EB88-B66B753A32B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A4CCE00-C1A7-3928-89C6-8E96A665BA5C}"/>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84C9711D-2C4E-3873-C9EC-49463D14DC5E}"/>
              </a:ext>
            </a:extLst>
          </p:cNvPr>
          <p:cNvSpPr>
            <a:spLocks noGrp="1"/>
          </p:cNvSpPr>
          <p:nvPr>
            <p:ph type="body" idx="1"/>
          </p:nvPr>
        </p:nvSpPr>
        <p:spPr/>
        <p:txBody>
          <a:bodyPr/>
          <a:lstStyle/>
          <a:p>
            <a:pPr marL="457200" indent="-298450"/>
            <a:r>
              <a:rPr lang="zh-TW" altLang="en-US" sz="1100" b="1" dirty="0">
                <a:latin typeface="Times New Roman" panose="02020603050405020304" pitchFamily="18" charset="0"/>
                <a:cs typeface="Times New Roman" panose="02020603050405020304" pitchFamily="18" charset="0"/>
              </a:rPr>
              <a:t>最後的一步就是</a:t>
            </a:r>
            <a:r>
              <a:rPr lang="en-US" altLang="zh-TW" sz="1100" b="1" dirty="0">
                <a:latin typeface="Times New Roman" panose="02020603050405020304" pitchFamily="18" charset="0"/>
                <a:cs typeface="Times New Roman" panose="02020603050405020304" pitchFamily="18" charset="0"/>
              </a:rPr>
              <a:t>HBR</a:t>
            </a:r>
            <a:endParaRPr lang="en-US" sz="1100" b="1" dirty="0">
              <a:latin typeface="Times New Roman" panose="02020603050405020304" pitchFamily="18" charset="0"/>
              <a:cs typeface="Times New Roman" panose="02020603050405020304" pitchFamily="18" charset="0"/>
            </a:endParaRPr>
          </a:p>
          <a:p>
            <a:pPr marL="457200" indent="-298450"/>
            <a:endParaRPr lang="en-US" altLang="zh-TW" sz="1100" b="1" dirty="0">
              <a:latin typeface="Times New Roman" panose="02020603050405020304" pitchFamily="18" charset="0"/>
              <a:cs typeface="Times New Roman" panose="02020603050405020304" pitchFamily="18" charset="0"/>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TW" sz="1100" b="1" dirty="0">
                <a:latin typeface="Times New Roman" panose="02020603050405020304" pitchFamily="18" charset="0"/>
                <a:cs typeface="Times New Roman" panose="02020603050405020304" pitchFamily="18" charset="0"/>
              </a:rPr>
              <a:t>HBR</a:t>
            </a:r>
            <a:r>
              <a:rPr lang="zh-TW" altLang="en-US" sz="1100" b="1" dirty="0">
                <a:latin typeface="Times New Roman" panose="02020603050405020304" pitchFamily="18" charset="0"/>
                <a:cs typeface="Times New Roman" panose="02020603050405020304" pitchFamily="18" charset="0"/>
              </a:rPr>
              <a:t>目的是利用</a:t>
            </a:r>
            <a:r>
              <a:rPr lang="en-US" altLang="zh-TW" sz="1100" b="1" dirty="0">
                <a:latin typeface="Times New Roman" panose="02020603050405020304" pitchFamily="18" charset="0"/>
                <a:cs typeface="Times New Roman" panose="02020603050405020304" pitchFamily="18" charset="0"/>
              </a:rPr>
              <a:t>helper </a:t>
            </a:r>
            <a:r>
              <a:rPr lang="zh-TW" altLang="en-US" sz="1100" b="1" dirty="0">
                <a:latin typeface="Times New Roman" panose="02020603050405020304" pitchFamily="18" charset="0"/>
                <a:cs typeface="Times New Roman" panose="02020603050405020304" pitchFamily="18" charset="0"/>
              </a:rPr>
              <a:t>上的 </a:t>
            </a:r>
            <a:r>
              <a:rPr lang="en-US" altLang="zh-TW" sz="1100" b="1" dirty="0">
                <a:latin typeface="Times New Roman" panose="02020603050405020304" pitchFamily="18" charset="0"/>
                <a:cs typeface="Times New Roman" panose="02020603050405020304" pitchFamily="18" charset="0"/>
              </a:rPr>
              <a:t>recovery beam</a:t>
            </a:r>
            <a:r>
              <a:rPr lang="zh-TW" altLang="en-US" sz="1100" b="1" dirty="0">
                <a:latin typeface="Times New Roman" panose="02020603050405020304" pitchFamily="18" charset="0"/>
                <a:cs typeface="Times New Roman" panose="02020603050405020304" pitchFamily="18" charset="0"/>
              </a:rPr>
              <a:t>來接手部分因為關</a:t>
            </a:r>
            <a:r>
              <a:rPr lang="en-US" altLang="zh-TW" sz="1100" b="1" dirty="0">
                <a:latin typeface="Times New Roman" panose="02020603050405020304" pitchFamily="18" charset="0"/>
                <a:cs typeface="Times New Roman" panose="02020603050405020304" pitchFamily="18" charset="0"/>
              </a:rPr>
              <a:t>beam</a:t>
            </a:r>
            <a:r>
              <a:rPr lang="zh-TW" altLang="en-US" sz="1100" b="1" dirty="0">
                <a:latin typeface="Times New Roman" panose="02020603050405020304" pitchFamily="18" charset="0"/>
                <a:cs typeface="Times New Roman" panose="02020603050405020304" pitchFamily="18" charset="0"/>
              </a:rPr>
              <a:t>而受影響的</a:t>
            </a:r>
            <a:r>
              <a:rPr lang="en-US" altLang="zh-TW" sz="1100" b="1" dirty="0">
                <a:latin typeface="Times New Roman" panose="02020603050405020304" pitchFamily="18" charset="0"/>
                <a:cs typeface="Times New Roman" panose="02020603050405020304" pitchFamily="18" charset="0"/>
              </a:rPr>
              <a:t>user</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TW" sz="1100" b="1" dirty="0">
              <a:latin typeface="Times New Roman" panose="02020603050405020304" pitchFamily="18" charset="0"/>
              <a:cs typeface="Times New Roman" panose="02020603050405020304" pitchFamily="18" charset="0"/>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zh-TW" altLang="en-US" sz="1100" b="1" dirty="0">
                <a:latin typeface="Times New Roman" panose="02020603050405020304" pitchFamily="18" charset="0"/>
                <a:cs typeface="Times New Roman" panose="02020603050405020304" pitchFamily="18" charset="0"/>
              </a:rPr>
              <a:t>一樣我們還不知道實際的</a:t>
            </a:r>
            <a:r>
              <a:rPr lang="en-US" altLang="zh-TW" sz="1100" b="1" dirty="0">
                <a:latin typeface="Times New Roman" panose="02020603050405020304" pitchFamily="18" charset="0"/>
                <a:cs typeface="Times New Roman" panose="02020603050405020304" pitchFamily="18" charset="0"/>
              </a:rPr>
              <a:t>closed beam</a:t>
            </a:r>
            <a:r>
              <a:rPr lang="zh-TW" altLang="en-US" sz="1100" b="1" dirty="0">
                <a:latin typeface="Times New Roman" panose="02020603050405020304" pitchFamily="18" charset="0"/>
                <a:cs typeface="Times New Roman" panose="02020603050405020304" pitchFamily="18" charset="0"/>
              </a:rPr>
              <a:t>要交由哪個</a:t>
            </a:r>
            <a:r>
              <a:rPr lang="en-US" altLang="zh-TW" sz="1100" b="1" dirty="0">
                <a:latin typeface="Times New Roman" panose="02020603050405020304" pitchFamily="18" charset="0"/>
                <a:cs typeface="Times New Roman" panose="02020603050405020304" pitchFamily="18" charset="0"/>
              </a:rPr>
              <a:t>recovery beam</a:t>
            </a:r>
            <a:r>
              <a:rPr lang="zh-TW" altLang="en-US" sz="1100" b="1" dirty="0">
                <a:latin typeface="Times New Roman" panose="02020603050405020304" pitchFamily="18" charset="0"/>
                <a:cs typeface="Times New Roman" panose="02020603050405020304" pitchFamily="18" charset="0"/>
              </a:rPr>
              <a:t>去做轉接，因此設計了</a:t>
            </a:r>
            <a:r>
              <a:rPr lang="en-US" altLang="zh-TW" sz="1100" b="1" dirty="0">
                <a:latin typeface="Times New Roman" panose="02020603050405020304" pitchFamily="18" charset="0"/>
                <a:cs typeface="Times New Roman" panose="02020603050405020304" pitchFamily="18" charset="0"/>
              </a:rPr>
              <a:t>recovery score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TW" sz="1100" b="1" dirty="0">
              <a:latin typeface="Times New Roman" panose="02020603050405020304" pitchFamily="18" charset="0"/>
              <a:cs typeface="Times New Roman" panose="02020603050405020304" pitchFamily="18" charset="0"/>
            </a:endParaRPr>
          </a:p>
          <a:p>
            <a:r>
              <a:rPr lang="zh-TW" altLang="en-US" dirty="0"/>
              <a:t>當容量有限時，系統會優先考慮高服務優先權的 </a:t>
            </a:r>
            <a:r>
              <a:rPr lang="vi-VN" dirty="0"/>
              <a:t>users</a:t>
            </a:r>
            <a:r>
              <a:rPr lang="zh-TW" altLang="en-US" dirty="0"/>
              <a:t> 來轉接</a:t>
            </a:r>
            <a:r>
              <a:rPr lang="vi-VN" dirty="0"/>
              <a:t>。</a:t>
            </a:r>
            <a:r>
              <a:rPr lang="zh-TW" altLang="en-US" dirty="0"/>
              <a:t>如果剩餘容量還足夠，才會繼續納入其他較低優先權的 </a:t>
            </a:r>
            <a:r>
              <a:rPr lang="vi-VN" dirty="0"/>
              <a:t>users。</a:t>
            </a:r>
            <a:endParaRPr lang="en-US" dirty="0"/>
          </a:p>
          <a:p>
            <a:endParaRPr lang="en-US" altLang="zh-TW" dirty="0"/>
          </a:p>
          <a:p>
            <a:r>
              <a:rPr lang="zh-TW" altLang="en-US" dirty="0"/>
              <a:t>因此，每條 </a:t>
            </a:r>
            <a:r>
              <a:rPr lang="vi-VN" dirty="0"/>
              <a:t>edge </a:t>
            </a:r>
            <a:r>
              <a:rPr lang="zh-TW" altLang="en-US" dirty="0"/>
              <a:t>會先把這兩條</a:t>
            </a:r>
            <a:r>
              <a:rPr lang="en-US" altLang="zh-TW" dirty="0"/>
              <a:t>beam</a:t>
            </a:r>
            <a:r>
              <a:rPr lang="zh-TW" altLang="en-US" dirty="0"/>
              <a:t>重疊覆蓋下的</a:t>
            </a:r>
            <a:r>
              <a:rPr lang="en-US" altLang="zh-TW" dirty="0"/>
              <a:t>user</a:t>
            </a:r>
            <a:r>
              <a:rPr lang="zh-TW" altLang="en-US" dirty="0"/>
              <a:t>去進行排序，排序的規則是依據優先權從高到低排列，再來同優先權的</a:t>
            </a:r>
            <a:r>
              <a:rPr lang="en-US" altLang="zh-TW" dirty="0"/>
              <a:t>user</a:t>
            </a:r>
            <a:r>
              <a:rPr lang="zh-TW" altLang="en-US" dirty="0"/>
              <a:t>在依照各自的服務需求由低到高排列，這樣可以盡量接手更多的</a:t>
            </a:r>
            <a:r>
              <a:rPr lang="en-US" altLang="zh-TW" dirty="0"/>
              <a:t>user</a:t>
            </a:r>
          </a:p>
          <a:p>
            <a:endParaRPr lang="en-US" altLang="zh-TW" dirty="0"/>
          </a:p>
          <a:p>
            <a:r>
              <a:rPr lang="zh-TW" altLang="en-US" dirty="0"/>
              <a:t>接下來以目前的</a:t>
            </a:r>
            <a:r>
              <a:rPr lang="en-US" altLang="zh-TW" dirty="0"/>
              <a:t>recovery beam</a:t>
            </a:r>
            <a:r>
              <a:rPr lang="zh-TW" altLang="en-US" dirty="0"/>
              <a:t>的剩餘容量去看，從排序中第一個</a:t>
            </a:r>
            <a:r>
              <a:rPr lang="en-US" altLang="zh-TW" dirty="0"/>
              <a:t>user</a:t>
            </a:r>
            <a:r>
              <a:rPr lang="zh-TW" altLang="en-US" dirty="0"/>
              <a:t>開始接的話，可以接手哪幾個</a:t>
            </a:r>
            <a:r>
              <a:rPr lang="en-US" altLang="zh-TW" dirty="0"/>
              <a:t>user</a:t>
            </a:r>
            <a:r>
              <a:rPr lang="vi-VN" dirty="0"/>
              <a:t>。</a:t>
            </a:r>
            <a:endParaRPr lang="en-US" dirty="0"/>
          </a:p>
          <a:p>
            <a:endParaRPr lang="vi-VN" dirty="0"/>
          </a:p>
          <a:p>
            <a:r>
              <a:rPr lang="zh-TW" altLang="en-US" dirty="0"/>
              <a:t>最後，系統會根據這組 </a:t>
            </a:r>
            <a:r>
              <a:rPr lang="vi-VN" dirty="0"/>
              <a:t>users </a:t>
            </a:r>
            <a:r>
              <a:rPr lang="zh-TW" altLang="en-US" dirty="0"/>
              <a:t>各自的恢復效益乘上各自的優先權權重後加總。因此，如果一條 </a:t>
            </a:r>
            <a:r>
              <a:rPr lang="vi-VN" dirty="0"/>
              <a:t>edge </a:t>
            </a:r>
            <a:r>
              <a:rPr lang="zh-TW" altLang="en-US" dirty="0"/>
              <a:t>有較多高優先權 </a:t>
            </a:r>
            <a:r>
              <a:rPr lang="vi-VN" dirty="0"/>
              <a:t>users</a:t>
            </a:r>
            <a:r>
              <a:rPr lang="zh-TW" altLang="en-US" dirty="0"/>
              <a:t> 時</a:t>
            </a:r>
            <a:r>
              <a:rPr lang="vi-VN" dirty="0"/>
              <a:t>，</a:t>
            </a:r>
            <a:r>
              <a:rPr lang="zh-TW" altLang="en-US" dirty="0"/>
              <a:t>它的分數就會比較高。</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TW" dirty="0"/>
          </a:p>
        </p:txBody>
      </p:sp>
    </p:spTree>
    <p:extLst>
      <p:ext uri="{BB962C8B-B14F-4D97-AF65-F5344CB8AC3E}">
        <p14:creationId xmlns:p14="http://schemas.microsoft.com/office/powerpoint/2010/main" val="12360748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E8DA1-3926-2423-88FE-7B56CF88A9A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4671351-139C-BD53-0BE4-6583457D3315}"/>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75A92AAB-5C9F-6610-5CB5-50065007DF44}"/>
              </a:ext>
            </a:extLst>
          </p:cNvPr>
          <p:cNvSpPr>
            <a:spLocks noGrp="1"/>
          </p:cNvSpPr>
          <p:nvPr>
            <p:ph type="body" idx="1"/>
          </p:nvPr>
        </p:nvSpPr>
        <p:spPr/>
        <p:txBody>
          <a:bodyPr/>
          <a:lstStyle/>
          <a:p>
            <a:pPr marL="457200" indent="-298450"/>
            <a:r>
              <a:rPr lang="zh-TW" altLang="en-US" dirty="0"/>
              <a:t>在每一輪中，系統會先計算所有 </a:t>
            </a:r>
            <a:r>
              <a:rPr lang="vi-VN" dirty="0"/>
              <a:t>edges </a:t>
            </a:r>
            <a:r>
              <a:rPr lang="zh-TW" altLang="en-US" dirty="0"/>
              <a:t>的 </a:t>
            </a:r>
            <a:r>
              <a:rPr lang="en-US" dirty="0"/>
              <a:t>recovery</a:t>
            </a:r>
            <a:r>
              <a:rPr lang="vi-VN" dirty="0"/>
              <a:t> score。</a:t>
            </a:r>
            <a:endParaRPr lang="en-US" dirty="0"/>
          </a:p>
          <a:p>
            <a:pPr marL="457200" indent="-298450"/>
            <a:endParaRPr lang="en-US" altLang="zh-TW" dirty="0"/>
          </a:p>
          <a:p>
            <a:pPr marL="457200" indent="-298450"/>
            <a:r>
              <a:rPr lang="zh-TW" altLang="en-US" dirty="0"/>
              <a:t>如右圖所示，一樣有些</a:t>
            </a:r>
            <a:r>
              <a:rPr lang="en-US" altLang="zh-TW" dirty="0"/>
              <a:t>edge</a:t>
            </a:r>
            <a:r>
              <a:rPr lang="zh-TW" altLang="en-US" dirty="0"/>
              <a:t>分數高有些分數低</a:t>
            </a:r>
            <a:endParaRPr lang="en-US" altLang="zh-TW" dirty="0"/>
          </a:p>
        </p:txBody>
      </p:sp>
    </p:spTree>
    <p:extLst>
      <p:ext uri="{BB962C8B-B14F-4D97-AF65-F5344CB8AC3E}">
        <p14:creationId xmlns:p14="http://schemas.microsoft.com/office/powerpoint/2010/main" val="26162933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7BA1D-5A07-261C-B47B-B4A182D3D85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2E997C6-A7B3-3862-DB0F-C6D4A46B972A}"/>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F3A1EC44-056F-20D7-8770-0619932B9081}"/>
              </a:ext>
            </a:extLst>
          </p:cNvPr>
          <p:cNvSpPr>
            <a:spLocks noGrp="1"/>
          </p:cNvSpPr>
          <p:nvPr>
            <p:ph type="body" idx="1"/>
          </p:nvPr>
        </p:nvSpPr>
        <p:spPr/>
        <p:txBody>
          <a:bodyPr/>
          <a:lstStyle/>
          <a:p>
            <a:pPr marL="457200" indent="-298450"/>
            <a:r>
              <a:rPr lang="zh-TW" altLang="en-US" dirty="0"/>
              <a:t>再算完每個</a:t>
            </a:r>
            <a:r>
              <a:rPr lang="en-US" altLang="zh-TW" dirty="0"/>
              <a:t>edge</a:t>
            </a:r>
            <a:r>
              <a:rPr lang="zh-TW" altLang="en-US" dirty="0"/>
              <a:t>的分數後</a:t>
            </a:r>
            <a:endParaRPr lang="en-US" altLang="zh-TW" dirty="0"/>
          </a:p>
          <a:p>
            <a:pPr marL="457200" indent="-298450"/>
            <a:endParaRPr lang="en-US" altLang="zh-TW" dirty="0"/>
          </a:p>
          <a:p>
            <a:pPr marL="457200" indent="-298450"/>
            <a:r>
              <a:rPr lang="zh-TW" altLang="en-US" dirty="0"/>
              <a:t>跟前面一樣會先把圖分成不同的 </a:t>
            </a:r>
            <a:r>
              <a:rPr lang="vi-VN" dirty="0"/>
              <a:t>connected components。</a:t>
            </a:r>
            <a:endParaRPr lang="en-US" altLang="zh-TW" dirty="0"/>
          </a:p>
          <a:p>
            <a:pPr marL="457200" indent="-298450"/>
            <a:endParaRPr lang="en-US" altLang="zh-TW" dirty="0"/>
          </a:p>
          <a:p>
            <a:pPr marL="457200" indent="-298450"/>
            <a:r>
              <a:rPr lang="zh-TW" altLang="en-US" dirty="0"/>
              <a:t>每一輪中，選擇分數最高的 </a:t>
            </a:r>
            <a:r>
              <a:rPr lang="vi-VN" dirty="0"/>
              <a:t>edge，</a:t>
            </a:r>
            <a:r>
              <a:rPr lang="zh-TW" altLang="en-US" dirty="0"/>
              <a:t>並將該 </a:t>
            </a:r>
            <a:r>
              <a:rPr lang="vi-VN" dirty="0"/>
              <a:t>edge </a:t>
            </a:r>
            <a:r>
              <a:rPr lang="zh-TW" altLang="en-US" dirty="0"/>
              <a:t>對應的 </a:t>
            </a:r>
            <a:r>
              <a:rPr lang="en-US" altLang="zh-TW" dirty="0"/>
              <a:t>critical</a:t>
            </a:r>
            <a:r>
              <a:rPr lang="vi-VN" dirty="0"/>
              <a:t> users </a:t>
            </a:r>
            <a:r>
              <a:rPr lang="zh-TW" altLang="en-US" dirty="0"/>
              <a:t>交由 </a:t>
            </a:r>
            <a:r>
              <a:rPr lang="en-US" sz="1100" dirty="0">
                <a:latin typeface="Times New Roman" panose="02020603050405020304" pitchFamily="18" charset="0"/>
                <a:cs typeface="Times New Roman" panose="02020603050405020304" pitchFamily="18" charset="0"/>
              </a:rPr>
              <a:t>helper recovery beam</a:t>
            </a:r>
            <a:r>
              <a:rPr lang="zh-TW" altLang="en-US" sz="1100" dirty="0">
                <a:latin typeface="Times New Roman" panose="02020603050405020304" pitchFamily="18" charset="0"/>
                <a:cs typeface="Times New Roman" panose="02020603050405020304" pitchFamily="18" charset="0"/>
              </a:rPr>
              <a:t>服務</a:t>
            </a:r>
            <a:r>
              <a:rPr lang="vi-VN" dirty="0"/>
              <a:t>。</a:t>
            </a:r>
            <a:endParaRPr lang="en-US" altLang="zh-TW" dirty="0"/>
          </a:p>
          <a:p>
            <a:pPr marL="158750" indent="0">
              <a:buNone/>
            </a:pPr>
            <a:endParaRPr lang="en-US" altLang="zh-TW" dirty="0"/>
          </a:p>
        </p:txBody>
      </p:sp>
    </p:spTree>
    <p:extLst>
      <p:ext uri="{BB962C8B-B14F-4D97-AF65-F5344CB8AC3E}">
        <p14:creationId xmlns:p14="http://schemas.microsoft.com/office/powerpoint/2010/main" val="42846540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02E5D-E51A-E7AE-49D0-007CB38583A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C33081A-7675-9882-A084-FA7F2D4B9C9E}"/>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4812CD94-BACB-571E-7A95-10BAA79B1562}"/>
              </a:ext>
            </a:extLst>
          </p:cNvPr>
          <p:cNvSpPr>
            <a:spLocks noGrp="1"/>
          </p:cNvSpPr>
          <p:nvPr>
            <p:ph type="body" idx="1"/>
          </p:nvPr>
        </p:nvSpPr>
        <p:spPr/>
        <p:txBody>
          <a:bodyPr/>
          <a:lstStyle/>
          <a:p>
            <a:pPr marL="457200" indent="-298450"/>
            <a:r>
              <a:rPr lang="zh-TW" altLang="en-US" dirty="0"/>
              <a:t>完成後更新圖的狀態</a:t>
            </a:r>
            <a:r>
              <a:rPr lang="vi-VN" dirty="0"/>
              <a:t>，</a:t>
            </a:r>
            <a:r>
              <a:rPr lang="zh-TW" altLang="en-US" dirty="0"/>
              <a:t>並把上一輪選擇的</a:t>
            </a:r>
            <a:r>
              <a:rPr lang="en-US" altLang="zh-TW" dirty="0"/>
              <a:t>edge</a:t>
            </a:r>
            <a:r>
              <a:rPr lang="zh-TW" altLang="en-US" dirty="0"/>
              <a:t>標起來</a:t>
            </a:r>
            <a:r>
              <a:rPr lang="vi-VN" dirty="0"/>
              <a:t>，</a:t>
            </a:r>
            <a:r>
              <a:rPr lang="zh-TW" altLang="en-US" dirty="0"/>
              <a:t>接著重新計算剩餘 </a:t>
            </a:r>
            <a:r>
              <a:rPr lang="vi-VN" dirty="0"/>
              <a:t>edges </a:t>
            </a:r>
            <a:r>
              <a:rPr lang="zh-TW" altLang="en-US" dirty="0"/>
              <a:t>的分數</a:t>
            </a:r>
            <a:r>
              <a:rPr lang="vi-VN" dirty="0"/>
              <a:t>。</a:t>
            </a:r>
            <a:endParaRPr lang="en-US" dirty="0"/>
          </a:p>
          <a:p>
            <a:pPr marL="158750" indent="0">
              <a:buNone/>
            </a:pPr>
            <a:endParaRPr lang="en-US" altLang="zh-TW" dirty="0"/>
          </a:p>
          <a:p>
            <a:pPr marL="457200" indent="-298450"/>
            <a:r>
              <a:rPr lang="zh-TW" altLang="en-US" dirty="0"/>
              <a:t>這個流程會重複執行，直到沒有所有 </a:t>
            </a:r>
            <a:r>
              <a:rPr lang="vi-VN" dirty="0"/>
              <a:t>edge </a:t>
            </a:r>
            <a:r>
              <a:rPr lang="zh-TW" altLang="en-US" dirty="0"/>
              <a:t>變</a:t>
            </a:r>
            <a:r>
              <a:rPr lang="en-US" altLang="zh-TW" dirty="0"/>
              <a:t>0</a:t>
            </a:r>
            <a:r>
              <a:rPr lang="zh-TW" altLang="en-US" dirty="0"/>
              <a:t>為止。</a:t>
            </a:r>
            <a:endParaRPr lang="en-US" altLang="zh-TW" dirty="0"/>
          </a:p>
          <a:p>
            <a:pPr marL="457200" indent="-298450"/>
            <a:endParaRPr lang="en-US" altLang="zh-TW" dirty="0"/>
          </a:p>
          <a:p>
            <a:r>
              <a:rPr lang="vi-VN" dirty="0"/>
              <a:t>HBR </a:t>
            </a:r>
            <a:r>
              <a:rPr lang="zh-TW" altLang="en-US" dirty="0"/>
              <a:t>完成後，系統就會得到最終的 </a:t>
            </a:r>
            <a:r>
              <a:rPr lang="vi-VN" dirty="0"/>
              <a:t>user </a:t>
            </a:r>
            <a:r>
              <a:rPr lang="zh-TW" altLang="en-US" dirty="0"/>
              <a:t>該由哪一個衛星的哪個</a:t>
            </a:r>
            <a:r>
              <a:rPr lang="en-US" altLang="zh-TW" dirty="0"/>
              <a:t>beam</a:t>
            </a:r>
            <a:r>
              <a:rPr lang="zh-TW" altLang="en-US" dirty="0"/>
              <a:t>服務，藉此最大化的恢復使用者的滿足率，特別是高服務優先權的</a:t>
            </a:r>
            <a:r>
              <a:rPr lang="en-US" altLang="zh-TW" dirty="0"/>
              <a:t>user</a:t>
            </a:r>
            <a:endParaRPr lang="en-US" dirty="0"/>
          </a:p>
          <a:p>
            <a:endParaRPr lang="zh-TW" altLang="en-US" dirty="0"/>
          </a:p>
          <a:p>
            <a:pPr marL="457200" indent="-298450"/>
            <a:endParaRPr lang="en-US" altLang="zh-TW" dirty="0"/>
          </a:p>
        </p:txBody>
      </p:sp>
    </p:spTree>
    <p:extLst>
      <p:ext uri="{BB962C8B-B14F-4D97-AF65-F5344CB8AC3E}">
        <p14:creationId xmlns:p14="http://schemas.microsoft.com/office/powerpoint/2010/main" val="38521517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這頁介紹我們的模擬設定。我們使用了兩個工具：一個是 </a:t>
            </a:r>
            <a:r>
              <a:rPr lang="en-US" altLang="zh-TW" dirty="0"/>
              <a:t>STK</a:t>
            </a:r>
            <a:r>
              <a:rPr lang="zh-TW" altLang="en-US" dirty="0"/>
              <a:t>，主要用來模擬衛星的軌道、</a:t>
            </a:r>
            <a:r>
              <a:rPr lang="en-US" altLang="zh-TW" dirty="0"/>
              <a:t>beam </a:t>
            </a:r>
            <a:r>
              <a:rPr lang="zh-TW" altLang="en-US" dirty="0"/>
              <a:t>覆蓋與地面站位置等；另一個是 </a:t>
            </a:r>
            <a:r>
              <a:rPr lang="en-US" altLang="zh-TW" dirty="0" err="1"/>
              <a:t>Matlab</a:t>
            </a:r>
            <a:r>
              <a:rPr lang="zh-TW" altLang="en-US" dirty="0"/>
              <a:t>，用來執行本文方法。</a:t>
            </a:r>
            <a:endParaRPr lang="en-US" altLang="zh-TW" dirty="0"/>
          </a:p>
          <a:p>
            <a:endParaRPr lang="en-US" altLang="zh-TW" dirty="0"/>
          </a:p>
          <a:p>
            <a:r>
              <a:rPr lang="zh-TW" altLang="en-US" dirty="0"/>
              <a:t>接著是模擬的參數設定。我們模擬的是 </a:t>
            </a:r>
            <a:r>
              <a:rPr lang="en-US" altLang="zh-TW" dirty="0" err="1"/>
              <a:t>Oneweb</a:t>
            </a:r>
            <a:r>
              <a:rPr lang="en-US" altLang="zh-TW" dirty="0"/>
              <a:t>-like </a:t>
            </a:r>
            <a:r>
              <a:rPr lang="zh-TW" altLang="en-US" dirty="0"/>
              <a:t>的衛星系統，模擬時段設為出現 </a:t>
            </a:r>
            <a:r>
              <a:rPr lang="en-US" altLang="zh-TW" dirty="0"/>
              <a:t>critical </a:t>
            </a:r>
            <a:r>
              <a:rPr lang="zh-TW" altLang="en-US" dirty="0"/>
              <a:t>衛星並飛越</a:t>
            </a:r>
            <a:r>
              <a:rPr lang="en-US" altLang="zh-TW" dirty="0"/>
              <a:t>GS</a:t>
            </a:r>
            <a:r>
              <a:rPr lang="zh-TW" altLang="en-US" dirty="0"/>
              <a:t>的時間段。系統中有一個位於赤道的 </a:t>
            </a:r>
            <a:r>
              <a:rPr lang="en-US" altLang="zh-TW" dirty="0"/>
              <a:t>GSO</a:t>
            </a:r>
            <a:r>
              <a:rPr lang="zh-TW" altLang="en-US" dirty="0"/>
              <a:t> 以及對應的 </a:t>
            </a:r>
            <a:r>
              <a:rPr lang="en-US" altLang="zh-TW" dirty="0"/>
              <a:t>GS</a:t>
            </a:r>
            <a:r>
              <a:rPr lang="zh-TW" altLang="en-US" dirty="0"/>
              <a:t>，我們在每顆衛星的覆蓋範圍內平均設置</a:t>
            </a:r>
            <a:r>
              <a:rPr lang="en-US" altLang="zh-TW" dirty="0"/>
              <a:t>30</a:t>
            </a:r>
            <a:r>
              <a:rPr lang="zh-TW" altLang="en-US" dirty="0"/>
              <a:t> </a:t>
            </a:r>
            <a:r>
              <a:rPr lang="en-US" altLang="zh-TW" dirty="0"/>
              <a:t>50</a:t>
            </a:r>
            <a:r>
              <a:rPr lang="zh-TW" altLang="en-US" dirty="0"/>
              <a:t> </a:t>
            </a:r>
            <a:r>
              <a:rPr lang="en-US" altLang="zh-TW" dirty="0"/>
              <a:t>70</a:t>
            </a:r>
            <a:r>
              <a:rPr lang="zh-TW" altLang="en-US" dirty="0"/>
              <a:t> 個靜止不動的</a:t>
            </a:r>
            <a:r>
              <a:rPr lang="en-US" altLang="zh-TW" dirty="0"/>
              <a:t>User</a:t>
            </a:r>
            <a:r>
              <a:rPr lang="zh-TW" altLang="en-US" dirty="0"/>
              <a:t>來當作不同衛星負載的場景。</a:t>
            </a:r>
            <a:endParaRPr lang="en-US" altLang="zh-TW" dirty="0"/>
          </a:p>
          <a:p>
            <a:endParaRPr lang="zh-TW" altLang="en-US" dirty="0"/>
          </a:p>
        </p:txBody>
      </p:sp>
    </p:spTree>
    <p:extLst>
      <p:ext uri="{BB962C8B-B14F-4D97-AF65-F5344CB8AC3E}">
        <p14:creationId xmlns:p14="http://schemas.microsoft.com/office/powerpoint/2010/main" val="16114920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zh-TW" altLang="en-US" dirty="0"/>
              <a:t>有三個比較的 </a:t>
            </a:r>
            <a:r>
              <a:rPr lang="en-US" altLang="zh-TW" dirty="0"/>
              <a:t>baseline </a:t>
            </a:r>
            <a:r>
              <a:rPr lang="zh-TW" altLang="en-US" dirty="0"/>
              <a:t>方法。</a:t>
            </a:r>
            <a:endParaRPr lang="en-US" altLang="zh-TW" dirty="0"/>
          </a:p>
          <a:p>
            <a:endParaRPr lang="en-US" altLang="zh-TW" dirty="0"/>
          </a:p>
          <a:p>
            <a:r>
              <a:rPr lang="zh-TW" altLang="en-US" dirty="0"/>
              <a:t>第一個是只做關閉 </a:t>
            </a:r>
            <a:r>
              <a:rPr lang="en-US" altLang="zh-TW" dirty="0"/>
              <a:t>critical </a:t>
            </a:r>
            <a:r>
              <a:rPr lang="zh-TW" altLang="en-US" dirty="0"/>
              <a:t>衛星的高風險 </a:t>
            </a:r>
            <a:r>
              <a:rPr lang="en-US" altLang="zh-TW" dirty="0"/>
              <a:t>beam</a:t>
            </a:r>
            <a:r>
              <a:rPr lang="zh-TW" altLang="en-US" dirty="0"/>
              <a:t> ，直到 </a:t>
            </a:r>
            <a:r>
              <a:rPr lang="en-US" altLang="zh-TW" dirty="0"/>
              <a:t>EPFD</a:t>
            </a:r>
            <a:r>
              <a:rPr lang="zh-TW" altLang="en-US" dirty="0"/>
              <a:t> 合法</a:t>
            </a:r>
            <a:endParaRPr lang="en-US" altLang="zh-TW" dirty="0"/>
          </a:p>
          <a:p>
            <a:endParaRPr lang="en-US" altLang="zh-TW" dirty="0"/>
          </a:p>
          <a:p>
            <a:r>
              <a:rPr lang="zh-TW" altLang="en-US" dirty="0"/>
              <a:t>第二是目前現有論文方法的主流，功率控制加上姿態調整</a:t>
            </a:r>
            <a:endParaRPr lang="en-US" altLang="zh-TW" dirty="0"/>
          </a:p>
          <a:p>
            <a:endParaRPr lang="en-US" altLang="zh-TW" dirty="0"/>
          </a:p>
          <a:p>
            <a:r>
              <a:rPr lang="zh-TW" altLang="en-US" dirty="0"/>
              <a:t>第三是只有做 </a:t>
            </a:r>
            <a:r>
              <a:rPr lang="en-US" altLang="zh-TW" dirty="0"/>
              <a:t>helper recovery beam</a:t>
            </a:r>
            <a:r>
              <a:rPr lang="zh-TW" altLang="en-US" dirty="0"/>
              <a:t> 去接手 </a:t>
            </a:r>
            <a:r>
              <a:rPr lang="en-US" altLang="zh-TW" dirty="0"/>
              <a:t>closed beam </a:t>
            </a:r>
            <a:r>
              <a:rPr lang="zh-TW" altLang="en-US" dirty="0"/>
              <a:t>下的 </a:t>
            </a:r>
            <a:r>
              <a:rPr lang="en-US" altLang="zh-TW" dirty="0"/>
              <a:t>user</a:t>
            </a:r>
            <a:r>
              <a:rPr lang="zh-TW" altLang="en-US" dirty="0"/>
              <a:t>，並用原先的預設功率去服務</a:t>
            </a:r>
            <a:endParaRPr lang="en-US" altLang="zh-TW" dirty="0"/>
          </a:p>
          <a:p>
            <a:endParaRPr lang="en-US" altLang="zh-TW" dirty="0"/>
          </a:p>
          <a:p>
            <a:r>
              <a:rPr lang="zh-TW" altLang="en-US" dirty="0"/>
              <a:t>第四就是本文方法</a:t>
            </a:r>
          </a:p>
        </p:txBody>
      </p:sp>
    </p:spTree>
    <p:extLst>
      <p:ext uri="{BB962C8B-B14F-4D97-AF65-F5344CB8AC3E}">
        <p14:creationId xmlns:p14="http://schemas.microsoft.com/office/powerpoint/2010/main" val="33043508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左邊這張圖首先驗證本文方法在 </a:t>
            </a:r>
            <a:r>
              <a:rPr lang="vi-VN" dirty="0"/>
              <a:t>critical pass </a:t>
            </a:r>
            <a:r>
              <a:rPr lang="zh-TW" altLang="en-US" dirty="0"/>
              <a:t>期間是否能滿足 </a:t>
            </a:r>
            <a:r>
              <a:rPr lang="vi-VN" dirty="0"/>
              <a:t>EPFD</a:t>
            </a:r>
            <a:r>
              <a:rPr lang="zh-TW" altLang="en-US" dirty="0"/>
              <a:t> 限制，</a:t>
            </a:r>
            <a:r>
              <a:rPr lang="en-US" altLang="zh-TW" dirty="0"/>
              <a:t>x </a:t>
            </a:r>
            <a:r>
              <a:rPr lang="zh-TW" altLang="en-US" dirty="0"/>
              <a:t>軸的部分， </a:t>
            </a:r>
            <a:r>
              <a:rPr lang="en-US" altLang="zh-TW" dirty="0"/>
              <a:t>0</a:t>
            </a:r>
            <a:r>
              <a:rPr lang="zh-TW" altLang="en-US" dirty="0"/>
              <a:t> 是 </a:t>
            </a:r>
            <a:r>
              <a:rPr lang="en-US" altLang="zh-TW" dirty="0"/>
              <a:t>critical </a:t>
            </a:r>
            <a:r>
              <a:rPr lang="zh-TW" altLang="en-US" dirty="0"/>
              <a:t>衛星在 </a:t>
            </a:r>
            <a:r>
              <a:rPr lang="en-US" altLang="zh-TW" dirty="0"/>
              <a:t>GS</a:t>
            </a:r>
            <a:r>
              <a:rPr lang="zh-TW" altLang="en-US" dirty="0"/>
              <a:t> 正上方也就是對 </a:t>
            </a:r>
            <a:r>
              <a:rPr lang="en-US" altLang="zh-TW" dirty="0"/>
              <a:t>GS</a:t>
            </a:r>
            <a:r>
              <a:rPr lang="zh-TW" altLang="en-US" dirty="0"/>
              <a:t> 造成的干擾最高，和飛向靠近 </a:t>
            </a:r>
            <a:r>
              <a:rPr lang="en-US" altLang="zh-TW" dirty="0"/>
              <a:t>GS</a:t>
            </a:r>
            <a:r>
              <a:rPr lang="zh-TW" altLang="en-US" dirty="0"/>
              <a:t> 前的</a:t>
            </a:r>
            <a:r>
              <a:rPr lang="en-US" altLang="zh-TW" dirty="0"/>
              <a:t>60</a:t>
            </a:r>
            <a:r>
              <a:rPr lang="zh-TW" altLang="en-US" dirty="0"/>
              <a:t>秒以及遠離 </a:t>
            </a:r>
            <a:r>
              <a:rPr lang="en-US" altLang="zh-TW" dirty="0"/>
              <a:t>GS</a:t>
            </a:r>
            <a:r>
              <a:rPr lang="zh-TW" altLang="en-US" dirty="0"/>
              <a:t> 的</a:t>
            </a:r>
            <a:r>
              <a:rPr lang="en-US" altLang="zh-TW" dirty="0"/>
              <a:t>60</a:t>
            </a:r>
            <a:r>
              <a:rPr lang="zh-TW" altLang="en-US" dirty="0"/>
              <a:t>秒</a:t>
            </a:r>
            <a:endParaRPr lang="en-US" altLang="zh-TW" dirty="0"/>
          </a:p>
          <a:p>
            <a:endParaRPr lang="en-US" altLang="zh-TW" dirty="0"/>
          </a:p>
          <a:p>
            <a:r>
              <a:rPr lang="zh-TW" altLang="en-US" dirty="0"/>
              <a:t>可以看到本文方法有滿足紅色這條線的 </a:t>
            </a:r>
            <a:r>
              <a:rPr lang="en-US" altLang="zh-TW" dirty="0"/>
              <a:t>EPFD</a:t>
            </a:r>
            <a:r>
              <a:rPr lang="zh-TW" altLang="en-US" dirty="0"/>
              <a:t> 限制</a:t>
            </a:r>
            <a:endParaRPr lang="en-US" altLang="zh-TW" dirty="0"/>
          </a:p>
          <a:p>
            <a:endParaRPr lang="en-US" altLang="zh-TW" dirty="0"/>
          </a:p>
          <a:p>
            <a:r>
              <a:rPr lang="zh-TW" altLang="en-US" dirty="0"/>
              <a:t>右圖則是不同時間點 </a:t>
            </a:r>
            <a:r>
              <a:rPr lang="vi-VN" dirty="0"/>
              <a:t>critical </a:t>
            </a:r>
            <a:r>
              <a:rPr lang="zh-TW" altLang="en-US" dirty="0"/>
              <a:t>衛星上需要被關閉的 </a:t>
            </a:r>
            <a:r>
              <a:rPr lang="vi-VN" dirty="0"/>
              <a:t>beams </a:t>
            </a:r>
            <a:r>
              <a:rPr lang="zh-TW" altLang="en-US" dirty="0"/>
              <a:t>數量，當衛星逐漸接近</a:t>
            </a:r>
            <a:r>
              <a:rPr lang="en-US" altLang="zh-TW" dirty="0"/>
              <a:t>GS</a:t>
            </a:r>
            <a:r>
              <a:rPr lang="zh-TW" altLang="en-US" dirty="0"/>
              <a:t>時，</a:t>
            </a:r>
            <a:r>
              <a:rPr lang="vi-VN" dirty="0"/>
              <a:t>，closed beams </a:t>
            </a:r>
            <a:r>
              <a:rPr lang="zh-TW" altLang="en-US" dirty="0"/>
              <a:t>的數量持續增加，</a:t>
            </a:r>
            <a:r>
              <a:rPr lang="en-US" altLang="zh-TW" dirty="0"/>
              <a:t>0</a:t>
            </a:r>
            <a:r>
              <a:rPr lang="zh-TW" altLang="en-US" dirty="0"/>
              <a:t>的時候來到最高</a:t>
            </a:r>
            <a:endParaRPr lang="en-US" altLang="zh-TW" dirty="0"/>
          </a:p>
          <a:p>
            <a:endParaRPr lang="en-US" altLang="zh-TW" dirty="0"/>
          </a:p>
          <a:p>
            <a:r>
              <a:rPr lang="zh-TW" altLang="en-US" dirty="0"/>
              <a:t>這說明本文方法的必要性。</a:t>
            </a:r>
          </a:p>
        </p:txBody>
      </p:sp>
    </p:spTree>
    <p:extLst>
      <p:ext uri="{BB962C8B-B14F-4D97-AF65-F5344CB8AC3E}">
        <p14:creationId xmlns:p14="http://schemas.microsoft.com/office/powerpoint/2010/main" val="1231882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接下來我們進一步比較不同方法在 </a:t>
            </a:r>
            <a:r>
              <a:rPr lang="vi-VN" dirty="0"/>
              <a:t>user </a:t>
            </a:r>
            <a:r>
              <a:rPr lang="zh-TW" altLang="en-US" dirty="0"/>
              <a:t>滿足率上的表現。</a:t>
            </a:r>
            <a:endParaRPr lang="en-US" altLang="zh-TW" dirty="0"/>
          </a:p>
          <a:p>
            <a:endParaRPr lang="en-US" altLang="zh-TW" dirty="0"/>
          </a:p>
          <a:p>
            <a:r>
              <a:rPr lang="zh-TW" altLang="en-US" dirty="0"/>
              <a:t>這張圖分別呈現三種不同 </a:t>
            </a:r>
            <a:r>
              <a:rPr lang="vi-VN" dirty="0"/>
              <a:t>user </a:t>
            </a:r>
            <a:r>
              <a:rPr lang="zh-TW" altLang="en-US" dirty="0"/>
              <a:t>負載情況下的平均 </a:t>
            </a:r>
            <a:r>
              <a:rPr lang="vi-VN" dirty="0"/>
              <a:t>user </a:t>
            </a:r>
            <a:r>
              <a:rPr lang="zh-TW" altLang="en-US" dirty="0"/>
              <a:t>滿足率</a:t>
            </a:r>
            <a:r>
              <a:rPr lang="vi-VN" dirty="0"/>
              <a:t>。</a:t>
            </a:r>
            <a:endParaRPr lang="en-US" dirty="0"/>
          </a:p>
          <a:p>
            <a:endParaRPr lang="en-US" altLang="zh-TW" dirty="0"/>
          </a:p>
          <a:p>
            <a:r>
              <a:rPr lang="zh-TW" altLang="en-US" dirty="0"/>
              <a:t>可以看到</a:t>
            </a:r>
            <a:r>
              <a:rPr lang="en-US" altLang="zh-TW" dirty="0"/>
              <a:t>only HBR </a:t>
            </a:r>
            <a:r>
              <a:rPr lang="zh-TW" altLang="en-US" dirty="0"/>
              <a:t>和 </a:t>
            </a:r>
            <a:r>
              <a:rPr lang="en-US" altLang="zh-TW" dirty="0"/>
              <a:t>EABR </a:t>
            </a:r>
            <a:r>
              <a:rPr lang="zh-TW" altLang="en-US" dirty="0"/>
              <a:t>都比 </a:t>
            </a:r>
            <a:r>
              <a:rPr lang="en-US" altLang="zh-TW" dirty="0"/>
              <a:t>PC + Tilt</a:t>
            </a:r>
            <a:r>
              <a:rPr lang="zh-TW" altLang="en-US" dirty="0"/>
              <a:t> 高</a:t>
            </a:r>
            <a:endParaRPr lang="en-US" altLang="zh-TW" dirty="0"/>
          </a:p>
          <a:p>
            <a:endParaRPr lang="en-US" altLang="zh-TW" dirty="0"/>
          </a:p>
          <a:p>
            <a:r>
              <a:rPr lang="zh-TW" altLang="en-US" dirty="0"/>
              <a:t>而中低附載情境下，由於預設功率就足以支撐需要接手過來的 </a:t>
            </a:r>
            <a:r>
              <a:rPr lang="en-US" altLang="zh-TW" dirty="0"/>
              <a:t>user</a:t>
            </a:r>
            <a:r>
              <a:rPr lang="zh-TW" altLang="en-US" dirty="0"/>
              <a:t>，因此 </a:t>
            </a:r>
            <a:r>
              <a:rPr lang="en-US" altLang="zh-TW" dirty="0"/>
              <a:t>only HBR </a:t>
            </a:r>
            <a:r>
              <a:rPr lang="zh-TW" altLang="en-US" dirty="0"/>
              <a:t>和 </a:t>
            </a:r>
            <a:r>
              <a:rPr lang="en-US" altLang="zh-TW" dirty="0"/>
              <a:t>EABR </a:t>
            </a:r>
            <a:r>
              <a:rPr lang="zh-TW" altLang="en-US" dirty="0"/>
              <a:t>差距不明顯</a:t>
            </a:r>
            <a:endParaRPr lang="en-US" altLang="zh-TW" dirty="0"/>
          </a:p>
          <a:p>
            <a:endParaRPr lang="en-US" altLang="zh-TW" dirty="0"/>
          </a:p>
          <a:p>
            <a:r>
              <a:rPr lang="zh-TW" altLang="en-US" dirty="0"/>
              <a:t>而在中高附載下，就可以看出</a:t>
            </a:r>
            <a:r>
              <a:rPr lang="en-US" altLang="zh-TW" dirty="0"/>
              <a:t>EABR</a:t>
            </a:r>
            <a:r>
              <a:rPr lang="zh-TW" altLang="en-US" dirty="0"/>
              <a:t>明顯更好</a:t>
            </a:r>
          </a:p>
        </p:txBody>
      </p:sp>
    </p:spTree>
    <p:extLst>
      <p:ext uri="{BB962C8B-B14F-4D97-AF65-F5344CB8AC3E}">
        <p14:creationId xmlns:p14="http://schemas.microsoft.com/office/powerpoint/2010/main" val="31158751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這張圖是用來表示這兩種方法在接手受影響 </a:t>
            </a:r>
            <a:r>
              <a:rPr lang="en-US" altLang="zh-TW" dirty="0"/>
              <a:t>user </a:t>
            </a:r>
            <a:r>
              <a:rPr lang="zh-TW" altLang="en-US" dirty="0"/>
              <a:t>的能力</a:t>
            </a:r>
            <a:endParaRPr lang="en-US" altLang="zh-TW" dirty="0"/>
          </a:p>
          <a:p>
            <a:endParaRPr lang="en-US" altLang="zh-TW" dirty="0"/>
          </a:p>
          <a:p>
            <a:r>
              <a:rPr lang="zh-TW" altLang="en-US" dirty="0"/>
              <a:t>可以看到在中高附載情況下，</a:t>
            </a:r>
            <a:r>
              <a:rPr lang="en-US" altLang="zh-TW" dirty="0"/>
              <a:t>EABR</a:t>
            </a:r>
            <a:r>
              <a:rPr lang="zh-TW" altLang="en-US" dirty="0"/>
              <a:t>明顯可以承接更多的</a:t>
            </a:r>
            <a:r>
              <a:rPr lang="en-US" altLang="zh-TW" dirty="0"/>
              <a:t>users</a:t>
            </a:r>
            <a:r>
              <a:rPr lang="zh-TW" altLang="en-US" dirty="0"/>
              <a:t>，這也證明了方法中第一階段</a:t>
            </a:r>
            <a:r>
              <a:rPr lang="en-US" altLang="zh-TW" dirty="0"/>
              <a:t>SBR</a:t>
            </a:r>
            <a:r>
              <a:rPr lang="zh-TW" altLang="en-US" dirty="0"/>
              <a:t>的必要性</a:t>
            </a:r>
          </a:p>
        </p:txBody>
      </p:sp>
    </p:spTree>
    <p:extLst>
      <p:ext uri="{BB962C8B-B14F-4D97-AF65-F5344CB8AC3E}">
        <p14:creationId xmlns:p14="http://schemas.microsoft.com/office/powerpoint/2010/main" val="21276390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我們進一步觀察滿足率的分布情況。</a:t>
            </a:r>
            <a:endParaRPr lang="en-US" altLang="zh-TW" dirty="0"/>
          </a:p>
          <a:p>
            <a:endParaRPr lang="en-US" altLang="zh-TW" dirty="0"/>
          </a:p>
          <a:p>
            <a:r>
              <a:rPr lang="zh-TW" altLang="en-US" dirty="0"/>
              <a:t>圖中的 </a:t>
            </a:r>
            <a:r>
              <a:rPr lang="vi-VN" dirty="0"/>
              <a:t>CDF </a:t>
            </a:r>
            <a:r>
              <a:rPr lang="zh-TW" altLang="en-US" dirty="0"/>
              <a:t>曲線越往右，代表有更多 </a:t>
            </a:r>
            <a:r>
              <a:rPr lang="vi-VN" dirty="0"/>
              <a:t>users </a:t>
            </a:r>
            <a:r>
              <a:rPr lang="zh-TW" altLang="en-US" dirty="0"/>
              <a:t>可以維持較高的滿足率</a:t>
            </a:r>
            <a:endParaRPr lang="en-US" altLang="zh-TW" dirty="0"/>
          </a:p>
          <a:p>
            <a:endParaRPr lang="en-US" altLang="zh-TW" dirty="0"/>
          </a:p>
          <a:p>
            <a:r>
              <a:rPr lang="zh-TW" altLang="en-US" dirty="0"/>
              <a:t>可以看到</a:t>
            </a:r>
            <a:r>
              <a:rPr lang="en-US" altLang="zh-TW" dirty="0"/>
              <a:t>EABR</a:t>
            </a:r>
            <a:r>
              <a:rPr lang="zh-TW" altLang="en-US" dirty="0"/>
              <a:t>的曲線最往右，說明本文方法能降低低滿足率的 </a:t>
            </a:r>
            <a:r>
              <a:rPr lang="en-US" altLang="zh-TW" dirty="0"/>
              <a:t>user </a:t>
            </a:r>
            <a:r>
              <a:rPr lang="zh-TW" altLang="en-US" dirty="0"/>
              <a:t>比例，讓整體服務品質分布更穩定</a:t>
            </a:r>
            <a:endParaRPr lang="en-US" altLang="zh-TW" dirty="0"/>
          </a:p>
        </p:txBody>
      </p:sp>
    </p:spTree>
    <p:extLst>
      <p:ext uri="{BB962C8B-B14F-4D97-AF65-F5344CB8AC3E}">
        <p14:creationId xmlns:p14="http://schemas.microsoft.com/office/powerpoint/2010/main" val="3568082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最後，我們分析不同 </a:t>
            </a:r>
            <a:r>
              <a:rPr lang="vi-VN" dirty="0"/>
              <a:t>EPFD</a:t>
            </a:r>
            <a:r>
              <a:rPr lang="zh-TW" altLang="en-US" dirty="0"/>
              <a:t> 限制的服務表現影響。</a:t>
            </a:r>
            <a:endParaRPr lang="en-US" altLang="zh-TW" dirty="0"/>
          </a:p>
          <a:p>
            <a:endParaRPr lang="en-US" altLang="zh-TW" dirty="0"/>
          </a:p>
          <a:p>
            <a:r>
              <a:rPr lang="zh-TW" altLang="en-US" dirty="0"/>
              <a:t>可以看到本文方法在法規較寬鬆時，可以維持較高的平均滿足率</a:t>
            </a:r>
            <a:r>
              <a:rPr lang="vi-VN" dirty="0"/>
              <a:t>。</a:t>
            </a:r>
            <a:endParaRPr lang="en-US" dirty="0"/>
          </a:p>
          <a:p>
            <a:endParaRPr lang="en-US" altLang="zh-TW" dirty="0"/>
          </a:p>
          <a:p>
            <a:r>
              <a:rPr lang="zh-TW" altLang="en-US" dirty="0"/>
              <a:t>這個結果說明 </a:t>
            </a:r>
            <a:r>
              <a:rPr lang="vi-VN" dirty="0"/>
              <a:t>EPFD </a:t>
            </a:r>
            <a:r>
              <a:rPr lang="zh-TW" altLang="en-US" dirty="0"/>
              <a:t>限制的嚴格程度會直接影響 </a:t>
            </a:r>
            <a:r>
              <a:rPr lang="en-US" altLang="zh-TW" dirty="0"/>
              <a:t>user </a:t>
            </a:r>
            <a:r>
              <a:rPr lang="zh-TW" altLang="en-US" dirty="0"/>
              <a:t>的滿足率</a:t>
            </a:r>
            <a:r>
              <a:rPr lang="vi-VN" dirty="0"/>
              <a:t>。</a:t>
            </a:r>
            <a:r>
              <a:rPr lang="zh-TW" altLang="en-US" dirty="0"/>
              <a:t>而本文方法在較寬鬆的限制下一樣可以達到更好的使用者滿足率和系統穩定性。</a:t>
            </a:r>
            <a:endParaRPr lang="en-US" altLang="zh-TW" dirty="0"/>
          </a:p>
        </p:txBody>
      </p:sp>
    </p:spTree>
    <p:extLst>
      <p:ext uri="{BB962C8B-B14F-4D97-AF65-F5344CB8AC3E}">
        <p14:creationId xmlns:p14="http://schemas.microsoft.com/office/powerpoint/2010/main" val="22361798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這邊做個總結。本研究提出 </a:t>
            </a:r>
            <a:r>
              <a:rPr lang="en-US" altLang="zh-TW" dirty="0"/>
              <a:t>EABR</a:t>
            </a:r>
            <a:r>
              <a:rPr lang="zh-TW" altLang="en-US" dirty="0"/>
              <a:t> 演算法，也就是一個針對 </a:t>
            </a:r>
            <a:r>
              <a:rPr lang="en-US" altLang="zh-TW" dirty="0"/>
              <a:t>NGSO</a:t>
            </a:r>
            <a:r>
              <a:rPr lang="zh-TW" altLang="en-US" dirty="0"/>
              <a:t>和</a:t>
            </a:r>
            <a:r>
              <a:rPr lang="en-US" altLang="zh-TW" dirty="0"/>
              <a:t>GSO </a:t>
            </a:r>
            <a:r>
              <a:rPr lang="zh-TW" altLang="en-US" dirty="0"/>
              <a:t>共存情境下，</a:t>
            </a:r>
            <a:r>
              <a:rPr lang="en-US" altLang="zh-TW" dirty="0"/>
              <a:t>multi beam</a:t>
            </a:r>
            <a:r>
              <a:rPr lang="zh-TW" altLang="en-US" dirty="0"/>
              <a:t> </a:t>
            </a:r>
            <a:r>
              <a:rPr lang="en-US" altLang="zh-TW" dirty="0"/>
              <a:t>LEO </a:t>
            </a:r>
            <a:r>
              <a:rPr lang="zh-TW" altLang="en-US" dirty="0"/>
              <a:t>衛星系統的服務恢復方法。</a:t>
            </a:r>
            <a:endParaRPr lang="en-US" altLang="zh-TW" dirty="0"/>
          </a:p>
          <a:p>
            <a:endParaRPr lang="en-US" altLang="zh-TW" dirty="0"/>
          </a:p>
          <a:p>
            <a:r>
              <a:rPr lang="zh-TW" altLang="en-US" dirty="0"/>
              <a:t>本文方法首先利用 </a:t>
            </a:r>
            <a:r>
              <a:rPr lang="vi-VN" dirty="0"/>
              <a:t>time-slot beam role record，</a:t>
            </a:r>
            <a:r>
              <a:rPr lang="zh-TW" altLang="en-US" dirty="0"/>
              <a:t>根據每個 </a:t>
            </a:r>
            <a:r>
              <a:rPr lang="vi-VN" dirty="0"/>
              <a:t>time slot </a:t>
            </a:r>
            <a:r>
              <a:rPr lang="zh-TW" altLang="en-US" dirty="0"/>
              <a:t>的 </a:t>
            </a:r>
            <a:r>
              <a:rPr lang="vi-VN" dirty="0"/>
              <a:t>EPFD </a:t>
            </a:r>
            <a:r>
              <a:rPr lang="zh-TW" altLang="en-US" dirty="0"/>
              <a:t>風險和 </a:t>
            </a:r>
            <a:r>
              <a:rPr lang="vi-VN" dirty="0"/>
              <a:t>beam footprint ，</a:t>
            </a:r>
            <a:r>
              <a:rPr lang="zh-TW" altLang="en-US" dirty="0"/>
              <a:t>判斷 </a:t>
            </a:r>
            <a:r>
              <a:rPr lang="vi-VN" dirty="0"/>
              <a:t>critical </a:t>
            </a:r>
            <a:r>
              <a:rPr lang="zh-TW" altLang="en-US" dirty="0"/>
              <a:t>和 </a:t>
            </a:r>
            <a:r>
              <a:rPr lang="vi-VN" dirty="0"/>
              <a:t>helper </a:t>
            </a:r>
            <a:r>
              <a:rPr lang="zh-TW" altLang="en-US" dirty="0"/>
              <a:t>衛星上</a:t>
            </a:r>
            <a:r>
              <a:rPr lang="en-US" altLang="zh-TW" dirty="0"/>
              <a:t>beam</a:t>
            </a:r>
            <a:r>
              <a:rPr lang="zh-TW" altLang="en-US" dirty="0"/>
              <a:t>的對應覆蓋關係。接著先透過 </a:t>
            </a:r>
            <a:r>
              <a:rPr lang="en-US" altLang="zh-TW" dirty="0"/>
              <a:t>SBA </a:t>
            </a:r>
            <a:r>
              <a:rPr lang="zh-TW" altLang="en-US" dirty="0"/>
              <a:t>釋放 </a:t>
            </a:r>
            <a:r>
              <a:rPr lang="vi-VN" dirty="0"/>
              <a:t>helper satellite </a:t>
            </a:r>
            <a:r>
              <a:rPr lang="zh-TW" altLang="en-US" dirty="0"/>
              <a:t>的可用功率，將功率分配給 </a:t>
            </a:r>
            <a:r>
              <a:rPr lang="vi-VN" dirty="0"/>
              <a:t>helper recovery beams，</a:t>
            </a:r>
            <a:r>
              <a:rPr lang="zh-TW" altLang="en-US" dirty="0"/>
              <a:t>最後由 </a:t>
            </a:r>
            <a:r>
              <a:rPr lang="vi-VN" dirty="0"/>
              <a:t>HBR </a:t>
            </a:r>
            <a:r>
              <a:rPr lang="zh-TW" altLang="en-US" dirty="0"/>
              <a:t>重新接手因關 </a:t>
            </a:r>
            <a:r>
              <a:rPr lang="en-US" altLang="zh-TW" dirty="0"/>
              <a:t>beam </a:t>
            </a:r>
            <a:r>
              <a:rPr lang="zh-TW" altLang="en-US" dirty="0"/>
              <a:t>而受影響的 </a:t>
            </a:r>
            <a:r>
              <a:rPr lang="vi-VN" dirty="0"/>
              <a:t>users。</a:t>
            </a:r>
            <a:endParaRPr lang="en-US" altLang="zh-TW" dirty="0"/>
          </a:p>
          <a:p>
            <a:endParaRPr lang="en-US" altLang="zh-TW" dirty="0"/>
          </a:p>
          <a:p>
            <a:r>
              <a:rPr lang="zh-TW" altLang="en-US" dirty="0"/>
              <a:t>從模擬結果可以看到，本文方法在 </a:t>
            </a:r>
            <a:r>
              <a:rPr lang="en-US" altLang="zh-TW" dirty="0"/>
              <a:t>critical</a:t>
            </a:r>
            <a:r>
              <a:rPr lang="zh-TW" altLang="en-US" dirty="0"/>
              <a:t> 衛星通過 </a:t>
            </a:r>
            <a:r>
              <a:rPr lang="vi-VN" dirty="0"/>
              <a:t>GS </a:t>
            </a:r>
            <a:r>
              <a:rPr lang="zh-TW" altLang="en-US" dirty="0"/>
              <a:t>附近的期間，仍然可以讓 </a:t>
            </a:r>
            <a:r>
              <a:rPr lang="vi-VN" dirty="0"/>
              <a:t>EPFD </a:t>
            </a:r>
            <a:r>
              <a:rPr lang="zh-TW" altLang="en-US" dirty="0"/>
              <a:t>維持合法。同時，相較於其他方法</a:t>
            </a:r>
            <a:r>
              <a:rPr lang="vi-VN" dirty="0"/>
              <a:t>，</a:t>
            </a:r>
            <a:r>
              <a:rPr lang="zh-TW" altLang="en-US" dirty="0"/>
              <a:t>能夠達到更高的平均 </a:t>
            </a:r>
            <a:r>
              <a:rPr lang="en-US" altLang="zh-TW" dirty="0"/>
              <a:t>user </a:t>
            </a:r>
            <a:r>
              <a:rPr lang="zh-TW" altLang="en-US" dirty="0"/>
              <a:t>滿足率，特別是在高附載的情境下，效果會更明顯。</a:t>
            </a:r>
            <a:endParaRPr lang="en-US" altLang="zh-TW" dirty="0"/>
          </a:p>
        </p:txBody>
      </p:sp>
    </p:spTree>
    <p:extLst>
      <p:ext uri="{BB962C8B-B14F-4D97-AF65-F5344CB8AC3E}">
        <p14:creationId xmlns:p14="http://schemas.microsoft.com/office/powerpoint/2010/main" val="29789208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2"/>
        <p:cNvGrpSpPr/>
        <p:nvPr/>
      </p:nvGrpSpPr>
      <p:grpSpPr>
        <a:xfrm>
          <a:off x="0" y="0"/>
          <a:ext cx="0" cy="0"/>
          <a:chOff x="0" y="0"/>
          <a:chExt cx="0" cy="0"/>
        </a:xfrm>
      </p:grpSpPr>
      <p:sp>
        <p:nvSpPr>
          <p:cNvPr id="1943" name="Google Shape;1943;g2eb39e3d72e_0_56:notes"/>
          <p:cNvSpPr>
            <a:spLocks noGrp="1" noRot="1" noChangeAspect="1"/>
          </p:cNvSpPr>
          <p:nvPr>
            <p:ph type="sldImg" idx="2"/>
          </p:nvPr>
        </p:nvSpPr>
        <p:spPr>
          <a:xfrm>
            <a:off x="77788" y="739775"/>
            <a:ext cx="6580187" cy="37020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4" name="Google Shape;1944;g2eb39e3d72e_0_56:notes"/>
          <p:cNvSpPr txBox="1">
            <a:spLocks noGrp="1"/>
          </p:cNvSpPr>
          <p:nvPr>
            <p:ph type="body" idx="1"/>
          </p:nvPr>
        </p:nvSpPr>
        <p:spPr>
          <a:xfrm>
            <a:off x="673577" y="4688007"/>
            <a:ext cx="5388610" cy="444127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TW" altLang="en-US" dirty="0"/>
              <a:t>感謝各位口委的聆聽，我的報告到此結束。</a:t>
            </a: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這類方法是以早期 </a:t>
            </a:r>
            <a:r>
              <a:rPr lang="vi-VN" dirty="0"/>
              <a:t>OneWeb </a:t>
            </a:r>
            <a:r>
              <a:rPr lang="zh-TW" altLang="en-US" dirty="0"/>
              <a:t>提出的</a:t>
            </a:r>
            <a:r>
              <a:rPr lang="vi-VN" dirty="0"/>
              <a:t>progressive pitch </a:t>
            </a:r>
            <a:r>
              <a:rPr lang="zh-TW" altLang="en-US" dirty="0"/>
              <a:t>策略為代表</a:t>
            </a:r>
            <a:endParaRPr lang="en-US" altLang="zh-TW" dirty="0"/>
          </a:p>
          <a:p>
            <a:endParaRPr lang="en-US" altLang="zh-TW" dirty="0"/>
          </a:p>
          <a:p>
            <a:r>
              <a:rPr lang="zh-TW" altLang="en-US" dirty="0"/>
              <a:t>主要透過調整衛星姿態，讓 </a:t>
            </a:r>
            <a:r>
              <a:rPr lang="vi-VN" dirty="0"/>
              <a:t>NGSO </a:t>
            </a:r>
            <a:r>
              <a:rPr lang="zh-TW" altLang="en-US" dirty="0"/>
              <a:t>衛星的發射方向避開 </a:t>
            </a:r>
            <a:r>
              <a:rPr lang="vi-VN" dirty="0"/>
              <a:t>GSO </a:t>
            </a:r>
            <a:r>
              <a:rPr lang="zh-TW" altLang="en-US" dirty="0"/>
              <a:t>系統方向，降低同頻干擾。</a:t>
            </a:r>
            <a:endParaRPr lang="en-US" altLang="zh-TW" dirty="0"/>
          </a:p>
          <a:p>
            <a:endParaRPr lang="en-US" altLang="zh-TW" dirty="0"/>
          </a:p>
          <a:p>
            <a:r>
              <a:rPr lang="zh-TW" altLang="en-US" dirty="0"/>
              <a:t>當 </a:t>
            </a:r>
            <a:r>
              <a:rPr lang="vi-VN" dirty="0"/>
              <a:t>tilting </a:t>
            </a:r>
            <a:r>
              <a:rPr lang="zh-TW" altLang="en-US" dirty="0"/>
              <a:t>不足以滿足干擾限制時，需要關閉部分 </a:t>
            </a:r>
            <a:r>
              <a:rPr lang="vi-VN" dirty="0"/>
              <a:t>beams。</a:t>
            </a:r>
            <a:endParaRPr lang="en-US" dirty="0"/>
          </a:p>
          <a:p>
            <a:endParaRPr lang="en-US" dirty="0"/>
          </a:p>
          <a:p>
            <a:r>
              <a:rPr lang="zh-TW" altLang="en-US" dirty="0"/>
              <a:t>這種方法可以有效降低干擾，但文獻也指出，</a:t>
            </a:r>
            <a:r>
              <a:rPr lang="vi-VN" dirty="0"/>
              <a:t>progressive pitch </a:t>
            </a:r>
            <a:r>
              <a:rPr lang="zh-TW" altLang="en-US" dirty="0"/>
              <a:t>可能造成 </a:t>
            </a:r>
            <a:r>
              <a:rPr lang="vi-VN" dirty="0"/>
              <a:t>service blind areas，</a:t>
            </a:r>
            <a:r>
              <a:rPr lang="zh-TW" altLang="en-US" dirty="0"/>
              <a:t>特別是當部分 </a:t>
            </a:r>
            <a:r>
              <a:rPr lang="vi-VN" dirty="0"/>
              <a:t>beams </a:t>
            </a:r>
            <a:r>
              <a:rPr lang="zh-TW" altLang="en-US" dirty="0"/>
              <a:t>被關閉，或前後相鄰衛星覆蓋不足時，某些地面區域會短時間沒有服務。</a:t>
            </a:r>
          </a:p>
        </p:txBody>
      </p:sp>
    </p:spTree>
    <p:extLst>
      <p:ext uri="{BB962C8B-B14F-4D97-AF65-F5344CB8AC3E}">
        <p14:creationId xmlns:p14="http://schemas.microsoft.com/office/powerpoint/2010/main" val="34354577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1CCD4-ED7B-EE1A-F5C7-E7B2614D6A8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15CECD0-4E65-6393-D8AB-9424485C9F61}"/>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17344C6F-9073-6693-DB74-647B90C04684}"/>
              </a:ext>
            </a:extLst>
          </p:cNvPr>
          <p:cNvSpPr>
            <a:spLocks noGrp="1"/>
          </p:cNvSpPr>
          <p:nvPr>
            <p:ph type="body" idx="1"/>
          </p:nvPr>
        </p:nvSpPr>
        <p:spPr/>
        <p:txBody>
          <a:bodyPr/>
          <a:lstStyle/>
          <a:p>
            <a:r>
              <a:rPr lang="zh-TW" altLang="en-US" dirty="0"/>
              <a:t>第二類是 </a:t>
            </a:r>
            <a:r>
              <a:rPr lang="vi-VN" dirty="0"/>
              <a:t>joint power and tilt control。</a:t>
            </a:r>
            <a:endParaRPr lang="en-US" dirty="0"/>
          </a:p>
          <a:p>
            <a:endParaRPr lang="en-US" dirty="0"/>
          </a:p>
          <a:p>
            <a:r>
              <a:rPr lang="zh-TW" altLang="en-US" dirty="0"/>
              <a:t>這篇方法透過下降 </a:t>
            </a:r>
            <a:r>
              <a:rPr lang="vi-VN" dirty="0"/>
              <a:t>LEO </a:t>
            </a:r>
            <a:r>
              <a:rPr lang="zh-TW" altLang="en-US" dirty="0"/>
              <a:t>衛星的 </a:t>
            </a:r>
            <a:r>
              <a:rPr lang="vi-VN" dirty="0"/>
              <a:t>transmit power </a:t>
            </a:r>
            <a:r>
              <a:rPr lang="zh-TW" altLang="en-US" dirty="0"/>
              <a:t>和 調整 </a:t>
            </a:r>
            <a:r>
              <a:rPr lang="vi-VN" dirty="0"/>
              <a:t>tilt angle</a:t>
            </a:r>
            <a:r>
              <a:rPr lang="zh-TW" altLang="en-US" dirty="0"/>
              <a:t>。</a:t>
            </a:r>
            <a:endParaRPr lang="en-US" altLang="zh-TW" dirty="0"/>
          </a:p>
          <a:p>
            <a:endParaRPr lang="en-US" dirty="0"/>
          </a:p>
          <a:p>
            <a:r>
              <a:rPr lang="zh-TW" altLang="en-US" dirty="0"/>
              <a:t>目標是在滿足 </a:t>
            </a:r>
            <a:r>
              <a:rPr lang="vi-VN" dirty="0"/>
              <a:t>ITU EPFD limits </a:t>
            </a:r>
            <a:r>
              <a:rPr lang="zh-TW" altLang="en-US" dirty="0"/>
              <a:t>的同時，盡量提高 </a:t>
            </a:r>
            <a:r>
              <a:rPr lang="vi-VN" dirty="0"/>
              <a:t>LEO users </a:t>
            </a:r>
            <a:r>
              <a:rPr lang="zh-TW" altLang="en-US" dirty="0"/>
              <a:t>的 </a:t>
            </a:r>
            <a:r>
              <a:rPr lang="vi-VN" dirty="0"/>
              <a:t>demand satisfaction</a:t>
            </a:r>
            <a:r>
              <a:rPr lang="zh-TW" altLang="en-US" dirty="0"/>
              <a:t>。</a:t>
            </a:r>
            <a:endParaRPr lang="en-US" dirty="0"/>
          </a:p>
          <a:p>
            <a:endParaRPr lang="en-US" altLang="zh-TW" dirty="0"/>
          </a:p>
          <a:p>
            <a:r>
              <a:rPr lang="zh-TW" altLang="en-US" dirty="0"/>
              <a:t>它的優點是可以避免直接關閉 </a:t>
            </a:r>
            <a:r>
              <a:rPr lang="en-US" altLang="zh-TW" dirty="0"/>
              <a:t>beams</a:t>
            </a:r>
            <a:r>
              <a:rPr lang="zh-TW" altLang="en-US" dirty="0"/>
              <a:t>，降低服務中斷的情況。不過這類方法為了讓 </a:t>
            </a:r>
            <a:r>
              <a:rPr lang="vi-VN" dirty="0"/>
              <a:t>EPFD </a:t>
            </a:r>
            <a:r>
              <a:rPr lang="zh-TW" altLang="en-US" dirty="0"/>
              <a:t>不超過限制，</a:t>
            </a:r>
            <a:r>
              <a:rPr lang="vi-VN" dirty="0"/>
              <a:t>LEO </a:t>
            </a:r>
            <a:r>
              <a:rPr lang="zh-TW" altLang="en-US" dirty="0"/>
              <a:t>衛星的 </a:t>
            </a:r>
            <a:r>
              <a:rPr lang="vi-VN" dirty="0"/>
              <a:t>transmit power </a:t>
            </a:r>
            <a:r>
              <a:rPr lang="zh-TW" altLang="en-US" dirty="0"/>
              <a:t>可能需要被壓得很低，因此 </a:t>
            </a:r>
            <a:r>
              <a:rPr lang="vi-VN" dirty="0"/>
              <a:t>user </a:t>
            </a:r>
            <a:r>
              <a:rPr lang="zh-TW" altLang="en-US" dirty="0"/>
              <a:t>端可以拿到的資源會受到限制，使</a:t>
            </a:r>
            <a:r>
              <a:rPr lang="en-US" altLang="zh-TW" dirty="0"/>
              <a:t>user</a:t>
            </a:r>
            <a:r>
              <a:rPr lang="zh-TW" altLang="en-US" dirty="0"/>
              <a:t> 端仍然會是一個重要問題。</a:t>
            </a:r>
          </a:p>
        </p:txBody>
      </p:sp>
    </p:spTree>
    <p:extLst>
      <p:ext uri="{BB962C8B-B14F-4D97-AF65-F5344CB8AC3E}">
        <p14:creationId xmlns:p14="http://schemas.microsoft.com/office/powerpoint/2010/main" val="24672513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BF31C-2E3F-ACD8-A998-E5F0550A5A3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F23D867-CE05-65E7-B8AD-E638966756F8}"/>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B036A557-B411-DFEC-1780-6D2F4024504B}"/>
              </a:ext>
            </a:extLst>
          </p:cNvPr>
          <p:cNvSpPr>
            <a:spLocks noGrp="1"/>
          </p:cNvSpPr>
          <p:nvPr>
            <p:ph type="body" idx="1"/>
          </p:nvPr>
        </p:nvSpPr>
        <p:spPr/>
        <p:txBody>
          <a:bodyPr/>
          <a:lstStyle/>
          <a:p>
            <a:r>
              <a:rPr lang="zh-TW" altLang="en-US" dirty="0"/>
              <a:t>第三類方法是</a:t>
            </a:r>
            <a:r>
              <a:rPr lang="en-US" altLang="zh-TW" sz="1100" b="1" dirty="0">
                <a:latin typeface="Times New Roman" panose="02020603050405020304" pitchFamily="18" charset="0"/>
                <a:cs typeface="Times New Roman" panose="02020603050405020304" pitchFamily="18" charset="0"/>
              </a:rPr>
              <a:t>Beamforming</a:t>
            </a:r>
          </a:p>
          <a:p>
            <a:endParaRPr lang="en-US" altLang="zh-TW" sz="1100" b="1" dirty="0">
              <a:latin typeface="Times New Roman" panose="02020603050405020304" pitchFamily="18" charset="0"/>
              <a:cs typeface="Times New Roman" panose="02020603050405020304" pitchFamily="18" charset="0"/>
            </a:endParaRPr>
          </a:p>
          <a:p>
            <a:r>
              <a:rPr lang="zh-TW" altLang="en-US" dirty="0"/>
              <a:t>這類方法是從天線的角度出發，透過調整</a:t>
            </a:r>
            <a:r>
              <a:rPr lang="en-US" altLang="zh-TW" dirty="0"/>
              <a:t>beam</a:t>
            </a:r>
            <a:r>
              <a:rPr lang="zh-TW" altLang="en-US" dirty="0"/>
              <a:t>的方向或形狀，降低對 </a:t>
            </a:r>
            <a:r>
              <a:rPr lang="en-US" altLang="zh-TW" dirty="0"/>
              <a:t>GSO </a:t>
            </a:r>
            <a:r>
              <a:rPr lang="zh-TW" altLang="en-US" dirty="0"/>
              <a:t>系統方向的干擾。</a:t>
            </a:r>
            <a:endParaRPr lang="en-US" altLang="zh-TW" dirty="0"/>
          </a:p>
          <a:p>
            <a:endParaRPr lang="en-US" altLang="zh-TW" dirty="0"/>
          </a:p>
          <a:p>
            <a:r>
              <a:rPr lang="zh-TW" altLang="en-US" dirty="0"/>
              <a:t>來達到減輕干擾的情況下不需要關</a:t>
            </a:r>
            <a:r>
              <a:rPr lang="en-US" altLang="zh-TW" dirty="0"/>
              <a:t>beam</a:t>
            </a:r>
          </a:p>
          <a:p>
            <a:endParaRPr lang="en-US" altLang="zh-TW" dirty="0"/>
          </a:p>
          <a:p>
            <a:r>
              <a:rPr lang="zh-TW" altLang="en-US" dirty="0"/>
              <a:t>不過這通常需要 </a:t>
            </a:r>
            <a:r>
              <a:rPr lang="vi-VN" dirty="0"/>
              <a:t>adaptive beamforming </a:t>
            </a:r>
            <a:r>
              <a:rPr lang="zh-TW" altLang="en-US" dirty="0"/>
              <a:t>的技術能力</a:t>
            </a:r>
            <a:r>
              <a:rPr lang="vi-VN" dirty="0"/>
              <a:t>，</a:t>
            </a:r>
            <a:r>
              <a:rPr lang="zh-TW" altLang="en-US" dirty="0"/>
              <a:t>設備成本和處理複雜度較高。</a:t>
            </a:r>
            <a:endParaRPr lang="en-US" altLang="zh-TW" dirty="0"/>
          </a:p>
          <a:p>
            <a:endParaRPr lang="en-US" altLang="zh-TW" dirty="0"/>
          </a:p>
          <a:p>
            <a:r>
              <a:rPr lang="zh-TW" altLang="en-US" dirty="0"/>
              <a:t>我的研究場景不考慮這類複雜的技術，並且我的研究場景是</a:t>
            </a:r>
            <a:r>
              <a:rPr lang="en-US" altLang="zh-TW" dirty="0"/>
              <a:t>beam </a:t>
            </a:r>
            <a:r>
              <a:rPr lang="zh-TW" altLang="en-US" dirty="0"/>
              <a:t>會跟著衛星運動的</a:t>
            </a:r>
            <a:r>
              <a:rPr lang="en-US" altLang="zh-TW" dirty="0"/>
              <a:t>multi-beam</a:t>
            </a:r>
            <a:r>
              <a:rPr lang="zh-TW" altLang="en-US" dirty="0"/>
              <a:t>設計，這裡只作為相關方法簡要說明</a:t>
            </a:r>
          </a:p>
        </p:txBody>
      </p:sp>
    </p:spTree>
    <p:extLst>
      <p:ext uri="{BB962C8B-B14F-4D97-AF65-F5344CB8AC3E}">
        <p14:creationId xmlns:p14="http://schemas.microsoft.com/office/powerpoint/2010/main" val="41124030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18D82-6BAC-4884-24F7-6067046713E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04B8B35-670B-CDD5-A234-F3BB06A006E7}"/>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9CEFFF36-1C6E-00C2-6C43-D2F885BE8CBE}"/>
              </a:ext>
            </a:extLst>
          </p:cNvPr>
          <p:cNvSpPr>
            <a:spLocks noGrp="1"/>
          </p:cNvSpPr>
          <p:nvPr>
            <p:ph type="body" idx="1"/>
          </p:nvPr>
        </p:nvSpPr>
        <p:spPr/>
        <p:txBody>
          <a:bodyPr/>
          <a:lstStyle/>
          <a:p>
            <a:r>
              <a:rPr lang="zh-TW" altLang="en-US" dirty="0"/>
              <a:t>我會把</a:t>
            </a:r>
            <a:r>
              <a:rPr lang="en-US" altLang="zh-TW" dirty="0"/>
              <a:t>LEO</a:t>
            </a:r>
            <a:r>
              <a:rPr lang="zh-TW" altLang="en-US" dirty="0"/>
              <a:t>衛星分為兩種</a:t>
            </a:r>
            <a:endParaRPr lang="en-US" altLang="zh-TW" dirty="0"/>
          </a:p>
          <a:p>
            <a:endParaRPr lang="en-US" altLang="zh-TW" dirty="0"/>
          </a:p>
          <a:p>
            <a:r>
              <a:rPr lang="zh-TW" altLang="en-US" dirty="0"/>
              <a:t>第一個是造成</a:t>
            </a:r>
            <a:r>
              <a:rPr lang="en-US" altLang="zh-TW" dirty="0"/>
              <a:t>GS</a:t>
            </a:r>
            <a:r>
              <a:rPr lang="zh-TW" altLang="en-US" dirty="0"/>
              <a:t>最大的 </a:t>
            </a:r>
            <a:r>
              <a:rPr lang="en-US" altLang="zh-TW" dirty="0"/>
              <a:t>EPFD </a:t>
            </a:r>
            <a:r>
              <a:rPr lang="zh-TW" altLang="en-US" dirty="0"/>
              <a:t>風險的衛星，並且使</a:t>
            </a:r>
            <a:r>
              <a:rPr lang="en-US" altLang="zh-TW" dirty="0"/>
              <a:t>EPFD</a:t>
            </a:r>
            <a:r>
              <a:rPr lang="zh-TW" altLang="en-US" dirty="0"/>
              <a:t> 值超標，就叫做</a:t>
            </a:r>
            <a:r>
              <a:rPr lang="en-US" altLang="zh-TW" dirty="0"/>
              <a:t>critical satellite</a:t>
            </a:r>
          </a:p>
          <a:p>
            <a:endParaRPr lang="en-US" altLang="zh-TW" dirty="0"/>
          </a:p>
          <a:p>
            <a:r>
              <a:rPr lang="zh-TW" altLang="en-US" dirty="0"/>
              <a:t>第二個則是同軌道前後相鄰的</a:t>
            </a:r>
            <a:r>
              <a:rPr lang="en-US" altLang="zh-TW" dirty="0"/>
              <a:t>LEO</a:t>
            </a:r>
            <a:r>
              <a:rPr lang="zh-TW" altLang="en-US" dirty="0"/>
              <a:t>衛星作為</a:t>
            </a:r>
            <a:r>
              <a:rPr lang="en-US" altLang="zh-TW" dirty="0"/>
              <a:t>helper satellite</a:t>
            </a:r>
            <a:r>
              <a:rPr lang="zh-TW" altLang="en-US" dirty="0"/>
              <a:t>，具有足夠的</a:t>
            </a:r>
            <a:r>
              <a:rPr lang="en-US" altLang="zh-TW" dirty="0"/>
              <a:t>coverage overlap</a:t>
            </a:r>
            <a:r>
              <a:rPr lang="zh-TW" altLang="en-US" dirty="0"/>
              <a:t>，用來提供後續</a:t>
            </a:r>
            <a:r>
              <a:rPr lang="en-US" altLang="zh-TW" dirty="0"/>
              <a:t>relay</a:t>
            </a:r>
          </a:p>
          <a:p>
            <a:endParaRPr lang="en-US" altLang="zh-TW" dirty="0"/>
          </a:p>
          <a:p>
            <a:endParaRPr lang="en-US" altLang="zh-TW" dirty="0"/>
          </a:p>
        </p:txBody>
      </p:sp>
    </p:spTree>
    <p:extLst>
      <p:ext uri="{BB962C8B-B14F-4D97-AF65-F5344CB8AC3E}">
        <p14:creationId xmlns:p14="http://schemas.microsoft.com/office/powerpoint/2010/main" val="14378999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FB8B4-326B-481B-A7A3-C2C77771965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0686AF5-6CBF-7288-9476-B607DA83189C}"/>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16110F61-FFA3-93DF-0AB2-AE79FBC5C584}"/>
              </a:ext>
            </a:extLst>
          </p:cNvPr>
          <p:cNvSpPr>
            <a:spLocks noGrp="1"/>
          </p:cNvSpPr>
          <p:nvPr>
            <p:ph type="body" idx="1"/>
          </p:nvPr>
        </p:nvSpPr>
        <p:spPr/>
        <p:txBody>
          <a:bodyPr/>
          <a:lstStyle/>
          <a:p>
            <a:r>
              <a:rPr lang="zh-TW" altLang="en-US" dirty="0"/>
              <a:t>這頁說明為什麼可以做 </a:t>
            </a:r>
            <a:r>
              <a:rPr lang="en-US" altLang="zh-TW" dirty="0"/>
              <a:t>relay</a:t>
            </a:r>
          </a:p>
          <a:p>
            <a:pPr marL="158750" indent="0">
              <a:buNone/>
            </a:pPr>
            <a:endParaRPr lang="en-US" altLang="zh-TW" dirty="0"/>
          </a:p>
          <a:p>
            <a:r>
              <a:rPr lang="zh-TW" altLang="en-US" dirty="0"/>
              <a:t>一般情況下，如果兩個 </a:t>
            </a:r>
            <a:r>
              <a:rPr lang="en-US" altLang="zh-TW" dirty="0"/>
              <a:t>beams </a:t>
            </a:r>
            <a:r>
              <a:rPr lang="zh-TW" altLang="en-US" dirty="0"/>
              <a:t>同時覆蓋同一個地面區域，</a:t>
            </a:r>
            <a:r>
              <a:rPr lang="en-US" altLang="zh-TW" dirty="0"/>
              <a:t>user</a:t>
            </a:r>
            <a:r>
              <a:rPr lang="zh-TW" altLang="en-US" dirty="0"/>
              <a:t>可以透過</a:t>
            </a:r>
            <a:r>
              <a:rPr lang="vi-VN" dirty="0"/>
              <a:t>user </a:t>
            </a:r>
            <a:r>
              <a:rPr lang="zh-TW" altLang="en-US" dirty="0"/>
              <a:t>的分配</a:t>
            </a:r>
            <a:r>
              <a:rPr lang="vi-VN" dirty="0"/>
              <a:t>、</a:t>
            </a:r>
            <a:r>
              <a:rPr lang="zh-TW" altLang="en-US" dirty="0"/>
              <a:t>分時 或 分空間 來協調服務。</a:t>
            </a:r>
            <a:endParaRPr lang="en-US" altLang="zh-TW" dirty="0"/>
          </a:p>
          <a:p>
            <a:endParaRPr lang="en-US" altLang="zh-TW" dirty="0"/>
          </a:p>
          <a:p>
            <a:r>
              <a:rPr lang="zh-TW" altLang="en-US" dirty="0"/>
              <a:t>但當 </a:t>
            </a:r>
            <a:r>
              <a:rPr lang="vi-VN" dirty="0"/>
              <a:t>critical </a:t>
            </a:r>
            <a:r>
              <a:rPr lang="en-US" dirty="0"/>
              <a:t>satellites</a:t>
            </a:r>
            <a:r>
              <a:rPr lang="vi-VN" dirty="0"/>
              <a:t> </a:t>
            </a:r>
            <a:r>
              <a:rPr lang="zh-TW" altLang="en-US" dirty="0"/>
              <a:t>因為靠近</a:t>
            </a:r>
            <a:r>
              <a:rPr lang="en-US" altLang="zh-TW" dirty="0"/>
              <a:t>GS</a:t>
            </a:r>
            <a:r>
              <a:rPr lang="zh-TW" altLang="en-US" dirty="0"/>
              <a:t>被關</a:t>
            </a:r>
            <a:r>
              <a:rPr lang="en-US" altLang="zh-TW" dirty="0"/>
              <a:t>beam</a:t>
            </a:r>
            <a:r>
              <a:rPr lang="zh-TW" altLang="en-US" dirty="0"/>
              <a:t>時，原本由這個 </a:t>
            </a:r>
            <a:r>
              <a:rPr lang="vi-VN" dirty="0"/>
              <a:t>beam </a:t>
            </a:r>
            <a:r>
              <a:rPr lang="zh-TW" altLang="en-US" dirty="0"/>
              <a:t>服務的 </a:t>
            </a:r>
            <a:r>
              <a:rPr lang="vi-VN" dirty="0"/>
              <a:t>users </a:t>
            </a:r>
            <a:r>
              <a:rPr lang="zh-TW" altLang="en-US" dirty="0"/>
              <a:t>就需要轉移到其他可服務它們的 </a:t>
            </a:r>
            <a:r>
              <a:rPr lang="vi-VN" dirty="0"/>
              <a:t>beams。</a:t>
            </a:r>
            <a:endParaRPr lang="en-US" dirty="0"/>
          </a:p>
          <a:p>
            <a:endParaRPr lang="en-US" altLang="zh-TW" dirty="0"/>
          </a:p>
          <a:p>
            <a:r>
              <a:rPr lang="zh-TW" altLang="en-US" dirty="0"/>
              <a:t>因此，如果這些 </a:t>
            </a:r>
            <a:r>
              <a:rPr lang="vi-VN" dirty="0"/>
              <a:t>users </a:t>
            </a:r>
            <a:r>
              <a:rPr lang="zh-TW" altLang="en-US" dirty="0"/>
              <a:t>同時被 </a:t>
            </a:r>
            <a:r>
              <a:rPr lang="vi-VN" dirty="0"/>
              <a:t>helper beams </a:t>
            </a:r>
            <a:r>
              <a:rPr lang="zh-TW" altLang="en-US" dirty="0"/>
              <a:t>覆蓋，且 </a:t>
            </a:r>
            <a:r>
              <a:rPr lang="vi-VN" dirty="0"/>
              <a:t>helper beam </a:t>
            </a:r>
            <a:r>
              <a:rPr lang="zh-TW" altLang="en-US" dirty="0"/>
              <a:t>與原本 </a:t>
            </a:r>
            <a:r>
              <a:rPr lang="vi-VN" dirty="0"/>
              <a:t>beam </a:t>
            </a:r>
            <a:r>
              <a:rPr lang="zh-TW" altLang="en-US" dirty="0"/>
              <a:t>使用相容的下行鏈路設定</a:t>
            </a:r>
            <a:r>
              <a:rPr lang="vi-VN" dirty="0"/>
              <a:t>，user </a:t>
            </a:r>
            <a:r>
              <a:rPr lang="zh-TW" altLang="en-US" dirty="0"/>
              <a:t>端不需要重新更換設定就可以進行</a:t>
            </a:r>
            <a:r>
              <a:rPr lang="en-US" altLang="zh-TW" dirty="0"/>
              <a:t> relay</a:t>
            </a:r>
            <a:r>
              <a:rPr lang="zh-TW" altLang="en-US" dirty="0"/>
              <a:t>，作為後面方法的基礎。</a:t>
            </a:r>
            <a:endParaRPr lang="en-US" altLang="zh-TW" dirty="0"/>
          </a:p>
        </p:txBody>
      </p:sp>
    </p:spTree>
    <p:extLst>
      <p:ext uri="{BB962C8B-B14F-4D97-AF65-F5344CB8AC3E}">
        <p14:creationId xmlns:p14="http://schemas.microsoft.com/office/powerpoint/2010/main" val="27170253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這頁定義</a:t>
            </a:r>
            <a:r>
              <a:rPr lang="en-US" altLang="zh-TW" dirty="0"/>
              <a:t>user </a:t>
            </a:r>
            <a:r>
              <a:rPr lang="zh-TW" altLang="en-US" dirty="0"/>
              <a:t>與 </a:t>
            </a:r>
            <a:r>
              <a:rPr lang="en-US" altLang="zh-TW" dirty="0"/>
              <a:t>beam </a:t>
            </a:r>
            <a:r>
              <a:rPr lang="zh-TW" altLang="en-US" dirty="0"/>
              <a:t>之間的</a:t>
            </a:r>
            <a:r>
              <a:rPr lang="en-US" altLang="zh-TW" dirty="0"/>
              <a:t>association</a:t>
            </a:r>
          </a:p>
          <a:p>
            <a:endParaRPr lang="en-US" altLang="zh-TW" dirty="0"/>
          </a:p>
          <a:p>
            <a:r>
              <a:rPr lang="vi-VN" dirty="0"/>
              <a:t>xᵤ,ₛ,</a:t>
            </a:r>
            <a:r>
              <a:rPr lang="el-GR" dirty="0"/>
              <a:t>ᵦ(</a:t>
            </a:r>
            <a:r>
              <a:rPr lang="vi-VN" dirty="0"/>
              <a:t>t) </a:t>
            </a:r>
            <a:r>
              <a:rPr lang="zh-TW" altLang="en-US" dirty="0"/>
              <a:t>表示 </a:t>
            </a:r>
            <a:r>
              <a:rPr lang="vi-VN" dirty="0"/>
              <a:t>user u </a:t>
            </a:r>
            <a:r>
              <a:rPr lang="zh-TW" altLang="en-US" dirty="0"/>
              <a:t>在 </a:t>
            </a:r>
            <a:r>
              <a:rPr lang="vi-VN" dirty="0"/>
              <a:t>time slot t </a:t>
            </a:r>
            <a:r>
              <a:rPr lang="zh-TW" altLang="en-US" dirty="0"/>
              <a:t>是否由 </a:t>
            </a:r>
            <a:r>
              <a:rPr lang="vi-VN" dirty="0"/>
              <a:t>satellite s </a:t>
            </a:r>
            <a:r>
              <a:rPr lang="zh-TW" altLang="en-US" dirty="0"/>
              <a:t>的 </a:t>
            </a:r>
            <a:r>
              <a:rPr lang="vi-VN" dirty="0"/>
              <a:t>beam b </a:t>
            </a:r>
            <a:r>
              <a:rPr lang="zh-TW" altLang="en-US" dirty="0"/>
              <a:t>服務。如果有服務就是 </a:t>
            </a:r>
            <a:r>
              <a:rPr lang="en-US" altLang="zh-TW" dirty="0"/>
              <a:t>1</a:t>
            </a:r>
            <a:r>
              <a:rPr lang="zh-TW" altLang="en-US" dirty="0"/>
              <a:t>，否則就是 </a:t>
            </a:r>
            <a:r>
              <a:rPr lang="en-US" altLang="zh-TW" dirty="0"/>
              <a:t>0</a:t>
            </a:r>
            <a:r>
              <a:rPr lang="zh-TW" altLang="en-US" dirty="0"/>
              <a:t>。並且採用 </a:t>
            </a:r>
            <a:r>
              <a:rPr lang="vi-VN" dirty="0"/>
              <a:t>single association，</a:t>
            </a:r>
            <a:r>
              <a:rPr lang="zh-TW" altLang="en-US" dirty="0"/>
              <a:t>也就是每個 </a:t>
            </a:r>
            <a:r>
              <a:rPr lang="vi-VN" dirty="0"/>
              <a:t>user </a:t>
            </a:r>
            <a:r>
              <a:rPr lang="zh-TW" altLang="en-US" dirty="0"/>
              <a:t>最多只能由一個 </a:t>
            </a:r>
            <a:r>
              <a:rPr lang="vi-VN" dirty="0"/>
              <a:t>satellite</a:t>
            </a:r>
            <a:r>
              <a:rPr lang="zh-TW" altLang="en-US" dirty="0"/>
              <a:t> </a:t>
            </a:r>
            <a:r>
              <a:rPr lang="vi-VN" dirty="0"/>
              <a:t>beam </a:t>
            </a:r>
            <a:r>
              <a:rPr lang="zh-TW" altLang="en-US" dirty="0"/>
              <a:t>服務。</a:t>
            </a:r>
            <a:endParaRPr lang="en-US" altLang="zh-TW" dirty="0"/>
          </a:p>
          <a:p>
            <a:endParaRPr lang="en-US" altLang="zh-TW" dirty="0"/>
          </a:p>
          <a:p>
            <a:r>
              <a:rPr lang="zh-TW" altLang="en-US" dirty="0"/>
              <a:t>並且</a:t>
            </a:r>
            <a:r>
              <a:rPr lang="vi-VN" dirty="0"/>
              <a:t>Nₛ,</a:t>
            </a:r>
            <a:r>
              <a:rPr lang="el-GR" dirty="0"/>
              <a:t>ᵦ(</a:t>
            </a:r>
            <a:r>
              <a:rPr lang="vi-VN" dirty="0"/>
              <a:t>t) </a:t>
            </a:r>
            <a:r>
              <a:rPr lang="zh-TW" altLang="en-US" dirty="0"/>
              <a:t>表示 </a:t>
            </a:r>
            <a:r>
              <a:rPr lang="vi-VN" dirty="0"/>
              <a:t>satellite s </a:t>
            </a:r>
            <a:r>
              <a:rPr lang="zh-TW" altLang="en-US" dirty="0"/>
              <a:t>上 </a:t>
            </a:r>
            <a:r>
              <a:rPr lang="vi-VN" dirty="0"/>
              <a:t>beam b </a:t>
            </a:r>
            <a:r>
              <a:rPr lang="zh-TW" altLang="en-US" dirty="0"/>
              <a:t>目前服務的 </a:t>
            </a:r>
            <a:r>
              <a:rPr lang="vi-VN" dirty="0"/>
              <a:t>user </a:t>
            </a:r>
            <a:r>
              <a:rPr lang="zh-TW" altLang="en-US" dirty="0"/>
              <a:t>數量。</a:t>
            </a:r>
          </a:p>
        </p:txBody>
      </p:sp>
    </p:spTree>
    <p:extLst>
      <p:ext uri="{BB962C8B-B14F-4D97-AF65-F5344CB8AC3E}">
        <p14:creationId xmlns:p14="http://schemas.microsoft.com/office/powerpoint/2010/main" val="9230816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16B19-9713-44B8-BE52-A554FC259CD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85995FB-3DF1-1507-5A4B-51AAB83FC1D5}"/>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398A2C03-4FD0-8F19-101C-25221D2F83FF}"/>
              </a:ext>
            </a:extLst>
          </p:cNvPr>
          <p:cNvSpPr>
            <a:spLocks noGrp="1"/>
          </p:cNvSpPr>
          <p:nvPr>
            <p:ph type="body" idx="1"/>
          </p:nvPr>
        </p:nvSpPr>
        <p:spPr/>
        <p:txBody>
          <a:bodyPr/>
          <a:lstStyle/>
          <a:p>
            <a:r>
              <a:rPr lang="zh-TW" altLang="en-US" dirty="0"/>
              <a:t>一般情況下，每個 </a:t>
            </a:r>
            <a:r>
              <a:rPr lang="vi-VN" dirty="0"/>
              <a:t>beam </a:t>
            </a:r>
            <a:r>
              <a:rPr lang="zh-TW" altLang="en-US" dirty="0"/>
              <a:t>都會使用自己的 </a:t>
            </a:r>
            <a:r>
              <a:rPr lang="vi-VN" dirty="0"/>
              <a:t>default transmit power。</a:t>
            </a:r>
            <a:r>
              <a:rPr lang="zh-TW" altLang="en-US" dirty="0"/>
              <a:t>依照每個 </a:t>
            </a:r>
            <a:r>
              <a:rPr lang="en-US" altLang="zh-TW" dirty="0"/>
              <a:t>beam </a:t>
            </a:r>
            <a:r>
              <a:rPr lang="zh-TW" altLang="en-US" dirty="0"/>
              <a:t>自己的 </a:t>
            </a:r>
            <a:r>
              <a:rPr lang="vi-VN" dirty="0"/>
              <a:t>link condition </a:t>
            </a:r>
            <a:r>
              <a:rPr lang="zh-TW" altLang="en-US" dirty="0"/>
              <a:t>預先設定，使</a:t>
            </a:r>
            <a:r>
              <a:rPr lang="en-US" altLang="zh-TW" dirty="0"/>
              <a:t>user</a:t>
            </a:r>
            <a:r>
              <a:rPr lang="zh-TW" altLang="en-US" dirty="0"/>
              <a:t>在不同</a:t>
            </a:r>
            <a:r>
              <a:rPr lang="en-US" altLang="zh-TW" dirty="0"/>
              <a:t>beam</a:t>
            </a:r>
            <a:r>
              <a:rPr lang="zh-TW" altLang="en-US" dirty="0"/>
              <a:t>可以接收到相同的服務，並且滿足使用者的服務需求。</a:t>
            </a:r>
            <a:endParaRPr lang="en-US" altLang="zh-TW" dirty="0"/>
          </a:p>
          <a:p>
            <a:endParaRPr lang="en-US" altLang="zh-TW" dirty="0"/>
          </a:p>
          <a:p>
            <a:r>
              <a:rPr lang="zh-TW" altLang="en-US" dirty="0"/>
              <a:t>每個</a:t>
            </a:r>
            <a:r>
              <a:rPr lang="en-US" altLang="zh-TW" dirty="0"/>
              <a:t>beam </a:t>
            </a:r>
            <a:r>
              <a:rPr lang="zh-TW" altLang="en-US" dirty="0"/>
              <a:t>有自己的最大功率限制，當</a:t>
            </a:r>
            <a:r>
              <a:rPr lang="en-US" altLang="zh-TW" dirty="0"/>
              <a:t>beam</a:t>
            </a:r>
            <a:r>
              <a:rPr lang="zh-TW" altLang="en-US" dirty="0"/>
              <a:t>關掉也就是功率為</a:t>
            </a:r>
            <a:r>
              <a:rPr lang="en-US" altLang="zh-TW" dirty="0"/>
              <a:t>0</a:t>
            </a:r>
          </a:p>
          <a:p>
            <a:endParaRPr lang="en-US" altLang="zh-TW" dirty="0"/>
          </a:p>
          <a:p>
            <a:r>
              <a:rPr lang="zh-TW" altLang="en-US" dirty="0"/>
              <a:t>以及整顆衛星有總功率上限預算</a:t>
            </a:r>
          </a:p>
        </p:txBody>
      </p:sp>
    </p:spTree>
    <p:extLst>
      <p:ext uri="{BB962C8B-B14F-4D97-AF65-F5344CB8AC3E}">
        <p14:creationId xmlns:p14="http://schemas.microsoft.com/office/powerpoint/2010/main" val="17574470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022DC-9E72-05F6-00AF-D183EE0A36F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D627B72-0733-4D56-B1D2-3800A022A209}"/>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B5B77651-8D6A-43E2-A203-BD61F1EACF0D}"/>
              </a:ext>
            </a:extLst>
          </p:cNvPr>
          <p:cNvSpPr>
            <a:spLocks noGrp="1"/>
          </p:cNvSpPr>
          <p:nvPr>
            <p:ph type="body" idx="1"/>
          </p:nvPr>
        </p:nvSpPr>
        <p:spPr/>
        <p:txBody>
          <a:bodyPr/>
          <a:lstStyle/>
          <a:p>
            <a:r>
              <a:rPr lang="zh-TW" altLang="en-US" dirty="0"/>
              <a:t>這頁說明 </a:t>
            </a:r>
            <a:r>
              <a:rPr lang="vi-VN" dirty="0"/>
              <a:t>user service model。</a:t>
            </a:r>
            <a:endParaRPr lang="en-US" dirty="0"/>
          </a:p>
          <a:p>
            <a:endParaRPr lang="en-US" altLang="zh-TW" dirty="0"/>
          </a:p>
          <a:p>
            <a:r>
              <a:rPr lang="zh-TW" altLang="en-US" dirty="0"/>
              <a:t>首先計算</a:t>
            </a:r>
            <a:r>
              <a:rPr lang="vi-VN" dirty="0"/>
              <a:t>user </a:t>
            </a:r>
            <a:r>
              <a:rPr lang="zh-TW" altLang="en-US" dirty="0"/>
              <a:t>的 </a:t>
            </a:r>
            <a:r>
              <a:rPr lang="vi-VN" dirty="0"/>
              <a:t>SINR</a:t>
            </a:r>
            <a:r>
              <a:rPr lang="zh-TW" altLang="en-US" dirty="0"/>
              <a:t>，也就是</a:t>
            </a:r>
            <a:r>
              <a:rPr lang="en-US" altLang="zh-TW" dirty="0"/>
              <a:t>user </a:t>
            </a:r>
            <a:r>
              <a:rPr lang="zh-TW" altLang="en-US" dirty="0"/>
              <a:t>收到的有用訊號相對於干擾加雜訊的比例，分別會受到 </a:t>
            </a:r>
            <a:r>
              <a:rPr lang="vi-VN" dirty="0"/>
              <a:t>serving beam </a:t>
            </a:r>
            <a:r>
              <a:rPr lang="zh-TW" altLang="en-US" dirty="0"/>
              <a:t>打下來的</a:t>
            </a:r>
            <a:r>
              <a:rPr lang="vi-VN" dirty="0"/>
              <a:t>downlink signal、</a:t>
            </a:r>
            <a:r>
              <a:rPr lang="zh-TW" altLang="en-US" dirty="0"/>
              <a:t>其他</a:t>
            </a:r>
            <a:r>
              <a:rPr lang="en-US" altLang="zh-TW" dirty="0"/>
              <a:t>LEO </a:t>
            </a:r>
            <a:r>
              <a:rPr lang="zh-TW" altLang="en-US" dirty="0"/>
              <a:t>分別一個衛星內同頻 不同</a:t>
            </a:r>
            <a:r>
              <a:rPr lang="vi-VN" dirty="0"/>
              <a:t>beams </a:t>
            </a:r>
            <a:r>
              <a:rPr lang="zh-TW" altLang="en-US" dirty="0"/>
              <a:t>的 干擾，和不同衛星之間</a:t>
            </a:r>
            <a:r>
              <a:rPr lang="en-US" altLang="zh-TW" dirty="0"/>
              <a:t>beam</a:t>
            </a:r>
            <a:r>
              <a:rPr lang="zh-TW" altLang="en-US" dirty="0"/>
              <a:t>的干擾</a:t>
            </a:r>
            <a:r>
              <a:rPr lang="vi-VN" dirty="0"/>
              <a:t>，</a:t>
            </a:r>
            <a:r>
              <a:rPr lang="zh-TW" altLang="en-US" dirty="0"/>
              <a:t>以及設備通訊自然存在的 </a:t>
            </a:r>
            <a:r>
              <a:rPr lang="vi-VN" dirty="0"/>
              <a:t> noise </a:t>
            </a:r>
            <a:r>
              <a:rPr lang="zh-TW" altLang="en-US" dirty="0"/>
              <a:t>影響。</a:t>
            </a:r>
            <a:endParaRPr lang="en-US" altLang="zh-TW" dirty="0"/>
          </a:p>
          <a:p>
            <a:endParaRPr lang="en-US" altLang="zh-TW" dirty="0"/>
          </a:p>
          <a:p>
            <a:r>
              <a:rPr lang="zh-TW" altLang="en-US" dirty="0"/>
              <a:t>接著這公式會把</a:t>
            </a:r>
            <a:r>
              <a:rPr lang="en-US" altLang="zh-TW" dirty="0"/>
              <a:t>SINR</a:t>
            </a:r>
            <a:r>
              <a:rPr lang="zh-TW" altLang="en-US" dirty="0"/>
              <a:t>轉換成</a:t>
            </a:r>
            <a:r>
              <a:rPr lang="en-US" altLang="zh-TW" dirty="0"/>
              <a:t>beam</a:t>
            </a:r>
            <a:r>
              <a:rPr lang="zh-TW" altLang="en-US" dirty="0"/>
              <a:t>當下可以達到的傳輸容量</a:t>
            </a:r>
            <a:endParaRPr lang="en-US" altLang="zh-TW" dirty="0"/>
          </a:p>
          <a:p>
            <a:endParaRPr lang="zh-TW" altLang="en-US" b="1" dirty="0"/>
          </a:p>
        </p:txBody>
      </p:sp>
    </p:spTree>
    <p:extLst>
      <p:ext uri="{BB962C8B-B14F-4D97-AF65-F5344CB8AC3E}">
        <p14:creationId xmlns:p14="http://schemas.microsoft.com/office/powerpoint/2010/main" val="20404854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2071C-0C57-4727-834E-3CCCFA0416B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5DF5015-81D4-20FC-B2AB-6ED46C99426B}"/>
              </a:ext>
            </a:extLst>
          </p:cNvPr>
          <p:cNvSpPr>
            <a:spLocks noGrp="1" noRot="1" noChangeAspect="1"/>
          </p:cNvSpPr>
          <p:nvPr>
            <p:ph type="sldImg"/>
          </p:nvPr>
        </p:nvSpPr>
        <p:spPr>
          <a:xfrm>
            <a:off x="77788" y="739775"/>
            <a:ext cx="6580187" cy="3702050"/>
          </a:xfrm>
        </p:spPr>
      </p:sp>
      <mc:AlternateContent xmlns:mc="http://schemas.openxmlformats.org/markup-compatibility/2006" xmlns:a14="http://schemas.microsoft.com/office/drawing/2010/main">
        <mc:Choice Requires="a14">
          <p:sp>
            <p:nvSpPr>
              <p:cNvPr id="3" name="備忘稿版面配置區 2">
                <a:extLst>
                  <a:ext uri="{FF2B5EF4-FFF2-40B4-BE49-F238E27FC236}">
                    <a16:creationId xmlns:a16="http://schemas.microsoft.com/office/drawing/2014/main" id="{27F02C11-4D92-D1C2-4E00-3402646BBBEE}"/>
                  </a:ext>
                </a:extLst>
              </p:cNvPr>
              <p:cNvSpPr>
                <a:spLocks noGrp="1"/>
              </p:cNvSpPr>
              <p:nvPr>
                <p:ph type="body" idx="1"/>
              </p:nvPr>
            </p:nvSpPr>
            <p:spPr/>
            <p:txBody>
              <a:bodyPr/>
              <a:lstStyle/>
              <a:p>
                <a:r>
                  <a:rPr lang="zh-TW" altLang="en-US" dirty="0"/>
                  <a:t>並且由於同一個 </a:t>
                </a:r>
                <a:r>
                  <a:rPr lang="vi-VN" dirty="0"/>
                  <a:t>beam </a:t>
                </a:r>
                <a:r>
                  <a:rPr lang="zh-TW" altLang="en-US" dirty="0"/>
                  <a:t>可能服務多個 </a:t>
                </a:r>
                <a:r>
                  <a:rPr lang="vi-VN" dirty="0"/>
                  <a:t>users，</a:t>
                </a:r>
                <a:r>
                  <a:rPr lang="zh-TW" altLang="en-US" dirty="0"/>
                  <a:t>同一個 </a:t>
                </a:r>
                <a:r>
                  <a:rPr lang="vi-VN" dirty="0"/>
                  <a:t>beam </a:t>
                </a:r>
                <a:r>
                  <a:rPr lang="zh-TW" altLang="en-US" dirty="0"/>
                  <a:t>底下的 </a:t>
                </a:r>
                <a:r>
                  <a:rPr lang="vi-VN" dirty="0"/>
                  <a:t>users </a:t>
                </a:r>
                <a:r>
                  <a:rPr lang="zh-TW" altLang="en-US" dirty="0"/>
                  <a:t>會平均共享 </a:t>
                </a:r>
                <a:r>
                  <a:rPr lang="vi-VN" dirty="0"/>
                  <a:t>beam </a:t>
                </a:r>
                <a:r>
                  <a:rPr lang="zh-TW" altLang="en-US" dirty="0"/>
                  <a:t>的資源，因此實際一個</a:t>
                </a:r>
                <a:r>
                  <a:rPr lang="en-US" altLang="zh-TW" dirty="0"/>
                  <a:t>user</a:t>
                </a:r>
                <a:r>
                  <a:rPr lang="zh-TW" altLang="en-US" dirty="0"/>
                  <a:t>會收到</a:t>
                </a:r>
                <a14:m>
                  <m:oMath xmlns:m="http://schemas.openxmlformats.org/officeDocument/2006/math">
                    <m:r>
                      <a:rPr lang="zh-TW" altLang="en-US" sz="1100" i="1" dirty="0" smtClean="0">
                        <a:latin typeface="Cambria Math" panose="02040503050406030204" pitchFamily="18" charset="0"/>
                        <a:cs typeface="Times New Roman" panose="02020603050405020304" pitchFamily="18" charset="0"/>
                      </a:rPr>
                      <m:t>這麼多的</m:t>
                    </m:r>
                    <m:r>
                      <m:rPr>
                        <m:sty m:val="p"/>
                      </m:rPr>
                      <a:rPr lang="en-US" altLang="zh-TW" sz="1100" i="1" dirty="0" smtClean="0">
                        <a:latin typeface="Cambria Math" panose="02040503050406030204" pitchFamily="18" charset="0"/>
                        <a:cs typeface="Times New Roman" panose="02020603050405020304" pitchFamily="18" charset="0"/>
                      </a:rPr>
                      <m:t>rate</m:t>
                    </m:r>
                  </m:oMath>
                </a14:m>
                <a:r>
                  <a:rPr lang="zh-TW" altLang="en-US" dirty="0"/>
                  <a:t>資源</a:t>
                </a:r>
                <a:r>
                  <a:rPr lang="vi-VN" dirty="0"/>
                  <a:t>。</a:t>
                </a:r>
                <a:endParaRPr lang="en-US" dirty="0"/>
              </a:p>
              <a:p>
                <a:endParaRPr lang="en-US" altLang="zh-TW" dirty="0"/>
              </a:p>
              <a:p>
                <a:r>
                  <a:rPr lang="zh-TW" altLang="en-US" dirty="0"/>
                  <a:t>最後，滿足率定義為 </a:t>
                </a:r>
                <a:r>
                  <a:rPr lang="vi-VN" dirty="0"/>
                  <a:t>user </a:t>
                </a:r>
                <a:r>
                  <a:rPr lang="zh-TW" altLang="en-US" dirty="0"/>
                  <a:t>實際拿到的 </a:t>
                </a:r>
                <a:r>
                  <a:rPr lang="vi-VN" dirty="0"/>
                  <a:t>rate </a:t>
                </a:r>
                <a:r>
                  <a:rPr lang="zh-TW" altLang="en-US" dirty="0"/>
                  <a:t>和 </a:t>
                </a:r>
                <a:r>
                  <a:rPr lang="en-US" altLang="zh-TW" dirty="0"/>
                  <a:t>user </a:t>
                </a:r>
                <a:r>
                  <a:rPr lang="zh-TW" altLang="en-US" dirty="0"/>
                  <a:t>所需的</a:t>
                </a:r>
                <a:r>
                  <a:rPr lang="vi-VN" dirty="0"/>
                  <a:t>demand </a:t>
                </a:r>
                <a:r>
                  <a:rPr lang="zh-TW" altLang="en-US" dirty="0"/>
                  <a:t>的比例。當 </a:t>
                </a:r>
                <a:r>
                  <a:rPr lang="vi-VN" dirty="0"/>
                  <a:t>satᵤ(t) </a:t>
                </a:r>
                <a:r>
                  <a:rPr lang="zh-TW" altLang="en-US" dirty="0"/>
                  <a:t>等於 </a:t>
                </a:r>
                <a:r>
                  <a:rPr lang="en-US" altLang="zh-TW" dirty="0"/>
                  <a:t>1</a:t>
                </a:r>
                <a:r>
                  <a:rPr lang="zh-TW" altLang="en-US" dirty="0"/>
                  <a:t>，表示需求完全滿足；介於 </a:t>
                </a:r>
                <a:r>
                  <a:rPr lang="en-US" altLang="zh-TW" dirty="0"/>
                  <a:t>0 </a:t>
                </a:r>
                <a:r>
                  <a:rPr lang="zh-TW" altLang="en-US" dirty="0"/>
                  <a:t>到 </a:t>
                </a:r>
                <a:r>
                  <a:rPr lang="en-US" altLang="zh-TW" dirty="0"/>
                  <a:t>1 </a:t>
                </a:r>
                <a:r>
                  <a:rPr lang="zh-TW" altLang="en-US" dirty="0"/>
                  <a:t>則代表滿足部分需求。</a:t>
                </a:r>
              </a:p>
            </p:txBody>
          </p:sp>
        </mc:Choice>
        <mc:Fallback xmlns="">
          <p:sp>
            <p:nvSpPr>
              <p:cNvPr id="3" name="備忘稿版面配置區 2">
                <a:extLst>
                  <a:ext uri="{FF2B5EF4-FFF2-40B4-BE49-F238E27FC236}">
                    <a16:creationId xmlns:a16="http://schemas.microsoft.com/office/drawing/2014/main" id="{27F02C11-4D92-D1C2-4E00-3402646BBBEE}"/>
                  </a:ext>
                </a:extLst>
              </p:cNvPr>
              <p:cNvSpPr>
                <a:spLocks noGrp="1"/>
              </p:cNvSpPr>
              <p:nvPr>
                <p:ph type="body" idx="1"/>
              </p:nvPr>
            </p:nvSpPr>
            <p:spPr/>
            <p:txBody>
              <a:bodyPr/>
              <a:lstStyle/>
              <a:p>
                <a:r>
                  <a:rPr lang="zh-TW" altLang="en-US" dirty="0"/>
                  <a:t>並且由於同一個 </a:t>
                </a:r>
                <a:r>
                  <a:rPr lang="vi-VN" dirty="0"/>
                  <a:t>beam </a:t>
                </a:r>
                <a:r>
                  <a:rPr lang="zh-TW" altLang="en-US" dirty="0"/>
                  <a:t>可能服務多個 </a:t>
                </a:r>
                <a:r>
                  <a:rPr lang="vi-VN" dirty="0"/>
                  <a:t>users，</a:t>
                </a:r>
                <a:r>
                  <a:rPr lang="zh-TW" altLang="en-US" dirty="0"/>
                  <a:t>同一個 </a:t>
                </a:r>
                <a:r>
                  <a:rPr lang="vi-VN" dirty="0"/>
                  <a:t>beam </a:t>
                </a:r>
                <a:r>
                  <a:rPr lang="zh-TW" altLang="en-US" dirty="0"/>
                  <a:t>底下的 </a:t>
                </a:r>
                <a:r>
                  <a:rPr lang="vi-VN" dirty="0"/>
                  <a:t>users </a:t>
                </a:r>
                <a:r>
                  <a:rPr lang="zh-TW" altLang="en-US" dirty="0"/>
                  <a:t>會平均共享 </a:t>
                </a:r>
                <a:r>
                  <a:rPr lang="vi-VN" dirty="0"/>
                  <a:t>beam </a:t>
                </a:r>
                <a:r>
                  <a:rPr lang="zh-TW" altLang="en-US" dirty="0"/>
                  <a:t>的資源，因此實際一個</a:t>
                </a:r>
                <a:r>
                  <a:rPr lang="en-US" altLang="zh-TW" dirty="0"/>
                  <a:t>user</a:t>
                </a:r>
                <a:r>
                  <a:rPr lang="zh-TW" altLang="en-US" dirty="0"/>
                  <a:t>會收到</a:t>
                </a:r>
                <a:r>
                  <a:rPr lang="zh-TW" altLang="en-US" sz="1100" i="0" dirty="0">
                    <a:latin typeface="Cambria Math" panose="02040503050406030204" pitchFamily="18" charset="0"/>
                    <a:cs typeface="Times New Roman" panose="02020603050405020304" pitchFamily="18" charset="0"/>
                  </a:rPr>
                  <a:t>這麼多的</a:t>
                </a:r>
                <a:r>
                  <a:rPr lang="en-US" altLang="zh-TW" sz="1100" i="0" dirty="0">
                    <a:latin typeface="Cambria Math" panose="02040503050406030204" pitchFamily="18" charset="0"/>
                    <a:cs typeface="Times New Roman" panose="02020603050405020304" pitchFamily="18" charset="0"/>
                  </a:rPr>
                  <a:t>rate</a:t>
                </a:r>
                <a:r>
                  <a:rPr lang="zh-TW" altLang="en-US" dirty="0"/>
                  <a:t>資源</a:t>
                </a:r>
                <a:r>
                  <a:rPr lang="vi-VN" dirty="0"/>
                  <a:t>。</a:t>
                </a:r>
                <a:endParaRPr lang="en-US" dirty="0"/>
              </a:p>
              <a:p>
                <a:endParaRPr lang="en-US" altLang="zh-TW" dirty="0"/>
              </a:p>
              <a:p>
                <a:r>
                  <a:rPr lang="zh-TW" altLang="en-US" dirty="0"/>
                  <a:t>最後，滿足率定義為 </a:t>
                </a:r>
                <a:r>
                  <a:rPr lang="vi-VN" dirty="0"/>
                  <a:t>user </a:t>
                </a:r>
                <a:r>
                  <a:rPr lang="zh-TW" altLang="en-US" dirty="0"/>
                  <a:t>實際拿到的 </a:t>
                </a:r>
                <a:r>
                  <a:rPr lang="vi-VN" dirty="0"/>
                  <a:t>rate </a:t>
                </a:r>
                <a:r>
                  <a:rPr lang="zh-TW" altLang="en-US" dirty="0"/>
                  <a:t>和 </a:t>
                </a:r>
                <a:r>
                  <a:rPr lang="en-US" altLang="zh-TW" dirty="0"/>
                  <a:t>user </a:t>
                </a:r>
                <a:r>
                  <a:rPr lang="zh-TW" altLang="en-US" dirty="0"/>
                  <a:t>所需的</a:t>
                </a:r>
                <a:r>
                  <a:rPr lang="vi-VN" dirty="0"/>
                  <a:t>demand </a:t>
                </a:r>
                <a:r>
                  <a:rPr lang="zh-TW" altLang="en-US" dirty="0"/>
                  <a:t>的比例。當 </a:t>
                </a:r>
                <a:r>
                  <a:rPr lang="vi-VN" dirty="0"/>
                  <a:t>satᵤ(t) </a:t>
                </a:r>
                <a:r>
                  <a:rPr lang="zh-TW" altLang="en-US" dirty="0"/>
                  <a:t>等於 </a:t>
                </a:r>
                <a:r>
                  <a:rPr lang="en-US" altLang="zh-TW" dirty="0"/>
                  <a:t>1</a:t>
                </a:r>
                <a:r>
                  <a:rPr lang="zh-TW" altLang="en-US" dirty="0"/>
                  <a:t>，表示需求完全滿足；介於 </a:t>
                </a:r>
                <a:r>
                  <a:rPr lang="en-US" altLang="zh-TW" dirty="0"/>
                  <a:t>0 </a:t>
                </a:r>
                <a:r>
                  <a:rPr lang="zh-TW" altLang="en-US" dirty="0"/>
                  <a:t>到 </a:t>
                </a:r>
                <a:r>
                  <a:rPr lang="en-US" altLang="zh-TW" dirty="0"/>
                  <a:t>1 </a:t>
                </a:r>
                <a:r>
                  <a:rPr lang="zh-TW" altLang="en-US" dirty="0"/>
                  <a:t>則代表滿足部分需求。</a:t>
                </a:r>
              </a:p>
            </p:txBody>
          </p:sp>
        </mc:Fallback>
      </mc:AlternateContent>
    </p:spTree>
    <p:extLst>
      <p:ext uri="{BB962C8B-B14F-4D97-AF65-F5344CB8AC3E}">
        <p14:creationId xmlns:p14="http://schemas.microsoft.com/office/powerpoint/2010/main" val="41679320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4DD84-E662-BC26-B0E9-430942F2A7E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5E94919-2C12-D4D1-9AC3-D35B1867DAD4}"/>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6A76C212-8B2B-E3CE-9AB6-A8218B915337}"/>
              </a:ext>
            </a:extLst>
          </p:cNvPr>
          <p:cNvSpPr>
            <a:spLocks noGrp="1"/>
          </p:cNvSpPr>
          <p:nvPr>
            <p:ph type="body" idx="1"/>
          </p:nvPr>
        </p:nvSpPr>
        <p:spPr/>
        <p:txBody>
          <a:bodyPr/>
          <a:lstStyle/>
          <a:p>
            <a:r>
              <a:rPr lang="zh-TW" altLang="en-US" dirty="0"/>
              <a:t>這頁說明 </a:t>
            </a:r>
            <a:r>
              <a:rPr lang="en-US" altLang="zh-TW" dirty="0"/>
              <a:t>GS </a:t>
            </a:r>
            <a:r>
              <a:rPr lang="zh-TW" altLang="en-US" dirty="0"/>
              <a:t>端的 </a:t>
            </a:r>
            <a:r>
              <a:rPr lang="en-US" altLang="zh-TW" dirty="0"/>
              <a:t>EPFD </a:t>
            </a:r>
            <a:r>
              <a:rPr lang="zh-TW" altLang="en-US" dirty="0"/>
              <a:t>計算方式。</a:t>
            </a:r>
            <a:endParaRPr lang="en-US" altLang="zh-TW" dirty="0"/>
          </a:p>
          <a:p>
            <a:endParaRPr lang="en-US" altLang="zh-TW" dirty="0"/>
          </a:p>
          <a:p>
            <a:r>
              <a:rPr lang="zh-TW" altLang="en-US" dirty="0"/>
              <a:t>因為每顆 </a:t>
            </a:r>
            <a:r>
              <a:rPr lang="vi-VN" dirty="0"/>
              <a:t>LEO </a:t>
            </a:r>
            <a:r>
              <a:rPr lang="zh-TW" altLang="en-US" dirty="0"/>
              <a:t>衛星有多個 </a:t>
            </a:r>
            <a:r>
              <a:rPr lang="vi-VN" dirty="0"/>
              <a:t>beams，</a:t>
            </a:r>
            <a:r>
              <a:rPr lang="zh-TW" altLang="en-US" dirty="0"/>
              <a:t>每個 </a:t>
            </a:r>
            <a:r>
              <a:rPr lang="vi-VN" dirty="0"/>
              <a:t>beam </a:t>
            </a:r>
            <a:r>
              <a:rPr lang="zh-TW" altLang="en-US" dirty="0"/>
              <a:t>對地面站的傳輸功率、指向和增益等都不同，所以 </a:t>
            </a:r>
            <a:r>
              <a:rPr lang="vi-VN" dirty="0"/>
              <a:t>EPFD </a:t>
            </a:r>
            <a:r>
              <a:rPr lang="zh-TW" altLang="en-US" dirty="0"/>
              <a:t>需要先以 </a:t>
            </a:r>
            <a:r>
              <a:rPr lang="vi-VN" dirty="0"/>
              <a:t>beam level </a:t>
            </a:r>
            <a:r>
              <a:rPr lang="zh-TW" altLang="en-US" dirty="0"/>
              <a:t>個別計算。</a:t>
            </a:r>
            <a:endParaRPr lang="en-US" altLang="zh-TW" dirty="0"/>
          </a:p>
          <a:p>
            <a:endParaRPr lang="en-US" altLang="zh-TW" dirty="0"/>
          </a:p>
          <a:p>
            <a:r>
              <a:rPr lang="zh-TW" altLang="en-US" dirty="0"/>
              <a:t>接著，</a:t>
            </a:r>
            <a:r>
              <a:rPr lang="vi-VN" dirty="0"/>
              <a:t>GS </a:t>
            </a:r>
            <a:r>
              <a:rPr lang="zh-TW" altLang="en-US" dirty="0"/>
              <a:t>所收到的總</a:t>
            </a:r>
            <a:r>
              <a:rPr lang="vi-VN" dirty="0"/>
              <a:t> EPFD，</a:t>
            </a:r>
            <a:r>
              <a:rPr lang="zh-TW" altLang="en-US" dirty="0"/>
              <a:t>是把所有可視 </a:t>
            </a:r>
            <a:r>
              <a:rPr lang="vi-VN" dirty="0"/>
              <a:t>LEO </a:t>
            </a:r>
            <a:r>
              <a:rPr lang="zh-TW" altLang="en-US" dirty="0"/>
              <a:t>衛星中，每顆衛星的每個 </a:t>
            </a:r>
            <a:r>
              <a:rPr lang="vi-VN" dirty="0"/>
              <a:t>beam </a:t>
            </a:r>
            <a:r>
              <a:rPr lang="zh-TW" altLang="en-US" dirty="0"/>
              <a:t>對 </a:t>
            </a:r>
            <a:r>
              <a:rPr lang="vi-VN" dirty="0"/>
              <a:t>GS </a:t>
            </a:r>
            <a:r>
              <a:rPr lang="zh-TW" altLang="en-US" dirty="0"/>
              <a:t>造成的 </a:t>
            </a:r>
            <a:r>
              <a:rPr lang="vi-VN" dirty="0"/>
              <a:t>EPFD </a:t>
            </a:r>
            <a:r>
              <a:rPr lang="zh-TW" altLang="en-US" dirty="0"/>
              <a:t>線性加總起來。最後，這個 </a:t>
            </a:r>
            <a:r>
              <a:rPr lang="vi-VN" dirty="0"/>
              <a:t>aggregate EPFD </a:t>
            </a:r>
            <a:r>
              <a:rPr lang="zh-TW" altLang="en-US" dirty="0"/>
              <a:t>不能超過 </a:t>
            </a:r>
            <a:r>
              <a:rPr lang="vi-VN" dirty="0"/>
              <a:t>ITU </a:t>
            </a:r>
            <a:r>
              <a:rPr lang="zh-TW" altLang="en-US" dirty="0"/>
              <a:t>所規範的 </a:t>
            </a:r>
            <a:r>
              <a:rPr lang="vi-VN" dirty="0"/>
              <a:t>EPFD limit。</a:t>
            </a:r>
            <a:endParaRPr lang="zh-TW" altLang="en-US" dirty="0"/>
          </a:p>
        </p:txBody>
      </p:sp>
    </p:spTree>
    <p:extLst>
      <p:ext uri="{BB962C8B-B14F-4D97-AF65-F5344CB8AC3E}">
        <p14:creationId xmlns:p14="http://schemas.microsoft.com/office/powerpoint/2010/main" val="32908035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本文的目標是最大化所有 </a:t>
            </a:r>
            <a:r>
              <a:rPr lang="vi-VN" dirty="0"/>
              <a:t>users </a:t>
            </a:r>
            <a:r>
              <a:rPr lang="zh-TW" altLang="en-US" dirty="0"/>
              <a:t>的 </a:t>
            </a:r>
            <a:r>
              <a:rPr lang="vi-VN" dirty="0"/>
              <a:t>satisfaction，</a:t>
            </a:r>
            <a:r>
              <a:rPr lang="zh-TW" altLang="en-US" dirty="0"/>
              <a:t>但同時要滿足幾個限制</a:t>
            </a:r>
            <a:endParaRPr lang="en-US" altLang="zh-TW" dirty="0"/>
          </a:p>
          <a:p>
            <a:endParaRPr lang="en-US" altLang="zh-TW" dirty="0"/>
          </a:p>
          <a:p>
            <a:r>
              <a:rPr lang="zh-TW" altLang="en-US" dirty="0"/>
              <a:t>第一和第二是每個 </a:t>
            </a:r>
            <a:r>
              <a:rPr lang="vi-VN" dirty="0"/>
              <a:t>user </a:t>
            </a:r>
            <a:r>
              <a:rPr lang="zh-TW" altLang="en-US" dirty="0"/>
              <a:t>在同一個 </a:t>
            </a:r>
            <a:r>
              <a:rPr lang="vi-VN" dirty="0"/>
              <a:t>time slot </a:t>
            </a:r>
            <a:r>
              <a:rPr lang="zh-TW" altLang="en-US" dirty="0"/>
              <a:t>最多只能連到一個衛星的一個</a:t>
            </a:r>
            <a:r>
              <a:rPr lang="en-US" altLang="zh-TW" dirty="0"/>
              <a:t>beam</a:t>
            </a:r>
            <a:r>
              <a:rPr lang="zh-TW" altLang="en-US" dirty="0"/>
              <a:t>，並且也不會出現負數的情況</a:t>
            </a:r>
            <a:endParaRPr lang="en-US" altLang="zh-TW" dirty="0"/>
          </a:p>
          <a:p>
            <a:endParaRPr lang="en-US" altLang="zh-TW" dirty="0"/>
          </a:p>
          <a:p>
            <a:r>
              <a:rPr lang="zh-TW" altLang="en-US" dirty="0"/>
              <a:t>第三是每個 </a:t>
            </a:r>
            <a:r>
              <a:rPr lang="vi-VN" dirty="0"/>
              <a:t>beam </a:t>
            </a:r>
            <a:r>
              <a:rPr lang="zh-TW" altLang="en-US" dirty="0"/>
              <a:t>的 發射功率不能超過自己的最大值</a:t>
            </a:r>
            <a:r>
              <a:rPr lang="vi-VN" dirty="0"/>
              <a:t>，</a:t>
            </a:r>
            <a:r>
              <a:rPr lang="zh-TW" altLang="en-US" dirty="0"/>
              <a:t>也包含 </a:t>
            </a:r>
            <a:r>
              <a:rPr lang="vi-VN" dirty="0"/>
              <a:t>beam </a:t>
            </a:r>
            <a:r>
              <a:rPr lang="zh-TW" altLang="en-US" dirty="0"/>
              <a:t>被 </a:t>
            </a:r>
            <a:r>
              <a:rPr lang="vi-VN" dirty="0"/>
              <a:t>shut down </a:t>
            </a:r>
            <a:r>
              <a:rPr lang="zh-TW" altLang="en-US" dirty="0"/>
              <a:t>時 </a:t>
            </a:r>
            <a:r>
              <a:rPr lang="vi-VN" dirty="0"/>
              <a:t>power </a:t>
            </a:r>
            <a:r>
              <a:rPr lang="zh-TW" altLang="en-US" dirty="0"/>
              <a:t>最小等於 </a:t>
            </a:r>
            <a:r>
              <a:rPr lang="en-US" altLang="zh-TW" dirty="0"/>
              <a:t>0 </a:t>
            </a:r>
            <a:r>
              <a:rPr lang="zh-TW" altLang="en-US" dirty="0"/>
              <a:t>的情況</a:t>
            </a:r>
            <a:endParaRPr lang="en-US" altLang="zh-TW" dirty="0"/>
          </a:p>
          <a:p>
            <a:endParaRPr lang="en-US" altLang="zh-TW" dirty="0"/>
          </a:p>
          <a:p>
            <a:r>
              <a:rPr lang="zh-TW" altLang="en-US" dirty="0"/>
              <a:t>第四是 同一顆 </a:t>
            </a:r>
            <a:r>
              <a:rPr lang="vi-VN" dirty="0"/>
              <a:t>satellite </a:t>
            </a:r>
            <a:r>
              <a:rPr lang="zh-TW" altLang="en-US" dirty="0"/>
              <a:t>上所有 </a:t>
            </a:r>
            <a:r>
              <a:rPr lang="vi-VN" dirty="0"/>
              <a:t>beams </a:t>
            </a:r>
            <a:r>
              <a:rPr lang="zh-TW" altLang="en-US" dirty="0"/>
              <a:t>的總發射功率不能超過衛星本身的功率總量</a:t>
            </a:r>
            <a:endParaRPr lang="en-US" altLang="zh-TW" dirty="0"/>
          </a:p>
          <a:p>
            <a:endParaRPr lang="en-US" altLang="zh-TW" dirty="0"/>
          </a:p>
          <a:p>
            <a:r>
              <a:rPr lang="zh-TW" altLang="en-US" dirty="0"/>
              <a:t>第五是 </a:t>
            </a:r>
            <a:r>
              <a:rPr lang="vi-VN" dirty="0"/>
              <a:t>GS </a:t>
            </a:r>
            <a:r>
              <a:rPr lang="zh-TW" altLang="en-US" dirty="0"/>
              <a:t>接收到的總 </a:t>
            </a:r>
            <a:r>
              <a:rPr lang="vi-VN" dirty="0"/>
              <a:t>EPFD </a:t>
            </a:r>
            <a:r>
              <a:rPr lang="zh-TW" altLang="en-US" dirty="0"/>
              <a:t>不能超過</a:t>
            </a:r>
            <a:r>
              <a:rPr lang="en-US" altLang="zh-TW" dirty="0"/>
              <a:t>ITU</a:t>
            </a:r>
            <a:r>
              <a:rPr lang="zh-TW" altLang="en-US" dirty="0"/>
              <a:t>所規範的 </a:t>
            </a:r>
            <a:r>
              <a:rPr lang="vi-VN" dirty="0"/>
              <a:t>EPFD limit</a:t>
            </a:r>
            <a:r>
              <a:rPr lang="zh-TW" altLang="en-US" dirty="0"/>
              <a:t>值。</a:t>
            </a:r>
            <a:endParaRPr lang="en-US" altLang="zh-TW" dirty="0"/>
          </a:p>
          <a:p>
            <a:endParaRPr lang="en-US" altLang="zh-TW" dirty="0"/>
          </a:p>
          <a:p>
            <a:r>
              <a:rPr lang="zh-TW" altLang="en-US" dirty="0"/>
              <a:t>這個問題困難的地方在於，由於前面提到的各個 </a:t>
            </a:r>
            <a:r>
              <a:rPr lang="en-US" altLang="zh-TW" dirty="0"/>
              <a:t>model </a:t>
            </a:r>
            <a:r>
              <a:rPr lang="zh-TW" altLang="en-US" dirty="0"/>
              <a:t>之間彼此耦合，直接在每個 </a:t>
            </a:r>
            <a:r>
              <a:rPr lang="vi-VN" dirty="0"/>
              <a:t>time slot </a:t>
            </a:r>
            <a:r>
              <a:rPr lang="zh-TW" altLang="en-US" dirty="0"/>
              <a:t>求 </a:t>
            </a:r>
            <a:r>
              <a:rPr lang="vi-VN" dirty="0"/>
              <a:t>global optimum </a:t>
            </a:r>
            <a:r>
              <a:rPr lang="zh-TW" altLang="en-US" dirty="0"/>
              <a:t>會很困難。因此，下一章將提出一個分階段的低複雜度方法，以在 </a:t>
            </a:r>
            <a:r>
              <a:rPr lang="vi-VN" dirty="0"/>
              <a:t>critical</a:t>
            </a:r>
            <a:r>
              <a:rPr lang="zh-TW" altLang="en-US" dirty="0"/>
              <a:t> 衛星經過</a:t>
            </a:r>
            <a:r>
              <a:rPr lang="en-US" altLang="zh-TW" dirty="0"/>
              <a:t>GS</a:t>
            </a:r>
            <a:r>
              <a:rPr lang="zh-TW" altLang="en-US" dirty="0"/>
              <a:t>期間取得可行的 </a:t>
            </a:r>
            <a:r>
              <a:rPr lang="vi-VN" dirty="0"/>
              <a:t>user </a:t>
            </a:r>
            <a:r>
              <a:rPr lang="zh-TW" altLang="en-US" dirty="0"/>
              <a:t>分配</a:t>
            </a:r>
            <a:r>
              <a:rPr lang="vi-VN" dirty="0"/>
              <a:t> </a:t>
            </a:r>
            <a:r>
              <a:rPr lang="zh-TW" altLang="en-US" dirty="0"/>
              <a:t>與 </a:t>
            </a:r>
            <a:r>
              <a:rPr lang="vi-VN" dirty="0"/>
              <a:t>beam </a:t>
            </a:r>
            <a:r>
              <a:rPr lang="zh-TW" altLang="en-US" dirty="0"/>
              <a:t>的功率分配</a:t>
            </a:r>
            <a:r>
              <a:rPr lang="vi-VN" dirty="0"/>
              <a:t>。</a:t>
            </a:r>
          </a:p>
        </p:txBody>
      </p:sp>
    </p:spTree>
    <p:extLst>
      <p:ext uri="{BB962C8B-B14F-4D97-AF65-F5344CB8AC3E}">
        <p14:creationId xmlns:p14="http://schemas.microsoft.com/office/powerpoint/2010/main" val="19808128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因此本文的目標就是在滿足 </a:t>
            </a:r>
            <a:r>
              <a:rPr lang="vi-VN" dirty="0"/>
              <a:t>EPFD limit </a:t>
            </a:r>
            <a:r>
              <a:rPr lang="zh-TW" altLang="en-US" dirty="0"/>
              <a:t>的前提下，提升系統整體的 </a:t>
            </a:r>
            <a:r>
              <a:rPr lang="vi-VN" dirty="0"/>
              <a:t>user satisfaction。</a:t>
            </a:r>
            <a:endParaRPr lang="en-US" altLang="zh-TW" dirty="0"/>
          </a:p>
          <a:p>
            <a:endParaRPr lang="en-US" altLang="zh-TW" dirty="0"/>
          </a:p>
          <a:p>
            <a:r>
              <a:rPr lang="zh-TW" altLang="en-US" dirty="0"/>
              <a:t>為了解決這個問題，本論文提出 </a:t>
            </a:r>
            <a:r>
              <a:rPr lang="vi-VN" dirty="0"/>
              <a:t>Safe-Beam Assisted Power-Release Relay，</a:t>
            </a:r>
            <a:r>
              <a:rPr lang="zh-TW" altLang="en-US" dirty="0"/>
              <a:t>簡稱 </a:t>
            </a:r>
            <a:r>
              <a:rPr lang="vi-VN" dirty="0"/>
              <a:t>SAPR-R。</a:t>
            </a:r>
            <a:endParaRPr lang="en-US" dirty="0"/>
          </a:p>
          <a:p>
            <a:endParaRPr lang="en-US" altLang="zh-TW" dirty="0"/>
          </a:p>
          <a:p>
            <a:r>
              <a:rPr lang="vi-VN" dirty="0"/>
              <a:t>SAPR-R </a:t>
            </a:r>
            <a:r>
              <a:rPr lang="zh-TW" altLang="en-US" dirty="0"/>
              <a:t>的核心概念是利用衛星星座的可預測特性，先掌握 </a:t>
            </a:r>
            <a:r>
              <a:rPr lang="vi-VN" dirty="0"/>
              <a:t>critical </a:t>
            </a:r>
            <a:r>
              <a:rPr lang="zh-TW" altLang="en-US" dirty="0"/>
              <a:t>和 </a:t>
            </a:r>
            <a:r>
              <a:rPr lang="vi-VN" dirty="0"/>
              <a:t>helper </a:t>
            </a:r>
            <a:r>
              <a:rPr lang="zh-TW" altLang="en-US" dirty="0"/>
              <a:t>衛星之間的</a:t>
            </a:r>
            <a:r>
              <a:rPr lang="en-US" altLang="zh-TW" dirty="0"/>
              <a:t>beam</a:t>
            </a:r>
            <a:r>
              <a:rPr lang="zh-TW" altLang="en-US" dirty="0"/>
              <a:t>重疊覆蓋關係，讓受到關 </a:t>
            </a:r>
            <a:r>
              <a:rPr lang="vi-VN" dirty="0"/>
              <a:t>critical-beam</a:t>
            </a:r>
            <a:r>
              <a:rPr lang="en-US" dirty="0"/>
              <a:t> </a:t>
            </a:r>
            <a:r>
              <a:rPr lang="zh-TW" altLang="en-US" dirty="0"/>
              <a:t>影響的 </a:t>
            </a:r>
            <a:r>
              <a:rPr lang="vi-VN" dirty="0"/>
              <a:t>users，</a:t>
            </a:r>
            <a:r>
              <a:rPr lang="zh-TW" altLang="en-US" dirty="0"/>
              <a:t>可以被鄰近的 </a:t>
            </a:r>
            <a:r>
              <a:rPr lang="vi-VN" dirty="0"/>
              <a:t>helper </a:t>
            </a:r>
            <a:r>
              <a:rPr lang="zh-TW" altLang="en-US" dirty="0"/>
              <a:t>衛星的</a:t>
            </a:r>
            <a:r>
              <a:rPr lang="vi-VN" dirty="0"/>
              <a:t>beams </a:t>
            </a:r>
            <a:r>
              <a:rPr lang="zh-TW" altLang="en-US" dirty="0"/>
              <a:t>去接手服務。</a:t>
            </a:r>
            <a:endParaRPr lang="en-US" altLang="zh-TW" dirty="0"/>
          </a:p>
          <a:p>
            <a:pPr marL="158750" indent="0">
              <a:buNone/>
            </a:pPr>
            <a:endParaRPr lang="en-US" altLang="zh-TW" dirty="0"/>
          </a:p>
        </p:txBody>
      </p:sp>
    </p:spTree>
    <p:extLst>
      <p:ext uri="{BB962C8B-B14F-4D97-AF65-F5344CB8AC3E}">
        <p14:creationId xmlns:p14="http://schemas.microsoft.com/office/powerpoint/2010/main" val="29988178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10751-24D6-C97C-491D-7912E65FA0A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F378417-8F7D-4C1A-D394-81B09E5BAD4E}"/>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C3FBFA42-F132-B423-3AFD-765B2101BB0A}"/>
              </a:ext>
            </a:extLst>
          </p:cNvPr>
          <p:cNvSpPr>
            <a:spLocks noGrp="1"/>
          </p:cNvSpPr>
          <p:nvPr>
            <p:ph type="body" idx="1"/>
          </p:nvPr>
        </p:nvSpPr>
        <p:spPr/>
        <p:txBody>
          <a:bodyPr/>
          <a:lstStyle/>
          <a:p>
            <a:pPr marL="457200" indent="-298450"/>
            <a:r>
              <a:rPr lang="zh-TW" altLang="en-US" dirty="0"/>
              <a:t>先介紹 </a:t>
            </a:r>
            <a:r>
              <a:rPr lang="vi-VN" dirty="0"/>
              <a:t>SAPR-R </a:t>
            </a:r>
            <a:r>
              <a:rPr lang="zh-TW" altLang="en-US" dirty="0"/>
              <a:t>的整體流程，分成四個主要部分</a:t>
            </a:r>
            <a:endParaRPr lang="en-US" altLang="zh-TW" dirty="0"/>
          </a:p>
          <a:p>
            <a:pPr marL="158750" indent="0">
              <a:buNone/>
            </a:pPr>
            <a:endParaRPr lang="en-US" altLang="zh-TW" dirty="0"/>
          </a:p>
          <a:p>
            <a:r>
              <a:rPr lang="zh-TW" altLang="en-US" dirty="0"/>
              <a:t>第一個部分是 </a:t>
            </a:r>
            <a:r>
              <a:rPr lang="vi-VN" dirty="0"/>
              <a:t>Beam Relation Precomputation，</a:t>
            </a:r>
            <a:r>
              <a:rPr lang="zh-TW" altLang="en-US" dirty="0"/>
              <a:t>先根據衛星軌道、</a:t>
            </a:r>
            <a:r>
              <a:rPr lang="vi-VN" dirty="0"/>
              <a:t>beam footprint</a:t>
            </a:r>
            <a:r>
              <a:rPr lang="zh-TW" altLang="en-US" dirty="0"/>
              <a:t>等資訊，預先在每個 </a:t>
            </a:r>
            <a:r>
              <a:rPr lang="en-US" altLang="zh-TW" dirty="0"/>
              <a:t>time slot</a:t>
            </a:r>
            <a:r>
              <a:rPr lang="zh-TW" altLang="en-US" dirty="0"/>
              <a:t>掌握 </a:t>
            </a:r>
            <a:r>
              <a:rPr lang="vi-VN" dirty="0"/>
              <a:t>critical </a:t>
            </a:r>
            <a:r>
              <a:rPr lang="zh-TW" altLang="en-US" dirty="0"/>
              <a:t>和 </a:t>
            </a:r>
            <a:r>
              <a:rPr lang="vi-VN" dirty="0"/>
              <a:t>helper </a:t>
            </a:r>
            <a:r>
              <a:rPr lang="zh-TW" altLang="en-US" dirty="0"/>
              <a:t>衛星</a:t>
            </a:r>
            <a:r>
              <a:rPr lang="vi-VN" dirty="0"/>
              <a:t>，</a:t>
            </a:r>
            <a:r>
              <a:rPr lang="zh-TW" altLang="en-US" dirty="0"/>
              <a:t>以及它們之間的 </a:t>
            </a:r>
            <a:r>
              <a:rPr lang="vi-VN" dirty="0"/>
              <a:t>beam </a:t>
            </a:r>
            <a:r>
              <a:rPr lang="zh-TW" altLang="en-US" dirty="0"/>
              <a:t>重疊關係。</a:t>
            </a:r>
            <a:endParaRPr lang="en-US" altLang="zh-TW" dirty="0"/>
          </a:p>
          <a:p>
            <a:endParaRPr lang="zh-TW" altLang="en-US" dirty="0"/>
          </a:p>
          <a:p>
            <a:r>
              <a:rPr lang="zh-TW" altLang="en-US" dirty="0"/>
              <a:t>接著進入第一階段</a:t>
            </a:r>
            <a:r>
              <a:rPr lang="vi-VN" dirty="0"/>
              <a:t>。</a:t>
            </a:r>
            <a:r>
              <a:rPr lang="zh-TW" altLang="en-US" dirty="0"/>
              <a:t>第一個是利用 </a:t>
            </a:r>
            <a:r>
              <a:rPr lang="vi-VN" dirty="0"/>
              <a:t>critical satellite </a:t>
            </a:r>
            <a:r>
              <a:rPr lang="zh-TW" altLang="en-US" dirty="0"/>
              <a:t>上仍然安全開啟的 </a:t>
            </a:r>
            <a:r>
              <a:rPr lang="vi-VN" dirty="0"/>
              <a:t>beams，</a:t>
            </a:r>
            <a:r>
              <a:rPr lang="zh-TW" altLang="en-US" dirty="0"/>
              <a:t>去協助釋放 </a:t>
            </a:r>
            <a:r>
              <a:rPr lang="vi-VN" dirty="0"/>
              <a:t>helper satellite </a:t>
            </a:r>
            <a:r>
              <a:rPr lang="zh-TW" altLang="en-US" dirty="0"/>
              <a:t>的可用功率。</a:t>
            </a:r>
            <a:endParaRPr lang="en-US" altLang="zh-TW" dirty="0"/>
          </a:p>
          <a:p>
            <a:endParaRPr lang="zh-TW" altLang="en-US" dirty="0"/>
          </a:p>
          <a:p>
            <a:r>
              <a:rPr lang="zh-TW" altLang="en-US" dirty="0"/>
              <a:t>第二個部分是把釋放出來的可用功率分配給後續要負責接手的的 </a:t>
            </a:r>
            <a:r>
              <a:rPr lang="vi-VN" dirty="0"/>
              <a:t>helper relay beams，</a:t>
            </a:r>
            <a:r>
              <a:rPr lang="zh-TW" altLang="en-US" dirty="0"/>
              <a:t>提升它們服務 </a:t>
            </a:r>
            <a:r>
              <a:rPr lang="vi-VN" dirty="0"/>
              <a:t>users </a:t>
            </a:r>
            <a:r>
              <a:rPr lang="zh-TW" altLang="en-US" dirty="0"/>
              <a:t>的能力。</a:t>
            </a:r>
            <a:endParaRPr lang="en-US" altLang="zh-TW" dirty="0"/>
          </a:p>
          <a:p>
            <a:endParaRPr lang="zh-TW" altLang="en-US" dirty="0"/>
          </a:p>
          <a:p>
            <a:r>
              <a:rPr lang="zh-TW" altLang="en-US" dirty="0"/>
              <a:t>最後進入第二階段</a:t>
            </a:r>
            <a:r>
              <a:rPr lang="vi-VN" dirty="0"/>
              <a:t>。</a:t>
            </a:r>
            <a:r>
              <a:rPr lang="zh-TW" altLang="en-US" dirty="0"/>
              <a:t>將受到關 </a:t>
            </a:r>
            <a:r>
              <a:rPr lang="vi-VN" dirty="0"/>
              <a:t>closed-beam </a:t>
            </a:r>
            <a:r>
              <a:rPr lang="zh-TW" altLang="en-US" dirty="0"/>
              <a:t>影響的 </a:t>
            </a:r>
            <a:r>
              <a:rPr lang="vi-VN" dirty="0"/>
              <a:t>users，relay </a:t>
            </a:r>
            <a:r>
              <a:rPr lang="zh-TW" altLang="en-US" dirty="0"/>
              <a:t>到可行的 </a:t>
            </a:r>
            <a:r>
              <a:rPr lang="vi-VN" dirty="0"/>
              <a:t>helper beams </a:t>
            </a:r>
            <a:r>
              <a:rPr lang="zh-TW" altLang="en-US" dirty="0"/>
              <a:t>上恢復服務。</a:t>
            </a:r>
          </a:p>
          <a:p>
            <a:pPr marL="158750" indent="0">
              <a:buNone/>
            </a:pPr>
            <a:endParaRPr lang="en-US" altLang="zh-TW" dirty="0"/>
          </a:p>
        </p:txBody>
      </p:sp>
    </p:spTree>
    <p:extLst>
      <p:ext uri="{BB962C8B-B14F-4D97-AF65-F5344CB8AC3E}">
        <p14:creationId xmlns:p14="http://schemas.microsoft.com/office/powerpoint/2010/main" val="5695645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10F55-2700-24B2-3258-C4508AD9307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EAC5217-9430-4FFA-7FD7-FD18AA492D06}"/>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AFAE637B-7CF7-0886-55F7-5FF9A0B6F8A9}"/>
              </a:ext>
            </a:extLst>
          </p:cNvPr>
          <p:cNvSpPr>
            <a:spLocks noGrp="1"/>
          </p:cNvSpPr>
          <p:nvPr>
            <p:ph type="body" idx="1"/>
          </p:nvPr>
        </p:nvSpPr>
        <p:spPr/>
        <p:txBody>
          <a:bodyPr/>
          <a:lstStyle/>
          <a:p>
            <a:pPr marL="457200" indent="-298450"/>
            <a:r>
              <a:rPr lang="zh-TW" altLang="en-US" dirty="0"/>
              <a:t>現在的</a:t>
            </a:r>
            <a:r>
              <a:rPr lang="vi-VN" dirty="0"/>
              <a:t>LEO </a:t>
            </a:r>
            <a:r>
              <a:rPr lang="zh-TW" altLang="en-US" dirty="0"/>
              <a:t>衛星的軌道、</a:t>
            </a:r>
            <a:r>
              <a:rPr lang="vi-VN" dirty="0"/>
              <a:t>beam footprints，</a:t>
            </a:r>
            <a:r>
              <a:rPr lang="zh-TW" altLang="en-US" dirty="0"/>
              <a:t>以及 </a:t>
            </a:r>
            <a:r>
              <a:rPr lang="vi-VN" dirty="0"/>
              <a:t>GS </a:t>
            </a:r>
            <a:r>
              <a:rPr lang="zh-TW" altLang="en-US" dirty="0"/>
              <a:t>的位置都是可預測的，因此我們可以先為每一個 </a:t>
            </a:r>
            <a:r>
              <a:rPr lang="vi-VN" dirty="0"/>
              <a:t>time slot </a:t>
            </a:r>
            <a:r>
              <a:rPr lang="zh-TW" altLang="en-US" dirty="0"/>
              <a:t>建立 </a:t>
            </a:r>
            <a:r>
              <a:rPr lang="vi-VN" dirty="0"/>
              <a:t>beam relation record</a:t>
            </a:r>
            <a:r>
              <a:rPr lang="zh-TW" altLang="en-US" dirty="0"/>
              <a:t> 的事前準備</a:t>
            </a:r>
            <a:r>
              <a:rPr lang="vi-VN" dirty="0"/>
              <a:t>。</a:t>
            </a:r>
            <a:endParaRPr lang="en-US" dirty="0"/>
          </a:p>
          <a:p>
            <a:pPr marL="457200" indent="-298450"/>
            <a:endParaRPr lang="en-US" altLang="zh-TW" dirty="0"/>
          </a:p>
          <a:p>
            <a:pPr marL="457200" indent="-298450"/>
            <a:r>
              <a:rPr lang="zh-TW" altLang="en-US" dirty="0"/>
              <a:t>這個 </a:t>
            </a:r>
            <a:r>
              <a:rPr lang="vi-VN" dirty="0"/>
              <a:t>record </a:t>
            </a:r>
            <a:r>
              <a:rPr lang="zh-TW" altLang="en-US" dirty="0"/>
              <a:t>會記錄目前 </a:t>
            </a:r>
            <a:r>
              <a:rPr lang="vi-VN" dirty="0"/>
              <a:t>time slot </a:t>
            </a:r>
            <a:r>
              <a:rPr lang="zh-TW" altLang="en-US" dirty="0"/>
              <a:t>的 </a:t>
            </a:r>
            <a:r>
              <a:rPr lang="vi-VN" dirty="0"/>
              <a:t>critical </a:t>
            </a:r>
            <a:r>
              <a:rPr lang="zh-TW" altLang="en-US" dirty="0"/>
              <a:t>衛星是哪一顆</a:t>
            </a:r>
            <a:r>
              <a:rPr lang="vi-VN" dirty="0"/>
              <a:t>、</a:t>
            </a:r>
            <a:r>
              <a:rPr lang="zh-TW" altLang="en-US" dirty="0"/>
              <a:t>以及其同軌道對應的南北上下兩顆 </a:t>
            </a:r>
            <a:r>
              <a:rPr lang="vi-VN" dirty="0"/>
              <a:t>helper </a:t>
            </a:r>
            <a:r>
              <a:rPr lang="zh-TW" altLang="en-US" dirty="0"/>
              <a:t>衛星，並且記錄因為要符合</a:t>
            </a:r>
            <a:r>
              <a:rPr lang="en-US" altLang="zh-TW" dirty="0"/>
              <a:t>EPFD</a:t>
            </a:r>
            <a:r>
              <a:rPr lang="zh-TW" altLang="en-US" dirty="0"/>
              <a:t>限制，</a:t>
            </a:r>
            <a:r>
              <a:rPr lang="vi-VN" dirty="0"/>
              <a:t>critical </a:t>
            </a:r>
            <a:r>
              <a:rPr lang="zh-TW" altLang="en-US" dirty="0"/>
              <a:t>衛星上所需要關閉的</a:t>
            </a:r>
            <a:r>
              <a:rPr lang="en-US" altLang="zh-TW" dirty="0"/>
              <a:t>closed beam</a:t>
            </a:r>
            <a:r>
              <a:rPr lang="vi-VN" dirty="0"/>
              <a:t>，</a:t>
            </a:r>
            <a:r>
              <a:rPr lang="zh-TW" altLang="en-US" dirty="0"/>
              <a:t>以及仍然開啟的 </a:t>
            </a:r>
            <a:r>
              <a:rPr lang="vi-VN" dirty="0"/>
              <a:t>safe beams。</a:t>
            </a:r>
            <a:endParaRPr lang="en-US" dirty="0"/>
          </a:p>
          <a:p>
            <a:pPr marL="457200" indent="-298450"/>
            <a:endParaRPr lang="en-US" altLang="zh-TW" dirty="0"/>
          </a:p>
          <a:p>
            <a:pPr marL="457200" indent="-298450"/>
            <a:r>
              <a:rPr lang="zh-TW" altLang="en-US" dirty="0"/>
              <a:t>圖中所式，這三顆衛星依序在軌道上往北邊運行，中間這顆</a:t>
            </a:r>
            <a:r>
              <a:rPr lang="en-US" altLang="zh-TW" dirty="0"/>
              <a:t>LEO</a:t>
            </a:r>
            <a:r>
              <a:rPr lang="zh-TW" altLang="en-US" dirty="0"/>
              <a:t>覆蓋</a:t>
            </a:r>
            <a:r>
              <a:rPr lang="en-US" altLang="zh-TW" dirty="0"/>
              <a:t>GS</a:t>
            </a:r>
            <a:r>
              <a:rPr lang="zh-TW" altLang="en-US" dirty="0"/>
              <a:t>並且與</a:t>
            </a:r>
            <a:r>
              <a:rPr lang="en-US" altLang="zh-TW" dirty="0"/>
              <a:t>GS</a:t>
            </a:r>
            <a:r>
              <a:rPr lang="zh-TW" altLang="en-US" dirty="0"/>
              <a:t>的</a:t>
            </a:r>
            <a:r>
              <a:rPr lang="en-US" altLang="zh-TW" dirty="0"/>
              <a:t>GSO</a:t>
            </a:r>
            <a:r>
              <a:rPr lang="zh-TW" altLang="en-US" dirty="0"/>
              <a:t>兩者</a:t>
            </a:r>
            <a:r>
              <a:rPr lang="en-US" altLang="zh-TW" dirty="0"/>
              <a:t>downlink</a:t>
            </a:r>
            <a:r>
              <a:rPr lang="zh-TW" altLang="en-US" dirty="0"/>
              <a:t>夾角過小時，</a:t>
            </a:r>
            <a:r>
              <a:rPr lang="en-US" altLang="zh-TW" dirty="0"/>
              <a:t>closed beam</a:t>
            </a:r>
            <a:r>
              <a:rPr lang="zh-TW" altLang="en-US" dirty="0"/>
              <a:t>會依序增加，當</a:t>
            </a:r>
            <a:r>
              <a:rPr lang="en-US" altLang="zh-TW" dirty="0"/>
              <a:t>LEO</a:t>
            </a:r>
            <a:r>
              <a:rPr lang="zh-TW" altLang="en-US" dirty="0"/>
              <a:t>達到</a:t>
            </a:r>
            <a:r>
              <a:rPr lang="en-US" altLang="zh-TW" dirty="0"/>
              <a:t>GS</a:t>
            </a:r>
            <a:r>
              <a:rPr lang="zh-TW" altLang="en-US" dirty="0"/>
              <a:t>正上方時，可以看到</a:t>
            </a:r>
            <a:r>
              <a:rPr lang="en-US" altLang="zh-TW" dirty="0"/>
              <a:t>closed beam</a:t>
            </a:r>
            <a:r>
              <a:rPr lang="zh-TW" altLang="en-US" dirty="0"/>
              <a:t>的數量來到最多，遠離這個</a:t>
            </a:r>
            <a:r>
              <a:rPr lang="en-US" altLang="zh-TW" dirty="0"/>
              <a:t>GS</a:t>
            </a:r>
            <a:r>
              <a:rPr lang="zh-TW" altLang="en-US" dirty="0"/>
              <a:t> </a:t>
            </a:r>
            <a:r>
              <a:rPr lang="en-US" altLang="zh-TW" dirty="0"/>
              <a:t>closed beam</a:t>
            </a:r>
            <a:r>
              <a:rPr lang="zh-TW" altLang="en-US" dirty="0"/>
              <a:t> 就會依序恢復</a:t>
            </a:r>
            <a:endParaRPr lang="en-US" altLang="zh-TW" dirty="0"/>
          </a:p>
        </p:txBody>
      </p:sp>
    </p:spTree>
    <p:extLst>
      <p:ext uri="{BB962C8B-B14F-4D97-AF65-F5344CB8AC3E}">
        <p14:creationId xmlns:p14="http://schemas.microsoft.com/office/powerpoint/2010/main" val="11493944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6FFC0-D596-71B3-CCA7-9C6C528EC2D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95D01C9-3227-F30B-9B3D-F0151EF206D2}"/>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0F8FBAF2-2698-A0AD-F3BA-4EE69E45D631}"/>
              </a:ext>
            </a:extLst>
          </p:cNvPr>
          <p:cNvSpPr>
            <a:spLocks noGrp="1"/>
          </p:cNvSpPr>
          <p:nvPr>
            <p:ph type="body" idx="1"/>
          </p:nvPr>
        </p:nvSpPr>
        <p:spPr/>
        <p:txBody>
          <a:bodyPr/>
          <a:lstStyle/>
          <a:p>
            <a:pPr marL="457200" indent="-298450"/>
            <a:r>
              <a:rPr lang="zh-TW" altLang="en-US" dirty="0"/>
              <a:t>再來就是紀錄每個</a:t>
            </a:r>
            <a:r>
              <a:rPr lang="en-US" altLang="zh-TW" dirty="0"/>
              <a:t>time slot</a:t>
            </a:r>
            <a:r>
              <a:rPr lang="zh-TW" altLang="en-US" dirty="0"/>
              <a:t>，</a:t>
            </a:r>
            <a:r>
              <a:rPr lang="en-US" altLang="zh-TW" dirty="0"/>
              <a:t>helper</a:t>
            </a:r>
            <a:r>
              <a:rPr lang="zh-TW" altLang="en-US" dirty="0"/>
              <a:t>衛星上那些</a:t>
            </a:r>
            <a:r>
              <a:rPr lang="en-US" altLang="zh-TW" dirty="0"/>
              <a:t>beam</a:t>
            </a:r>
            <a:r>
              <a:rPr lang="zh-TW" altLang="en-US" dirty="0"/>
              <a:t>是跟</a:t>
            </a:r>
            <a:r>
              <a:rPr lang="en-US" altLang="zh-TW" dirty="0"/>
              <a:t>closed beam</a:t>
            </a:r>
            <a:r>
              <a:rPr lang="zh-TW" altLang="en-US" dirty="0"/>
              <a:t>有重疊的，以及那些</a:t>
            </a:r>
            <a:r>
              <a:rPr lang="en-US" altLang="zh-TW" dirty="0"/>
              <a:t>beam</a:t>
            </a:r>
            <a:r>
              <a:rPr lang="zh-TW" altLang="en-US" dirty="0"/>
              <a:t>是跟</a:t>
            </a:r>
            <a:r>
              <a:rPr lang="en-US" altLang="zh-TW" dirty="0"/>
              <a:t> safe beam</a:t>
            </a:r>
            <a:r>
              <a:rPr lang="zh-TW" altLang="en-US" dirty="0"/>
              <a:t>有重疊的，如圖中所示</a:t>
            </a:r>
            <a:endParaRPr lang="en-US" altLang="zh-TW" dirty="0"/>
          </a:p>
          <a:p>
            <a:pPr marL="457200" indent="-298450"/>
            <a:endParaRPr lang="en-US" altLang="zh-TW" dirty="0"/>
          </a:p>
          <a:p>
            <a:pPr marL="457200" indent="-298450"/>
            <a:endParaRPr lang="en-US" altLang="zh-TW" dirty="0"/>
          </a:p>
        </p:txBody>
      </p:sp>
    </p:spTree>
    <p:extLst>
      <p:ext uri="{BB962C8B-B14F-4D97-AF65-F5344CB8AC3E}">
        <p14:creationId xmlns:p14="http://schemas.microsoft.com/office/powerpoint/2010/main" val="42093911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E626A-AA64-849F-64FC-B57C1EFB814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3EAEEB1-3A8B-A6CC-9D50-5A1D910BD6C5}"/>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D1012079-488E-502E-E4B2-E72A4B8C2EA3}"/>
              </a:ext>
            </a:extLst>
          </p:cNvPr>
          <p:cNvSpPr>
            <a:spLocks noGrp="1"/>
          </p:cNvSpPr>
          <p:nvPr>
            <p:ph type="body" idx="1"/>
          </p:nvPr>
        </p:nvSpPr>
        <p:spPr/>
        <p:txBody>
          <a:bodyPr/>
          <a:lstStyle/>
          <a:p>
            <a:pPr marL="457200" lvl="0" indent="-298450"/>
            <a:r>
              <a:rPr lang="zh-TW" altLang="en-US" dirty="0"/>
              <a:t>接下來進入 </a:t>
            </a:r>
            <a:r>
              <a:rPr lang="vi-VN" dirty="0"/>
              <a:t>Stage 1 </a:t>
            </a:r>
            <a:r>
              <a:rPr lang="zh-TW" altLang="en-US" dirty="0"/>
              <a:t>的第一個部分</a:t>
            </a:r>
            <a:endParaRPr lang="en-US" altLang="zh-TW" dirty="0"/>
          </a:p>
          <a:p>
            <a:pPr marL="457200" lvl="0" indent="-298450"/>
            <a:endParaRPr lang="en-US" altLang="zh-TW" dirty="0"/>
          </a:p>
          <a:p>
            <a:pPr marL="457200" lvl="0" indent="-298450"/>
            <a:r>
              <a:rPr lang="zh-TW" altLang="en-US" dirty="0"/>
              <a:t>這個階段的重點不是直接去服務 </a:t>
            </a:r>
            <a:r>
              <a:rPr lang="vi-VN" dirty="0"/>
              <a:t>closed</a:t>
            </a:r>
            <a:r>
              <a:rPr lang="zh-TW" altLang="en-US" dirty="0"/>
              <a:t> </a:t>
            </a:r>
            <a:r>
              <a:rPr lang="vi-VN" dirty="0"/>
              <a:t>beam </a:t>
            </a:r>
            <a:r>
              <a:rPr lang="zh-TW" altLang="en-US" dirty="0"/>
              <a:t>上的 </a:t>
            </a:r>
            <a:r>
              <a:rPr lang="vi-VN" dirty="0"/>
              <a:t>users，</a:t>
            </a:r>
            <a:r>
              <a:rPr lang="zh-TW" altLang="en-US" dirty="0"/>
              <a:t>而是先幫 </a:t>
            </a:r>
            <a:r>
              <a:rPr lang="vi-VN" dirty="0"/>
              <a:t>helper satellite </a:t>
            </a:r>
            <a:r>
              <a:rPr lang="zh-TW" altLang="en-US" dirty="0"/>
              <a:t>釋放可用的功率，以便後續可以最大限度的去接手</a:t>
            </a:r>
            <a:r>
              <a:rPr lang="vi-VN" dirty="0"/>
              <a:t>closed</a:t>
            </a:r>
            <a:r>
              <a:rPr lang="zh-TW" altLang="en-US" dirty="0"/>
              <a:t> </a:t>
            </a:r>
            <a:r>
              <a:rPr lang="vi-VN" dirty="0"/>
              <a:t>beam </a:t>
            </a:r>
            <a:r>
              <a:rPr lang="zh-TW" altLang="en-US" dirty="0"/>
              <a:t>上的 </a:t>
            </a:r>
            <a:r>
              <a:rPr lang="vi-VN" dirty="0"/>
              <a:t>users</a:t>
            </a:r>
            <a:endParaRPr lang="en-US" dirty="0"/>
          </a:p>
          <a:p>
            <a:pPr marL="457200" lvl="0" indent="-298450"/>
            <a:endParaRPr lang="en-US" altLang="zh-TW" dirty="0"/>
          </a:p>
          <a:p>
            <a:pPr marL="457200" lvl="0" indent="-298450"/>
            <a:r>
              <a:rPr lang="zh-TW" altLang="en-US" dirty="0"/>
              <a:t>我們會利用先前所記錄好的</a:t>
            </a:r>
            <a:r>
              <a:rPr lang="en-US" altLang="zh-TW" dirty="0"/>
              <a:t> safe beams </a:t>
            </a:r>
            <a:r>
              <a:rPr lang="zh-TW" altLang="en-US" dirty="0"/>
              <a:t>，以及他跟 </a:t>
            </a:r>
            <a:r>
              <a:rPr lang="en-US" altLang="zh-TW" dirty="0"/>
              <a:t>helper beams </a:t>
            </a:r>
            <a:r>
              <a:rPr lang="zh-TW" altLang="en-US" dirty="0"/>
              <a:t>的</a:t>
            </a:r>
            <a:r>
              <a:rPr lang="en-US" altLang="zh-TW" dirty="0"/>
              <a:t>mapping</a:t>
            </a:r>
            <a:r>
              <a:rPr lang="zh-TW" altLang="en-US" dirty="0"/>
              <a:t>關係，去接手原本由 </a:t>
            </a:r>
            <a:r>
              <a:rPr lang="vi-VN" dirty="0"/>
              <a:t>helper beams </a:t>
            </a:r>
            <a:r>
              <a:rPr lang="zh-TW" altLang="en-US" dirty="0"/>
              <a:t>服務的 </a:t>
            </a:r>
            <a:r>
              <a:rPr lang="vi-VN" dirty="0"/>
              <a:t>users。</a:t>
            </a:r>
            <a:endParaRPr lang="en-US" dirty="0"/>
          </a:p>
          <a:p>
            <a:pPr marL="457200" lvl="0" indent="-298450"/>
            <a:endParaRPr lang="en-US" altLang="zh-TW" dirty="0"/>
          </a:p>
          <a:p>
            <a:pPr marL="457200" lvl="0" indent="-298450"/>
            <a:r>
              <a:rPr lang="zh-TW" altLang="en-US" dirty="0"/>
              <a:t>如圖所示，</a:t>
            </a:r>
            <a:r>
              <a:rPr lang="en-US" altLang="zh-TW" dirty="0"/>
              <a:t>critical </a:t>
            </a:r>
            <a:r>
              <a:rPr lang="zh-TW" altLang="en-US" dirty="0"/>
              <a:t>衛星的 </a:t>
            </a:r>
            <a:r>
              <a:rPr lang="en-US" altLang="zh-TW" dirty="0"/>
              <a:t>safe beam</a:t>
            </a:r>
            <a:r>
              <a:rPr lang="zh-TW" altLang="en-US" dirty="0"/>
              <a:t> </a:t>
            </a:r>
            <a:r>
              <a:rPr lang="en-US" altLang="zh-TW" dirty="0"/>
              <a:t>1</a:t>
            </a:r>
            <a:r>
              <a:rPr lang="zh-TW" altLang="en-US" dirty="0"/>
              <a:t> </a:t>
            </a:r>
            <a:r>
              <a:rPr lang="en-US" altLang="zh-TW" dirty="0"/>
              <a:t>2</a:t>
            </a:r>
            <a:r>
              <a:rPr lang="zh-TW" altLang="en-US" dirty="0"/>
              <a:t> </a:t>
            </a:r>
            <a:r>
              <a:rPr lang="en-US" altLang="zh-TW" dirty="0"/>
              <a:t>3</a:t>
            </a:r>
            <a:r>
              <a:rPr lang="zh-TW" altLang="en-US" dirty="0"/>
              <a:t> 與 </a:t>
            </a:r>
            <a:r>
              <a:rPr lang="en-US" altLang="zh-TW" dirty="0"/>
              <a:t>helper</a:t>
            </a:r>
            <a:r>
              <a:rPr lang="zh-TW" altLang="en-US" dirty="0"/>
              <a:t> 衛星的 </a:t>
            </a:r>
            <a:r>
              <a:rPr lang="en-US" altLang="zh-TW" dirty="0"/>
              <a:t>9 10 11 </a:t>
            </a:r>
            <a:r>
              <a:rPr lang="zh-TW" altLang="en-US" dirty="0"/>
              <a:t>重疊覆蓋，這時他們同時覆蓋的 </a:t>
            </a:r>
            <a:r>
              <a:rPr lang="en-US" altLang="zh-TW" dirty="0"/>
              <a:t>user </a:t>
            </a:r>
            <a:r>
              <a:rPr lang="zh-TW" altLang="en-US" dirty="0"/>
              <a:t>，就可以轉接到 </a:t>
            </a:r>
            <a:r>
              <a:rPr lang="en-US" altLang="zh-TW" dirty="0"/>
              <a:t>safe beam </a:t>
            </a:r>
            <a:r>
              <a:rPr lang="zh-TW" altLang="en-US" dirty="0"/>
              <a:t>上</a:t>
            </a:r>
            <a:r>
              <a:rPr lang="en-US" altLang="zh-TW" dirty="0"/>
              <a:t> </a:t>
            </a:r>
          </a:p>
          <a:p>
            <a:pPr marL="457200" lvl="0" indent="-298450"/>
            <a:endParaRPr lang="en-US" altLang="zh-TW" dirty="0"/>
          </a:p>
          <a:p>
            <a:pPr marL="457200" lvl="0" indent="-298450"/>
            <a:r>
              <a:rPr lang="zh-TW" altLang="en-US" dirty="0"/>
              <a:t>而轉接不是任意執行的。只有當被轉移的 </a:t>
            </a:r>
            <a:r>
              <a:rPr lang="vi-VN" dirty="0"/>
              <a:t>helper user，</a:t>
            </a:r>
            <a:r>
              <a:rPr lang="zh-TW" altLang="en-US" dirty="0"/>
              <a:t>以及原本已經在 </a:t>
            </a:r>
            <a:r>
              <a:rPr lang="vi-VN" dirty="0"/>
              <a:t>critical safe beam </a:t>
            </a:r>
            <a:r>
              <a:rPr lang="zh-TW" altLang="en-US" dirty="0"/>
              <a:t>上的 </a:t>
            </a:r>
            <a:r>
              <a:rPr lang="vi-VN" dirty="0"/>
              <a:t>users，</a:t>
            </a:r>
            <a:r>
              <a:rPr lang="zh-TW" altLang="en-US" dirty="0"/>
              <a:t>他們的滿足率都不會受到影響時，這個轉接才會被接受。</a:t>
            </a:r>
            <a:endParaRPr lang="en-US" altLang="zh-TW" dirty="0"/>
          </a:p>
        </p:txBody>
      </p:sp>
    </p:spTree>
    <p:extLst>
      <p:ext uri="{BB962C8B-B14F-4D97-AF65-F5344CB8AC3E}">
        <p14:creationId xmlns:p14="http://schemas.microsoft.com/office/powerpoint/2010/main" val="40613568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2ED1B-7B57-4B65-ED4D-BD695A5E15F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AD8AF10-B8CE-3297-1831-83B7CE4744CA}"/>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FFD3353A-ECBE-3A23-90D0-2001E249A4F8}"/>
              </a:ext>
            </a:extLst>
          </p:cNvPr>
          <p:cNvSpPr>
            <a:spLocks noGrp="1"/>
          </p:cNvSpPr>
          <p:nvPr>
            <p:ph type="body" idx="1"/>
          </p:nvPr>
        </p:nvSpPr>
        <p:spPr/>
        <p:txBody>
          <a:bodyPr/>
          <a:lstStyle/>
          <a:p>
            <a:pPr marL="457200" lvl="0" indent="-298450"/>
            <a:r>
              <a:rPr lang="zh-TW" altLang="en-US" dirty="0"/>
              <a:t>再來是</a:t>
            </a:r>
            <a:r>
              <a:rPr lang="vi-VN" dirty="0"/>
              <a:t>Stage 1 </a:t>
            </a:r>
            <a:r>
              <a:rPr lang="zh-TW" altLang="en-US" dirty="0"/>
              <a:t>的第二個部分</a:t>
            </a:r>
            <a:endParaRPr lang="en-US" altLang="zh-TW" dirty="0"/>
          </a:p>
          <a:p>
            <a:pPr marL="457200" lvl="0" indent="-298450"/>
            <a:endParaRPr lang="en-US" altLang="zh-TW" dirty="0"/>
          </a:p>
          <a:p>
            <a:pPr marL="457200" lvl="0" indent="-298450"/>
            <a:r>
              <a:rPr lang="zh-TW" altLang="en-US" dirty="0"/>
              <a:t>在前一個步驟中，</a:t>
            </a:r>
            <a:r>
              <a:rPr lang="vi-VN" dirty="0"/>
              <a:t>helper </a:t>
            </a:r>
            <a:r>
              <a:rPr lang="zh-TW" altLang="en-US" dirty="0"/>
              <a:t>衛星釋放出可用的功率</a:t>
            </a:r>
            <a:r>
              <a:rPr lang="vi-VN" dirty="0"/>
              <a:t>。</a:t>
            </a:r>
            <a:r>
              <a:rPr lang="zh-TW" altLang="en-US" dirty="0"/>
              <a:t>接下來，這些釋放出來的剩餘容量會被分配給 </a:t>
            </a:r>
            <a:r>
              <a:rPr lang="vi-VN" dirty="0"/>
              <a:t>helper relay beams。</a:t>
            </a:r>
            <a:endParaRPr lang="en-US" dirty="0"/>
          </a:p>
          <a:p>
            <a:pPr marL="457200" lvl="0" indent="-298450"/>
            <a:endParaRPr lang="en-US" altLang="zh-TW" dirty="0"/>
          </a:p>
          <a:p>
            <a:pPr marL="457200" lvl="0" indent="-298450"/>
            <a:r>
              <a:rPr lang="en-US" altLang="zh-TW" dirty="0"/>
              <a:t>H</a:t>
            </a:r>
            <a:r>
              <a:rPr lang="vi-VN" dirty="0"/>
              <a:t>elper relay beams</a:t>
            </a:r>
            <a:r>
              <a:rPr lang="zh-TW" altLang="en-US" dirty="0"/>
              <a:t> 是後續真正要負責接手 </a:t>
            </a:r>
            <a:r>
              <a:rPr lang="en-US" altLang="zh-TW" dirty="0"/>
              <a:t>critical</a:t>
            </a:r>
            <a:r>
              <a:rPr lang="zh-TW" altLang="en-US" dirty="0"/>
              <a:t> </a:t>
            </a:r>
            <a:r>
              <a:rPr lang="vi-VN" dirty="0"/>
              <a:t>closed-beam </a:t>
            </a:r>
            <a:r>
              <a:rPr lang="zh-TW" altLang="en-US" dirty="0"/>
              <a:t>上 </a:t>
            </a:r>
            <a:r>
              <a:rPr lang="vi-VN" dirty="0"/>
              <a:t>users </a:t>
            </a:r>
            <a:r>
              <a:rPr lang="zh-TW" altLang="en-US" dirty="0"/>
              <a:t>的 </a:t>
            </a:r>
            <a:r>
              <a:rPr lang="vi-VN" dirty="0"/>
              <a:t>beams。</a:t>
            </a:r>
            <a:endParaRPr lang="en-US" dirty="0"/>
          </a:p>
          <a:p>
            <a:pPr marL="457200" lvl="0" indent="-298450"/>
            <a:endParaRPr lang="en-US" altLang="zh-TW" dirty="0"/>
          </a:p>
          <a:p>
            <a:pPr marL="457200" lvl="0" indent="-298450"/>
            <a:r>
              <a:rPr lang="zh-TW" altLang="en-US" dirty="0"/>
              <a:t>因此在不超過 </a:t>
            </a:r>
            <a:r>
              <a:rPr lang="en-US" altLang="zh-TW" dirty="0"/>
              <a:t>beam </a:t>
            </a:r>
            <a:r>
              <a:rPr lang="zh-TW" altLang="en-US" dirty="0"/>
              <a:t> 的最大發射功率限制和衛星總功率的限制下，會優先考慮哪個</a:t>
            </a:r>
            <a:r>
              <a:rPr lang="en-US" altLang="zh-TW" dirty="0"/>
              <a:t>helper relay beam </a:t>
            </a:r>
            <a:r>
              <a:rPr lang="zh-TW" altLang="en-US" dirty="0"/>
              <a:t>有較多的 </a:t>
            </a:r>
            <a:r>
              <a:rPr lang="en-US" altLang="zh-TW" dirty="0"/>
              <a:t>users </a:t>
            </a:r>
            <a:r>
              <a:rPr lang="zh-TW" altLang="en-US" dirty="0"/>
              <a:t>需要被接手，然後把剩餘功率配給他提升到</a:t>
            </a:r>
            <a:r>
              <a:rPr lang="en-US" altLang="zh-TW" dirty="0"/>
              <a:t>beam</a:t>
            </a:r>
            <a:r>
              <a:rPr lang="zh-TW" altLang="en-US" dirty="0"/>
              <a:t>的最大發射功率上限</a:t>
            </a:r>
            <a:endParaRPr lang="en-US" altLang="zh-TW" dirty="0"/>
          </a:p>
        </p:txBody>
      </p:sp>
    </p:spTree>
    <p:extLst>
      <p:ext uri="{BB962C8B-B14F-4D97-AF65-F5344CB8AC3E}">
        <p14:creationId xmlns:p14="http://schemas.microsoft.com/office/powerpoint/2010/main" val="232955120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83CAD-FA7C-806A-8752-B860390AC7F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C83EC30-1997-DAA7-AE10-1D2B50581B67}"/>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D06BF457-3844-3966-25DE-06A89EB2661F}"/>
              </a:ext>
            </a:extLst>
          </p:cNvPr>
          <p:cNvSpPr>
            <a:spLocks noGrp="1"/>
          </p:cNvSpPr>
          <p:nvPr>
            <p:ph type="body" idx="1"/>
          </p:nvPr>
        </p:nvSpPr>
        <p:spPr/>
        <p:txBody>
          <a:bodyPr/>
          <a:lstStyle/>
          <a:p>
            <a:pPr marL="457200" lvl="0" indent="-298450"/>
            <a:r>
              <a:rPr lang="zh-TW" altLang="en-US" dirty="0"/>
              <a:t>最後進入</a:t>
            </a:r>
            <a:r>
              <a:rPr lang="en-US" altLang="zh-TW" dirty="0"/>
              <a:t>stage 2</a:t>
            </a:r>
          </a:p>
          <a:p>
            <a:pPr marL="457200" lvl="0" indent="-298450"/>
            <a:endParaRPr lang="en-US" altLang="zh-TW" dirty="0"/>
          </a:p>
          <a:p>
            <a:pPr marL="457200" lvl="0" indent="-298450"/>
            <a:r>
              <a:rPr lang="zh-TW" altLang="en-US" dirty="0"/>
              <a:t>在前面我們已經透過</a:t>
            </a:r>
            <a:r>
              <a:rPr lang="en-US" altLang="zh-TW" dirty="0"/>
              <a:t>stage 1</a:t>
            </a:r>
            <a:r>
              <a:rPr lang="vi-VN" dirty="0"/>
              <a:t>，</a:t>
            </a:r>
            <a:r>
              <a:rPr lang="zh-TW" altLang="en-US" dirty="0"/>
              <a:t>提升了 </a:t>
            </a:r>
            <a:r>
              <a:rPr lang="vi-VN" dirty="0"/>
              <a:t>helper relay beams </a:t>
            </a:r>
            <a:r>
              <a:rPr lang="zh-TW" altLang="en-US" dirty="0"/>
              <a:t>的服務能力。</a:t>
            </a:r>
            <a:endParaRPr lang="en-US" altLang="zh-TW" dirty="0"/>
          </a:p>
          <a:p>
            <a:pPr marL="457200" lvl="0" indent="-298450"/>
            <a:endParaRPr lang="en-US" altLang="zh-TW" dirty="0"/>
          </a:p>
          <a:p>
            <a:pPr marL="457200" lvl="0" indent="-298450"/>
            <a:r>
              <a:rPr lang="zh-TW" altLang="en-US" dirty="0"/>
              <a:t>接下來會真正開始處理原本位在 </a:t>
            </a:r>
            <a:r>
              <a:rPr lang="vi-VN" dirty="0"/>
              <a:t>critical closed beams </a:t>
            </a:r>
            <a:r>
              <a:rPr lang="zh-TW" altLang="en-US" dirty="0"/>
              <a:t>下的 </a:t>
            </a:r>
            <a:r>
              <a:rPr lang="vi-VN" dirty="0"/>
              <a:t>users</a:t>
            </a:r>
            <a:r>
              <a:rPr lang="zh-TW" altLang="en-US" dirty="0"/>
              <a:t>，這些 </a:t>
            </a:r>
            <a:r>
              <a:rPr lang="vi-VN" dirty="0"/>
              <a:t>users </a:t>
            </a:r>
            <a:r>
              <a:rPr lang="zh-TW" altLang="en-US" dirty="0"/>
              <a:t>一樣會根據前面已經建立好的 </a:t>
            </a:r>
            <a:r>
              <a:rPr lang="vi-VN" dirty="0"/>
              <a:t>mapping，</a:t>
            </a:r>
            <a:r>
              <a:rPr lang="zh-TW" altLang="en-US" dirty="0"/>
              <a:t>被重新連接到對應的 </a:t>
            </a:r>
            <a:r>
              <a:rPr lang="vi-VN" dirty="0"/>
              <a:t>helper relay beams。</a:t>
            </a:r>
            <a:endParaRPr lang="en-US" dirty="0"/>
          </a:p>
          <a:p>
            <a:pPr marL="457200" lvl="0" indent="-298450"/>
            <a:endParaRPr lang="en-US" altLang="zh-TW" dirty="0"/>
          </a:p>
          <a:p>
            <a:pPr marL="457200" lvl="0" indent="-298450"/>
            <a:r>
              <a:rPr lang="zh-TW" altLang="en-US" dirty="0"/>
              <a:t>如右圖所示，</a:t>
            </a:r>
            <a:r>
              <a:rPr lang="en-US" altLang="zh-TW" dirty="0"/>
              <a:t>critical</a:t>
            </a:r>
            <a:r>
              <a:rPr lang="zh-TW" altLang="en-US" dirty="0"/>
              <a:t>衛星的中間 </a:t>
            </a:r>
            <a:r>
              <a:rPr lang="en-US" altLang="zh-TW" dirty="0"/>
              <a:t>beam 4 ~</a:t>
            </a:r>
            <a:r>
              <a:rPr lang="zh-TW" altLang="en-US" dirty="0"/>
              <a:t> </a:t>
            </a:r>
            <a:r>
              <a:rPr lang="en-US" altLang="zh-TW" dirty="0"/>
              <a:t>beam 13 </a:t>
            </a:r>
            <a:r>
              <a:rPr lang="zh-TW" altLang="en-US" dirty="0"/>
              <a:t>是 </a:t>
            </a:r>
            <a:r>
              <a:rPr lang="en-US" altLang="zh-TW" dirty="0"/>
              <a:t>closed beam</a:t>
            </a:r>
            <a:r>
              <a:rPr lang="zh-TW" altLang="en-US" dirty="0"/>
              <a:t>，以及 </a:t>
            </a:r>
            <a:r>
              <a:rPr lang="en-US" altLang="zh-TW" dirty="0"/>
              <a:t>mapping </a:t>
            </a:r>
            <a:r>
              <a:rPr lang="zh-TW" altLang="en-US" dirty="0"/>
              <a:t>中分別跟 </a:t>
            </a:r>
            <a:r>
              <a:rPr lang="en-US" altLang="zh-TW" dirty="0"/>
              <a:t>closed beam </a:t>
            </a:r>
            <a:r>
              <a:rPr lang="zh-TW" altLang="en-US" dirty="0"/>
              <a:t>對應的</a:t>
            </a:r>
            <a:r>
              <a:rPr lang="en-US" altLang="zh-TW" dirty="0"/>
              <a:t>helper relay beams</a:t>
            </a:r>
            <a:r>
              <a:rPr lang="zh-TW" altLang="en-US" dirty="0"/>
              <a:t>，並且把兩者都有覆蓋的</a:t>
            </a:r>
            <a:r>
              <a:rPr lang="en-US" altLang="zh-TW" dirty="0"/>
              <a:t>user</a:t>
            </a:r>
            <a:r>
              <a:rPr lang="zh-TW" altLang="en-US" dirty="0"/>
              <a:t>進行</a:t>
            </a:r>
            <a:r>
              <a:rPr lang="en-US" altLang="zh-TW" dirty="0"/>
              <a:t>relay</a:t>
            </a:r>
          </a:p>
          <a:p>
            <a:pPr marL="457200" lvl="0" indent="-298450"/>
            <a:endParaRPr lang="en-US" altLang="zh-TW" dirty="0"/>
          </a:p>
          <a:p>
            <a:pPr marL="457200" lvl="0" indent="-298450"/>
            <a:r>
              <a:rPr lang="zh-TW" altLang="en-US" dirty="0"/>
              <a:t>由於</a:t>
            </a:r>
            <a:r>
              <a:rPr lang="en-US" altLang="zh-TW" dirty="0"/>
              <a:t>beam</a:t>
            </a:r>
            <a:r>
              <a:rPr lang="zh-TW" altLang="en-US" dirty="0"/>
              <a:t>的服務能力是有限的，因此不會強迫所有</a:t>
            </a:r>
            <a:r>
              <a:rPr lang="en-US" altLang="zh-TW" dirty="0"/>
              <a:t>user</a:t>
            </a:r>
            <a:r>
              <a:rPr lang="zh-TW" altLang="en-US" dirty="0"/>
              <a:t>都轉接給</a:t>
            </a:r>
            <a:r>
              <a:rPr lang="en-US" altLang="zh-TW" dirty="0"/>
              <a:t>relay beam</a:t>
            </a:r>
            <a:r>
              <a:rPr lang="zh-TW" altLang="en-US" dirty="0"/>
              <a:t>，而是根據每個</a:t>
            </a:r>
            <a:r>
              <a:rPr lang="en-US" altLang="zh-TW" dirty="0"/>
              <a:t>user</a:t>
            </a:r>
            <a:r>
              <a:rPr lang="zh-TW" altLang="en-US" dirty="0"/>
              <a:t>的</a:t>
            </a:r>
            <a:r>
              <a:rPr lang="en-US" altLang="zh-TW" dirty="0"/>
              <a:t>relay link quality</a:t>
            </a:r>
            <a:r>
              <a:rPr lang="zh-TW" altLang="en-US" dirty="0"/>
              <a:t> 和剩餘可用的容量，來依序</a:t>
            </a:r>
            <a:r>
              <a:rPr lang="en-US" altLang="zh-TW" dirty="0"/>
              <a:t>relay users</a:t>
            </a:r>
          </a:p>
          <a:p>
            <a:pPr marL="457200" lvl="0" indent="-298450"/>
            <a:endParaRPr lang="en-US" altLang="zh-TW" dirty="0"/>
          </a:p>
          <a:p>
            <a:pPr marL="457200" lvl="0" indent="-298450"/>
            <a:endParaRPr lang="en-US" altLang="zh-TW" dirty="0"/>
          </a:p>
          <a:p>
            <a:pPr marL="457200" lvl="0" indent="-298450"/>
            <a:endParaRPr lang="en-US" altLang="zh-TW" dirty="0"/>
          </a:p>
          <a:p>
            <a:pPr marL="457200" lvl="0" indent="-298450"/>
            <a:endParaRPr lang="en-US" altLang="zh-TW" dirty="0"/>
          </a:p>
        </p:txBody>
      </p:sp>
    </p:spTree>
    <p:extLst>
      <p:ext uri="{BB962C8B-B14F-4D97-AF65-F5344CB8AC3E}">
        <p14:creationId xmlns:p14="http://schemas.microsoft.com/office/powerpoint/2010/main" val="28823472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rgbClr val="1077D2"/>
            </a:gs>
            <a:gs pos="100000">
              <a:srgbClr val="093153"/>
            </a:gs>
          </a:gsLst>
          <a:path path="circle">
            <a:fillToRect l="50000" t="50000" r="50000" b="50000"/>
          </a:path>
          <a:tileRect/>
        </a:gradFill>
        <a:effectLst/>
      </p:bgPr>
    </p:bg>
    <p:spTree>
      <p:nvGrpSpPr>
        <p:cNvPr id="1" name="Shape 9"/>
        <p:cNvGrpSpPr/>
        <p:nvPr/>
      </p:nvGrpSpPr>
      <p:grpSpPr>
        <a:xfrm>
          <a:off x="0" y="0"/>
          <a:ext cx="0" cy="0"/>
          <a:chOff x="0" y="0"/>
          <a:chExt cx="0" cy="0"/>
        </a:xfrm>
      </p:grpSpPr>
      <p:sp>
        <p:nvSpPr>
          <p:cNvPr id="10" name="Google Shape;10;p2"/>
          <p:cNvSpPr/>
          <p:nvPr/>
        </p:nvSpPr>
        <p:spPr>
          <a:xfrm>
            <a:off x="-8006" y="-203925"/>
            <a:ext cx="2157228" cy="5550721"/>
          </a:xfrm>
          <a:custGeom>
            <a:avLst/>
            <a:gdLst/>
            <a:ahLst/>
            <a:cxnLst/>
            <a:rect l="l" t="t" r="r" b="b"/>
            <a:pathLst>
              <a:path w="33737" h="86808" extrusionOk="0">
                <a:moveTo>
                  <a:pt x="1" y="0"/>
                </a:moveTo>
                <a:lnTo>
                  <a:pt x="118" y="86808"/>
                </a:lnTo>
                <a:cubicBezTo>
                  <a:pt x="8000" y="86652"/>
                  <a:pt x="13600" y="81715"/>
                  <a:pt x="15649" y="79530"/>
                </a:cubicBezTo>
                <a:cubicBezTo>
                  <a:pt x="17678" y="77364"/>
                  <a:pt x="23415" y="75452"/>
                  <a:pt x="26849" y="70125"/>
                </a:cubicBezTo>
                <a:cubicBezTo>
                  <a:pt x="30283" y="64779"/>
                  <a:pt x="29912" y="62243"/>
                  <a:pt x="31824" y="52565"/>
                </a:cubicBezTo>
                <a:cubicBezTo>
                  <a:pt x="33736" y="42906"/>
                  <a:pt x="32390" y="34185"/>
                  <a:pt x="29698" y="28741"/>
                </a:cubicBezTo>
                <a:cubicBezTo>
                  <a:pt x="27044" y="23278"/>
                  <a:pt x="25795" y="17658"/>
                  <a:pt x="22361" y="14224"/>
                </a:cubicBezTo>
                <a:cubicBezTo>
                  <a:pt x="18927" y="10790"/>
                  <a:pt x="18654" y="11415"/>
                  <a:pt x="13347" y="6439"/>
                </a:cubicBezTo>
                <a:cubicBezTo>
                  <a:pt x="7649" y="1132"/>
                  <a:pt x="508" y="390"/>
                  <a:pt x="1" y="0"/>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529112" y="1423928"/>
            <a:ext cx="417608" cy="585649"/>
          </a:xfrm>
          <a:custGeom>
            <a:avLst/>
            <a:gdLst/>
            <a:ahLst/>
            <a:cxnLst/>
            <a:rect l="l" t="t" r="r" b="b"/>
            <a:pathLst>
              <a:path w="6531" h="9159" extrusionOk="0">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51824" y="2404873"/>
            <a:ext cx="169703" cy="909582"/>
          </a:xfrm>
          <a:custGeom>
            <a:avLst/>
            <a:gdLst/>
            <a:ahLst/>
            <a:cxnLst/>
            <a:rect l="l" t="t" r="r" b="b"/>
            <a:pathLst>
              <a:path w="2654" h="14225" extrusionOk="0">
                <a:moveTo>
                  <a:pt x="550" y="1"/>
                </a:moveTo>
                <a:cubicBezTo>
                  <a:pt x="235" y="1"/>
                  <a:pt x="390" y="2453"/>
                  <a:pt x="937" y="4566"/>
                </a:cubicBezTo>
                <a:cubicBezTo>
                  <a:pt x="1522" y="6829"/>
                  <a:pt x="1366" y="6907"/>
                  <a:pt x="1269" y="8449"/>
                </a:cubicBezTo>
                <a:cubicBezTo>
                  <a:pt x="1190" y="9971"/>
                  <a:pt x="1015" y="10849"/>
                  <a:pt x="605" y="11980"/>
                </a:cubicBezTo>
                <a:cubicBezTo>
                  <a:pt x="195" y="13093"/>
                  <a:pt x="0" y="14224"/>
                  <a:pt x="195" y="14224"/>
                </a:cubicBezTo>
                <a:cubicBezTo>
                  <a:pt x="410" y="14224"/>
                  <a:pt x="917" y="13405"/>
                  <a:pt x="1132" y="12449"/>
                </a:cubicBezTo>
                <a:cubicBezTo>
                  <a:pt x="1366" y="11493"/>
                  <a:pt x="1854" y="10244"/>
                  <a:pt x="2264" y="8683"/>
                </a:cubicBezTo>
                <a:cubicBezTo>
                  <a:pt x="2654" y="7122"/>
                  <a:pt x="2205" y="6576"/>
                  <a:pt x="1971" y="5229"/>
                </a:cubicBezTo>
                <a:cubicBezTo>
                  <a:pt x="1717" y="3903"/>
                  <a:pt x="1288" y="2927"/>
                  <a:pt x="1288" y="1600"/>
                </a:cubicBezTo>
                <a:cubicBezTo>
                  <a:pt x="1288" y="254"/>
                  <a:pt x="625" y="39"/>
                  <a:pt x="625" y="39"/>
                </a:cubicBezTo>
                <a:cubicBezTo>
                  <a:pt x="597" y="13"/>
                  <a:pt x="572" y="1"/>
                  <a:pt x="550"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28344" y="2506798"/>
            <a:ext cx="766223" cy="1714938"/>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451038" y="558975"/>
            <a:ext cx="978832" cy="1211966"/>
          </a:xfrm>
          <a:custGeom>
            <a:avLst/>
            <a:gdLst/>
            <a:ahLst/>
            <a:cxnLst/>
            <a:rect l="l" t="t" r="r" b="b"/>
            <a:pathLst>
              <a:path w="15308" h="18954" extrusionOk="0">
                <a:moveTo>
                  <a:pt x="206" y="1"/>
                </a:moveTo>
                <a:cubicBezTo>
                  <a:pt x="1" y="1"/>
                  <a:pt x="132" y="179"/>
                  <a:pt x="841" y="635"/>
                </a:cubicBezTo>
                <a:cubicBezTo>
                  <a:pt x="1017" y="732"/>
                  <a:pt x="5563" y="3093"/>
                  <a:pt x="8665" y="8615"/>
                </a:cubicBezTo>
                <a:cubicBezTo>
                  <a:pt x="11768" y="14137"/>
                  <a:pt x="13426" y="17942"/>
                  <a:pt x="14558" y="18820"/>
                </a:cubicBezTo>
                <a:cubicBezTo>
                  <a:pt x="14674" y="18912"/>
                  <a:pt x="14759" y="18954"/>
                  <a:pt x="14817" y="18954"/>
                </a:cubicBezTo>
                <a:cubicBezTo>
                  <a:pt x="15307" y="18954"/>
                  <a:pt x="13800" y="15867"/>
                  <a:pt x="12997" y="14312"/>
                </a:cubicBezTo>
                <a:cubicBezTo>
                  <a:pt x="12080" y="12576"/>
                  <a:pt x="10441" y="7932"/>
                  <a:pt x="9290" y="6118"/>
                </a:cubicBezTo>
                <a:cubicBezTo>
                  <a:pt x="8119" y="4322"/>
                  <a:pt x="5602" y="2781"/>
                  <a:pt x="4236" y="1766"/>
                </a:cubicBezTo>
                <a:cubicBezTo>
                  <a:pt x="3264" y="1086"/>
                  <a:pt x="711" y="1"/>
                  <a:pt x="206"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 name="Google Shape;15;p2"/>
          <p:cNvGrpSpPr/>
          <p:nvPr/>
        </p:nvGrpSpPr>
        <p:grpSpPr>
          <a:xfrm>
            <a:off x="-1972812" y="599950"/>
            <a:ext cx="3932100" cy="3932100"/>
            <a:chOff x="-1972812" y="599950"/>
            <a:chExt cx="3932100" cy="3932100"/>
          </a:xfrm>
        </p:grpSpPr>
        <p:sp>
          <p:nvSpPr>
            <p:cNvPr id="16" name="Google Shape;16;p2"/>
            <p:cNvSpPr/>
            <p:nvPr/>
          </p:nvSpPr>
          <p:spPr>
            <a:xfrm>
              <a:off x="-1542462" y="1030300"/>
              <a:ext cx="3071400" cy="30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972812" y="599950"/>
              <a:ext cx="3932100" cy="3932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 name="Google Shape;18;p2"/>
          <p:cNvSpPr/>
          <p:nvPr/>
        </p:nvSpPr>
        <p:spPr>
          <a:xfrm>
            <a:off x="8125285" y="-250"/>
            <a:ext cx="1018707" cy="5143387"/>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flipH="1">
            <a:off x="1357900" y="-250"/>
            <a:ext cx="7587000" cy="5143500"/>
          </a:xfrm>
          <a:prstGeom prst="parallelogram">
            <a:avLst>
              <a:gd name="adj" fmla="val 13665"/>
            </a:avLst>
          </a:prstGeom>
          <a:solidFill>
            <a:srgbClr val="6FA8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a:ea typeface="Barlow"/>
              <a:cs typeface="Barlow"/>
              <a:sym typeface="Barlow"/>
            </a:endParaRPr>
          </a:p>
        </p:txBody>
      </p:sp>
      <p:sp>
        <p:nvSpPr>
          <p:cNvPr id="20" name="Google Shape;20;p2"/>
          <p:cNvSpPr txBox="1">
            <a:spLocks noGrp="1"/>
          </p:cNvSpPr>
          <p:nvPr>
            <p:ph type="subTitle" idx="1"/>
          </p:nvPr>
        </p:nvSpPr>
        <p:spPr>
          <a:xfrm>
            <a:off x="4143425" y="3574238"/>
            <a:ext cx="4424100" cy="41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6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1" name="Google Shape;21;p2"/>
          <p:cNvSpPr/>
          <p:nvPr/>
        </p:nvSpPr>
        <p:spPr>
          <a:xfrm>
            <a:off x="-3019" y="943847"/>
            <a:ext cx="409104" cy="334611"/>
          </a:xfrm>
          <a:custGeom>
            <a:avLst/>
            <a:gdLst/>
            <a:ahLst/>
            <a:cxnLst/>
            <a:rect l="l" t="t" r="r" b="b"/>
            <a:pathLst>
              <a:path w="6398" h="5233" extrusionOk="0">
                <a:moveTo>
                  <a:pt x="20" y="0"/>
                </a:moveTo>
                <a:cubicBezTo>
                  <a:pt x="7" y="0"/>
                  <a:pt x="1" y="1"/>
                  <a:pt x="1" y="1"/>
                </a:cubicBezTo>
                <a:lnTo>
                  <a:pt x="1" y="1445"/>
                </a:lnTo>
                <a:cubicBezTo>
                  <a:pt x="1" y="1445"/>
                  <a:pt x="2244" y="2401"/>
                  <a:pt x="5035" y="4684"/>
                </a:cubicBezTo>
                <a:cubicBezTo>
                  <a:pt x="5508" y="5069"/>
                  <a:pt x="5796" y="5232"/>
                  <a:pt x="5931" y="5232"/>
                </a:cubicBezTo>
                <a:cubicBezTo>
                  <a:pt x="6397" y="5232"/>
                  <a:pt x="5034" y="3283"/>
                  <a:pt x="3142" y="1816"/>
                </a:cubicBezTo>
                <a:cubicBezTo>
                  <a:pt x="929" y="80"/>
                  <a:pt x="146" y="0"/>
                  <a:pt x="20"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87850" y="3139831"/>
            <a:ext cx="397211" cy="599717"/>
          </a:xfrm>
          <a:custGeom>
            <a:avLst/>
            <a:gdLst/>
            <a:ahLst/>
            <a:cxnLst/>
            <a:rect l="l" t="t" r="r" b="b"/>
            <a:pathLst>
              <a:path w="6212" h="9379" extrusionOk="0">
                <a:moveTo>
                  <a:pt x="5824" y="0"/>
                </a:moveTo>
                <a:cubicBezTo>
                  <a:pt x="5720" y="0"/>
                  <a:pt x="5564" y="146"/>
                  <a:pt x="5367" y="467"/>
                </a:cubicBezTo>
                <a:cubicBezTo>
                  <a:pt x="5367" y="467"/>
                  <a:pt x="4294" y="3277"/>
                  <a:pt x="2537" y="5579"/>
                </a:cubicBezTo>
                <a:cubicBezTo>
                  <a:pt x="781" y="7901"/>
                  <a:pt x="1" y="8896"/>
                  <a:pt x="98" y="9325"/>
                </a:cubicBezTo>
                <a:cubicBezTo>
                  <a:pt x="107" y="9361"/>
                  <a:pt x="130" y="9379"/>
                  <a:pt x="166" y="9379"/>
                </a:cubicBezTo>
                <a:cubicBezTo>
                  <a:pt x="540" y="9379"/>
                  <a:pt x="2331" y="7483"/>
                  <a:pt x="4235" y="4564"/>
                </a:cubicBezTo>
                <a:cubicBezTo>
                  <a:pt x="5867" y="2039"/>
                  <a:pt x="6211" y="0"/>
                  <a:pt x="5824"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txBox="1">
            <a:spLocks noGrp="1"/>
          </p:cNvSpPr>
          <p:nvPr>
            <p:ph type="ctrTitle"/>
          </p:nvPr>
        </p:nvSpPr>
        <p:spPr>
          <a:xfrm>
            <a:off x="2201600" y="1167075"/>
            <a:ext cx="5350800" cy="24054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Clr>
                <a:schemeClr val="dk2"/>
              </a:buClr>
              <a:buSzPts val="5200"/>
              <a:buNone/>
              <a:defRPr sz="6600">
                <a:solidFill>
                  <a:schemeClr val="dk2"/>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4" name="Google Shape;24;p2"/>
          <p:cNvSpPr/>
          <p:nvPr/>
        </p:nvSpPr>
        <p:spPr>
          <a:xfrm flipH="1">
            <a:off x="1692050" y="0"/>
            <a:ext cx="7021800" cy="5143500"/>
          </a:xfrm>
          <a:prstGeom prst="parallelogram">
            <a:avLst>
              <a:gd name="adj" fmla="val 13665"/>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a:ea typeface="Barlow"/>
              <a:cs typeface="Barlow"/>
              <a:sym typeface="Barlow"/>
            </a:endParaRPr>
          </a:p>
        </p:txBody>
      </p:sp>
      <p:pic>
        <p:nvPicPr>
          <p:cNvPr id="25" name="Google Shape;25;p2"/>
          <p:cNvPicPr preferRelativeResize="0"/>
          <p:nvPr/>
        </p:nvPicPr>
        <p:blipFill rotWithShape="1">
          <a:blip r:embed="rId2">
            <a:alphaModFix amt="30000"/>
          </a:blip>
          <a:srcRect l="9496" t="16770" r="5635"/>
          <a:stretch/>
        </p:blipFill>
        <p:spPr>
          <a:xfrm rot="-468081">
            <a:off x="2293993" y="3131949"/>
            <a:ext cx="2987038" cy="2351027"/>
          </a:xfrm>
          <a:prstGeom prst="rect">
            <a:avLst/>
          </a:prstGeom>
          <a:noFill/>
          <a:ln>
            <a:noFill/>
          </a:ln>
        </p:spPr>
      </p:pic>
      <p:grpSp>
        <p:nvGrpSpPr>
          <p:cNvPr id="26" name="Google Shape;26;p2"/>
          <p:cNvGrpSpPr/>
          <p:nvPr/>
        </p:nvGrpSpPr>
        <p:grpSpPr>
          <a:xfrm>
            <a:off x="-1167676" y="1496638"/>
            <a:ext cx="2321852" cy="2150235"/>
            <a:chOff x="4730175" y="1009275"/>
            <a:chExt cx="2967982" cy="2746149"/>
          </a:xfrm>
        </p:grpSpPr>
        <p:sp>
          <p:nvSpPr>
            <p:cNvPr id="27" name="Google Shape;27;p2"/>
            <p:cNvSpPr/>
            <p:nvPr/>
          </p:nvSpPr>
          <p:spPr>
            <a:xfrm>
              <a:off x="4730175" y="1009275"/>
              <a:ext cx="2879900" cy="2746149"/>
            </a:xfrm>
            <a:custGeom>
              <a:avLst/>
              <a:gdLst/>
              <a:ahLst/>
              <a:cxnLst/>
              <a:rect l="l" t="t" r="r" b="b"/>
              <a:pathLst>
                <a:path w="44937" h="42850" extrusionOk="0">
                  <a:moveTo>
                    <a:pt x="23098" y="1"/>
                  </a:moveTo>
                  <a:cubicBezTo>
                    <a:pt x="22050" y="1"/>
                    <a:pt x="21001" y="78"/>
                    <a:pt x="19961" y="232"/>
                  </a:cubicBezTo>
                  <a:cubicBezTo>
                    <a:pt x="18888" y="408"/>
                    <a:pt x="17815" y="661"/>
                    <a:pt x="16781" y="974"/>
                  </a:cubicBezTo>
                  <a:cubicBezTo>
                    <a:pt x="14264" y="1754"/>
                    <a:pt x="11844" y="3022"/>
                    <a:pt x="9679" y="4778"/>
                  </a:cubicBezTo>
                  <a:cubicBezTo>
                    <a:pt x="8820" y="5461"/>
                    <a:pt x="8059" y="6183"/>
                    <a:pt x="7357" y="6944"/>
                  </a:cubicBezTo>
                  <a:cubicBezTo>
                    <a:pt x="7045" y="7276"/>
                    <a:pt x="6752" y="7627"/>
                    <a:pt x="6459" y="7998"/>
                  </a:cubicBezTo>
                  <a:cubicBezTo>
                    <a:pt x="235" y="15685"/>
                    <a:pt x="1" y="26905"/>
                    <a:pt x="6479" y="34904"/>
                  </a:cubicBezTo>
                  <a:cubicBezTo>
                    <a:pt x="10704" y="40132"/>
                    <a:pt x="16889" y="42850"/>
                    <a:pt x="23127" y="42850"/>
                  </a:cubicBezTo>
                  <a:cubicBezTo>
                    <a:pt x="25992" y="42850"/>
                    <a:pt x="28868" y="42276"/>
                    <a:pt x="31571" y="41109"/>
                  </a:cubicBezTo>
                  <a:cubicBezTo>
                    <a:pt x="32839" y="40563"/>
                    <a:pt x="34088" y="39880"/>
                    <a:pt x="35259" y="39060"/>
                  </a:cubicBezTo>
                  <a:cubicBezTo>
                    <a:pt x="35707" y="38748"/>
                    <a:pt x="36137" y="38436"/>
                    <a:pt x="36546" y="38085"/>
                  </a:cubicBezTo>
                  <a:cubicBezTo>
                    <a:pt x="37112" y="37636"/>
                    <a:pt x="37620" y="37168"/>
                    <a:pt x="38146" y="36661"/>
                  </a:cubicBezTo>
                  <a:cubicBezTo>
                    <a:pt x="38439" y="36368"/>
                    <a:pt x="38693" y="36056"/>
                    <a:pt x="38966" y="35783"/>
                  </a:cubicBezTo>
                  <a:cubicBezTo>
                    <a:pt x="40019" y="34592"/>
                    <a:pt x="40937" y="33344"/>
                    <a:pt x="41697" y="31997"/>
                  </a:cubicBezTo>
                  <a:cubicBezTo>
                    <a:pt x="41912" y="31607"/>
                    <a:pt x="42107" y="31217"/>
                    <a:pt x="42302" y="30827"/>
                  </a:cubicBezTo>
                  <a:cubicBezTo>
                    <a:pt x="44293" y="26768"/>
                    <a:pt x="44936" y="22222"/>
                    <a:pt x="44195" y="17793"/>
                  </a:cubicBezTo>
                  <a:cubicBezTo>
                    <a:pt x="44195" y="17715"/>
                    <a:pt x="44156" y="17676"/>
                    <a:pt x="44156" y="17598"/>
                  </a:cubicBezTo>
                  <a:lnTo>
                    <a:pt x="44097" y="17227"/>
                  </a:lnTo>
                  <a:cubicBezTo>
                    <a:pt x="43941" y="16505"/>
                    <a:pt x="43746" y="15763"/>
                    <a:pt x="43532" y="15061"/>
                  </a:cubicBezTo>
                  <a:cubicBezTo>
                    <a:pt x="42771" y="12544"/>
                    <a:pt x="41502" y="10144"/>
                    <a:pt x="39746" y="7959"/>
                  </a:cubicBezTo>
                  <a:cubicBezTo>
                    <a:pt x="37951" y="5734"/>
                    <a:pt x="35746" y="3939"/>
                    <a:pt x="33366" y="2632"/>
                  </a:cubicBezTo>
                  <a:cubicBezTo>
                    <a:pt x="32703" y="2261"/>
                    <a:pt x="32020" y="1949"/>
                    <a:pt x="31337" y="1657"/>
                  </a:cubicBezTo>
                  <a:cubicBezTo>
                    <a:pt x="31239" y="1637"/>
                    <a:pt x="31122" y="1578"/>
                    <a:pt x="31025" y="1539"/>
                  </a:cubicBezTo>
                  <a:cubicBezTo>
                    <a:pt x="30946" y="1500"/>
                    <a:pt x="30849" y="1461"/>
                    <a:pt x="30771" y="1442"/>
                  </a:cubicBezTo>
                  <a:cubicBezTo>
                    <a:pt x="30556" y="1344"/>
                    <a:pt x="30361" y="1266"/>
                    <a:pt x="30147" y="1188"/>
                  </a:cubicBezTo>
                  <a:cubicBezTo>
                    <a:pt x="27880" y="401"/>
                    <a:pt x="25491" y="1"/>
                    <a:pt x="230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026584" y="1079196"/>
              <a:ext cx="2529726" cy="2495375"/>
            </a:xfrm>
            <a:custGeom>
              <a:avLst/>
              <a:gdLst/>
              <a:ahLst/>
              <a:cxnLst/>
              <a:rect l="l" t="t" r="r" b="b"/>
              <a:pathLst>
                <a:path w="39473" h="38937" extrusionOk="0">
                  <a:moveTo>
                    <a:pt x="20019" y="6243"/>
                  </a:moveTo>
                  <a:lnTo>
                    <a:pt x="20019" y="6243"/>
                  </a:lnTo>
                  <a:cubicBezTo>
                    <a:pt x="19687" y="6848"/>
                    <a:pt x="18946" y="7414"/>
                    <a:pt x="20156" y="7512"/>
                  </a:cubicBezTo>
                  <a:cubicBezTo>
                    <a:pt x="20487" y="7531"/>
                    <a:pt x="20839" y="8019"/>
                    <a:pt x="20605" y="8429"/>
                  </a:cubicBezTo>
                  <a:cubicBezTo>
                    <a:pt x="20467" y="8688"/>
                    <a:pt x="20270" y="8775"/>
                    <a:pt x="20021" y="8775"/>
                  </a:cubicBezTo>
                  <a:cubicBezTo>
                    <a:pt x="19513" y="8775"/>
                    <a:pt x="18786" y="8414"/>
                    <a:pt x="17893" y="8414"/>
                  </a:cubicBezTo>
                  <a:cubicBezTo>
                    <a:pt x="17610" y="8414"/>
                    <a:pt x="17310" y="8450"/>
                    <a:pt x="16995" y="8546"/>
                  </a:cubicBezTo>
                  <a:cubicBezTo>
                    <a:pt x="16971" y="8552"/>
                    <a:pt x="16948" y="8555"/>
                    <a:pt x="16924" y="8555"/>
                  </a:cubicBezTo>
                  <a:cubicBezTo>
                    <a:pt x="16729" y="8555"/>
                    <a:pt x="16518" y="8362"/>
                    <a:pt x="16292" y="8292"/>
                  </a:cubicBezTo>
                  <a:cubicBezTo>
                    <a:pt x="16663" y="7765"/>
                    <a:pt x="16858" y="7492"/>
                    <a:pt x="17229" y="6946"/>
                  </a:cubicBezTo>
                  <a:cubicBezTo>
                    <a:pt x="17270" y="6975"/>
                    <a:pt x="17325" y="6983"/>
                    <a:pt x="17385" y="6983"/>
                  </a:cubicBezTo>
                  <a:cubicBezTo>
                    <a:pt x="17461" y="6983"/>
                    <a:pt x="17545" y="6970"/>
                    <a:pt x="17620" y="6970"/>
                  </a:cubicBezTo>
                  <a:cubicBezTo>
                    <a:pt x="17770" y="6970"/>
                    <a:pt x="17885" y="7020"/>
                    <a:pt x="17834" y="7317"/>
                  </a:cubicBezTo>
                  <a:cubicBezTo>
                    <a:pt x="17834" y="7328"/>
                    <a:pt x="18102" y="7492"/>
                    <a:pt x="18357" y="7492"/>
                  </a:cubicBezTo>
                  <a:cubicBezTo>
                    <a:pt x="18548" y="7492"/>
                    <a:pt x="18731" y="7400"/>
                    <a:pt x="18790" y="7082"/>
                  </a:cubicBezTo>
                  <a:cubicBezTo>
                    <a:pt x="18887" y="6517"/>
                    <a:pt x="19531" y="6595"/>
                    <a:pt x="20019" y="6243"/>
                  </a:cubicBezTo>
                  <a:close/>
                  <a:moveTo>
                    <a:pt x="24467" y="6485"/>
                  </a:moveTo>
                  <a:cubicBezTo>
                    <a:pt x="24696" y="6485"/>
                    <a:pt x="24731" y="6750"/>
                    <a:pt x="24780" y="6946"/>
                  </a:cubicBezTo>
                  <a:cubicBezTo>
                    <a:pt x="24839" y="7278"/>
                    <a:pt x="24565" y="7121"/>
                    <a:pt x="24409" y="7199"/>
                  </a:cubicBezTo>
                  <a:cubicBezTo>
                    <a:pt x="23883" y="7414"/>
                    <a:pt x="23843" y="7999"/>
                    <a:pt x="24097" y="8078"/>
                  </a:cubicBezTo>
                  <a:cubicBezTo>
                    <a:pt x="25346" y="8468"/>
                    <a:pt x="24136" y="9580"/>
                    <a:pt x="24565" y="10204"/>
                  </a:cubicBezTo>
                  <a:cubicBezTo>
                    <a:pt x="24642" y="10311"/>
                    <a:pt x="24300" y="10430"/>
                    <a:pt x="23793" y="10430"/>
                  </a:cubicBezTo>
                  <a:cubicBezTo>
                    <a:pt x="23652" y="10430"/>
                    <a:pt x="23498" y="10421"/>
                    <a:pt x="23336" y="10399"/>
                  </a:cubicBezTo>
                  <a:cubicBezTo>
                    <a:pt x="23200" y="10107"/>
                    <a:pt x="22224" y="10068"/>
                    <a:pt x="23102" y="9307"/>
                  </a:cubicBezTo>
                  <a:cubicBezTo>
                    <a:pt x="23492" y="8995"/>
                    <a:pt x="23336" y="8780"/>
                    <a:pt x="23102" y="8526"/>
                  </a:cubicBezTo>
                  <a:cubicBezTo>
                    <a:pt x="22751" y="8175"/>
                    <a:pt x="22634" y="7609"/>
                    <a:pt x="22946" y="7219"/>
                  </a:cubicBezTo>
                  <a:cubicBezTo>
                    <a:pt x="23219" y="6868"/>
                    <a:pt x="23824" y="6673"/>
                    <a:pt x="24312" y="6517"/>
                  </a:cubicBezTo>
                  <a:cubicBezTo>
                    <a:pt x="24372" y="6495"/>
                    <a:pt x="24423" y="6485"/>
                    <a:pt x="24467" y="6485"/>
                  </a:cubicBezTo>
                  <a:close/>
                  <a:moveTo>
                    <a:pt x="35090" y="21128"/>
                  </a:moveTo>
                  <a:cubicBezTo>
                    <a:pt x="35000" y="21128"/>
                    <a:pt x="34614" y="21452"/>
                    <a:pt x="34614" y="21619"/>
                  </a:cubicBezTo>
                  <a:cubicBezTo>
                    <a:pt x="34594" y="22048"/>
                    <a:pt x="34712" y="22477"/>
                    <a:pt x="34751" y="22926"/>
                  </a:cubicBezTo>
                  <a:cubicBezTo>
                    <a:pt x="35043" y="22750"/>
                    <a:pt x="35199" y="22653"/>
                    <a:pt x="35492" y="22516"/>
                  </a:cubicBezTo>
                  <a:cubicBezTo>
                    <a:pt x="35590" y="21872"/>
                    <a:pt x="35570" y="21385"/>
                    <a:pt x="35102" y="21131"/>
                  </a:cubicBezTo>
                  <a:cubicBezTo>
                    <a:pt x="35099" y="21129"/>
                    <a:pt x="35095" y="21128"/>
                    <a:pt x="35090" y="21128"/>
                  </a:cubicBezTo>
                  <a:close/>
                  <a:moveTo>
                    <a:pt x="22011" y="28681"/>
                  </a:moveTo>
                  <a:cubicBezTo>
                    <a:pt x="21478" y="28681"/>
                    <a:pt x="21813" y="29097"/>
                    <a:pt x="21736" y="29345"/>
                  </a:cubicBezTo>
                  <a:cubicBezTo>
                    <a:pt x="21561" y="29853"/>
                    <a:pt x="21346" y="30321"/>
                    <a:pt x="20858" y="30575"/>
                  </a:cubicBezTo>
                  <a:cubicBezTo>
                    <a:pt x="20448" y="30809"/>
                    <a:pt x="20390" y="31218"/>
                    <a:pt x="20663" y="31531"/>
                  </a:cubicBezTo>
                  <a:cubicBezTo>
                    <a:pt x="20975" y="31901"/>
                    <a:pt x="21170" y="32096"/>
                    <a:pt x="20995" y="32701"/>
                  </a:cubicBezTo>
                  <a:cubicBezTo>
                    <a:pt x="20878" y="33189"/>
                    <a:pt x="21346" y="33872"/>
                    <a:pt x="21541" y="33911"/>
                  </a:cubicBezTo>
                  <a:cubicBezTo>
                    <a:pt x="21590" y="33914"/>
                    <a:pt x="21638" y="33916"/>
                    <a:pt x="21684" y="33916"/>
                  </a:cubicBezTo>
                  <a:cubicBezTo>
                    <a:pt x="23733" y="33916"/>
                    <a:pt x="22601" y="30988"/>
                    <a:pt x="22887" y="29423"/>
                  </a:cubicBezTo>
                  <a:cubicBezTo>
                    <a:pt x="22926" y="29131"/>
                    <a:pt x="22536" y="28682"/>
                    <a:pt x="22048" y="28682"/>
                  </a:cubicBezTo>
                  <a:cubicBezTo>
                    <a:pt x="22035" y="28681"/>
                    <a:pt x="22023" y="28681"/>
                    <a:pt x="22011" y="28681"/>
                  </a:cubicBezTo>
                  <a:close/>
                  <a:moveTo>
                    <a:pt x="21034" y="1"/>
                  </a:moveTo>
                  <a:cubicBezTo>
                    <a:pt x="19060" y="1"/>
                    <a:pt x="16639" y="1426"/>
                    <a:pt x="15005" y="2185"/>
                  </a:cubicBezTo>
                  <a:cubicBezTo>
                    <a:pt x="14810" y="2283"/>
                    <a:pt x="14653" y="2614"/>
                    <a:pt x="14478" y="2829"/>
                  </a:cubicBezTo>
                  <a:cubicBezTo>
                    <a:pt x="14537" y="2844"/>
                    <a:pt x="14596" y="2881"/>
                    <a:pt x="14639" y="2881"/>
                  </a:cubicBezTo>
                  <a:cubicBezTo>
                    <a:pt x="14652" y="2881"/>
                    <a:pt x="14664" y="2877"/>
                    <a:pt x="14673" y="2868"/>
                  </a:cubicBezTo>
                  <a:cubicBezTo>
                    <a:pt x="15007" y="2766"/>
                    <a:pt x="15230" y="2723"/>
                    <a:pt x="15370" y="2723"/>
                  </a:cubicBezTo>
                  <a:cubicBezTo>
                    <a:pt x="15899" y="2723"/>
                    <a:pt x="15239" y="3341"/>
                    <a:pt x="14946" y="3726"/>
                  </a:cubicBezTo>
                  <a:cubicBezTo>
                    <a:pt x="16594" y="3543"/>
                    <a:pt x="17314" y="1316"/>
                    <a:pt x="19154" y="1316"/>
                  </a:cubicBezTo>
                  <a:cubicBezTo>
                    <a:pt x="19274" y="1316"/>
                    <a:pt x="19400" y="1326"/>
                    <a:pt x="19531" y="1346"/>
                  </a:cubicBezTo>
                  <a:cubicBezTo>
                    <a:pt x="19005" y="1600"/>
                    <a:pt x="18731" y="1736"/>
                    <a:pt x="18185" y="1990"/>
                  </a:cubicBezTo>
                  <a:cubicBezTo>
                    <a:pt x="18868" y="2244"/>
                    <a:pt x="19200" y="2361"/>
                    <a:pt x="19883" y="2634"/>
                  </a:cubicBezTo>
                  <a:cubicBezTo>
                    <a:pt x="19674" y="2592"/>
                    <a:pt x="19479" y="2573"/>
                    <a:pt x="19296" y="2573"/>
                  </a:cubicBezTo>
                  <a:cubicBezTo>
                    <a:pt x="17792" y="2573"/>
                    <a:pt x="17107" y="3858"/>
                    <a:pt x="15941" y="3980"/>
                  </a:cubicBezTo>
                  <a:cubicBezTo>
                    <a:pt x="15414" y="4019"/>
                    <a:pt x="14868" y="4234"/>
                    <a:pt x="14322" y="4370"/>
                  </a:cubicBezTo>
                  <a:cubicBezTo>
                    <a:pt x="14341" y="3882"/>
                    <a:pt x="14341" y="3843"/>
                    <a:pt x="14341" y="3843"/>
                  </a:cubicBezTo>
                  <a:cubicBezTo>
                    <a:pt x="14402" y="3743"/>
                    <a:pt x="14483" y="3654"/>
                    <a:pt x="14425" y="3654"/>
                  </a:cubicBezTo>
                  <a:cubicBezTo>
                    <a:pt x="14314" y="3654"/>
                    <a:pt x="13695" y="3979"/>
                    <a:pt x="11454" y="5170"/>
                  </a:cubicBezTo>
                  <a:cubicBezTo>
                    <a:pt x="11746" y="4526"/>
                    <a:pt x="12332" y="3531"/>
                    <a:pt x="12214" y="3453"/>
                  </a:cubicBezTo>
                  <a:cubicBezTo>
                    <a:pt x="12050" y="3352"/>
                    <a:pt x="11923" y="3310"/>
                    <a:pt x="11823" y="3310"/>
                  </a:cubicBezTo>
                  <a:cubicBezTo>
                    <a:pt x="11274" y="3310"/>
                    <a:pt x="11521" y="4579"/>
                    <a:pt x="10891" y="4579"/>
                  </a:cubicBezTo>
                  <a:cubicBezTo>
                    <a:pt x="10854" y="4579"/>
                    <a:pt x="10814" y="4575"/>
                    <a:pt x="10771" y="4565"/>
                  </a:cubicBezTo>
                  <a:cubicBezTo>
                    <a:pt x="10892" y="3758"/>
                    <a:pt x="10931" y="3712"/>
                    <a:pt x="10756" y="3712"/>
                  </a:cubicBezTo>
                  <a:cubicBezTo>
                    <a:pt x="10734" y="3712"/>
                    <a:pt x="10708" y="3713"/>
                    <a:pt x="10678" y="3713"/>
                  </a:cubicBezTo>
                  <a:cubicBezTo>
                    <a:pt x="10643" y="3713"/>
                    <a:pt x="10602" y="3712"/>
                    <a:pt x="10556" y="3707"/>
                  </a:cubicBezTo>
                  <a:cubicBezTo>
                    <a:pt x="10478" y="4078"/>
                    <a:pt x="8780" y="4234"/>
                    <a:pt x="10185" y="4858"/>
                  </a:cubicBezTo>
                  <a:cubicBezTo>
                    <a:pt x="10673" y="5073"/>
                    <a:pt x="9444" y="5014"/>
                    <a:pt x="9600" y="5502"/>
                  </a:cubicBezTo>
                  <a:cubicBezTo>
                    <a:pt x="9600" y="5502"/>
                    <a:pt x="9658" y="5502"/>
                    <a:pt x="9658" y="5541"/>
                  </a:cubicBezTo>
                  <a:cubicBezTo>
                    <a:pt x="9702" y="5559"/>
                    <a:pt x="9749" y="5566"/>
                    <a:pt x="9800" y="5566"/>
                  </a:cubicBezTo>
                  <a:cubicBezTo>
                    <a:pt x="10002" y="5566"/>
                    <a:pt x="10248" y="5450"/>
                    <a:pt x="10452" y="5450"/>
                  </a:cubicBezTo>
                  <a:cubicBezTo>
                    <a:pt x="10583" y="5450"/>
                    <a:pt x="10697" y="5498"/>
                    <a:pt x="10771" y="5658"/>
                  </a:cubicBezTo>
                  <a:cubicBezTo>
                    <a:pt x="9561" y="5951"/>
                    <a:pt x="9268" y="5931"/>
                    <a:pt x="9151" y="6517"/>
                  </a:cubicBezTo>
                  <a:cubicBezTo>
                    <a:pt x="9021" y="7112"/>
                    <a:pt x="8359" y="7849"/>
                    <a:pt x="7908" y="7849"/>
                  </a:cubicBezTo>
                  <a:cubicBezTo>
                    <a:pt x="7886" y="7849"/>
                    <a:pt x="7865" y="7847"/>
                    <a:pt x="7844" y="7843"/>
                  </a:cubicBezTo>
                  <a:cubicBezTo>
                    <a:pt x="7763" y="7833"/>
                    <a:pt x="7687" y="7828"/>
                    <a:pt x="7615" y="7828"/>
                  </a:cubicBezTo>
                  <a:cubicBezTo>
                    <a:pt x="6590" y="7828"/>
                    <a:pt x="6397" y="8817"/>
                    <a:pt x="5795" y="9346"/>
                  </a:cubicBezTo>
                  <a:cubicBezTo>
                    <a:pt x="5483" y="9580"/>
                    <a:pt x="5132" y="10009"/>
                    <a:pt x="5444" y="10497"/>
                  </a:cubicBezTo>
                  <a:cubicBezTo>
                    <a:pt x="5550" y="10645"/>
                    <a:pt x="5678" y="10694"/>
                    <a:pt x="5818" y="10694"/>
                  </a:cubicBezTo>
                  <a:cubicBezTo>
                    <a:pt x="6065" y="10694"/>
                    <a:pt x="6346" y="10541"/>
                    <a:pt x="6595" y="10516"/>
                  </a:cubicBezTo>
                  <a:cubicBezTo>
                    <a:pt x="8078" y="10321"/>
                    <a:pt x="7727" y="8273"/>
                    <a:pt x="10166" y="8117"/>
                  </a:cubicBezTo>
                  <a:cubicBezTo>
                    <a:pt x="10187" y="8116"/>
                    <a:pt x="10209" y="8115"/>
                    <a:pt x="10229" y="8115"/>
                  </a:cubicBezTo>
                  <a:cubicBezTo>
                    <a:pt x="11118" y="8115"/>
                    <a:pt x="11439" y="8915"/>
                    <a:pt x="11668" y="9658"/>
                  </a:cubicBezTo>
                  <a:cubicBezTo>
                    <a:pt x="11707" y="9825"/>
                    <a:pt x="11720" y="9975"/>
                    <a:pt x="11824" y="9975"/>
                  </a:cubicBezTo>
                  <a:cubicBezTo>
                    <a:pt x="11878" y="9975"/>
                    <a:pt x="11958" y="9934"/>
                    <a:pt x="12078" y="9834"/>
                  </a:cubicBezTo>
                  <a:cubicBezTo>
                    <a:pt x="13132" y="8917"/>
                    <a:pt x="11824" y="8682"/>
                    <a:pt x="11883" y="8058"/>
                  </a:cubicBezTo>
                  <a:cubicBezTo>
                    <a:pt x="11902" y="7921"/>
                    <a:pt x="11824" y="7804"/>
                    <a:pt x="11824" y="7668"/>
                  </a:cubicBezTo>
                  <a:cubicBezTo>
                    <a:pt x="12135" y="7647"/>
                    <a:pt x="12288" y="7602"/>
                    <a:pt x="12381" y="7602"/>
                  </a:cubicBezTo>
                  <a:cubicBezTo>
                    <a:pt x="12634" y="7602"/>
                    <a:pt x="12450" y="7933"/>
                    <a:pt x="13775" y="9970"/>
                  </a:cubicBezTo>
                  <a:cubicBezTo>
                    <a:pt x="13873" y="9736"/>
                    <a:pt x="13932" y="9443"/>
                    <a:pt x="14107" y="9248"/>
                  </a:cubicBezTo>
                  <a:cubicBezTo>
                    <a:pt x="14439" y="8799"/>
                    <a:pt x="14653" y="8175"/>
                    <a:pt x="15336" y="8117"/>
                  </a:cubicBezTo>
                  <a:cubicBezTo>
                    <a:pt x="15358" y="8115"/>
                    <a:pt x="15379" y="8115"/>
                    <a:pt x="15399" y="8115"/>
                  </a:cubicBezTo>
                  <a:cubicBezTo>
                    <a:pt x="16109" y="8115"/>
                    <a:pt x="15978" y="8772"/>
                    <a:pt x="15902" y="9170"/>
                  </a:cubicBezTo>
                  <a:cubicBezTo>
                    <a:pt x="15785" y="10107"/>
                    <a:pt x="16449" y="10360"/>
                    <a:pt x="16956" y="10809"/>
                  </a:cubicBezTo>
                  <a:cubicBezTo>
                    <a:pt x="17005" y="10852"/>
                    <a:pt x="17060" y="10869"/>
                    <a:pt x="17119" y="10869"/>
                  </a:cubicBezTo>
                  <a:cubicBezTo>
                    <a:pt x="17364" y="10869"/>
                    <a:pt x="17668" y="10570"/>
                    <a:pt x="17797" y="10570"/>
                  </a:cubicBezTo>
                  <a:cubicBezTo>
                    <a:pt x="17849" y="10570"/>
                    <a:pt x="17872" y="10618"/>
                    <a:pt x="17853" y="10751"/>
                  </a:cubicBezTo>
                  <a:cubicBezTo>
                    <a:pt x="17775" y="11316"/>
                    <a:pt x="17190" y="11921"/>
                    <a:pt x="16741" y="12448"/>
                  </a:cubicBezTo>
                  <a:cubicBezTo>
                    <a:pt x="16582" y="12608"/>
                    <a:pt x="16399" y="12661"/>
                    <a:pt x="16213" y="12661"/>
                  </a:cubicBezTo>
                  <a:cubicBezTo>
                    <a:pt x="15844" y="12661"/>
                    <a:pt x="15465" y="12452"/>
                    <a:pt x="15233" y="12452"/>
                  </a:cubicBezTo>
                  <a:cubicBezTo>
                    <a:pt x="15181" y="12452"/>
                    <a:pt x="15137" y="12462"/>
                    <a:pt x="15102" y="12487"/>
                  </a:cubicBezTo>
                  <a:cubicBezTo>
                    <a:pt x="14778" y="12730"/>
                    <a:pt x="14460" y="12825"/>
                    <a:pt x="14171" y="12825"/>
                  </a:cubicBezTo>
                  <a:cubicBezTo>
                    <a:pt x="13763" y="12825"/>
                    <a:pt x="13410" y="12637"/>
                    <a:pt x="13171" y="12409"/>
                  </a:cubicBezTo>
                  <a:cubicBezTo>
                    <a:pt x="12973" y="12218"/>
                    <a:pt x="12784" y="12144"/>
                    <a:pt x="12611" y="12144"/>
                  </a:cubicBezTo>
                  <a:cubicBezTo>
                    <a:pt x="12236" y="12144"/>
                    <a:pt x="11938" y="12493"/>
                    <a:pt x="11805" y="12760"/>
                  </a:cubicBezTo>
                  <a:cubicBezTo>
                    <a:pt x="11612" y="13128"/>
                    <a:pt x="11435" y="13232"/>
                    <a:pt x="11264" y="13232"/>
                  </a:cubicBezTo>
                  <a:cubicBezTo>
                    <a:pt x="11053" y="13232"/>
                    <a:pt x="10849" y="13075"/>
                    <a:pt x="10634" y="13053"/>
                  </a:cubicBezTo>
                  <a:cubicBezTo>
                    <a:pt x="11083" y="12019"/>
                    <a:pt x="7941" y="12643"/>
                    <a:pt x="9932" y="10907"/>
                  </a:cubicBezTo>
                  <a:cubicBezTo>
                    <a:pt x="9932" y="10907"/>
                    <a:pt x="9885" y="10783"/>
                    <a:pt x="9848" y="10783"/>
                  </a:cubicBezTo>
                  <a:cubicBezTo>
                    <a:pt x="9843" y="10783"/>
                    <a:pt x="9838" y="10785"/>
                    <a:pt x="9834" y="10790"/>
                  </a:cubicBezTo>
                  <a:cubicBezTo>
                    <a:pt x="7902" y="11043"/>
                    <a:pt x="5639" y="10595"/>
                    <a:pt x="4137" y="12507"/>
                  </a:cubicBezTo>
                  <a:cubicBezTo>
                    <a:pt x="3532" y="13326"/>
                    <a:pt x="2927" y="14048"/>
                    <a:pt x="2420" y="14751"/>
                  </a:cubicBezTo>
                  <a:cubicBezTo>
                    <a:pt x="1483" y="15999"/>
                    <a:pt x="761" y="17189"/>
                    <a:pt x="371" y="18594"/>
                  </a:cubicBezTo>
                  <a:cubicBezTo>
                    <a:pt x="39" y="19785"/>
                    <a:pt x="0" y="21150"/>
                    <a:pt x="332" y="22848"/>
                  </a:cubicBezTo>
                  <a:cubicBezTo>
                    <a:pt x="540" y="23918"/>
                    <a:pt x="1540" y="24671"/>
                    <a:pt x="2584" y="24671"/>
                  </a:cubicBezTo>
                  <a:cubicBezTo>
                    <a:pt x="3007" y="24671"/>
                    <a:pt x="3437" y="24548"/>
                    <a:pt x="3824" y="24272"/>
                  </a:cubicBezTo>
                  <a:cubicBezTo>
                    <a:pt x="4173" y="24031"/>
                    <a:pt x="4447" y="23935"/>
                    <a:pt x="4672" y="23935"/>
                  </a:cubicBezTo>
                  <a:cubicBezTo>
                    <a:pt x="5510" y="23935"/>
                    <a:pt x="5667" y="25259"/>
                    <a:pt x="6480" y="25259"/>
                  </a:cubicBezTo>
                  <a:cubicBezTo>
                    <a:pt x="6523" y="25259"/>
                    <a:pt x="6568" y="25256"/>
                    <a:pt x="6615" y="25248"/>
                  </a:cubicBezTo>
                  <a:cubicBezTo>
                    <a:pt x="6615" y="27979"/>
                    <a:pt x="8585" y="30145"/>
                    <a:pt x="8605" y="32799"/>
                  </a:cubicBezTo>
                  <a:cubicBezTo>
                    <a:pt x="8605" y="34262"/>
                    <a:pt x="10380" y="35687"/>
                    <a:pt x="11375" y="37091"/>
                  </a:cubicBezTo>
                  <a:cubicBezTo>
                    <a:pt x="12017" y="38031"/>
                    <a:pt x="12669" y="38936"/>
                    <a:pt x="13769" y="38936"/>
                  </a:cubicBezTo>
                  <a:cubicBezTo>
                    <a:pt x="14108" y="38936"/>
                    <a:pt x="14490" y="38850"/>
                    <a:pt x="14927" y="38652"/>
                  </a:cubicBezTo>
                  <a:cubicBezTo>
                    <a:pt x="15375" y="38516"/>
                    <a:pt x="15707" y="38438"/>
                    <a:pt x="15980" y="38126"/>
                  </a:cubicBezTo>
                  <a:cubicBezTo>
                    <a:pt x="16995" y="36896"/>
                    <a:pt x="18146" y="35726"/>
                    <a:pt x="16683" y="34126"/>
                  </a:cubicBezTo>
                  <a:cubicBezTo>
                    <a:pt x="16312" y="33716"/>
                    <a:pt x="20487" y="32877"/>
                    <a:pt x="18458" y="29911"/>
                  </a:cubicBezTo>
                  <a:cubicBezTo>
                    <a:pt x="18244" y="29579"/>
                    <a:pt x="18400" y="28897"/>
                    <a:pt x="18127" y="28701"/>
                  </a:cubicBezTo>
                  <a:cubicBezTo>
                    <a:pt x="17073" y="27921"/>
                    <a:pt x="18224" y="27589"/>
                    <a:pt x="18536" y="27219"/>
                  </a:cubicBezTo>
                  <a:cubicBezTo>
                    <a:pt x="20390" y="25033"/>
                    <a:pt x="22848" y="23024"/>
                    <a:pt x="23609" y="20155"/>
                  </a:cubicBezTo>
                  <a:lnTo>
                    <a:pt x="23609" y="20155"/>
                  </a:lnTo>
                  <a:cubicBezTo>
                    <a:pt x="20683" y="21189"/>
                    <a:pt x="21268" y="21131"/>
                    <a:pt x="20702" y="21287"/>
                  </a:cubicBezTo>
                  <a:cubicBezTo>
                    <a:pt x="20651" y="21305"/>
                    <a:pt x="20589" y="21313"/>
                    <a:pt x="20522" y="21313"/>
                  </a:cubicBezTo>
                  <a:cubicBezTo>
                    <a:pt x="20309" y="21313"/>
                    <a:pt x="20058" y="21234"/>
                    <a:pt x="20058" y="21189"/>
                  </a:cubicBezTo>
                  <a:cubicBezTo>
                    <a:pt x="20156" y="19628"/>
                    <a:pt x="17756" y="20214"/>
                    <a:pt x="17814" y="18224"/>
                  </a:cubicBezTo>
                  <a:cubicBezTo>
                    <a:pt x="17834" y="16916"/>
                    <a:pt x="16195" y="15590"/>
                    <a:pt x="16195" y="13794"/>
                  </a:cubicBezTo>
                  <a:lnTo>
                    <a:pt x="16195" y="13794"/>
                  </a:lnTo>
                  <a:cubicBezTo>
                    <a:pt x="16663" y="13951"/>
                    <a:pt x="17170" y="13931"/>
                    <a:pt x="17268" y="14536"/>
                  </a:cubicBezTo>
                  <a:cubicBezTo>
                    <a:pt x="17678" y="16702"/>
                    <a:pt x="19531" y="18048"/>
                    <a:pt x="20156" y="20116"/>
                  </a:cubicBezTo>
                  <a:cubicBezTo>
                    <a:pt x="20196" y="20306"/>
                    <a:pt x="20482" y="20496"/>
                    <a:pt x="20777" y="20496"/>
                  </a:cubicBezTo>
                  <a:cubicBezTo>
                    <a:pt x="20906" y="20496"/>
                    <a:pt x="21038" y="20459"/>
                    <a:pt x="21151" y="20370"/>
                  </a:cubicBezTo>
                  <a:cubicBezTo>
                    <a:pt x="22146" y="19589"/>
                    <a:pt x="23453" y="19531"/>
                    <a:pt x="24429" y="18575"/>
                  </a:cubicBezTo>
                  <a:cubicBezTo>
                    <a:pt x="25151" y="17892"/>
                    <a:pt x="25892" y="17287"/>
                    <a:pt x="26380" y="16409"/>
                  </a:cubicBezTo>
                  <a:cubicBezTo>
                    <a:pt x="25862" y="16236"/>
                    <a:pt x="25673" y="15256"/>
                    <a:pt x="25052" y="15256"/>
                  </a:cubicBezTo>
                  <a:cubicBezTo>
                    <a:pt x="24832" y="15256"/>
                    <a:pt x="24558" y="15379"/>
                    <a:pt x="24195" y="15707"/>
                  </a:cubicBezTo>
                  <a:cubicBezTo>
                    <a:pt x="24132" y="15763"/>
                    <a:pt x="24028" y="15797"/>
                    <a:pt x="23928" y="15797"/>
                  </a:cubicBezTo>
                  <a:cubicBezTo>
                    <a:pt x="23718" y="15797"/>
                    <a:pt x="23532" y="15643"/>
                    <a:pt x="23824" y="15219"/>
                  </a:cubicBezTo>
                  <a:cubicBezTo>
                    <a:pt x="23902" y="15121"/>
                    <a:pt x="23843" y="14907"/>
                    <a:pt x="23824" y="14751"/>
                  </a:cubicBezTo>
                  <a:cubicBezTo>
                    <a:pt x="23824" y="14751"/>
                    <a:pt x="23763" y="14742"/>
                    <a:pt x="23705" y="14742"/>
                  </a:cubicBezTo>
                  <a:cubicBezTo>
                    <a:pt x="23677" y="14742"/>
                    <a:pt x="23648" y="14744"/>
                    <a:pt x="23629" y="14751"/>
                  </a:cubicBezTo>
                  <a:cubicBezTo>
                    <a:pt x="23365" y="14861"/>
                    <a:pt x="23166" y="14908"/>
                    <a:pt x="23016" y="14908"/>
                  </a:cubicBezTo>
                  <a:cubicBezTo>
                    <a:pt x="22267" y="14908"/>
                    <a:pt x="22721" y="13736"/>
                    <a:pt x="22283" y="13443"/>
                  </a:cubicBezTo>
                  <a:cubicBezTo>
                    <a:pt x="22263" y="13404"/>
                    <a:pt x="22478" y="12994"/>
                    <a:pt x="22556" y="12994"/>
                  </a:cubicBezTo>
                  <a:cubicBezTo>
                    <a:pt x="22751" y="12994"/>
                    <a:pt x="23063" y="13053"/>
                    <a:pt x="23122" y="13190"/>
                  </a:cubicBezTo>
                  <a:cubicBezTo>
                    <a:pt x="23674" y="14578"/>
                    <a:pt x="25037" y="14927"/>
                    <a:pt x="26232" y="14927"/>
                  </a:cubicBezTo>
                  <a:cubicBezTo>
                    <a:pt x="26600" y="14927"/>
                    <a:pt x="26951" y="14894"/>
                    <a:pt x="27258" y="14848"/>
                  </a:cubicBezTo>
                  <a:cubicBezTo>
                    <a:pt x="27562" y="14802"/>
                    <a:pt x="27839" y="14780"/>
                    <a:pt x="28092" y="14780"/>
                  </a:cubicBezTo>
                  <a:cubicBezTo>
                    <a:pt x="29450" y="14780"/>
                    <a:pt x="30139" y="15421"/>
                    <a:pt x="30731" y="16507"/>
                  </a:cubicBezTo>
                  <a:cubicBezTo>
                    <a:pt x="30834" y="16694"/>
                    <a:pt x="30998" y="16742"/>
                    <a:pt x="31167" y="16742"/>
                  </a:cubicBezTo>
                  <a:cubicBezTo>
                    <a:pt x="31349" y="16742"/>
                    <a:pt x="31539" y="16687"/>
                    <a:pt x="31671" y="16687"/>
                  </a:cubicBezTo>
                  <a:cubicBezTo>
                    <a:pt x="31789" y="16687"/>
                    <a:pt x="31862" y="16731"/>
                    <a:pt x="31843" y="16897"/>
                  </a:cubicBezTo>
                  <a:cubicBezTo>
                    <a:pt x="31726" y="18653"/>
                    <a:pt x="33014" y="19746"/>
                    <a:pt x="33502" y="21209"/>
                  </a:cubicBezTo>
                  <a:cubicBezTo>
                    <a:pt x="33564" y="21388"/>
                    <a:pt x="33631" y="21452"/>
                    <a:pt x="33710" y="21452"/>
                  </a:cubicBezTo>
                  <a:cubicBezTo>
                    <a:pt x="33802" y="21452"/>
                    <a:pt x="33911" y="21363"/>
                    <a:pt x="34048" y="21267"/>
                  </a:cubicBezTo>
                  <a:cubicBezTo>
                    <a:pt x="35121" y="20565"/>
                    <a:pt x="34438" y="19121"/>
                    <a:pt x="35453" y="18321"/>
                  </a:cubicBezTo>
                  <a:cubicBezTo>
                    <a:pt x="36272" y="17677"/>
                    <a:pt x="37268" y="17072"/>
                    <a:pt x="37638" y="15941"/>
                  </a:cubicBezTo>
                  <a:cubicBezTo>
                    <a:pt x="37645" y="15922"/>
                    <a:pt x="37783" y="15892"/>
                    <a:pt x="37987" y="15892"/>
                  </a:cubicBezTo>
                  <a:cubicBezTo>
                    <a:pt x="38407" y="15892"/>
                    <a:pt x="39104" y="16018"/>
                    <a:pt x="39472" y="16624"/>
                  </a:cubicBezTo>
                  <a:lnTo>
                    <a:pt x="39394" y="16272"/>
                  </a:lnTo>
                  <a:cubicBezTo>
                    <a:pt x="39238" y="15531"/>
                    <a:pt x="39043" y="14809"/>
                    <a:pt x="38829" y="14087"/>
                  </a:cubicBezTo>
                  <a:cubicBezTo>
                    <a:pt x="38048" y="11590"/>
                    <a:pt x="36780" y="9170"/>
                    <a:pt x="35043" y="7004"/>
                  </a:cubicBezTo>
                  <a:cubicBezTo>
                    <a:pt x="33209" y="4761"/>
                    <a:pt x="31043" y="2946"/>
                    <a:pt x="28663" y="1658"/>
                  </a:cubicBezTo>
                  <a:cubicBezTo>
                    <a:pt x="27999" y="1287"/>
                    <a:pt x="27317" y="975"/>
                    <a:pt x="26634" y="683"/>
                  </a:cubicBezTo>
                  <a:cubicBezTo>
                    <a:pt x="26536" y="624"/>
                    <a:pt x="26419" y="585"/>
                    <a:pt x="26321" y="566"/>
                  </a:cubicBezTo>
                  <a:cubicBezTo>
                    <a:pt x="25591" y="691"/>
                    <a:pt x="24759" y="771"/>
                    <a:pt x="24081" y="771"/>
                  </a:cubicBezTo>
                  <a:cubicBezTo>
                    <a:pt x="23492" y="771"/>
                    <a:pt x="23019" y="711"/>
                    <a:pt x="22829" y="566"/>
                  </a:cubicBezTo>
                  <a:cubicBezTo>
                    <a:pt x="22313" y="162"/>
                    <a:pt x="21699" y="1"/>
                    <a:pt x="210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035300" y="1076824"/>
              <a:ext cx="2517229" cy="2476726"/>
            </a:xfrm>
            <a:custGeom>
              <a:avLst/>
              <a:gdLst/>
              <a:ahLst/>
              <a:cxnLst/>
              <a:rect l="l" t="t" r="r" b="b"/>
              <a:pathLst>
                <a:path w="39278" h="38646" extrusionOk="0">
                  <a:moveTo>
                    <a:pt x="15864" y="8329"/>
                  </a:moveTo>
                  <a:cubicBezTo>
                    <a:pt x="15864" y="8333"/>
                    <a:pt x="15864" y="8336"/>
                    <a:pt x="15866" y="8340"/>
                  </a:cubicBezTo>
                  <a:lnTo>
                    <a:pt x="15866" y="8340"/>
                  </a:lnTo>
                  <a:cubicBezTo>
                    <a:pt x="15865" y="8336"/>
                    <a:pt x="15864" y="8333"/>
                    <a:pt x="15864" y="8329"/>
                  </a:cubicBezTo>
                  <a:close/>
                  <a:moveTo>
                    <a:pt x="24316" y="6312"/>
                  </a:moveTo>
                  <a:cubicBezTo>
                    <a:pt x="24361" y="6312"/>
                    <a:pt x="24405" y="6321"/>
                    <a:pt x="24449" y="6339"/>
                  </a:cubicBezTo>
                  <a:cubicBezTo>
                    <a:pt x="24546" y="6358"/>
                    <a:pt x="24625" y="6437"/>
                    <a:pt x="24664" y="6495"/>
                  </a:cubicBezTo>
                  <a:cubicBezTo>
                    <a:pt x="24761" y="6632"/>
                    <a:pt x="24800" y="6788"/>
                    <a:pt x="24820" y="6924"/>
                  </a:cubicBezTo>
                  <a:cubicBezTo>
                    <a:pt x="24839" y="7022"/>
                    <a:pt x="24839" y="7080"/>
                    <a:pt x="24800" y="7178"/>
                  </a:cubicBezTo>
                  <a:cubicBezTo>
                    <a:pt x="24761" y="7236"/>
                    <a:pt x="24742" y="7276"/>
                    <a:pt x="24703" y="7315"/>
                  </a:cubicBezTo>
                  <a:cubicBezTo>
                    <a:pt x="24605" y="7373"/>
                    <a:pt x="24449" y="7373"/>
                    <a:pt x="24410" y="7373"/>
                  </a:cubicBezTo>
                  <a:lnTo>
                    <a:pt x="24312" y="7373"/>
                  </a:lnTo>
                  <a:cubicBezTo>
                    <a:pt x="24215" y="7432"/>
                    <a:pt x="24137" y="7471"/>
                    <a:pt x="24078" y="7529"/>
                  </a:cubicBezTo>
                  <a:cubicBezTo>
                    <a:pt x="24039" y="7568"/>
                    <a:pt x="23981" y="7646"/>
                    <a:pt x="23981" y="7724"/>
                  </a:cubicBezTo>
                  <a:cubicBezTo>
                    <a:pt x="23961" y="7783"/>
                    <a:pt x="23981" y="7861"/>
                    <a:pt x="24020" y="7919"/>
                  </a:cubicBezTo>
                  <a:cubicBezTo>
                    <a:pt x="24020" y="7939"/>
                    <a:pt x="24039" y="7939"/>
                    <a:pt x="24039" y="7939"/>
                  </a:cubicBezTo>
                  <a:cubicBezTo>
                    <a:pt x="24332" y="8036"/>
                    <a:pt x="24527" y="8173"/>
                    <a:pt x="24644" y="8368"/>
                  </a:cubicBezTo>
                  <a:cubicBezTo>
                    <a:pt x="24820" y="8700"/>
                    <a:pt x="24683" y="9051"/>
                    <a:pt x="24625" y="9344"/>
                  </a:cubicBezTo>
                  <a:cubicBezTo>
                    <a:pt x="24546" y="9597"/>
                    <a:pt x="24507" y="9793"/>
                    <a:pt x="24527" y="9929"/>
                  </a:cubicBezTo>
                  <a:cubicBezTo>
                    <a:pt x="24527" y="9988"/>
                    <a:pt x="24546" y="10066"/>
                    <a:pt x="24605" y="10105"/>
                  </a:cubicBezTo>
                  <a:cubicBezTo>
                    <a:pt x="24625" y="10124"/>
                    <a:pt x="24625" y="10183"/>
                    <a:pt x="24644" y="10202"/>
                  </a:cubicBezTo>
                  <a:cubicBezTo>
                    <a:pt x="24644" y="10261"/>
                    <a:pt x="24644" y="10280"/>
                    <a:pt x="24625" y="10300"/>
                  </a:cubicBezTo>
                  <a:cubicBezTo>
                    <a:pt x="24605" y="10378"/>
                    <a:pt x="24527" y="10436"/>
                    <a:pt x="24507" y="10456"/>
                  </a:cubicBezTo>
                  <a:cubicBezTo>
                    <a:pt x="24410" y="10495"/>
                    <a:pt x="24293" y="10553"/>
                    <a:pt x="24176" y="10553"/>
                  </a:cubicBezTo>
                  <a:cubicBezTo>
                    <a:pt x="24059" y="10573"/>
                    <a:pt x="23907" y="10583"/>
                    <a:pt x="23739" y="10583"/>
                  </a:cubicBezTo>
                  <a:cubicBezTo>
                    <a:pt x="23571" y="10583"/>
                    <a:pt x="23386" y="10573"/>
                    <a:pt x="23200" y="10553"/>
                  </a:cubicBezTo>
                  <a:cubicBezTo>
                    <a:pt x="23161" y="10553"/>
                    <a:pt x="23103" y="10534"/>
                    <a:pt x="23083" y="10475"/>
                  </a:cubicBezTo>
                  <a:cubicBezTo>
                    <a:pt x="23064" y="10436"/>
                    <a:pt x="22986" y="10397"/>
                    <a:pt x="22868" y="10339"/>
                  </a:cubicBezTo>
                  <a:cubicBezTo>
                    <a:pt x="22732" y="10261"/>
                    <a:pt x="22517" y="10163"/>
                    <a:pt x="22478" y="9949"/>
                  </a:cubicBezTo>
                  <a:cubicBezTo>
                    <a:pt x="22459" y="9871"/>
                    <a:pt x="22459" y="9773"/>
                    <a:pt x="22498" y="9695"/>
                  </a:cubicBezTo>
                  <a:cubicBezTo>
                    <a:pt x="22537" y="9519"/>
                    <a:pt x="22693" y="9363"/>
                    <a:pt x="22908" y="9188"/>
                  </a:cubicBezTo>
                  <a:cubicBezTo>
                    <a:pt x="23005" y="9110"/>
                    <a:pt x="23025" y="9032"/>
                    <a:pt x="23064" y="9012"/>
                  </a:cubicBezTo>
                  <a:cubicBezTo>
                    <a:pt x="23064" y="8993"/>
                    <a:pt x="23083" y="8973"/>
                    <a:pt x="23064" y="8934"/>
                  </a:cubicBezTo>
                  <a:cubicBezTo>
                    <a:pt x="23064" y="8875"/>
                    <a:pt x="22986" y="8797"/>
                    <a:pt x="22868" y="8680"/>
                  </a:cubicBezTo>
                  <a:cubicBezTo>
                    <a:pt x="22615" y="8427"/>
                    <a:pt x="22498" y="8115"/>
                    <a:pt x="22498" y="7802"/>
                  </a:cubicBezTo>
                  <a:cubicBezTo>
                    <a:pt x="22498" y="7568"/>
                    <a:pt x="22576" y="7354"/>
                    <a:pt x="22712" y="7158"/>
                  </a:cubicBezTo>
                  <a:cubicBezTo>
                    <a:pt x="22986" y="6768"/>
                    <a:pt x="23571" y="6554"/>
                    <a:pt x="23981" y="6397"/>
                  </a:cubicBezTo>
                  <a:cubicBezTo>
                    <a:pt x="24039" y="6378"/>
                    <a:pt x="24078" y="6378"/>
                    <a:pt x="24137" y="6358"/>
                  </a:cubicBezTo>
                  <a:cubicBezTo>
                    <a:pt x="24201" y="6326"/>
                    <a:pt x="24260" y="6312"/>
                    <a:pt x="24316" y="6312"/>
                  </a:cubicBezTo>
                  <a:close/>
                  <a:moveTo>
                    <a:pt x="34907" y="21363"/>
                  </a:moveTo>
                  <a:cubicBezTo>
                    <a:pt x="34888" y="21382"/>
                    <a:pt x="34829" y="21402"/>
                    <a:pt x="34790" y="21461"/>
                  </a:cubicBezTo>
                  <a:cubicBezTo>
                    <a:pt x="34712" y="21519"/>
                    <a:pt x="34654" y="21597"/>
                    <a:pt x="34615" y="21656"/>
                  </a:cubicBezTo>
                  <a:cubicBezTo>
                    <a:pt x="34595" y="21948"/>
                    <a:pt x="34654" y="22241"/>
                    <a:pt x="34693" y="22553"/>
                  </a:cubicBezTo>
                  <a:cubicBezTo>
                    <a:pt x="34693" y="22592"/>
                    <a:pt x="34712" y="22651"/>
                    <a:pt x="34712" y="22729"/>
                  </a:cubicBezTo>
                  <a:cubicBezTo>
                    <a:pt x="34907" y="22631"/>
                    <a:pt x="34985" y="22553"/>
                    <a:pt x="35180" y="22456"/>
                  </a:cubicBezTo>
                  <a:cubicBezTo>
                    <a:pt x="35258" y="22085"/>
                    <a:pt x="35239" y="21792"/>
                    <a:pt x="35141" y="21597"/>
                  </a:cubicBezTo>
                  <a:cubicBezTo>
                    <a:pt x="35083" y="21500"/>
                    <a:pt x="35005" y="21422"/>
                    <a:pt x="34907" y="21363"/>
                  </a:cubicBezTo>
                  <a:close/>
                  <a:moveTo>
                    <a:pt x="21932" y="28895"/>
                  </a:moveTo>
                  <a:cubicBezTo>
                    <a:pt x="21815" y="28895"/>
                    <a:pt x="21776" y="28895"/>
                    <a:pt x="21776" y="28914"/>
                  </a:cubicBezTo>
                  <a:cubicBezTo>
                    <a:pt x="21776" y="28934"/>
                    <a:pt x="21776" y="28953"/>
                    <a:pt x="21795" y="29090"/>
                  </a:cubicBezTo>
                  <a:cubicBezTo>
                    <a:pt x="21795" y="29148"/>
                    <a:pt x="21834" y="29304"/>
                    <a:pt x="21795" y="29421"/>
                  </a:cubicBezTo>
                  <a:cubicBezTo>
                    <a:pt x="21620" y="29929"/>
                    <a:pt x="21405" y="30455"/>
                    <a:pt x="20820" y="30768"/>
                  </a:cubicBezTo>
                  <a:cubicBezTo>
                    <a:pt x="20722" y="30807"/>
                    <a:pt x="20644" y="30885"/>
                    <a:pt x="20625" y="30943"/>
                  </a:cubicBezTo>
                  <a:lnTo>
                    <a:pt x="20547" y="31080"/>
                  </a:lnTo>
                  <a:lnTo>
                    <a:pt x="20547" y="31255"/>
                  </a:lnTo>
                  <a:cubicBezTo>
                    <a:pt x="20566" y="31333"/>
                    <a:pt x="20605" y="31392"/>
                    <a:pt x="20664" y="31470"/>
                  </a:cubicBezTo>
                  <a:lnTo>
                    <a:pt x="20703" y="31490"/>
                  </a:lnTo>
                  <a:cubicBezTo>
                    <a:pt x="20859" y="31685"/>
                    <a:pt x="21034" y="31880"/>
                    <a:pt x="21073" y="32153"/>
                  </a:cubicBezTo>
                  <a:cubicBezTo>
                    <a:pt x="21132" y="32348"/>
                    <a:pt x="21112" y="32543"/>
                    <a:pt x="21034" y="32816"/>
                  </a:cubicBezTo>
                  <a:cubicBezTo>
                    <a:pt x="20976" y="32992"/>
                    <a:pt x="21054" y="33226"/>
                    <a:pt x="21171" y="33441"/>
                  </a:cubicBezTo>
                  <a:cubicBezTo>
                    <a:pt x="21269" y="33616"/>
                    <a:pt x="21366" y="33733"/>
                    <a:pt x="21444" y="33792"/>
                  </a:cubicBezTo>
                  <a:lnTo>
                    <a:pt x="21464" y="33792"/>
                  </a:lnTo>
                  <a:cubicBezTo>
                    <a:pt x="21502" y="33794"/>
                    <a:pt x="21540" y="33795"/>
                    <a:pt x="21576" y="33795"/>
                  </a:cubicBezTo>
                  <a:cubicBezTo>
                    <a:pt x="21886" y="33795"/>
                    <a:pt x="22104" y="33723"/>
                    <a:pt x="22244" y="33636"/>
                  </a:cubicBezTo>
                  <a:cubicBezTo>
                    <a:pt x="22342" y="33499"/>
                    <a:pt x="22478" y="33304"/>
                    <a:pt x="22556" y="33090"/>
                  </a:cubicBezTo>
                  <a:cubicBezTo>
                    <a:pt x="22693" y="32582"/>
                    <a:pt x="22654" y="31899"/>
                    <a:pt x="22595" y="31138"/>
                  </a:cubicBezTo>
                  <a:cubicBezTo>
                    <a:pt x="22556" y="30553"/>
                    <a:pt x="22517" y="29909"/>
                    <a:pt x="22595" y="29421"/>
                  </a:cubicBezTo>
                  <a:lnTo>
                    <a:pt x="22595" y="29324"/>
                  </a:lnTo>
                  <a:cubicBezTo>
                    <a:pt x="22576" y="29246"/>
                    <a:pt x="22517" y="29187"/>
                    <a:pt x="22459" y="29109"/>
                  </a:cubicBezTo>
                  <a:cubicBezTo>
                    <a:pt x="22322" y="28992"/>
                    <a:pt x="22127" y="28895"/>
                    <a:pt x="21932" y="28895"/>
                  </a:cubicBezTo>
                  <a:close/>
                  <a:moveTo>
                    <a:pt x="20973" y="0"/>
                  </a:moveTo>
                  <a:cubicBezTo>
                    <a:pt x="19527" y="0"/>
                    <a:pt x="17657" y="874"/>
                    <a:pt x="16156" y="1598"/>
                  </a:cubicBezTo>
                  <a:cubicBezTo>
                    <a:pt x="15688" y="1812"/>
                    <a:pt x="15278" y="2027"/>
                    <a:pt x="14927" y="2183"/>
                  </a:cubicBezTo>
                  <a:cubicBezTo>
                    <a:pt x="14888" y="2202"/>
                    <a:pt x="14810" y="2300"/>
                    <a:pt x="14674" y="2495"/>
                  </a:cubicBezTo>
                  <a:cubicBezTo>
                    <a:pt x="14927" y="2417"/>
                    <a:pt x="15142" y="2398"/>
                    <a:pt x="15278" y="2378"/>
                  </a:cubicBezTo>
                  <a:cubicBezTo>
                    <a:pt x="15376" y="2378"/>
                    <a:pt x="15474" y="2398"/>
                    <a:pt x="15552" y="2456"/>
                  </a:cubicBezTo>
                  <a:cubicBezTo>
                    <a:pt x="15591" y="2495"/>
                    <a:pt x="15610" y="2554"/>
                    <a:pt x="15610" y="2593"/>
                  </a:cubicBezTo>
                  <a:cubicBezTo>
                    <a:pt x="15610" y="2651"/>
                    <a:pt x="15610" y="2710"/>
                    <a:pt x="15591" y="2749"/>
                  </a:cubicBezTo>
                  <a:cubicBezTo>
                    <a:pt x="15552" y="2905"/>
                    <a:pt x="15376" y="3100"/>
                    <a:pt x="15220" y="3276"/>
                  </a:cubicBezTo>
                  <a:cubicBezTo>
                    <a:pt x="15278" y="3256"/>
                    <a:pt x="15356" y="3237"/>
                    <a:pt x="15395" y="3198"/>
                  </a:cubicBezTo>
                  <a:cubicBezTo>
                    <a:pt x="15844" y="3002"/>
                    <a:pt x="16195" y="2651"/>
                    <a:pt x="16625" y="2261"/>
                  </a:cubicBezTo>
                  <a:cubicBezTo>
                    <a:pt x="17093" y="1812"/>
                    <a:pt x="17620" y="1324"/>
                    <a:pt x="18283" y="1090"/>
                  </a:cubicBezTo>
                  <a:cubicBezTo>
                    <a:pt x="18501" y="1001"/>
                    <a:pt x="18744" y="953"/>
                    <a:pt x="19013" y="953"/>
                  </a:cubicBezTo>
                  <a:cubicBezTo>
                    <a:pt x="19153" y="953"/>
                    <a:pt x="19300" y="966"/>
                    <a:pt x="19454" y="993"/>
                  </a:cubicBezTo>
                  <a:cubicBezTo>
                    <a:pt x="19512" y="1012"/>
                    <a:pt x="19571" y="1051"/>
                    <a:pt x="19571" y="1129"/>
                  </a:cubicBezTo>
                  <a:cubicBezTo>
                    <a:pt x="19571" y="1207"/>
                    <a:pt x="19512" y="1285"/>
                    <a:pt x="19454" y="1324"/>
                  </a:cubicBezTo>
                  <a:cubicBezTo>
                    <a:pt x="19064" y="1500"/>
                    <a:pt x="18869" y="1598"/>
                    <a:pt x="18498" y="1793"/>
                  </a:cubicBezTo>
                  <a:cubicBezTo>
                    <a:pt x="19025" y="1988"/>
                    <a:pt x="19298" y="2085"/>
                    <a:pt x="19844" y="2300"/>
                  </a:cubicBezTo>
                  <a:cubicBezTo>
                    <a:pt x="19903" y="2320"/>
                    <a:pt x="19961" y="2417"/>
                    <a:pt x="19903" y="2515"/>
                  </a:cubicBezTo>
                  <a:cubicBezTo>
                    <a:pt x="19868" y="2584"/>
                    <a:pt x="19786" y="2654"/>
                    <a:pt x="19699" y="2654"/>
                  </a:cubicBezTo>
                  <a:cubicBezTo>
                    <a:pt x="19689" y="2654"/>
                    <a:pt x="19679" y="2653"/>
                    <a:pt x="19669" y="2651"/>
                  </a:cubicBezTo>
                  <a:cubicBezTo>
                    <a:pt x="19473" y="2612"/>
                    <a:pt x="19283" y="2593"/>
                    <a:pt x="19105" y="2593"/>
                  </a:cubicBezTo>
                  <a:cubicBezTo>
                    <a:pt x="18927" y="2593"/>
                    <a:pt x="18761" y="2612"/>
                    <a:pt x="18615" y="2651"/>
                  </a:cubicBezTo>
                  <a:cubicBezTo>
                    <a:pt x="18108" y="2768"/>
                    <a:pt x="17717" y="3041"/>
                    <a:pt x="17308" y="3295"/>
                  </a:cubicBezTo>
                  <a:cubicBezTo>
                    <a:pt x="16859" y="3588"/>
                    <a:pt x="16391" y="3939"/>
                    <a:pt x="15805" y="3978"/>
                  </a:cubicBezTo>
                  <a:cubicBezTo>
                    <a:pt x="15474" y="4017"/>
                    <a:pt x="15103" y="4134"/>
                    <a:pt x="14732" y="4232"/>
                  </a:cubicBezTo>
                  <a:lnTo>
                    <a:pt x="14225" y="4368"/>
                  </a:lnTo>
                  <a:cubicBezTo>
                    <a:pt x="14213" y="4380"/>
                    <a:pt x="14199" y="4385"/>
                    <a:pt x="14184" y="4385"/>
                  </a:cubicBezTo>
                  <a:cubicBezTo>
                    <a:pt x="14151" y="4385"/>
                    <a:pt x="14115" y="4362"/>
                    <a:pt x="14088" y="4349"/>
                  </a:cubicBezTo>
                  <a:cubicBezTo>
                    <a:pt x="14030" y="4329"/>
                    <a:pt x="14030" y="4271"/>
                    <a:pt x="14030" y="4232"/>
                  </a:cubicBezTo>
                  <a:cubicBezTo>
                    <a:pt x="14030" y="4017"/>
                    <a:pt x="14049" y="3880"/>
                    <a:pt x="14049" y="3822"/>
                  </a:cubicBezTo>
                  <a:lnTo>
                    <a:pt x="14049" y="3822"/>
                  </a:lnTo>
                  <a:cubicBezTo>
                    <a:pt x="13854" y="3919"/>
                    <a:pt x="13542" y="4076"/>
                    <a:pt x="13054" y="4310"/>
                  </a:cubicBezTo>
                  <a:cubicBezTo>
                    <a:pt x="12644" y="4524"/>
                    <a:pt x="12098" y="4798"/>
                    <a:pt x="11415" y="5149"/>
                  </a:cubicBezTo>
                  <a:cubicBezTo>
                    <a:pt x="11389" y="5175"/>
                    <a:pt x="11358" y="5186"/>
                    <a:pt x="11327" y="5186"/>
                  </a:cubicBezTo>
                  <a:cubicBezTo>
                    <a:pt x="11290" y="5186"/>
                    <a:pt x="11252" y="5170"/>
                    <a:pt x="11220" y="5149"/>
                  </a:cubicBezTo>
                  <a:cubicBezTo>
                    <a:pt x="11181" y="5110"/>
                    <a:pt x="11161" y="5032"/>
                    <a:pt x="11200" y="4993"/>
                  </a:cubicBezTo>
                  <a:cubicBezTo>
                    <a:pt x="11298" y="4758"/>
                    <a:pt x="11435" y="4524"/>
                    <a:pt x="11552" y="4271"/>
                  </a:cubicBezTo>
                  <a:cubicBezTo>
                    <a:pt x="11747" y="3880"/>
                    <a:pt x="11883" y="3568"/>
                    <a:pt x="11942" y="3432"/>
                  </a:cubicBezTo>
                  <a:cubicBezTo>
                    <a:pt x="11766" y="3334"/>
                    <a:pt x="11688" y="3334"/>
                    <a:pt x="11649" y="3334"/>
                  </a:cubicBezTo>
                  <a:lnTo>
                    <a:pt x="11610" y="3334"/>
                  </a:lnTo>
                  <a:cubicBezTo>
                    <a:pt x="11571" y="3373"/>
                    <a:pt x="11513" y="3490"/>
                    <a:pt x="11454" y="3744"/>
                  </a:cubicBezTo>
                  <a:cubicBezTo>
                    <a:pt x="11396" y="3919"/>
                    <a:pt x="11357" y="4134"/>
                    <a:pt x="11220" y="4310"/>
                  </a:cubicBezTo>
                  <a:cubicBezTo>
                    <a:pt x="11181" y="4368"/>
                    <a:pt x="11083" y="4466"/>
                    <a:pt x="10966" y="4524"/>
                  </a:cubicBezTo>
                  <a:cubicBezTo>
                    <a:pt x="10886" y="4547"/>
                    <a:pt x="10806" y="4557"/>
                    <a:pt x="10730" y="4557"/>
                  </a:cubicBezTo>
                  <a:cubicBezTo>
                    <a:pt x="10676" y="4557"/>
                    <a:pt x="10625" y="4552"/>
                    <a:pt x="10576" y="4544"/>
                  </a:cubicBezTo>
                  <a:cubicBezTo>
                    <a:pt x="10498" y="4524"/>
                    <a:pt x="10439" y="4466"/>
                    <a:pt x="10479" y="4407"/>
                  </a:cubicBezTo>
                  <a:cubicBezTo>
                    <a:pt x="10498" y="4251"/>
                    <a:pt x="10518" y="4115"/>
                    <a:pt x="10518" y="4017"/>
                  </a:cubicBezTo>
                  <a:cubicBezTo>
                    <a:pt x="10537" y="3841"/>
                    <a:pt x="10576" y="3763"/>
                    <a:pt x="10576" y="3724"/>
                  </a:cubicBezTo>
                  <a:lnTo>
                    <a:pt x="10557" y="3724"/>
                  </a:lnTo>
                  <a:cubicBezTo>
                    <a:pt x="10420" y="3841"/>
                    <a:pt x="10205" y="3959"/>
                    <a:pt x="10088" y="4017"/>
                  </a:cubicBezTo>
                  <a:cubicBezTo>
                    <a:pt x="9893" y="4115"/>
                    <a:pt x="9796" y="4154"/>
                    <a:pt x="9737" y="4212"/>
                  </a:cubicBezTo>
                  <a:cubicBezTo>
                    <a:pt x="9737" y="4212"/>
                    <a:pt x="9757" y="4232"/>
                    <a:pt x="9757" y="4251"/>
                  </a:cubicBezTo>
                  <a:cubicBezTo>
                    <a:pt x="9835" y="4329"/>
                    <a:pt x="9952" y="4407"/>
                    <a:pt x="10205" y="4524"/>
                  </a:cubicBezTo>
                  <a:cubicBezTo>
                    <a:pt x="10244" y="4544"/>
                    <a:pt x="10322" y="4563"/>
                    <a:pt x="10342" y="4622"/>
                  </a:cubicBezTo>
                  <a:cubicBezTo>
                    <a:pt x="10381" y="4641"/>
                    <a:pt x="10400" y="4700"/>
                    <a:pt x="10400" y="4758"/>
                  </a:cubicBezTo>
                  <a:cubicBezTo>
                    <a:pt x="10400" y="4817"/>
                    <a:pt x="10342" y="4895"/>
                    <a:pt x="10322" y="4915"/>
                  </a:cubicBezTo>
                  <a:cubicBezTo>
                    <a:pt x="10225" y="5012"/>
                    <a:pt x="10088" y="5032"/>
                    <a:pt x="10010" y="5051"/>
                  </a:cubicBezTo>
                  <a:cubicBezTo>
                    <a:pt x="9893" y="5110"/>
                    <a:pt x="9757" y="5129"/>
                    <a:pt x="9718" y="5188"/>
                  </a:cubicBezTo>
                  <a:cubicBezTo>
                    <a:pt x="9698" y="5188"/>
                    <a:pt x="9698" y="5207"/>
                    <a:pt x="9698" y="5207"/>
                  </a:cubicBezTo>
                  <a:cubicBezTo>
                    <a:pt x="9715" y="5213"/>
                    <a:pt x="9736" y="5215"/>
                    <a:pt x="9761" y="5215"/>
                  </a:cubicBezTo>
                  <a:cubicBezTo>
                    <a:pt x="9822" y="5215"/>
                    <a:pt x="9911" y="5202"/>
                    <a:pt x="10049" y="5188"/>
                  </a:cubicBezTo>
                  <a:cubicBezTo>
                    <a:pt x="10158" y="5161"/>
                    <a:pt x="10295" y="5124"/>
                    <a:pt x="10434" y="5124"/>
                  </a:cubicBezTo>
                  <a:cubicBezTo>
                    <a:pt x="10495" y="5124"/>
                    <a:pt x="10556" y="5131"/>
                    <a:pt x="10615" y="5149"/>
                  </a:cubicBezTo>
                  <a:cubicBezTo>
                    <a:pt x="10732" y="5207"/>
                    <a:pt x="10810" y="5285"/>
                    <a:pt x="10869" y="5402"/>
                  </a:cubicBezTo>
                  <a:cubicBezTo>
                    <a:pt x="10888" y="5441"/>
                    <a:pt x="10888" y="5500"/>
                    <a:pt x="10830" y="5578"/>
                  </a:cubicBezTo>
                  <a:cubicBezTo>
                    <a:pt x="10810" y="5617"/>
                    <a:pt x="10732" y="5676"/>
                    <a:pt x="10693" y="5695"/>
                  </a:cubicBezTo>
                  <a:cubicBezTo>
                    <a:pt x="10498" y="5734"/>
                    <a:pt x="10322" y="5773"/>
                    <a:pt x="10186" y="5812"/>
                  </a:cubicBezTo>
                  <a:cubicBezTo>
                    <a:pt x="9639" y="5929"/>
                    <a:pt x="9444" y="6007"/>
                    <a:pt x="9347" y="6085"/>
                  </a:cubicBezTo>
                  <a:cubicBezTo>
                    <a:pt x="9308" y="6124"/>
                    <a:pt x="9269" y="6202"/>
                    <a:pt x="9230" y="6378"/>
                  </a:cubicBezTo>
                  <a:cubicBezTo>
                    <a:pt x="9152" y="6749"/>
                    <a:pt x="8918" y="7139"/>
                    <a:pt x="8644" y="7432"/>
                  </a:cubicBezTo>
                  <a:cubicBezTo>
                    <a:pt x="8469" y="7627"/>
                    <a:pt x="8254" y="7763"/>
                    <a:pt x="8040" y="7861"/>
                  </a:cubicBezTo>
                  <a:cubicBezTo>
                    <a:pt x="7937" y="7905"/>
                    <a:pt x="7846" y="7927"/>
                    <a:pt x="7757" y="7927"/>
                  </a:cubicBezTo>
                  <a:cubicBezTo>
                    <a:pt x="7727" y="7927"/>
                    <a:pt x="7698" y="7924"/>
                    <a:pt x="7669" y="7919"/>
                  </a:cubicBezTo>
                  <a:cubicBezTo>
                    <a:pt x="7583" y="7902"/>
                    <a:pt x="7504" y="7895"/>
                    <a:pt x="7431" y="7895"/>
                  </a:cubicBezTo>
                  <a:cubicBezTo>
                    <a:pt x="7254" y="7895"/>
                    <a:pt x="7110" y="7937"/>
                    <a:pt x="6986" y="7978"/>
                  </a:cubicBezTo>
                  <a:cubicBezTo>
                    <a:pt x="6713" y="8115"/>
                    <a:pt x="6537" y="8368"/>
                    <a:pt x="6322" y="8700"/>
                  </a:cubicBezTo>
                  <a:cubicBezTo>
                    <a:pt x="6186" y="8914"/>
                    <a:pt x="6010" y="9149"/>
                    <a:pt x="5796" y="9344"/>
                  </a:cubicBezTo>
                  <a:cubicBezTo>
                    <a:pt x="5542" y="9578"/>
                    <a:pt x="5347" y="9773"/>
                    <a:pt x="5308" y="9968"/>
                  </a:cubicBezTo>
                  <a:cubicBezTo>
                    <a:pt x="5269" y="10066"/>
                    <a:pt x="5269" y="10202"/>
                    <a:pt x="5405" y="10358"/>
                  </a:cubicBezTo>
                  <a:cubicBezTo>
                    <a:pt x="5444" y="10417"/>
                    <a:pt x="5523" y="10475"/>
                    <a:pt x="5562" y="10495"/>
                  </a:cubicBezTo>
                  <a:cubicBezTo>
                    <a:pt x="5594" y="10500"/>
                    <a:pt x="5625" y="10502"/>
                    <a:pt x="5657" y="10502"/>
                  </a:cubicBezTo>
                  <a:cubicBezTo>
                    <a:pt x="5759" y="10502"/>
                    <a:pt x="5866" y="10477"/>
                    <a:pt x="6030" y="10417"/>
                  </a:cubicBezTo>
                  <a:cubicBezTo>
                    <a:pt x="6127" y="10397"/>
                    <a:pt x="6283" y="10358"/>
                    <a:pt x="6401" y="10319"/>
                  </a:cubicBezTo>
                  <a:cubicBezTo>
                    <a:pt x="6596" y="10300"/>
                    <a:pt x="6732" y="10261"/>
                    <a:pt x="6869" y="10163"/>
                  </a:cubicBezTo>
                  <a:cubicBezTo>
                    <a:pt x="7103" y="10007"/>
                    <a:pt x="7279" y="9734"/>
                    <a:pt x="7513" y="9422"/>
                  </a:cubicBezTo>
                  <a:cubicBezTo>
                    <a:pt x="7786" y="9051"/>
                    <a:pt x="8079" y="8622"/>
                    <a:pt x="8625" y="8310"/>
                  </a:cubicBezTo>
                  <a:cubicBezTo>
                    <a:pt x="8976" y="8115"/>
                    <a:pt x="9425" y="7958"/>
                    <a:pt x="10010" y="7919"/>
                  </a:cubicBezTo>
                  <a:cubicBezTo>
                    <a:pt x="10064" y="7913"/>
                    <a:pt x="10116" y="7909"/>
                    <a:pt x="10167" y="7909"/>
                  </a:cubicBezTo>
                  <a:cubicBezTo>
                    <a:pt x="10414" y="7909"/>
                    <a:pt x="10632" y="7985"/>
                    <a:pt x="10810" y="8115"/>
                  </a:cubicBezTo>
                  <a:cubicBezTo>
                    <a:pt x="11278" y="8427"/>
                    <a:pt x="11493" y="9012"/>
                    <a:pt x="11649" y="9539"/>
                  </a:cubicBezTo>
                  <a:cubicBezTo>
                    <a:pt x="11649" y="9578"/>
                    <a:pt x="11669" y="9597"/>
                    <a:pt x="11669" y="9636"/>
                  </a:cubicBezTo>
                  <a:cubicBezTo>
                    <a:pt x="11669" y="9695"/>
                    <a:pt x="11688" y="9714"/>
                    <a:pt x="11688" y="9734"/>
                  </a:cubicBezTo>
                  <a:cubicBezTo>
                    <a:pt x="11708" y="9714"/>
                    <a:pt x="11747" y="9714"/>
                    <a:pt x="11766" y="9675"/>
                  </a:cubicBezTo>
                  <a:cubicBezTo>
                    <a:pt x="11942" y="9519"/>
                    <a:pt x="12039" y="9402"/>
                    <a:pt x="12078" y="9305"/>
                  </a:cubicBezTo>
                  <a:cubicBezTo>
                    <a:pt x="12098" y="9246"/>
                    <a:pt x="12098" y="9207"/>
                    <a:pt x="12098" y="9149"/>
                  </a:cubicBezTo>
                  <a:cubicBezTo>
                    <a:pt x="12078" y="9032"/>
                    <a:pt x="11981" y="8914"/>
                    <a:pt x="11844" y="8739"/>
                  </a:cubicBezTo>
                  <a:cubicBezTo>
                    <a:pt x="11688" y="8563"/>
                    <a:pt x="11474" y="8349"/>
                    <a:pt x="11493" y="8036"/>
                  </a:cubicBezTo>
                  <a:cubicBezTo>
                    <a:pt x="11493" y="7978"/>
                    <a:pt x="11493" y="7919"/>
                    <a:pt x="11474" y="7822"/>
                  </a:cubicBezTo>
                  <a:cubicBezTo>
                    <a:pt x="11474" y="7763"/>
                    <a:pt x="11454" y="7744"/>
                    <a:pt x="11454" y="7685"/>
                  </a:cubicBezTo>
                  <a:cubicBezTo>
                    <a:pt x="11454" y="7646"/>
                    <a:pt x="11454" y="7568"/>
                    <a:pt x="11493" y="7529"/>
                  </a:cubicBezTo>
                  <a:cubicBezTo>
                    <a:pt x="11552" y="7471"/>
                    <a:pt x="11591" y="7451"/>
                    <a:pt x="11649" y="7451"/>
                  </a:cubicBezTo>
                  <a:cubicBezTo>
                    <a:pt x="11805" y="7451"/>
                    <a:pt x="11942" y="7432"/>
                    <a:pt x="12157" y="7432"/>
                  </a:cubicBezTo>
                  <a:cubicBezTo>
                    <a:pt x="12227" y="7416"/>
                    <a:pt x="12279" y="7407"/>
                    <a:pt x="12321" y="7407"/>
                  </a:cubicBezTo>
                  <a:cubicBezTo>
                    <a:pt x="12440" y="7407"/>
                    <a:pt x="12470" y="7488"/>
                    <a:pt x="12586" y="7763"/>
                  </a:cubicBezTo>
                  <a:cubicBezTo>
                    <a:pt x="12722" y="8036"/>
                    <a:pt x="12937" y="8563"/>
                    <a:pt x="13542" y="9500"/>
                  </a:cubicBezTo>
                  <a:cubicBezTo>
                    <a:pt x="13600" y="9383"/>
                    <a:pt x="13659" y="9227"/>
                    <a:pt x="13756" y="9110"/>
                  </a:cubicBezTo>
                  <a:cubicBezTo>
                    <a:pt x="13835" y="9012"/>
                    <a:pt x="13913" y="8914"/>
                    <a:pt x="13991" y="8797"/>
                  </a:cubicBezTo>
                  <a:cubicBezTo>
                    <a:pt x="14127" y="8544"/>
                    <a:pt x="14322" y="8251"/>
                    <a:pt x="14654" y="8056"/>
                  </a:cubicBezTo>
                  <a:cubicBezTo>
                    <a:pt x="14791" y="7958"/>
                    <a:pt x="14966" y="7919"/>
                    <a:pt x="15181" y="7880"/>
                  </a:cubicBezTo>
                  <a:cubicBezTo>
                    <a:pt x="15395" y="7880"/>
                    <a:pt x="15571" y="7919"/>
                    <a:pt x="15688" y="7978"/>
                  </a:cubicBezTo>
                  <a:cubicBezTo>
                    <a:pt x="15786" y="8056"/>
                    <a:pt x="15864" y="8154"/>
                    <a:pt x="15922" y="8251"/>
                  </a:cubicBezTo>
                  <a:cubicBezTo>
                    <a:pt x="15922" y="8232"/>
                    <a:pt x="15942" y="8173"/>
                    <a:pt x="15942" y="8154"/>
                  </a:cubicBezTo>
                  <a:cubicBezTo>
                    <a:pt x="16313" y="7588"/>
                    <a:pt x="16488" y="7334"/>
                    <a:pt x="16898" y="6788"/>
                  </a:cubicBezTo>
                  <a:cubicBezTo>
                    <a:pt x="16917" y="6749"/>
                    <a:pt x="16956" y="6710"/>
                    <a:pt x="17015" y="6690"/>
                  </a:cubicBezTo>
                  <a:cubicBezTo>
                    <a:pt x="17026" y="6684"/>
                    <a:pt x="17039" y="6682"/>
                    <a:pt x="17053" y="6682"/>
                  </a:cubicBezTo>
                  <a:cubicBezTo>
                    <a:pt x="17087" y="6682"/>
                    <a:pt x="17124" y="6696"/>
                    <a:pt x="17152" y="6710"/>
                  </a:cubicBezTo>
                  <a:lnTo>
                    <a:pt x="17308" y="6710"/>
                  </a:lnTo>
                  <a:cubicBezTo>
                    <a:pt x="17327" y="6710"/>
                    <a:pt x="17360" y="6708"/>
                    <a:pt x="17399" y="6708"/>
                  </a:cubicBezTo>
                  <a:cubicBezTo>
                    <a:pt x="17477" y="6708"/>
                    <a:pt x="17581" y="6716"/>
                    <a:pt x="17659" y="6768"/>
                  </a:cubicBezTo>
                  <a:cubicBezTo>
                    <a:pt x="17717" y="6788"/>
                    <a:pt x="17776" y="6846"/>
                    <a:pt x="17795" y="6905"/>
                  </a:cubicBezTo>
                  <a:cubicBezTo>
                    <a:pt x="17815" y="6983"/>
                    <a:pt x="17815" y="7061"/>
                    <a:pt x="17815" y="7158"/>
                  </a:cubicBezTo>
                  <a:cubicBezTo>
                    <a:pt x="17912" y="7197"/>
                    <a:pt x="18049" y="7256"/>
                    <a:pt x="18186" y="7256"/>
                  </a:cubicBezTo>
                  <a:cubicBezTo>
                    <a:pt x="18225" y="7256"/>
                    <a:pt x="18244" y="7256"/>
                    <a:pt x="18283" y="7236"/>
                  </a:cubicBezTo>
                  <a:cubicBezTo>
                    <a:pt x="18303" y="7236"/>
                    <a:pt x="18303" y="7197"/>
                    <a:pt x="18322" y="7197"/>
                  </a:cubicBezTo>
                  <a:cubicBezTo>
                    <a:pt x="18322" y="7197"/>
                    <a:pt x="18342" y="7178"/>
                    <a:pt x="18342" y="7158"/>
                  </a:cubicBezTo>
                  <a:cubicBezTo>
                    <a:pt x="18381" y="7139"/>
                    <a:pt x="18400" y="7080"/>
                    <a:pt x="18400" y="6983"/>
                  </a:cubicBezTo>
                  <a:cubicBezTo>
                    <a:pt x="18420" y="6846"/>
                    <a:pt x="18478" y="6710"/>
                    <a:pt x="18576" y="6612"/>
                  </a:cubicBezTo>
                  <a:cubicBezTo>
                    <a:pt x="18751" y="6417"/>
                    <a:pt x="19005" y="6319"/>
                    <a:pt x="19200" y="6261"/>
                  </a:cubicBezTo>
                  <a:cubicBezTo>
                    <a:pt x="19395" y="6183"/>
                    <a:pt x="19571" y="6124"/>
                    <a:pt x="19708" y="6027"/>
                  </a:cubicBezTo>
                  <a:cubicBezTo>
                    <a:pt x="19747" y="6007"/>
                    <a:pt x="19791" y="5997"/>
                    <a:pt x="19832" y="5997"/>
                  </a:cubicBezTo>
                  <a:cubicBezTo>
                    <a:pt x="19873" y="5997"/>
                    <a:pt x="19912" y="6007"/>
                    <a:pt x="19942" y="6027"/>
                  </a:cubicBezTo>
                  <a:cubicBezTo>
                    <a:pt x="19981" y="6085"/>
                    <a:pt x="20000" y="6163"/>
                    <a:pt x="19961" y="6222"/>
                  </a:cubicBezTo>
                  <a:cubicBezTo>
                    <a:pt x="19883" y="6378"/>
                    <a:pt x="19786" y="6495"/>
                    <a:pt x="19688" y="6612"/>
                  </a:cubicBezTo>
                  <a:cubicBezTo>
                    <a:pt x="19512" y="6866"/>
                    <a:pt x="19415" y="7002"/>
                    <a:pt x="19454" y="7080"/>
                  </a:cubicBezTo>
                  <a:cubicBezTo>
                    <a:pt x="19454" y="7100"/>
                    <a:pt x="19454" y="7100"/>
                    <a:pt x="19473" y="7139"/>
                  </a:cubicBezTo>
                  <a:cubicBezTo>
                    <a:pt x="19512" y="7178"/>
                    <a:pt x="19649" y="7236"/>
                    <a:pt x="19961" y="7256"/>
                  </a:cubicBezTo>
                  <a:cubicBezTo>
                    <a:pt x="20059" y="7256"/>
                    <a:pt x="20156" y="7295"/>
                    <a:pt x="20234" y="7354"/>
                  </a:cubicBezTo>
                  <a:cubicBezTo>
                    <a:pt x="20351" y="7432"/>
                    <a:pt x="20449" y="7529"/>
                    <a:pt x="20488" y="7646"/>
                  </a:cubicBezTo>
                  <a:cubicBezTo>
                    <a:pt x="20566" y="7763"/>
                    <a:pt x="20625" y="7919"/>
                    <a:pt x="20586" y="8056"/>
                  </a:cubicBezTo>
                  <a:cubicBezTo>
                    <a:pt x="20586" y="8173"/>
                    <a:pt x="20566" y="8290"/>
                    <a:pt x="20488" y="8407"/>
                  </a:cubicBezTo>
                  <a:cubicBezTo>
                    <a:pt x="20390" y="8583"/>
                    <a:pt x="20273" y="8719"/>
                    <a:pt x="20098" y="8797"/>
                  </a:cubicBezTo>
                  <a:cubicBezTo>
                    <a:pt x="19983" y="8849"/>
                    <a:pt x="19857" y="8868"/>
                    <a:pt x="19726" y="8868"/>
                  </a:cubicBezTo>
                  <a:cubicBezTo>
                    <a:pt x="19457" y="8868"/>
                    <a:pt x="19164" y="8785"/>
                    <a:pt x="18888" y="8719"/>
                  </a:cubicBezTo>
                  <a:cubicBezTo>
                    <a:pt x="18501" y="8607"/>
                    <a:pt x="18066" y="8495"/>
                    <a:pt x="17589" y="8495"/>
                  </a:cubicBezTo>
                  <a:cubicBezTo>
                    <a:pt x="17320" y="8495"/>
                    <a:pt x="17037" y="8530"/>
                    <a:pt x="16742" y="8622"/>
                  </a:cubicBezTo>
                  <a:cubicBezTo>
                    <a:pt x="16664" y="8641"/>
                    <a:pt x="16625" y="8641"/>
                    <a:pt x="16566" y="8641"/>
                  </a:cubicBezTo>
                  <a:cubicBezTo>
                    <a:pt x="16430" y="8641"/>
                    <a:pt x="16254" y="8544"/>
                    <a:pt x="16137" y="8466"/>
                  </a:cubicBezTo>
                  <a:cubicBezTo>
                    <a:pt x="16059" y="8427"/>
                    <a:pt x="15981" y="8407"/>
                    <a:pt x="15903" y="8368"/>
                  </a:cubicBezTo>
                  <a:cubicBezTo>
                    <a:pt x="15887" y="8368"/>
                    <a:pt x="15871" y="8355"/>
                    <a:pt x="15866" y="8340"/>
                  </a:cubicBezTo>
                  <a:lnTo>
                    <a:pt x="15866" y="8340"/>
                  </a:lnTo>
                  <a:cubicBezTo>
                    <a:pt x="15901" y="8553"/>
                    <a:pt x="15863" y="8820"/>
                    <a:pt x="15844" y="9012"/>
                  </a:cubicBezTo>
                  <a:lnTo>
                    <a:pt x="15844" y="9090"/>
                  </a:lnTo>
                  <a:cubicBezTo>
                    <a:pt x="15805" y="9305"/>
                    <a:pt x="15844" y="9500"/>
                    <a:pt x="15883" y="9636"/>
                  </a:cubicBezTo>
                  <a:cubicBezTo>
                    <a:pt x="15981" y="9929"/>
                    <a:pt x="16234" y="10105"/>
                    <a:pt x="16527" y="10319"/>
                  </a:cubicBezTo>
                  <a:cubicBezTo>
                    <a:pt x="16625" y="10397"/>
                    <a:pt x="16742" y="10495"/>
                    <a:pt x="16839" y="10593"/>
                  </a:cubicBezTo>
                  <a:cubicBezTo>
                    <a:pt x="16859" y="10612"/>
                    <a:pt x="16878" y="10612"/>
                    <a:pt x="16878" y="10612"/>
                  </a:cubicBezTo>
                  <a:cubicBezTo>
                    <a:pt x="16956" y="10612"/>
                    <a:pt x="17054" y="10573"/>
                    <a:pt x="17230" y="10475"/>
                  </a:cubicBezTo>
                  <a:cubicBezTo>
                    <a:pt x="17308" y="10417"/>
                    <a:pt x="17444" y="10319"/>
                    <a:pt x="17561" y="10319"/>
                  </a:cubicBezTo>
                  <a:cubicBezTo>
                    <a:pt x="17620" y="10319"/>
                    <a:pt x="17659" y="10319"/>
                    <a:pt x="17698" y="10358"/>
                  </a:cubicBezTo>
                  <a:cubicBezTo>
                    <a:pt x="17737" y="10378"/>
                    <a:pt x="17756" y="10417"/>
                    <a:pt x="17756" y="10456"/>
                  </a:cubicBezTo>
                  <a:cubicBezTo>
                    <a:pt x="17795" y="10514"/>
                    <a:pt x="17795" y="10593"/>
                    <a:pt x="17795" y="10671"/>
                  </a:cubicBezTo>
                  <a:cubicBezTo>
                    <a:pt x="17717" y="11295"/>
                    <a:pt x="17054" y="11978"/>
                    <a:pt x="16625" y="12446"/>
                  </a:cubicBezTo>
                  <a:cubicBezTo>
                    <a:pt x="16488" y="12563"/>
                    <a:pt x="16352" y="12661"/>
                    <a:pt x="16195" y="12719"/>
                  </a:cubicBezTo>
                  <a:cubicBezTo>
                    <a:pt x="16106" y="12746"/>
                    <a:pt x="16013" y="12756"/>
                    <a:pt x="15922" y="12756"/>
                  </a:cubicBezTo>
                  <a:cubicBezTo>
                    <a:pt x="15675" y="12756"/>
                    <a:pt x="15435" y="12679"/>
                    <a:pt x="15278" y="12622"/>
                  </a:cubicBezTo>
                  <a:cubicBezTo>
                    <a:pt x="15083" y="12563"/>
                    <a:pt x="15005" y="12544"/>
                    <a:pt x="14966" y="12544"/>
                  </a:cubicBezTo>
                  <a:cubicBezTo>
                    <a:pt x="14615" y="12797"/>
                    <a:pt x="14244" y="12914"/>
                    <a:pt x="13932" y="12914"/>
                  </a:cubicBezTo>
                  <a:cubicBezTo>
                    <a:pt x="13464" y="12914"/>
                    <a:pt x="13074" y="12719"/>
                    <a:pt x="12820" y="12446"/>
                  </a:cubicBezTo>
                  <a:cubicBezTo>
                    <a:pt x="12644" y="12310"/>
                    <a:pt x="12488" y="12231"/>
                    <a:pt x="12391" y="12231"/>
                  </a:cubicBezTo>
                  <a:cubicBezTo>
                    <a:pt x="12332" y="12231"/>
                    <a:pt x="12235" y="12231"/>
                    <a:pt x="12176" y="12271"/>
                  </a:cubicBezTo>
                  <a:cubicBezTo>
                    <a:pt x="12000" y="12349"/>
                    <a:pt x="11864" y="12544"/>
                    <a:pt x="11766" y="12719"/>
                  </a:cubicBezTo>
                  <a:cubicBezTo>
                    <a:pt x="11669" y="12914"/>
                    <a:pt x="11552" y="13090"/>
                    <a:pt x="11415" y="13188"/>
                  </a:cubicBezTo>
                  <a:cubicBezTo>
                    <a:pt x="11357" y="13246"/>
                    <a:pt x="11259" y="13285"/>
                    <a:pt x="11181" y="13305"/>
                  </a:cubicBezTo>
                  <a:cubicBezTo>
                    <a:pt x="11146" y="13311"/>
                    <a:pt x="11112" y="13314"/>
                    <a:pt x="11079" y="13314"/>
                  </a:cubicBezTo>
                  <a:cubicBezTo>
                    <a:pt x="10905" y="13314"/>
                    <a:pt x="10749" y="13240"/>
                    <a:pt x="10635" y="13207"/>
                  </a:cubicBezTo>
                  <a:cubicBezTo>
                    <a:pt x="10537" y="13149"/>
                    <a:pt x="10479" y="13129"/>
                    <a:pt x="10400" y="13129"/>
                  </a:cubicBezTo>
                  <a:cubicBezTo>
                    <a:pt x="10342" y="13129"/>
                    <a:pt x="10303" y="13110"/>
                    <a:pt x="10283" y="13051"/>
                  </a:cubicBezTo>
                  <a:cubicBezTo>
                    <a:pt x="10244" y="13012"/>
                    <a:pt x="10244" y="12953"/>
                    <a:pt x="10283" y="12914"/>
                  </a:cubicBezTo>
                  <a:cubicBezTo>
                    <a:pt x="10303" y="12836"/>
                    <a:pt x="10303" y="12797"/>
                    <a:pt x="10303" y="12739"/>
                  </a:cubicBezTo>
                  <a:cubicBezTo>
                    <a:pt x="10244" y="12622"/>
                    <a:pt x="10030" y="12524"/>
                    <a:pt x="9718" y="12407"/>
                  </a:cubicBezTo>
                  <a:cubicBezTo>
                    <a:pt x="9444" y="12310"/>
                    <a:pt x="9054" y="12173"/>
                    <a:pt x="8937" y="11919"/>
                  </a:cubicBezTo>
                  <a:cubicBezTo>
                    <a:pt x="8879" y="11822"/>
                    <a:pt x="8879" y="11685"/>
                    <a:pt x="8937" y="11568"/>
                  </a:cubicBezTo>
                  <a:cubicBezTo>
                    <a:pt x="9015" y="11373"/>
                    <a:pt x="9152" y="11139"/>
                    <a:pt x="9444" y="10866"/>
                  </a:cubicBezTo>
                  <a:lnTo>
                    <a:pt x="9444" y="10866"/>
                  </a:lnTo>
                  <a:cubicBezTo>
                    <a:pt x="9015" y="10905"/>
                    <a:pt x="8566" y="10944"/>
                    <a:pt x="8098" y="10944"/>
                  </a:cubicBezTo>
                  <a:cubicBezTo>
                    <a:pt x="7064" y="10983"/>
                    <a:pt x="6049" y="11041"/>
                    <a:pt x="5171" y="11529"/>
                  </a:cubicBezTo>
                  <a:cubicBezTo>
                    <a:pt x="4781" y="11744"/>
                    <a:pt x="4430" y="12036"/>
                    <a:pt x="4098" y="12466"/>
                  </a:cubicBezTo>
                  <a:cubicBezTo>
                    <a:pt x="3591" y="13149"/>
                    <a:pt x="3084" y="13714"/>
                    <a:pt x="2576" y="14261"/>
                  </a:cubicBezTo>
                  <a:cubicBezTo>
                    <a:pt x="2440" y="14378"/>
                    <a:pt x="2323" y="14495"/>
                    <a:pt x="2225" y="14612"/>
                  </a:cubicBezTo>
                  <a:cubicBezTo>
                    <a:pt x="1464" y="15451"/>
                    <a:pt x="840" y="16270"/>
                    <a:pt x="449" y="17441"/>
                  </a:cubicBezTo>
                  <a:cubicBezTo>
                    <a:pt x="352" y="17734"/>
                    <a:pt x="254" y="18085"/>
                    <a:pt x="196" y="18456"/>
                  </a:cubicBezTo>
                  <a:cubicBezTo>
                    <a:pt x="1" y="19529"/>
                    <a:pt x="40" y="20895"/>
                    <a:pt x="352" y="22670"/>
                  </a:cubicBezTo>
                  <a:cubicBezTo>
                    <a:pt x="430" y="23002"/>
                    <a:pt x="547" y="23295"/>
                    <a:pt x="762" y="23548"/>
                  </a:cubicBezTo>
                  <a:cubicBezTo>
                    <a:pt x="976" y="23841"/>
                    <a:pt x="1308" y="24056"/>
                    <a:pt x="1620" y="24212"/>
                  </a:cubicBezTo>
                  <a:cubicBezTo>
                    <a:pt x="1865" y="24313"/>
                    <a:pt x="2142" y="24371"/>
                    <a:pt x="2427" y="24371"/>
                  </a:cubicBezTo>
                  <a:cubicBezTo>
                    <a:pt x="2528" y="24371"/>
                    <a:pt x="2630" y="24364"/>
                    <a:pt x="2732" y="24348"/>
                  </a:cubicBezTo>
                  <a:cubicBezTo>
                    <a:pt x="3025" y="24309"/>
                    <a:pt x="3318" y="24212"/>
                    <a:pt x="3591" y="24017"/>
                  </a:cubicBezTo>
                  <a:cubicBezTo>
                    <a:pt x="3949" y="23748"/>
                    <a:pt x="4275" y="23643"/>
                    <a:pt x="4553" y="23643"/>
                  </a:cubicBezTo>
                  <a:cubicBezTo>
                    <a:pt x="4577" y="23643"/>
                    <a:pt x="4601" y="23644"/>
                    <a:pt x="4625" y="23646"/>
                  </a:cubicBezTo>
                  <a:cubicBezTo>
                    <a:pt x="5074" y="23685"/>
                    <a:pt x="5347" y="24056"/>
                    <a:pt x="5562" y="24368"/>
                  </a:cubicBezTo>
                  <a:cubicBezTo>
                    <a:pt x="5757" y="24641"/>
                    <a:pt x="5932" y="24856"/>
                    <a:pt x="6147" y="24934"/>
                  </a:cubicBezTo>
                  <a:cubicBezTo>
                    <a:pt x="6214" y="24947"/>
                    <a:pt x="6282" y="24970"/>
                    <a:pt x="6349" y="24970"/>
                  </a:cubicBezTo>
                  <a:cubicBezTo>
                    <a:pt x="6379" y="24970"/>
                    <a:pt x="6409" y="24965"/>
                    <a:pt x="6440" y="24953"/>
                  </a:cubicBezTo>
                  <a:cubicBezTo>
                    <a:pt x="6498" y="24953"/>
                    <a:pt x="6537" y="24953"/>
                    <a:pt x="6576" y="24992"/>
                  </a:cubicBezTo>
                  <a:cubicBezTo>
                    <a:pt x="6596" y="25012"/>
                    <a:pt x="6615" y="25051"/>
                    <a:pt x="6615" y="25109"/>
                  </a:cubicBezTo>
                  <a:cubicBezTo>
                    <a:pt x="6518" y="26417"/>
                    <a:pt x="7005" y="27548"/>
                    <a:pt x="7552" y="28699"/>
                  </a:cubicBezTo>
                  <a:cubicBezTo>
                    <a:pt x="8079" y="29890"/>
                    <a:pt x="8664" y="31138"/>
                    <a:pt x="8625" y="32660"/>
                  </a:cubicBezTo>
                  <a:cubicBezTo>
                    <a:pt x="8586" y="33616"/>
                    <a:pt x="9405" y="34553"/>
                    <a:pt x="10244" y="35529"/>
                  </a:cubicBezTo>
                  <a:cubicBezTo>
                    <a:pt x="10635" y="35958"/>
                    <a:pt x="11025" y="36407"/>
                    <a:pt x="11357" y="36855"/>
                  </a:cubicBezTo>
                  <a:cubicBezTo>
                    <a:pt x="11903" y="37675"/>
                    <a:pt x="12430" y="38397"/>
                    <a:pt x="13171" y="38592"/>
                  </a:cubicBezTo>
                  <a:cubicBezTo>
                    <a:pt x="13306" y="38626"/>
                    <a:pt x="13458" y="38645"/>
                    <a:pt x="13624" y="38645"/>
                  </a:cubicBezTo>
                  <a:cubicBezTo>
                    <a:pt x="13936" y="38645"/>
                    <a:pt x="14298" y="38575"/>
                    <a:pt x="14693" y="38397"/>
                  </a:cubicBezTo>
                  <a:cubicBezTo>
                    <a:pt x="14791" y="38358"/>
                    <a:pt x="14869" y="38319"/>
                    <a:pt x="14966" y="38299"/>
                  </a:cubicBezTo>
                  <a:cubicBezTo>
                    <a:pt x="15028" y="38306"/>
                    <a:pt x="15085" y="38309"/>
                    <a:pt x="15139" y="38309"/>
                  </a:cubicBezTo>
                  <a:cubicBezTo>
                    <a:pt x="15407" y="38309"/>
                    <a:pt x="15581" y="38228"/>
                    <a:pt x="15727" y="38065"/>
                  </a:cubicBezTo>
                  <a:cubicBezTo>
                    <a:pt x="15766" y="38006"/>
                    <a:pt x="15786" y="37967"/>
                    <a:pt x="15844" y="37909"/>
                  </a:cubicBezTo>
                  <a:cubicBezTo>
                    <a:pt x="16469" y="37167"/>
                    <a:pt x="17054" y="36446"/>
                    <a:pt x="17054" y="35704"/>
                  </a:cubicBezTo>
                  <a:cubicBezTo>
                    <a:pt x="17054" y="35275"/>
                    <a:pt x="16898" y="34826"/>
                    <a:pt x="16410" y="34280"/>
                  </a:cubicBezTo>
                  <a:cubicBezTo>
                    <a:pt x="16371" y="34260"/>
                    <a:pt x="16352" y="34202"/>
                    <a:pt x="16352" y="34163"/>
                  </a:cubicBezTo>
                  <a:cubicBezTo>
                    <a:pt x="16352" y="34104"/>
                    <a:pt x="16352" y="34065"/>
                    <a:pt x="16371" y="34007"/>
                  </a:cubicBezTo>
                  <a:cubicBezTo>
                    <a:pt x="16391" y="33948"/>
                    <a:pt x="16469" y="33890"/>
                    <a:pt x="16527" y="33850"/>
                  </a:cubicBezTo>
                  <a:cubicBezTo>
                    <a:pt x="16625" y="33753"/>
                    <a:pt x="16781" y="33655"/>
                    <a:pt x="16976" y="33558"/>
                  </a:cubicBezTo>
                  <a:cubicBezTo>
                    <a:pt x="17464" y="33265"/>
                    <a:pt x="18108" y="32875"/>
                    <a:pt x="18478" y="32329"/>
                  </a:cubicBezTo>
                  <a:cubicBezTo>
                    <a:pt x="18615" y="32094"/>
                    <a:pt x="18712" y="31821"/>
                    <a:pt x="18712" y="31509"/>
                  </a:cubicBezTo>
                  <a:cubicBezTo>
                    <a:pt x="18712" y="31119"/>
                    <a:pt x="18576" y="30651"/>
                    <a:pt x="18186" y="30085"/>
                  </a:cubicBezTo>
                  <a:cubicBezTo>
                    <a:pt x="18049" y="29890"/>
                    <a:pt x="18030" y="29616"/>
                    <a:pt x="18010" y="29402"/>
                  </a:cubicBezTo>
                  <a:cubicBezTo>
                    <a:pt x="17991" y="29207"/>
                    <a:pt x="17991" y="29070"/>
                    <a:pt x="17912" y="28973"/>
                  </a:cubicBezTo>
                  <a:cubicBezTo>
                    <a:pt x="17893" y="28934"/>
                    <a:pt x="17893" y="28914"/>
                    <a:pt x="17854" y="28914"/>
                  </a:cubicBezTo>
                  <a:cubicBezTo>
                    <a:pt x="17620" y="28719"/>
                    <a:pt x="17444" y="28524"/>
                    <a:pt x="17405" y="28329"/>
                  </a:cubicBezTo>
                  <a:cubicBezTo>
                    <a:pt x="17366" y="28212"/>
                    <a:pt x="17366" y="28095"/>
                    <a:pt x="17405" y="27997"/>
                  </a:cubicBezTo>
                  <a:cubicBezTo>
                    <a:pt x="17503" y="27724"/>
                    <a:pt x="17795" y="27529"/>
                    <a:pt x="17952" y="27392"/>
                  </a:cubicBezTo>
                  <a:cubicBezTo>
                    <a:pt x="18108" y="27295"/>
                    <a:pt x="18205" y="27236"/>
                    <a:pt x="18244" y="27177"/>
                  </a:cubicBezTo>
                  <a:cubicBezTo>
                    <a:pt x="18791" y="26534"/>
                    <a:pt x="19278" y="25987"/>
                    <a:pt x="19688" y="25499"/>
                  </a:cubicBezTo>
                  <a:cubicBezTo>
                    <a:pt x="22439" y="22378"/>
                    <a:pt x="22439" y="22417"/>
                    <a:pt x="22966" y="21012"/>
                  </a:cubicBezTo>
                  <a:cubicBezTo>
                    <a:pt x="23005" y="20856"/>
                    <a:pt x="23083" y="20661"/>
                    <a:pt x="23161" y="20465"/>
                  </a:cubicBezTo>
                  <a:lnTo>
                    <a:pt x="23161" y="20465"/>
                  </a:lnTo>
                  <a:cubicBezTo>
                    <a:pt x="21600" y="21031"/>
                    <a:pt x="21171" y="21246"/>
                    <a:pt x="20976" y="21343"/>
                  </a:cubicBezTo>
                  <a:cubicBezTo>
                    <a:pt x="20839" y="21422"/>
                    <a:pt x="20781" y="21441"/>
                    <a:pt x="20566" y="21500"/>
                  </a:cubicBezTo>
                  <a:cubicBezTo>
                    <a:pt x="20508" y="21516"/>
                    <a:pt x="20433" y="21522"/>
                    <a:pt x="20357" y="21522"/>
                  </a:cubicBezTo>
                  <a:cubicBezTo>
                    <a:pt x="20253" y="21522"/>
                    <a:pt x="20146" y="21511"/>
                    <a:pt x="20078" y="21500"/>
                  </a:cubicBezTo>
                  <a:cubicBezTo>
                    <a:pt x="19981" y="21480"/>
                    <a:pt x="19883" y="21441"/>
                    <a:pt x="19805" y="21422"/>
                  </a:cubicBezTo>
                  <a:cubicBezTo>
                    <a:pt x="19786" y="21422"/>
                    <a:pt x="19766" y="21402"/>
                    <a:pt x="19766" y="21382"/>
                  </a:cubicBezTo>
                  <a:cubicBezTo>
                    <a:pt x="19766" y="21382"/>
                    <a:pt x="19747" y="21343"/>
                    <a:pt x="19708" y="21304"/>
                  </a:cubicBezTo>
                  <a:lnTo>
                    <a:pt x="19708" y="21226"/>
                  </a:lnTo>
                  <a:cubicBezTo>
                    <a:pt x="19747" y="21012"/>
                    <a:pt x="19688" y="20836"/>
                    <a:pt x="19610" y="20719"/>
                  </a:cubicBezTo>
                  <a:cubicBezTo>
                    <a:pt x="19473" y="20446"/>
                    <a:pt x="19161" y="20270"/>
                    <a:pt x="18791" y="20075"/>
                  </a:cubicBezTo>
                  <a:cubicBezTo>
                    <a:pt x="18400" y="19880"/>
                    <a:pt x="17932" y="19665"/>
                    <a:pt x="17698" y="19197"/>
                  </a:cubicBezTo>
                  <a:cubicBezTo>
                    <a:pt x="17542" y="18963"/>
                    <a:pt x="17444" y="18651"/>
                    <a:pt x="17464" y="18222"/>
                  </a:cubicBezTo>
                  <a:cubicBezTo>
                    <a:pt x="17503" y="17675"/>
                    <a:pt x="17152" y="17090"/>
                    <a:pt x="16761" y="16368"/>
                  </a:cubicBezTo>
                  <a:cubicBezTo>
                    <a:pt x="16352" y="15646"/>
                    <a:pt x="15864" y="14788"/>
                    <a:pt x="15864" y="13812"/>
                  </a:cubicBezTo>
                  <a:cubicBezTo>
                    <a:pt x="15864" y="13773"/>
                    <a:pt x="15883" y="13695"/>
                    <a:pt x="15942" y="13675"/>
                  </a:cubicBezTo>
                  <a:cubicBezTo>
                    <a:pt x="15967" y="13638"/>
                    <a:pt x="16007" y="13625"/>
                    <a:pt x="16043" y="13625"/>
                  </a:cubicBezTo>
                  <a:cubicBezTo>
                    <a:pt x="16064" y="13625"/>
                    <a:pt x="16084" y="13629"/>
                    <a:pt x="16098" y="13636"/>
                  </a:cubicBezTo>
                  <a:cubicBezTo>
                    <a:pt x="16195" y="13675"/>
                    <a:pt x="16274" y="13695"/>
                    <a:pt x="16371" y="13714"/>
                  </a:cubicBezTo>
                  <a:cubicBezTo>
                    <a:pt x="16586" y="13773"/>
                    <a:pt x="16859" y="13831"/>
                    <a:pt x="17054" y="14027"/>
                  </a:cubicBezTo>
                  <a:cubicBezTo>
                    <a:pt x="17152" y="14124"/>
                    <a:pt x="17230" y="14280"/>
                    <a:pt x="17269" y="14475"/>
                  </a:cubicBezTo>
                  <a:cubicBezTo>
                    <a:pt x="17503" y="15568"/>
                    <a:pt x="18088" y="16446"/>
                    <a:pt x="18693" y="17344"/>
                  </a:cubicBezTo>
                  <a:cubicBezTo>
                    <a:pt x="19259" y="18183"/>
                    <a:pt x="19844" y="19041"/>
                    <a:pt x="20137" y="20056"/>
                  </a:cubicBezTo>
                  <a:cubicBezTo>
                    <a:pt x="20137" y="20075"/>
                    <a:pt x="20156" y="20114"/>
                    <a:pt x="20176" y="20153"/>
                  </a:cubicBezTo>
                  <a:cubicBezTo>
                    <a:pt x="20234" y="20212"/>
                    <a:pt x="20332" y="20270"/>
                    <a:pt x="20430" y="20309"/>
                  </a:cubicBezTo>
                  <a:cubicBezTo>
                    <a:pt x="20498" y="20323"/>
                    <a:pt x="20567" y="20337"/>
                    <a:pt x="20623" y="20337"/>
                  </a:cubicBezTo>
                  <a:cubicBezTo>
                    <a:pt x="20646" y="20337"/>
                    <a:pt x="20666" y="20335"/>
                    <a:pt x="20683" y="20329"/>
                  </a:cubicBezTo>
                  <a:cubicBezTo>
                    <a:pt x="20742" y="20329"/>
                    <a:pt x="20820" y="20309"/>
                    <a:pt x="20859" y="20251"/>
                  </a:cubicBezTo>
                  <a:cubicBezTo>
                    <a:pt x="21327" y="19919"/>
                    <a:pt x="21854" y="19685"/>
                    <a:pt x="22342" y="19470"/>
                  </a:cubicBezTo>
                  <a:cubicBezTo>
                    <a:pt x="23005" y="19197"/>
                    <a:pt x="23610" y="18983"/>
                    <a:pt x="24137" y="18475"/>
                  </a:cubicBezTo>
                  <a:cubicBezTo>
                    <a:pt x="24254" y="18358"/>
                    <a:pt x="24390" y="18222"/>
                    <a:pt x="24527" y="18085"/>
                  </a:cubicBezTo>
                  <a:cubicBezTo>
                    <a:pt x="25054" y="17578"/>
                    <a:pt x="25600" y="17090"/>
                    <a:pt x="25951" y="16466"/>
                  </a:cubicBezTo>
                  <a:cubicBezTo>
                    <a:pt x="25756" y="16348"/>
                    <a:pt x="25600" y="16134"/>
                    <a:pt x="25464" y="15939"/>
                  </a:cubicBezTo>
                  <a:cubicBezTo>
                    <a:pt x="25307" y="15685"/>
                    <a:pt x="25151" y="15490"/>
                    <a:pt x="24956" y="15431"/>
                  </a:cubicBezTo>
                  <a:cubicBezTo>
                    <a:pt x="24917" y="15412"/>
                    <a:pt x="24883" y="15402"/>
                    <a:pt x="24849" y="15402"/>
                  </a:cubicBezTo>
                  <a:cubicBezTo>
                    <a:pt x="24815" y="15402"/>
                    <a:pt x="24781" y="15412"/>
                    <a:pt x="24742" y="15431"/>
                  </a:cubicBezTo>
                  <a:cubicBezTo>
                    <a:pt x="24586" y="15451"/>
                    <a:pt x="24390" y="15568"/>
                    <a:pt x="24098" y="15822"/>
                  </a:cubicBezTo>
                  <a:cubicBezTo>
                    <a:pt x="24039" y="15880"/>
                    <a:pt x="23903" y="15939"/>
                    <a:pt x="23805" y="15939"/>
                  </a:cubicBezTo>
                  <a:cubicBezTo>
                    <a:pt x="23781" y="15944"/>
                    <a:pt x="23755" y="15946"/>
                    <a:pt x="23729" y="15946"/>
                  </a:cubicBezTo>
                  <a:cubicBezTo>
                    <a:pt x="23649" y="15946"/>
                    <a:pt x="23561" y="15924"/>
                    <a:pt x="23473" y="15880"/>
                  </a:cubicBezTo>
                  <a:cubicBezTo>
                    <a:pt x="23415" y="15861"/>
                    <a:pt x="23376" y="15822"/>
                    <a:pt x="23356" y="15763"/>
                  </a:cubicBezTo>
                  <a:cubicBezTo>
                    <a:pt x="23317" y="15724"/>
                    <a:pt x="23298" y="15646"/>
                    <a:pt x="23298" y="15568"/>
                  </a:cubicBezTo>
                  <a:cubicBezTo>
                    <a:pt x="23298" y="15431"/>
                    <a:pt x="23376" y="15275"/>
                    <a:pt x="23493" y="15100"/>
                  </a:cubicBezTo>
                  <a:lnTo>
                    <a:pt x="23493" y="14885"/>
                  </a:lnTo>
                  <a:cubicBezTo>
                    <a:pt x="23254" y="15004"/>
                    <a:pt x="23039" y="15055"/>
                    <a:pt x="22863" y="15055"/>
                  </a:cubicBezTo>
                  <a:cubicBezTo>
                    <a:pt x="22809" y="15055"/>
                    <a:pt x="22758" y="15050"/>
                    <a:pt x="22712" y="15041"/>
                  </a:cubicBezTo>
                  <a:cubicBezTo>
                    <a:pt x="22595" y="15002"/>
                    <a:pt x="22498" y="14963"/>
                    <a:pt x="22420" y="14885"/>
                  </a:cubicBezTo>
                  <a:cubicBezTo>
                    <a:pt x="22225" y="14690"/>
                    <a:pt x="22205" y="14378"/>
                    <a:pt x="22205" y="14124"/>
                  </a:cubicBezTo>
                  <a:cubicBezTo>
                    <a:pt x="22186" y="13812"/>
                    <a:pt x="22166" y="13617"/>
                    <a:pt x="22029" y="13539"/>
                  </a:cubicBezTo>
                  <a:lnTo>
                    <a:pt x="22010" y="13519"/>
                  </a:lnTo>
                  <a:cubicBezTo>
                    <a:pt x="22010" y="13519"/>
                    <a:pt x="22010" y="13500"/>
                    <a:pt x="21990" y="13500"/>
                  </a:cubicBezTo>
                  <a:cubicBezTo>
                    <a:pt x="21971" y="13441"/>
                    <a:pt x="21971" y="13402"/>
                    <a:pt x="21971" y="13383"/>
                  </a:cubicBezTo>
                  <a:cubicBezTo>
                    <a:pt x="21971" y="13305"/>
                    <a:pt x="22029" y="13188"/>
                    <a:pt x="22088" y="13110"/>
                  </a:cubicBezTo>
                  <a:cubicBezTo>
                    <a:pt x="22127" y="13031"/>
                    <a:pt x="22205" y="12895"/>
                    <a:pt x="22303" y="12836"/>
                  </a:cubicBezTo>
                  <a:cubicBezTo>
                    <a:pt x="22322" y="12817"/>
                    <a:pt x="22381" y="12817"/>
                    <a:pt x="22420" y="12797"/>
                  </a:cubicBezTo>
                  <a:cubicBezTo>
                    <a:pt x="22595" y="12797"/>
                    <a:pt x="22849" y="12817"/>
                    <a:pt x="23005" y="12914"/>
                  </a:cubicBezTo>
                  <a:cubicBezTo>
                    <a:pt x="23064" y="12934"/>
                    <a:pt x="23142" y="13012"/>
                    <a:pt x="23161" y="13090"/>
                  </a:cubicBezTo>
                  <a:cubicBezTo>
                    <a:pt x="23395" y="13695"/>
                    <a:pt x="23844" y="14105"/>
                    <a:pt x="24332" y="14358"/>
                  </a:cubicBezTo>
                  <a:cubicBezTo>
                    <a:pt x="24891" y="14632"/>
                    <a:pt x="25538" y="14723"/>
                    <a:pt x="26150" y="14723"/>
                  </a:cubicBezTo>
                  <a:cubicBezTo>
                    <a:pt x="26499" y="14723"/>
                    <a:pt x="26837" y="14693"/>
                    <a:pt x="27142" y="14651"/>
                  </a:cubicBezTo>
                  <a:cubicBezTo>
                    <a:pt x="27456" y="14597"/>
                    <a:pt x="27746" y="14571"/>
                    <a:pt x="28013" y="14571"/>
                  </a:cubicBezTo>
                  <a:cubicBezTo>
                    <a:pt x="28525" y="14571"/>
                    <a:pt x="28955" y="14667"/>
                    <a:pt x="29327" y="14846"/>
                  </a:cubicBezTo>
                  <a:cubicBezTo>
                    <a:pt x="29971" y="15139"/>
                    <a:pt x="30381" y="15666"/>
                    <a:pt x="30751" y="16348"/>
                  </a:cubicBezTo>
                  <a:lnTo>
                    <a:pt x="30751" y="16368"/>
                  </a:lnTo>
                  <a:cubicBezTo>
                    <a:pt x="30790" y="16446"/>
                    <a:pt x="30810" y="16485"/>
                    <a:pt x="30868" y="16505"/>
                  </a:cubicBezTo>
                  <a:cubicBezTo>
                    <a:pt x="30910" y="16521"/>
                    <a:pt x="30958" y="16527"/>
                    <a:pt x="31014" y="16527"/>
                  </a:cubicBezTo>
                  <a:cubicBezTo>
                    <a:pt x="31092" y="16527"/>
                    <a:pt x="31185" y="16516"/>
                    <a:pt x="31298" y="16505"/>
                  </a:cubicBezTo>
                  <a:cubicBezTo>
                    <a:pt x="31365" y="16491"/>
                    <a:pt x="31460" y="16468"/>
                    <a:pt x="31551" y="16468"/>
                  </a:cubicBezTo>
                  <a:cubicBezTo>
                    <a:pt x="31592" y="16468"/>
                    <a:pt x="31632" y="16473"/>
                    <a:pt x="31668" y="16485"/>
                  </a:cubicBezTo>
                  <a:cubicBezTo>
                    <a:pt x="31727" y="16505"/>
                    <a:pt x="31785" y="16524"/>
                    <a:pt x="31844" y="16602"/>
                  </a:cubicBezTo>
                  <a:cubicBezTo>
                    <a:pt x="31883" y="16661"/>
                    <a:pt x="31922" y="16778"/>
                    <a:pt x="31883" y="16836"/>
                  </a:cubicBezTo>
                  <a:cubicBezTo>
                    <a:pt x="31824" y="17890"/>
                    <a:pt x="32273" y="18729"/>
                    <a:pt x="32800" y="19568"/>
                  </a:cubicBezTo>
                  <a:cubicBezTo>
                    <a:pt x="33093" y="20036"/>
                    <a:pt x="33346" y="20543"/>
                    <a:pt x="33541" y="21090"/>
                  </a:cubicBezTo>
                  <a:cubicBezTo>
                    <a:pt x="33580" y="21168"/>
                    <a:pt x="33600" y="21207"/>
                    <a:pt x="33600" y="21207"/>
                  </a:cubicBezTo>
                  <a:cubicBezTo>
                    <a:pt x="33619" y="21207"/>
                    <a:pt x="33639" y="21187"/>
                    <a:pt x="33737" y="21109"/>
                  </a:cubicBezTo>
                  <a:cubicBezTo>
                    <a:pt x="33776" y="21090"/>
                    <a:pt x="33795" y="21051"/>
                    <a:pt x="33834" y="21051"/>
                  </a:cubicBezTo>
                  <a:cubicBezTo>
                    <a:pt x="33990" y="20953"/>
                    <a:pt x="34107" y="20836"/>
                    <a:pt x="34205" y="20700"/>
                  </a:cubicBezTo>
                  <a:cubicBezTo>
                    <a:pt x="34400" y="20407"/>
                    <a:pt x="34458" y="20056"/>
                    <a:pt x="34517" y="19665"/>
                  </a:cubicBezTo>
                  <a:cubicBezTo>
                    <a:pt x="34615" y="19139"/>
                    <a:pt x="34712" y="18514"/>
                    <a:pt x="35278" y="18085"/>
                  </a:cubicBezTo>
                  <a:lnTo>
                    <a:pt x="35649" y="17792"/>
                  </a:lnTo>
                  <a:cubicBezTo>
                    <a:pt x="36371" y="17226"/>
                    <a:pt x="37093" y="16700"/>
                    <a:pt x="37385" y="15783"/>
                  </a:cubicBezTo>
                  <a:cubicBezTo>
                    <a:pt x="37385" y="15763"/>
                    <a:pt x="37405" y="15744"/>
                    <a:pt x="37424" y="15724"/>
                  </a:cubicBezTo>
                  <a:cubicBezTo>
                    <a:pt x="37444" y="15685"/>
                    <a:pt x="37483" y="15666"/>
                    <a:pt x="37502" y="15666"/>
                  </a:cubicBezTo>
                  <a:cubicBezTo>
                    <a:pt x="37541" y="15646"/>
                    <a:pt x="37619" y="15627"/>
                    <a:pt x="37678" y="15627"/>
                  </a:cubicBezTo>
                  <a:cubicBezTo>
                    <a:pt x="37750" y="15614"/>
                    <a:pt x="37847" y="15606"/>
                    <a:pt x="37958" y="15606"/>
                  </a:cubicBezTo>
                  <a:cubicBezTo>
                    <a:pt x="38206" y="15606"/>
                    <a:pt x="38526" y="15648"/>
                    <a:pt x="38810" y="15783"/>
                  </a:cubicBezTo>
                  <a:cubicBezTo>
                    <a:pt x="38985" y="15861"/>
                    <a:pt x="39141" y="15978"/>
                    <a:pt x="39278" y="16134"/>
                  </a:cubicBezTo>
                  <a:cubicBezTo>
                    <a:pt x="39141" y="15392"/>
                    <a:pt x="38946" y="14670"/>
                    <a:pt x="38712" y="13968"/>
                  </a:cubicBezTo>
                  <a:cubicBezTo>
                    <a:pt x="37932" y="11451"/>
                    <a:pt x="36663" y="9032"/>
                    <a:pt x="34946" y="6866"/>
                  </a:cubicBezTo>
                  <a:cubicBezTo>
                    <a:pt x="33112" y="4622"/>
                    <a:pt x="30927" y="2807"/>
                    <a:pt x="28546" y="1520"/>
                  </a:cubicBezTo>
                  <a:cubicBezTo>
                    <a:pt x="27883" y="1149"/>
                    <a:pt x="27200" y="837"/>
                    <a:pt x="26517" y="544"/>
                  </a:cubicBezTo>
                  <a:cubicBezTo>
                    <a:pt x="25815" y="720"/>
                    <a:pt x="24976" y="817"/>
                    <a:pt x="24293" y="837"/>
                  </a:cubicBezTo>
                  <a:cubicBezTo>
                    <a:pt x="24193" y="839"/>
                    <a:pt x="24094" y="841"/>
                    <a:pt x="23996" y="841"/>
                  </a:cubicBezTo>
                  <a:cubicBezTo>
                    <a:pt x="23385" y="841"/>
                    <a:pt x="22828" y="779"/>
                    <a:pt x="22576" y="544"/>
                  </a:cubicBezTo>
                  <a:cubicBezTo>
                    <a:pt x="22225" y="232"/>
                    <a:pt x="21815" y="56"/>
                    <a:pt x="21308" y="17"/>
                  </a:cubicBezTo>
                  <a:cubicBezTo>
                    <a:pt x="21199" y="6"/>
                    <a:pt x="21087" y="0"/>
                    <a:pt x="209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106566" y="1154180"/>
              <a:ext cx="2413471" cy="2344193"/>
            </a:xfrm>
            <a:custGeom>
              <a:avLst/>
              <a:gdLst/>
              <a:ahLst/>
              <a:cxnLst/>
              <a:rect l="l" t="t" r="r" b="b"/>
              <a:pathLst>
                <a:path w="37659" h="36578" extrusionOk="0">
                  <a:moveTo>
                    <a:pt x="19747" y="0"/>
                  </a:moveTo>
                  <a:lnTo>
                    <a:pt x="19688" y="293"/>
                  </a:lnTo>
                  <a:cubicBezTo>
                    <a:pt x="20176" y="625"/>
                    <a:pt x="20235" y="1347"/>
                    <a:pt x="19805" y="1952"/>
                  </a:cubicBezTo>
                  <a:cubicBezTo>
                    <a:pt x="19468" y="2390"/>
                    <a:pt x="18911" y="2654"/>
                    <a:pt x="18388" y="2654"/>
                  </a:cubicBezTo>
                  <a:cubicBezTo>
                    <a:pt x="18307" y="2654"/>
                    <a:pt x="18226" y="2648"/>
                    <a:pt x="18147" y="2634"/>
                  </a:cubicBezTo>
                  <a:cubicBezTo>
                    <a:pt x="18047" y="2611"/>
                    <a:pt x="17963" y="2604"/>
                    <a:pt x="17891" y="2604"/>
                  </a:cubicBezTo>
                  <a:cubicBezTo>
                    <a:pt x="17780" y="2604"/>
                    <a:pt x="17699" y="2623"/>
                    <a:pt x="17639" y="2634"/>
                  </a:cubicBezTo>
                  <a:cubicBezTo>
                    <a:pt x="17444" y="2673"/>
                    <a:pt x="17249" y="2771"/>
                    <a:pt x="16820" y="3064"/>
                  </a:cubicBezTo>
                  <a:cubicBezTo>
                    <a:pt x="16430" y="3337"/>
                    <a:pt x="15649" y="3922"/>
                    <a:pt x="14635" y="4020"/>
                  </a:cubicBezTo>
                  <a:cubicBezTo>
                    <a:pt x="14440" y="4039"/>
                    <a:pt x="14225" y="4098"/>
                    <a:pt x="13835" y="4215"/>
                  </a:cubicBezTo>
                  <a:cubicBezTo>
                    <a:pt x="13659" y="4273"/>
                    <a:pt x="13464" y="4312"/>
                    <a:pt x="13269" y="4391"/>
                  </a:cubicBezTo>
                  <a:cubicBezTo>
                    <a:pt x="13142" y="4424"/>
                    <a:pt x="13016" y="4439"/>
                    <a:pt x="12892" y="4439"/>
                  </a:cubicBezTo>
                  <a:cubicBezTo>
                    <a:pt x="12654" y="4439"/>
                    <a:pt x="12427" y="4383"/>
                    <a:pt x="12235" y="4293"/>
                  </a:cubicBezTo>
                  <a:cubicBezTo>
                    <a:pt x="11844" y="4488"/>
                    <a:pt x="11357" y="4722"/>
                    <a:pt x="10752" y="5073"/>
                  </a:cubicBezTo>
                  <a:cubicBezTo>
                    <a:pt x="10713" y="5093"/>
                    <a:pt x="10674" y="5112"/>
                    <a:pt x="10635" y="5151"/>
                  </a:cubicBezTo>
                  <a:cubicBezTo>
                    <a:pt x="10576" y="5190"/>
                    <a:pt x="10557" y="5249"/>
                    <a:pt x="10518" y="5288"/>
                  </a:cubicBezTo>
                  <a:cubicBezTo>
                    <a:pt x="10615" y="5269"/>
                    <a:pt x="10674" y="5269"/>
                    <a:pt x="10771" y="5249"/>
                  </a:cubicBezTo>
                  <a:cubicBezTo>
                    <a:pt x="10810" y="5249"/>
                    <a:pt x="10843" y="5246"/>
                    <a:pt x="10893" y="5246"/>
                  </a:cubicBezTo>
                  <a:cubicBezTo>
                    <a:pt x="11016" y="5246"/>
                    <a:pt x="11245" y="5266"/>
                    <a:pt x="11942" y="5405"/>
                  </a:cubicBezTo>
                  <a:cubicBezTo>
                    <a:pt x="11992" y="5398"/>
                    <a:pt x="12034" y="5392"/>
                    <a:pt x="12070" y="5392"/>
                  </a:cubicBezTo>
                  <a:cubicBezTo>
                    <a:pt x="12231" y="5392"/>
                    <a:pt x="12302" y="5507"/>
                    <a:pt x="12684" y="6127"/>
                  </a:cubicBezTo>
                  <a:cubicBezTo>
                    <a:pt x="12703" y="6166"/>
                    <a:pt x="12723" y="6244"/>
                    <a:pt x="12781" y="6342"/>
                  </a:cubicBezTo>
                  <a:cubicBezTo>
                    <a:pt x="12879" y="6264"/>
                    <a:pt x="12996" y="6166"/>
                    <a:pt x="13113" y="6088"/>
                  </a:cubicBezTo>
                  <a:cubicBezTo>
                    <a:pt x="13483" y="5873"/>
                    <a:pt x="13874" y="5756"/>
                    <a:pt x="14264" y="5737"/>
                  </a:cubicBezTo>
                  <a:lnTo>
                    <a:pt x="14557" y="5737"/>
                  </a:lnTo>
                  <a:cubicBezTo>
                    <a:pt x="14674" y="5561"/>
                    <a:pt x="14752" y="5464"/>
                    <a:pt x="14869" y="5269"/>
                  </a:cubicBezTo>
                  <a:cubicBezTo>
                    <a:pt x="14966" y="5112"/>
                    <a:pt x="15103" y="4995"/>
                    <a:pt x="15220" y="4898"/>
                  </a:cubicBezTo>
                  <a:cubicBezTo>
                    <a:pt x="15526" y="4653"/>
                    <a:pt x="15879" y="4541"/>
                    <a:pt x="16205" y="4541"/>
                  </a:cubicBezTo>
                  <a:cubicBezTo>
                    <a:pt x="16296" y="4541"/>
                    <a:pt x="16384" y="4549"/>
                    <a:pt x="16469" y="4566"/>
                  </a:cubicBezTo>
                  <a:cubicBezTo>
                    <a:pt x="16586" y="4566"/>
                    <a:pt x="16820" y="4566"/>
                    <a:pt x="17054" y="4625"/>
                  </a:cubicBezTo>
                  <a:cubicBezTo>
                    <a:pt x="17464" y="4332"/>
                    <a:pt x="17874" y="4215"/>
                    <a:pt x="17932" y="4195"/>
                  </a:cubicBezTo>
                  <a:cubicBezTo>
                    <a:pt x="18049" y="4137"/>
                    <a:pt x="18069" y="4137"/>
                    <a:pt x="18088" y="4117"/>
                  </a:cubicBezTo>
                  <a:cubicBezTo>
                    <a:pt x="18373" y="3944"/>
                    <a:pt x="18690" y="3851"/>
                    <a:pt x="18986" y="3851"/>
                  </a:cubicBezTo>
                  <a:cubicBezTo>
                    <a:pt x="19257" y="3851"/>
                    <a:pt x="19512" y="3930"/>
                    <a:pt x="19708" y="4098"/>
                  </a:cubicBezTo>
                  <a:cubicBezTo>
                    <a:pt x="20098" y="4391"/>
                    <a:pt x="20196" y="4917"/>
                    <a:pt x="20000" y="5444"/>
                  </a:cubicBezTo>
                  <a:cubicBezTo>
                    <a:pt x="20137" y="5542"/>
                    <a:pt x="20293" y="5678"/>
                    <a:pt x="20391" y="5834"/>
                  </a:cubicBezTo>
                  <a:cubicBezTo>
                    <a:pt x="20469" y="5698"/>
                    <a:pt x="20527" y="5581"/>
                    <a:pt x="20625" y="5464"/>
                  </a:cubicBezTo>
                  <a:cubicBezTo>
                    <a:pt x="21249" y="4683"/>
                    <a:pt x="22322" y="4371"/>
                    <a:pt x="22576" y="4273"/>
                  </a:cubicBezTo>
                  <a:cubicBezTo>
                    <a:pt x="22635" y="4234"/>
                    <a:pt x="22674" y="4234"/>
                    <a:pt x="22732" y="4215"/>
                  </a:cubicBezTo>
                  <a:cubicBezTo>
                    <a:pt x="22930" y="4149"/>
                    <a:pt x="23172" y="4092"/>
                    <a:pt x="23423" y="4092"/>
                  </a:cubicBezTo>
                  <a:cubicBezTo>
                    <a:pt x="23543" y="4092"/>
                    <a:pt x="23665" y="4105"/>
                    <a:pt x="23786" y="4137"/>
                  </a:cubicBezTo>
                  <a:cubicBezTo>
                    <a:pt x="24176" y="4234"/>
                    <a:pt x="24410" y="4488"/>
                    <a:pt x="24527" y="4683"/>
                  </a:cubicBezTo>
                  <a:cubicBezTo>
                    <a:pt x="24761" y="4995"/>
                    <a:pt x="24800" y="5386"/>
                    <a:pt x="24800" y="5464"/>
                  </a:cubicBezTo>
                  <a:cubicBezTo>
                    <a:pt x="24820" y="5600"/>
                    <a:pt x="24878" y="5951"/>
                    <a:pt x="24683" y="6342"/>
                  </a:cubicBezTo>
                  <a:cubicBezTo>
                    <a:pt x="24625" y="6439"/>
                    <a:pt x="24586" y="6537"/>
                    <a:pt x="24508" y="6634"/>
                  </a:cubicBezTo>
                  <a:lnTo>
                    <a:pt x="24508" y="6654"/>
                  </a:lnTo>
                  <a:cubicBezTo>
                    <a:pt x="24878" y="7356"/>
                    <a:pt x="24586" y="8176"/>
                    <a:pt x="24527" y="8371"/>
                  </a:cubicBezTo>
                  <a:cubicBezTo>
                    <a:pt x="24508" y="8429"/>
                    <a:pt x="24508" y="8488"/>
                    <a:pt x="24488" y="8507"/>
                  </a:cubicBezTo>
                  <a:cubicBezTo>
                    <a:pt x="24527" y="8605"/>
                    <a:pt x="24566" y="8761"/>
                    <a:pt x="24586" y="8898"/>
                  </a:cubicBezTo>
                  <a:cubicBezTo>
                    <a:pt x="24586" y="9112"/>
                    <a:pt x="24527" y="9346"/>
                    <a:pt x="24430" y="9542"/>
                  </a:cubicBezTo>
                  <a:cubicBezTo>
                    <a:pt x="24234" y="9932"/>
                    <a:pt x="23922" y="10146"/>
                    <a:pt x="23786" y="10244"/>
                  </a:cubicBezTo>
                  <a:cubicBezTo>
                    <a:pt x="23493" y="10420"/>
                    <a:pt x="23161" y="10478"/>
                    <a:pt x="23025" y="10517"/>
                  </a:cubicBezTo>
                  <a:cubicBezTo>
                    <a:pt x="22810" y="10549"/>
                    <a:pt x="22566" y="10564"/>
                    <a:pt x="22308" y="10564"/>
                  </a:cubicBezTo>
                  <a:cubicBezTo>
                    <a:pt x="22097" y="10564"/>
                    <a:pt x="21878" y="10554"/>
                    <a:pt x="21659" y="10537"/>
                  </a:cubicBezTo>
                  <a:cubicBezTo>
                    <a:pt x="21386" y="10478"/>
                    <a:pt x="21152" y="10381"/>
                    <a:pt x="20976" y="10185"/>
                  </a:cubicBezTo>
                  <a:cubicBezTo>
                    <a:pt x="20976" y="10185"/>
                    <a:pt x="20313" y="9893"/>
                    <a:pt x="20117" y="9268"/>
                  </a:cubicBezTo>
                  <a:cubicBezTo>
                    <a:pt x="20039" y="8976"/>
                    <a:pt x="20078" y="8683"/>
                    <a:pt x="20176" y="8390"/>
                  </a:cubicBezTo>
                  <a:cubicBezTo>
                    <a:pt x="20215" y="8215"/>
                    <a:pt x="20313" y="8078"/>
                    <a:pt x="20410" y="7922"/>
                  </a:cubicBezTo>
                  <a:cubicBezTo>
                    <a:pt x="20410" y="7922"/>
                    <a:pt x="20410" y="7903"/>
                    <a:pt x="20391" y="7903"/>
                  </a:cubicBezTo>
                  <a:cubicBezTo>
                    <a:pt x="20196" y="8234"/>
                    <a:pt x="19844" y="8586"/>
                    <a:pt x="19415" y="8800"/>
                  </a:cubicBezTo>
                  <a:cubicBezTo>
                    <a:pt x="19099" y="8948"/>
                    <a:pt x="18776" y="8999"/>
                    <a:pt x="18479" y="8999"/>
                  </a:cubicBezTo>
                  <a:cubicBezTo>
                    <a:pt x="18227" y="8999"/>
                    <a:pt x="17993" y="8962"/>
                    <a:pt x="17796" y="8917"/>
                  </a:cubicBezTo>
                  <a:lnTo>
                    <a:pt x="17796" y="8917"/>
                  </a:lnTo>
                  <a:cubicBezTo>
                    <a:pt x="17932" y="9210"/>
                    <a:pt x="17893" y="9503"/>
                    <a:pt x="17874" y="9639"/>
                  </a:cubicBezTo>
                  <a:cubicBezTo>
                    <a:pt x="17757" y="10556"/>
                    <a:pt x="16996" y="11434"/>
                    <a:pt x="16566" y="11903"/>
                  </a:cubicBezTo>
                  <a:cubicBezTo>
                    <a:pt x="16625" y="11942"/>
                    <a:pt x="16722" y="12020"/>
                    <a:pt x="16800" y="12098"/>
                  </a:cubicBezTo>
                  <a:cubicBezTo>
                    <a:pt x="17054" y="12332"/>
                    <a:pt x="17191" y="12663"/>
                    <a:pt x="17249" y="12995"/>
                  </a:cubicBezTo>
                  <a:cubicBezTo>
                    <a:pt x="17405" y="13873"/>
                    <a:pt x="17874" y="14615"/>
                    <a:pt x="18518" y="15551"/>
                  </a:cubicBezTo>
                  <a:cubicBezTo>
                    <a:pt x="18947" y="16195"/>
                    <a:pt x="19454" y="16956"/>
                    <a:pt x="19805" y="17854"/>
                  </a:cubicBezTo>
                  <a:cubicBezTo>
                    <a:pt x="20196" y="17639"/>
                    <a:pt x="20586" y="17483"/>
                    <a:pt x="20898" y="17366"/>
                  </a:cubicBezTo>
                  <a:cubicBezTo>
                    <a:pt x="21581" y="17093"/>
                    <a:pt x="21971" y="16917"/>
                    <a:pt x="22264" y="16624"/>
                  </a:cubicBezTo>
                  <a:cubicBezTo>
                    <a:pt x="22420" y="16488"/>
                    <a:pt x="22556" y="16371"/>
                    <a:pt x="22674" y="16234"/>
                  </a:cubicBezTo>
                  <a:cubicBezTo>
                    <a:pt x="22830" y="16098"/>
                    <a:pt x="22966" y="15980"/>
                    <a:pt x="23103" y="15824"/>
                  </a:cubicBezTo>
                  <a:lnTo>
                    <a:pt x="23103" y="15824"/>
                  </a:lnTo>
                  <a:cubicBezTo>
                    <a:pt x="22966" y="15883"/>
                    <a:pt x="22869" y="15902"/>
                    <a:pt x="22771" y="15902"/>
                  </a:cubicBezTo>
                  <a:cubicBezTo>
                    <a:pt x="22693" y="15914"/>
                    <a:pt x="22601" y="15923"/>
                    <a:pt x="22502" y="15923"/>
                  </a:cubicBezTo>
                  <a:cubicBezTo>
                    <a:pt x="22280" y="15923"/>
                    <a:pt x="22019" y="15881"/>
                    <a:pt x="21776" y="15746"/>
                  </a:cubicBezTo>
                  <a:cubicBezTo>
                    <a:pt x="21581" y="15649"/>
                    <a:pt x="21405" y="15512"/>
                    <a:pt x="21269" y="15298"/>
                  </a:cubicBezTo>
                  <a:cubicBezTo>
                    <a:pt x="21210" y="15200"/>
                    <a:pt x="21171" y="15122"/>
                    <a:pt x="21152" y="15024"/>
                  </a:cubicBezTo>
                  <a:cubicBezTo>
                    <a:pt x="20878" y="14946"/>
                    <a:pt x="20664" y="14829"/>
                    <a:pt x="20469" y="14654"/>
                  </a:cubicBezTo>
                  <a:cubicBezTo>
                    <a:pt x="19942" y="14166"/>
                    <a:pt x="19942" y="13405"/>
                    <a:pt x="19942" y="13288"/>
                  </a:cubicBezTo>
                  <a:lnTo>
                    <a:pt x="19942" y="13171"/>
                  </a:lnTo>
                  <a:cubicBezTo>
                    <a:pt x="19922" y="13151"/>
                    <a:pt x="19903" y="13093"/>
                    <a:pt x="19883" y="13073"/>
                  </a:cubicBezTo>
                  <a:cubicBezTo>
                    <a:pt x="19786" y="12878"/>
                    <a:pt x="19727" y="12703"/>
                    <a:pt x="19727" y="12566"/>
                  </a:cubicBezTo>
                  <a:lnTo>
                    <a:pt x="19727" y="12312"/>
                  </a:lnTo>
                  <a:cubicBezTo>
                    <a:pt x="19786" y="12000"/>
                    <a:pt x="19981" y="11688"/>
                    <a:pt x="20000" y="11629"/>
                  </a:cubicBezTo>
                  <a:cubicBezTo>
                    <a:pt x="20000" y="11629"/>
                    <a:pt x="20235" y="11142"/>
                    <a:pt x="20683" y="10868"/>
                  </a:cubicBezTo>
                  <a:cubicBezTo>
                    <a:pt x="20800" y="10810"/>
                    <a:pt x="21074" y="10654"/>
                    <a:pt x="21405" y="10654"/>
                  </a:cubicBezTo>
                  <a:cubicBezTo>
                    <a:pt x="21737" y="10654"/>
                    <a:pt x="22186" y="10712"/>
                    <a:pt x="22576" y="10946"/>
                  </a:cubicBezTo>
                  <a:cubicBezTo>
                    <a:pt x="22732" y="11044"/>
                    <a:pt x="22966" y="11220"/>
                    <a:pt x="23103" y="11551"/>
                  </a:cubicBezTo>
                  <a:cubicBezTo>
                    <a:pt x="23259" y="11942"/>
                    <a:pt x="23513" y="12195"/>
                    <a:pt x="23805" y="12371"/>
                  </a:cubicBezTo>
                  <a:cubicBezTo>
                    <a:pt x="24178" y="12557"/>
                    <a:pt x="24638" y="12633"/>
                    <a:pt x="25115" y="12633"/>
                  </a:cubicBezTo>
                  <a:cubicBezTo>
                    <a:pt x="25386" y="12633"/>
                    <a:pt x="25663" y="12608"/>
                    <a:pt x="25932" y="12566"/>
                  </a:cubicBezTo>
                  <a:cubicBezTo>
                    <a:pt x="26290" y="12507"/>
                    <a:pt x="26632" y="12477"/>
                    <a:pt x="26959" y="12477"/>
                  </a:cubicBezTo>
                  <a:cubicBezTo>
                    <a:pt x="27612" y="12477"/>
                    <a:pt x="28202" y="12598"/>
                    <a:pt x="28722" y="12859"/>
                  </a:cubicBezTo>
                  <a:cubicBezTo>
                    <a:pt x="29464" y="13210"/>
                    <a:pt x="29971" y="13776"/>
                    <a:pt x="30342" y="14381"/>
                  </a:cubicBezTo>
                  <a:cubicBezTo>
                    <a:pt x="30478" y="14381"/>
                    <a:pt x="30673" y="14381"/>
                    <a:pt x="30868" y="14439"/>
                  </a:cubicBezTo>
                  <a:cubicBezTo>
                    <a:pt x="31122" y="14517"/>
                    <a:pt x="31395" y="14654"/>
                    <a:pt x="31610" y="14927"/>
                  </a:cubicBezTo>
                  <a:cubicBezTo>
                    <a:pt x="31844" y="15259"/>
                    <a:pt x="31844" y="15629"/>
                    <a:pt x="31825" y="15824"/>
                  </a:cubicBezTo>
                  <a:cubicBezTo>
                    <a:pt x="31786" y="16488"/>
                    <a:pt x="32020" y="16995"/>
                    <a:pt x="32468" y="17776"/>
                  </a:cubicBezTo>
                  <a:cubicBezTo>
                    <a:pt x="32683" y="17190"/>
                    <a:pt x="32976" y="16605"/>
                    <a:pt x="33561" y="16156"/>
                  </a:cubicBezTo>
                  <a:cubicBezTo>
                    <a:pt x="33698" y="16059"/>
                    <a:pt x="33834" y="15922"/>
                    <a:pt x="33951" y="15863"/>
                  </a:cubicBezTo>
                  <a:cubicBezTo>
                    <a:pt x="34732" y="15278"/>
                    <a:pt x="35122" y="14927"/>
                    <a:pt x="35298" y="14420"/>
                  </a:cubicBezTo>
                  <a:cubicBezTo>
                    <a:pt x="35356" y="14185"/>
                    <a:pt x="35454" y="14049"/>
                    <a:pt x="35551" y="13951"/>
                  </a:cubicBezTo>
                  <a:cubicBezTo>
                    <a:pt x="35746" y="13737"/>
                    <a:pt x="35942" y="13639"/>
                    <a:pt x="36000" y="13600"/>
                  </a:cubicBezTo>
                  <a:cubicBezTo>
                    <a:pt x="36195" y="13502"/>
                    <a:pt x="36410" y="13483"/>
                    <a:pt x="36488" y="13463"/>
                  </a:cubicBezTo>
                  <a:cubicBezTo>
                    <a:pt x="36976" y="13444"/>
                    <a:pt x="37405" y="13190"/>
                    <a:pt x="37659" y="12839"/>
                  </a:cubicBezTo>
                  <a:cubicBezTo>
                    <a:pt x="36878" y="10322"/>
                    <a:pt x="35610" y="7903"/>
                    <a:pt x="33873" y="5737"/>
                  </a:cubicBezTo>
                  <a:cubicBezTo>
                    <a:pt x="32039" y="3493"/>
                    <a:pt x="29873" y="1678"/>
                    <a:pt x="27493" y="391"/>
                  </a:cubicBezTo>
                  <a:cubicBezTo>
                    <a:pt x="27068" y="329"/>
                    <a:pt x="26644" y="299"/>
                    <a:pt x="26230" y="299"/>
                  </a:cubicBezTo>
                  <a:cubicBezTo>
                    <a:pt x="25463" y="299"/>
                    <a:pt x="24731" y="403"/>
                    <a:pt x="24098" y="605"/>
                  </a:cubicBezTo>
                  <a:cubicBezTo>
                    <a:pt x="23708" y="722"/>
                    <a:pt x="23317" y="800"/>
                    <a:pt x="23064" y="820"/>
                  </a:cubicBezTo>
                  <a:cubicBezTo>
                    <a:pt x="22920" y="829"/>
                    <a:pt x="22747" y="836"/>
                    <a:pt x="22559" y="836"/>
                  </a:cubicBezTo>
                  <a:cubicBezTo>
                    <a:pt x="21908" y="836"/>
                    <a:pt x="21070" y="743"/>
                    <a:pt x="20586" y="274"/>
                  </a:cubicBezTo>
                  <a:cubicBezTo>
                    <a:pt x="20410" y="98"/>
                    <a:pt x="20196" y="20"/>
                    <a:pt x="19903" y="0"/>
                  </a:cubicBezTo>
                  <a:close/>
                  <a:moveTo>
                    <a:pt x="6654" y="11083"/>
                  </a:moveTo>
                  <a:cubicBezTo>
                    <a:pt x="5620" y="11122"/>
                    <a:pt x="5015" y="11200"/>
                    <a:pt x="4508" y="11493"/>
                  </a:cubicBezTo>
                  <a:cubicBezTo>
                    <a:pt x="4313" y="11610"/>
                    <a:pt x="4118" y="11766"/>
                    <a:pt x="3923" y="12020"/>
                  </a:cubicBezTo>
                  <a:cubicBezTo>
                    <a:pt x="3357" y="12781"/>
                    <a:pt x="2772" y="13424"/>
                    <a:pt x="2284" y="13932"/>
                  </a:cubicBezTo>
                  <a:cubicBezTo>
                    <a:pt x="1386" y="14907"/>
                    <a:pt x="801" y="15590"/>
                    <a:pt x="450" y="16605"/>
                  </a:cubicBezTo>
                  <a:cubicBezTo>
                    <a:pt x="137" y="17561"/>
                    <a:pt x="1" y="19005"/>
                    <a:pt x="391" y="21268"/>
                  </a:cubicBezTo>
                  <a:cubicBezTo>
                    <a:pt x="411" y="21444"/>
                    <a:pt x="489" y="21580"/>
                    <a:pt x="606" y="21736"/>
                  </a:cubicBezTo>
                  <a:lnTo>
                    <a:pt x="625" y="21756"/>
                  </a:lnTo>
                  <a:cubicBezTo>
                    <a:pt x="742" y="21932"/>
                    <a:pt x="937" y="22049"/>
                    <a:pt x="1113" y="22127"/>
                  </a:cubicBezTo>
                  <a:cubicBezTo>
                    <a:pt x="1328" y="22224"/>
                    <a:pt x="1523" y="22224"/>
                    <a:pt x="1679" y="22224"/>
                  </a:cubicBezTo>
                  <a:cubicBezTo>
                    <a:pt x="1796" y="22205"/>
                    <a:pt x="1874" y="22166"/>
                    <a:pt x="1972" y="22107"/>
                  </a:cubicBezTo>
                  <a:cubicBezTo>
                    <a:pt x="2501" y="21742"/>
                    <a:pt x="3082" y="21479"/>
                    <a:pt x="3699" y="21479"/>
                  </a:cubicBezTo>
                  <a:cubicBezTo>
                    <a:pt x="3741" y="21479"/>
                    <a:pt x="3783" y="21480"/>
                    <a:pt x="3825" y="21483"/>
                  </a:cubicBezTo>
                  <a:cubicBezTo>
                    <a:pt x="4801" y="21580"/>
                    <a:pt x="5289" y="22400"/>
                    <a:pt x="5425" y="22595"/>
                  </a:cubicBezTo>
                  <a:cubicBezTo>
                    <a:pt x="5503" y="22653"/>
                    <a:pt x="5523" y="22732"/>
                    <a:pt x="5581" y="22790"/>
                  </a:cubicBezTo>
                  <a:lnTo>
                    <a:pt x="5601" y="22810"/>
                  </a:lnTo>
                  <a:cubicBezTo>
                    <a:pt x="5874" y="22810"/>
                    <a:pt x="6147" y="22907"/>
                    <a:pt x="6342" y="23102"/>
                  </a:cubicBezTo>
                  <a:cubicBezTo>
                    <a:pt x="6576" y="23317"/>
                    <a:pt x="6732" y="23668"/>
                    <a:pt x="6674" y="24019"/>
                  </a:cubicBezTo>
                  <a:cubicBezTo>
                    <a:pt x="6596" y="25053"/>
                    <a:pt x="6967" y="25951"/>
                    <a:pt x="7513" y="27141"/>
                  </a:cubicBezTo>
                  <a:cubicBezTo>
                    <a:pt x="8020" y="28312"/>
                    <a:pt x="8703" y="29775"/>
                    <a:pt x="8645" y="31590"/>
                  </a:cubicBezTo>
                  <a:cubicBezTo>
                    <a:pt x="8645" y="32058"/>
                    <a:pt x="9074" y="32663"/>
                    <a:pt x="10049" y="33775"/>
                  </a:cubicBezTo>
                  <a:cubicBezTo>
                    <a:pt x="10401" y="34224"/>
                    <a:pt x="10849" y="34712"/>
                    <a:pt x="11181" y="35219"/>
                  </a:cubicBezTo>
                  <a:cubicBezTo>
                    <a:pt x="11805" y="36117"/>
                    <a:pt x="12118" y="36468"/>
                    <a:pt x="12449" y="36565"/>
                  </a:cubicBezTo>
                  <a:cubicBezTo>
                    <a:pt x="12491" y="36571"/>
                    <a:pt x="12541" y="36577"/>
                    <a:pt x="12603" y="36577"/>
                  </a:cubicBezTo>
                  <a:cubicBezTo>
                    <a:pt x="12747" y="36577"/>
                    <a:pt x="12955" y="36546"/>
                    <a:pt x="13269" y="36409"/>
                  </a:cubicBezTo>
                  <a:cubicBezTo>
                    <a:pt x="13386" y="36370"/>
                    <a:pt x="13503" y="36312"/>
                    <a:pt x="13581" y="36292"/>
                  </a:cubicBezTo>
                  <a:cubicBezTo>
                    <a:pt x="13718" y="36253"/>
                    <a:pt x="13776" y="36214"/>
                    <a:pt x="13796" y="36214"/>
                  </a:cubicBezTo>
                  <a:cubicBezTo>
                    <a:pt x="13854" y="36117"/>
                    <a:pt x="13893" y="36078"/>
                    <a:pt x="13932" y="36019"/>
                  </a:cubicBezTo>
                  <a:cubicBezTo>
                    <a:pt x="14654" y="35141"/>
                    <a:pt x="14908" y="34790"/>
                    <a:pt x="14908" y="34497"/>
                  </a:cubicBezTo>
                  <a:cubicBezTo>
                    <a:pt x="14908" y="34400"/>
                    <a:pt x="14869" y="34165"/>
                    <a:pt x="14479" y="33756"/>
                  </a:cubicBezTo>
                  <a:lnTo>
                    <a:pt x="14459" y="33736"/>
                  </a:lnTo>
                  <a:cubicBezTo>
                    <a:pt x="14342" y="33561"/>
                    <a:pt x="14225" y="33346"/>
                    <a:pt x="14186" y="33073"/>
                  </a:cubicBezTo>
                  <a:cubicBezTo>
                    <a:pt x="14166" y="32780"/>
                    <a:pt x="14244" y="32507"/>
                    <a:pt x="14322" y="32351"/>
                  </a:cubicBezTo>
                  <a:cubicBezTo>
                    <a:pt x="14459" y="32058"/>
                    <a:pt x="14674" y="31863"/>
                    <a:pt x="14752" y="31804"/>
                  </a:cubicBezTo>
                  <a:cubicBezTo>
                    <a:pt x="14947" y="31668"/>
                    <a:pt x="15201" y="31492"/>
                    <a:pt x="15337" y="31414"/>
                  </a:cubicBezTo>
                  <a:cubicBezTo>
                    <a:pt x="15883" y="31102"/>
                    <a:pt x="16274" y="30829"/>
                    <a:pt x="16430" y="30556"/>
                  </a:cubicBezTo>
                  <a:cubicBezTo>
                    <a:pt x="16488" y="30458"/>
                    <a:pt x="16508" y="30400"/>
                    <a:pt x="16508" y="30322"/>
                  </a:cubicBezTo>
                  <a:cubicBezTo>
                    <a:pt x="16508" y="30205"/>
                    <a:pt x="16469" y="29931"/>
                    <a:pt x="16137" y="29483"/>
                  </a:cubicBezTo>
                  <a:cubicBezTo>
                    <a:pt x="15825" y="29053"/>
                    <a:pt x="15805" y="28487"/>
                    <a:pt x="15805" y="28351"/>
                  </a:cubicBezTo>
                  <a:cubicBezTo>
                    <a:pt x="15552" y="28117"/>
                    <a:pt x="15337" y="27824"/>
                    <a:pt x="15220" y="27473"/>
                  </a:cubicBezTo>
                  <a:cubicBezTo>
                    <a:pt x="15122" y="27122"/>
                    <a:pt x="15142" y="26790"/>
                    <a:pt x="15259" y="26458"/>
                  </a:cubicBezTo>
                  <a:cubicBezTo>
                    <a:pt x="15513" y="25775"/>
                    <a:pt x="16196" y="25366"/>
                    <a:pt x="16274" y="25327"/>
                  </a:cubicBezTo>
                  <a:cubicBezTo>
                    <a:pt x="16313" y="25288"/>
                    <a:pt x="16332" y="25268"/>
                    <a:pt x="16371" y="25249"/>
                  </a:cubicBezTo>
                  <a:cubicBezTo>
                    <a:pt x="16898" y="24605"/>
                    <a:pt x="17366" y="24078"/>
                    <a:pt x="17776" y="23610"/>
                  </a:cubicBezTo>
                  <a:cubicBezTo>
                    <a:pt x="18810" y="22439"/>
                    <a:pt x="19435" y="21756"/>
                    <a:pt x="19844" y="21268"/>
                  </a:cubicBezTo>
                  <a:lnTo>
                    <a:pt x="19844" y="21268"/>
                  </a:lnTo>
                  <a:cubicBezTo>
                    <a:pt x="19805" y="21288"/>
                    <a:pt x="19747" y="21288"/>
                    <a:pt x="19708" y="21327"/>
                  </a:cubicBezTo>
                  <a:cubicBezTo>
                    <a:pt x="19524" y="21375"/>
                    <a:pt x="19344" y="21390"/>
                    <a:pt x="19185" y="21390"/>
                  </a:cubicBezTo>
                  <a:cubicBezTo>
                    <a:pt x="18954" y="21390"/>
                    <a:pt x="18766" y="21358"/>
                    <a:pt x="18674" y="21346"/>
                  </a:cubicBezTo>
                  <a:cubicBezTo>
                    <a:pt x="18557" y="21327"/>
                    <a:pt x="18342" y="21268"/>
                    <a:pt x="18147" y="21171"/>
                  </a:cubicBezTo>
                  <a:cubicBezTo>
                    <a:pt x="18088" y="21151"/>
                    <a:pt x="17971" y="21093"/>
                    <a:pt x="17854" y="20975"/>
                  </a:cubicBezTo>
                  <a:cubicBezTo>
                    <a:pt x="17776" y="20936"/>
                    <a:pt x="17659" y="20780"/>
                    <a:pt x="17561" y="20566"/>
                  </a:cubicBezTo>
                  <a:cubicBezTo>
                    <a:pt x="17503" y="20449"/>
                    <a:pt x="17483" y="20273"/>
                    <a:pt x="17483" y="20117"/>
                  </a:cubicBezTo>
                  <a:cubicBezTo>
                    <a:pt x="17444" y="20097"/>
                    <a:pt x="17308" y="20019"/>
                    <a:pt x="17074" y="19902"/>
                  </a:cubicBezTo>
                  <a:cubicBezTo>
                    <a:pt x="16722" y="19727"/>
                    <a:pt x="16001" y="19395"/>
                    <a:pt x="15552" y="18693"/>
                  </a:cubicBezTo>
                  <a:cubicBezTo>
                    <a:pt x="15318" y="18263"/>
                    <a:pt x="15201" y="17756"/>
                    <a:pt x="15201" y="17190"/>
                  </a:cubicBezTo>
                  <a:cubicBezTo>
                    <a:pt x="15201" y="16976"/>
                    <a:pt x="15044" y="16663"/>
                    <a:pt x="14596" y="15883"/>
                  </a:cubicBezTo>
                  <a:cubicBezTo>
                    <a:pt x="14225" y="15200"/>
                    <a:pt x="13562" y="14146"/>
                    <a:pt x="13562" y="12859"/>
                  </a:cubicBezTo>
                  <a:lnTo>
                    <a:pt x="13562" y="12839"/>
                  </a:lnTo>
                  <a:cubicBezTo>
                    <a:pt x="13269" y="12937"/>
                    <a:pt x="12976" y="12976"/>
                    <a:pt x="12703" y="12976"/>
                  </a:cubicBezTo>
                  <a:cubicBezTo>
                    <a:pt x="12137" y="12976"/>
                    <a:pt x="11669" y="12839"/>
                    <a:pt x="11337" y="12605"/>
                  </a:cubicBezTo>
                  <a:cubicBezTo>
                    <a:pt x="11240" y="12742"/>
                    <a:pt x="11123" y="12859"/>
                    <a:pt x="10986" y="12956"/>
                  </a:cubicBezTo>
                  <a:cubicBezTo>
                    <a:pt x="10752" y="13151"/>
                    <a:pt x="10479" y="13268"/>
                    <a:pt x="10186" y="13346"/>
                  </a:cubicBezTo>
                  <a:cubicBezTo>
                    <a:pt x="10045" y="13375"/>
                    <a:pt x="9911" y="13387"/>
                    <a:pt x="9786" y="13387"/>
                  </a:cubicBezTo>
                  <a:cubicBezTo>
                    <a:pt x="9322" y="13387"/>
                    <a:pt x="8992" y="13229"/>
                    <a:pt x="8976" y="13229"/>
                  </a:cubicBezTo>
                  <a:cubicBezTo>
                    <a:pt x="8957" y="13229"/>
                    <a:pt x="8918" y="13190"/>
                    <a:pt x="8918" y="13190"/>
                  </a:cubicBezTo>
                  <a:cubicBezTo>
                    <a:pt x="8586" y="13151"/>
                    <a:pt x="8313" y="12956"/>
                    <a:pt x="8157" y="12663"/>
                  </a:cubicBezTo>
                  <a:cubicBezTo>
                    <a:pt x="8118" y="12585"/>
                    <a:pt x="8098" y="12507"/>
                    <a:pt x="8059" y="12449"/>
                  </a:cubicBezTo>
                  <a:cubicBezTo>
                    <a:pt x="7942" y="12410"/>
                    <a:pt x="7045" y="12195"/>
                    <a:pt x="6752" y="11473"/>
                  </a:cubicBezTo>
                  <a:cubicBezTo>
                    <a:pt x="6693" y="11337"/>
                    <a:pt x="6674" y="11200"/>
                    <a:pt x="6654" y="11083"/>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4766769" y="1372980"/>
              <a:ext cx="2798317" cy="930166"/>
            </a:xfrm>
            <a:custGeom>
              <a:avLst/>
              <a:gdLst/>
              <a:ahLst/>
              <a:cxnLst/>
              <a:rect l="l" t="t" r="r" b="b"/>
              <a:pathLst>
                <a:path w="43664" h="14514" extrusionOk="0">
                  <a:moveTo>
                    <a:pt x="38941" y="1"/>
                  </a:moveTo>
                  <a:lnTo>
                    <a:pt x="38941" y="1"/>
                  </a:lnTo>
                  <a:cubicBezTo>
                    <a:pt x="40326" y="625"/>
                    <a:pt x="41126" y="1679"/>
                    <a:pt x="41126" y="2381"/>
                  </a:cubicBezTo>
                  <a:cubicBezTo>
                    <a:pt x="41126" y="2713"/>
                    <a:pt x="41341" y="2830"/>
                    <a:pt x="41439" y="3006"/>
                  </a:cubicBezTo>
                  <a:cubicBezTo>
                    <a:pt x="41575" y="3201"/>
                    <a:pt x="41439" y="3474"/>
                    <a:pt x="40405" y="4157"/>
                  </a:cubicBezTo>
                  <a:cubicBezTo>
                    <a:pt x="39370" y="4820"/>
                    <a:pt x="38414" y="5133"/>
                    <a:pt x="37341" y="5191"/>
                  </a:cubicBezTo>
                  <a:cubicBezTo>
                    <a:pt x="37162" y="5203"/>
                    <a:pt x="36979" y="5208"/>
                    <a:pt x="36792" y="5208"/>
                  </a:cubicBezTo>
                  <a:cubicBezTo>
                    <a:pt x="36045" y="5208"/>
                    <a:pt x="35230" y="5121"/>
                    <a:pt x="34278" y="4996"/>
                  </a:cubicBezTo>
                  <a:cubicBezTo>
                    <a:pt x="33642" y="4909"/>
                    <a:pt x="33149" y="4879"/>
                    <a:pt x="32743" y="4879"/>
                  </a:cubicBezTo>
                  <a:cubicBezTo>
                    <a:pt x="31907" y="4879"/>
                    <a:pt x="31444" y="5004"/>
                    <a:pt x="30875" y="5004"/>
                  </a:cubicBezTo>
                  <a:cubicBezTo>
                    <a:pt x="30611" y="5004"/>
                    <a:pt x="30324" y="4977"/>
                    <a:pt x="29966" y="4898"/>
                  </a:cubicBezTo>
                  <a:cubicBezTo>
                    <a:pt x="29474" y="4798"/>
                    <a:pt x="29086" y="4754"/>
                    <a:pt x="28799" y="4754"/>
                  </a:cubicBezTo>
                  <a:cubicBezTo>
                    <a:pt x="28195" y="4754"/>
                    <a:pt x="28030" y="4946"/>
                    <a:pt x="28268" y="5211"/>
                  </a:cubicBezTo>
                  <a:cubicBezTo>
                    <a:pt x="28400" y="5342"/>
                    <a:pt x="28327" y="5374"/>
                    <a:pt x="28169" y="5374"/>
                  </a:cubicBezTo>
                  <a:cubicBezTo>
                    <a:pt x="28021" y="5374"/>
                    <a:pt x="27798" y="5346"/>
                    <a:pt x="27597" y="5346"/>
                  </a:cubicBezTo>
                  <a:cubicBezTo>
                    <a:pt x="27374" y="5346"/>
                    <a:pt x="27177" y="5380"/>
                    <a:pt x="27137" y="5523"/>
                  </a:cubicBezTo>
                  <a:cubicBezTo>
                    <a:pt x="27120" y="5568"/>
                    <a:pt x="27053" y="5588"/>
                    <a:pt x="26947" y="5588"/>
                  </a:cubicBezTo>
                  <a:cubicBezTo>
                    <a:pt x="26185" y="5588"/>
                    <a:pt x="23423" y="4541"/>
                    <a:pt x="23098" y="4215"/>
                  </a:cubicBezTo>
                  <a:cubicBezTo>
                    <a:pt x="22746" y="3884"/>
                    <a:pt x="25985" y="2655"/>
                    <a:pt x="24620" y="2381"/>
                  </a:cubicBezTo>
                  <a:cubicBezTo>
                    <a:pt x="23254" y="2128"/>
                    <a:pt x="20542" y="1874"/>
                    <a:pt x="19156" y="1679"/>
                  </a:cubicBezTo>
                  <a:cubicBezTo>
                    <a:pt x="18812" y="1630"/>
                    <a:pt x="18416" y="1607"/>
                    <a:pt x="18035" y="1607"/>
                  </a:cubicBezTo>
                  <a:cubicBezTo>
                    <a:pt x="16881" y="1607"/>
                    <a:pt x="15862" y="1820"/>
                    <a:pt x="16815" y="2186"/>
                  </a:cubicBezTo>
                  <a:cubicBezTo>
                    <a:pt x="17781" y="2564"/>
                    <a:pt x="17708" y="2906"/>
                    <a:pt x="17272" y="2906"/>
                  </a:cubicBezTo>
                  <a:cubicBezTo>
                    <a:pt x="17145" y="2906"/>
                    <a:pt x="16987" y="2877"/>
                    <a:pt x="16815" y="2811"/>
                  </a:cubicBezTo>
                  <a:cubicBezTo>
                    <a:pt x="16707" y="2770"/>
                    <a:pt x="16610" y="2754"/>
                    <a:pt x="16517" y="2754"/>
                  </a:cubicBezTo>
                  <a:cubicBezTo>
                    <a:pt x="16078" y="2754"/>
                    <a:pt x="15757" y="3127"/>
                    <a:pt x="15088" y="3127"/>
                  </a:cubicBezTo>
                  <a:cubicBezTo>
                    <a:pt x="14872" y="3127"/>
                    <a:pt x="14621" y="3089"/>
                    <a:pt x="14317" y="2986"/>
                  </a:cubicBezTo>
                  <a:cubicBezTo>
                    <a:pt x="12912" y="2498"/>
                    <a:pt x="12795" y="2694"/>
                    <a:pt x="11469" y="2011"/>
                  </a:cubicBezTo>
                  <a:cubicBezTo>
                    <a:pt x="11088" y="1809"/>
                    <a:pt x="10748" y="1726"/>
                    <a:pt x="10481" y="1726"/>
                  </a:cubicBezTo>
                  <a:cubicBezTo>
                    <a:pt x="9843" y="1726"/>
                    <a:pt x="9615" y="2195"/>
                    <a:pt x="10220" y="2635"/>
                  </a:cubicBezTo>
                  <a:cubicBezTo>
                    <a:pt x="11078" y="3259"/>
                    <a:pt x="10434" y="3494"/>
                    <a:pt x="9888" y="3494"/>
                  </a:cubicBezTo>
                  <a:cubicBezTo>
                    <a:pt x="9322" y="3494"/>
                    <a:pt x="8386" y="4079"/>
                    <a:pt x="9342" y="4996"/>
                  </a:cubicBezTo>
                  <a:cubicBezTo>
                    <a:pt x="10298" y="5932"/>
                    <a:pt x="12912" y="7532"/>
                    <a:pt x="11703" y="7532"/>
                  </a:cubicBezTo>
                  <a:cubicBezTo>
                    <a:pt x="11205" y="7532"/>
                    <a:pt x="10612" y="7580"/>
                    <a:pt x="10023" y="7580"/>
                  </a:cubicBezTo>
                  <a:cubicBezTo>
                    <a:pt x="9201" y="7580"/>
                    <a:pt x="8385" y="7488"/>
                    <a:pt x="7839" y="7045"/>
                  </a:cubicBezTo>
                  <a:cubicBezTo>
                    <a:pt x="6864" y="6303"/>
                    <a:pt x="6181" y="5932"/>
                    <a:pt x="5713" y="5464"/>
                  </a:cubicBezTo>
                  <a:cubicBezTo>
                    <a:pt x="5627" y="5378"/>
                    <a:pt x="5572" y="5342"/>
                    <a:pt x="5542" y="5342"/>
                  </a:cubicBezTo>
                  <a:cubicBezTo>
                    <a:pt x="5410" y="5342"/>
                    <a:pt x="5783" y="6057"/>
                    <a:pt x="6181" y="6264"/>
                  </a:cubicBezTo>
                  <a:cubicBezTo>
                    <a:pt x="6280" y="6320"/>
                    <a:pt x="6288" y="6345"/>
                    <a:pt x="6235" y="6345"/>
                  </a:cubicBezTo>
                  <a:cubicBezTo>
                    <a:pt x="6050" y="6345"/>
                    <a:pt x="5123" y="6041"/>
                    <a:pt x="4835" y="5737"/>
                  </a:cubicBezTo>
                  <a:cubicBezTo>
                    <a:pt x="4464" y="5367"/>
                    <a:pt x="3839" y="4898"/>
                    <a:pt x="3547" y="4606"/>
                  </a:cubicBezTo>
                  <a:cubicBezTo>
                    <a:pt x="3254" y="4313"/>
                    <a:pt x="2805" y="3181"/>
                    <a:pt x="3098" y="2069"/>
                  </a:cubicBezTo>
                  <a:lnTo>
                    <a:pt x="3098" y="2069"/>
                  </a:lnTo>
                  <a:cubicBezTo>
                    <a:pt x="2474" y="3103"/>
                    <a:pt x="2766" y="4664"/>
                    <a:pt x="3332" y="5191"/>
                  </a:cubicBezTo>
                  <a:cubicBezTo>
                    <a:pt x="3859" y="5737"/>
                    <a:pt x="4249" y="7006"/>
                    <a:pt x="5615" y="7864"/>
                  </a:cubicBezTo>
                  <a:cubicBezTo>
                    <a:pt x="6981" y="8703"/>
                    <a:pt x="8834" y="9171"/>
                    <a:pt x="8308" y="9249"/>
                  </a:cubicBezTo>
                  <a:cubicBezTo>
                    <a:pt x="7761" y="9328"/>
                    <a:pt x="6278" y="9620"/>
                    <a:pt x="6513" y="9835"/>
                  </a:cubicBezTo>
                  <a:cubicBezTo>
                    <a:pt x="6674" y="9984"/>
                    <a:pt x="6701" y="10102"/>
                    <a:pt x="6513" y="10102"/>
                  </a:cubicBezTo>
                  <a:cubicBezTo>
                    <a:pt x="6405" y="10102"/>
                    <a:pt x="6228" y="10063"/>
                    <a:pt x="5966" y="9971"/>
                  </a:cubicBezTo>
                  <a:cubicBezTo>
                    <a:pt x="5789" y="9920"/>
                    <a:pt x="5659" y="9897"/>
                    <a:pt x="5581" y="9897"/>
                  </a:cubicBezTo>
                  <a:cubicBezTo>
                    <a:pt x="5334" y="9897"/>
                    <a:pt x="5607" y="10133"/>
                    <a:pt x="6513" y="10459"/>
                  </a:cubicBezTo>
                  <a:cubicBezTo>
                    <a:pt x="6747" y="10537"/>
                    <a:pt x="6942" y="10635"/>
                    <a:pt x="7078" y="10713"/>
                  </a:cubicBezTo>
                  <a:cubicBezTo>
                    <a:pt x="7820" y="11084"/>
                    <a:pt x="8074" y="11493"/>
                    <a:pt x="8932" y="11610"/>
                  </a:cubicBezTo>
                  <a:cubicBezTo>
                    <a:pt x="9612" y="11711"/>
                    <a:pt x="8910" y="11796"/>
                    <a:pt x="8022" y="11796"/>
                  </a:cubicBezTo>
                  <a:cubicBezTo>
                    <a:pt x="7535" y="11796"/>
                    <a:pt x="6992" y="11770"/>
                    <a:pt x="6591" y="11708"/>
                  </a:cubicBezTo>
                  <a:cubicBezTo>
                    <a:pt x="5478" y="11532"/>
                    <a:pt x="3371" y="11298"/>
                    <a:pt x="2474" y="10927"/>
                  </a:cubicBezTo>
                  <a:cubicBezTo>
                    <a:pt x="1576" y="10557"/>
                    <a:pt x="1010" y="10049"/>
                    <a:pt x="464" y="9640"/>
                  </a:cubicBezTo>
                  <a:cubicBezTo>
                    <a:pt x="370" y="9567"/>
                    <a:pt x="297" y="9535"/>
                    <a:pt x="244" y="9535"/>
                  </a:cubicBezTo>
                  <a:cubicBezTo>
                    <a:pt x="0" y="9535"/>
                    <a:pt x="178" y="10201"/>
                    <a:pt x="659" y="10537"/>
                  </a:cubicBezTo>
                  <a:cubicBezTo>
                    <a:pt x="1244" y="10947"/>
                    <a:pt x="3449" y="12801"/>
                    <a:pt x="5927" y="13249"/>
                  </a:cubicBezTo>
                  <a:cubicBezTo>
                    <a:pt x="8425" y="13659"/>
                    <a:pt x="9088" y="13445"/>
                    <a:pt x="10942" y="14030"/>
                  </a:cubicBezTo>
                  <a:cubicBezTo>
                    <a:pt x="11655" y="14260"/>
                    <a:pt x="12064" y="14312"/>
                    <a:pt x="12406" y="14312"/>
                  </a:cubicBezTo>
                  <a:cubicBezTo>
                    <a:pt x="12691" y="14312"/>
                    <a:pt x="12930" y="14276"/>
                    <a:pt x="13261" y="14276"/>
                  </a:cubicBezTo>
                  <a:cubicBezTo>
                    <a:pt x="13544" y="14276"/>
                    <a:pt x="13893" y="14302"/>
                    <a:pt x="14395" y="14401"/>
                  </a:cubicBezTo>
                  <a:cubicBezTo>
                    <a:pt x="14819" y="14478"/>
                    <a:pt x="15205" y="14514"/>
                    <a:pt x="15541" y="14514"/>
                  </a:cubicBezTo>
                  <a:cubicBezTo>
                    <a:pt x="16648" y="14514"/>
                    <a:pt x="17219" y="14125"/>
                    <a:pt x="16815" y="13542"/>
                  </a:cubicBezTo>
                  <a:cubicBezTo>
                    <a:pt x="16268" y="12781"/>
                    <a:pt x="16756" y="12469"/>
                    <a:pt x="16503" y="12001"/>
                  </a:cubicBezTo>
                  <a:cubicBezTo>
                    <a:pt x="16229" y="11571"/>
                    <a:pt x="16054" y="11376"/>
                    <a:pt x="16522" y="11220"/>
                  </a:cubicBezTo>
                  <a:cubicBezTo>
                    <a:pt x="16951" y="11103"/>
                    <a:pt x="17498" y="10732"/>
                    <a:pt x="16698" y="10264"/>
                  </a:cubicBezTo>
                  <a:cubicBezTo>
                    <a:pt x="16014" y="9914"/>
                    <a:pt x="16186" y="9396"/>
                    <a:pt x="17361" y="9396"/>
                  </a:cubicBezTo>
                  <a:cubicBezTo>
                    <a:pt x="17628" y="9396"/>
                    <a:pt x="17946" y="9422"/>
                    <a:pt x="18317" y="9484"/>
                  </a:cubicBezTo>
                  <a:cubicBezTo>
                    <a:pt x="20346" y="9835"/>
                    <a:pt x="23390" y="10693"/>
                    <a:pt x="24698" y="10830"/>
                  </a:cubicBezTo>
                  <a:cubicBezTo>
                    <a:pt x="25985" y="11006"/>
                    <a:pt x="27000" y="11123"/>
                    <a:pt x="25693" y="11552"/>
                  </a:cubicBezTo>
                  <a:cubicBezTo>
                    <a:pt x="24366" y="12001"/>
                    <a:pt x="26219" y="12762"/>
                    <a:pt x="27332" y="12762"/>
                  </a:cubicBezTo>
                  <a:cubicBezTo>
                    <a:pt x="27914" y="12762"/>
                    <a:pt x="28303" y="12850"/>
                    <a:pt x="28769" y="12850"/>
                  </a:cubicBezTo>
                  <a:cubicBezTo>
                    <a:pt x="29178" y="12850"/>
                    <a:pt x="29646" y="12782"/>
                    <a:pt x="30356" y="12527"/>
                  </a:cubicBezTo>
                  <a:cubicBezTo>
                    <a:pt x="31773" y="12037"/>
                    <a:pt x="32277" y="12020"/>
                    <a:pt x="33568" y="12020"/>
                  </a:cubicBezTo>
                  <a:cubicBezTo>
                    <a:pt x="33663" y="12020"/>
                    <a:pt x="33763" y="12020"/>
                    <a:pt x="33868" y="12020"/>
                  </a:cubicBezTo>
                  <a:cubicBezTo>
                    <a:pt x="35351" y="12020"/>
                    <a:pt x="38395" y="11610"/>
                    <a:pt x="37146" y="11064"/>
                  </a:cubicBezTo>
                  <a:cubicBezTo>
                    <a:pt x="36002" y="10574"/>
                    <a:pt x="36447" y="10557"/>
                    <a:pt x="37238" y="10557"/>
                  </a:cubicBezTo>
                  <a:cubicBezTo>
                    <a:pt x="37297" y="10557"/>
                    <a:pt x="37357" y="10557"/>
                    <a:pt x="37419" y="10557"/>
                  </a:cubicBezTo>
                  <a:cubicBezTo>
                    <a:pt x="38317" y="10557"/>
                    <a:pt x="40034" y="10303"/>
                    <a:pt x="38570" y="9659"/>
                  </a:cubicBezTo>
                  <a:cubicBezTo>
                    <a:pt x="37107" y="9035"/>
                    <a:pt x="37927" y="8274"/>
                    <a:pt x="40619" y="7337"/>
                  </a:cubicBezTo>
                  <a:cubicBezTo>
                    <a:pt x="43292" y="6420"/>
                    <a:pt x="43663" y="5093"/>
                    <a:pt x="43039" y="3923"/>
                  </a:cubicBezTo>
                  <a:cubicBezTo>
                    <a:pt x="42414" y="2830"/>
                    <a:pt x="42083" y="2869"/>
                    <a:pt x="41712" y="2206"/>
                  </a:cubicBezTo>
                  <a:cubicBezTo>
                    <a:pt x="41692" y="2167"/>
                    <a:pt x="41673" y="2128"/>
                    <a:pt x="41673" y="2089"/>
                  </a:cubicBezTo>
                  <a:cubicBezTo>
                    <a:pt x="41283" y="1289"/>
                    <a:pt x="40112" y="333"/>
                    <a:pt x="389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4766834" y="1371762"/>
              <a:ext cx="2794471" cy="929397"/>
            </a:xfrm>
            <a:custGeom>
              <a:avLst/>
              <a:gdLst/>
              <a:ahLst/>
              <a:cxnLst/>
              <a:rect l="l" t="t" r="r" b="b"/>
              <a:pathLst>
                <a:path w="43604" h="14502" extrusionOk="0">
                  <a:moveTo>
                    <a:pt x="38882" y="0"/>
                  </a:moveTo>
                  <a:lnTo>
                    <a:pt x="38882" y="0"/>
                  </a:lnTo>
                  <a:cubicBezTo>
                    <a:pt x="40267" y="644"/>
                    <a:pt x="41086" y="1678"/>
                    <a:pt x="41086" y="2381"/>
                  </a:cubicBezTo>
                  <a:cubicBezTo>
                    <a:pt x="41086" y="2693"/>
                    <a:pt x="41301" y="2830"/>
                    <a:pt x="41399" y="2986"/>
                  </a:cubicBezTo>
                  <a:cubicBezTo>
                    <a:pt x="41516" y="3181"/>
                    <a:pt x="41399" y="3434"/>
                    <a:pt x="40345" y="4137"/>
                  </a:cubicBezTo>
                  <a:cubicBezTo>
                    <a:pt x="39330" y="4820"/>
                    <a:pt x="38374" y="5112"/>
                    <a:pt x="37301" y="5191"/>
                  </a:cubicBezTo>
                  <a:cubicBezTo>
                    <a:pt x="36052" y="5834"/>
                    <a:pt x="35877" y="6361"/>
                    <a:pt x="36950" y="6830"/>
                  </a:cubicBezTo>
                  <a:cubicBezTo>
                    <a:pt x="38413" y="7454"/>
                    <a:pt x="36716" y="7727"/>
                    <a:pt x="35818" y="7727"/>
                  </a:cubicBezTo>
                  <a:cubicBezTo>
                    <a:pt x="35755" y="7727"/>
                    <a:pt x="35693" y="7727"/>
                    <a:pt x="35633" y="7727"/>
                  </a:cubicBezTo>
                  <a:cubicBezTo>
                    <a:pt x="34827" y="7727"/>
                    <a:pt x="34382" y="7744"/>
                    <a:pt x="35545" y="8234"/>
                  </a:cubicBezTo>
                  <a:cubicBezTo>
                    <a:pt x="36794" y="8781"/>
                    <a:pt x="33731" y="9190"/>
                    <a:pt x="32248" y="9190"/>
                  </a:cubicBezTo>
                  <a:cubicBezTo>
                    <a:pt x="32143" y="9190"/>
                    <a:pt x="32043" y="9190"/>
                    <a:pt x="31947" y="9190"/>
                  </a:cubicBezTo>
                  <a:cubicBezTo>
                    <a:pt x="30659" y="9190"/>
                    <a:pt x="30171" y="9207"/>
                    <a:pt x="28735" y="9698"/>
                  </a:cubicBezTo>
                  <a:cubicBezTo>
                    <a:pt x="28016" y="9953"/>
                    <a:pt x="27543" y="10021"/>
                    <a:pt x="27132" y="10021"/>
                  </a:cubicBezTo>
                  <a:cubicBezTo>
                    <a:pt x="26663" y="10021"/>
                    <a:pt x="26274" y="9932"/>
                    <a:pt x="25692" y="9932"/>
                  </a:cubicBezTo>
                  <a:cubicBezTo>
                    <a:pt x="24619" y="9932"/>
                    <a:pt x="22765" y="9171"/>
                    <a:pt x="24072" y="8722"/>
                  </a:cubicBezTo>
                  <a:cubicBezTo>
                    <a:pt x="25399" y="8293"/>
                    <a:pt x="24365" y="8156"/>
                    <a:pt x="23077" y="8000"/>
                  </a:cubicBezTo>
                  <a:cubicBezTo>
                    <a:pt x="21789" y="7844"/>
                    <a:pt x="18745" y="7005"/>
                    <a:pt x="16716" y="6654"/>
                  </a:cubicBezTo>
                  <a:cubicBezTo>
                    <a:pt x="16341" y="6593"/>
                    <a:pt x="16021" y="6566"/>
                    <a:pt x="15753" y="6566"/>
                  </a:cubicBezTo>
                  <a:cubicBezTo>
                    <a:pt x="14571" y="6566"/>
                    <a:pt x="14409" y="7084"/>
                    <a:pt x="15077" y="7434"/>
                  </a:cubicBezTo>
                  <a:cubicBezTo>
                    <a:pt x="15877" y="7903"/>
                    <a:pt x="15350" y="8273"/>
                    <a:pt x="14902" y="8390"/>
                  </a:cubicBezTo>
                  <a:cubicBezTo>
                    <a:pt x="14453" y="8527"/>
                    <a:pt x="14609" y="8722"/>
                    <a:pt x="14882" y="9171"/>
                  </a:cubicBezTo>
                  <a:cubicBezTo>
                    <a:pt x="15155" y="9620"/>
                    <a:pt x="14668" y="9951"/>
                    <a:pt x="15194" y="10712"/>
                  </a:cubicBezTo>
                  <a:cubicBezTo>
                    <a:pt x="15609" y="11276"/>
                    <a:pt x="15045" y="11681"/>
                    <a:pt x="13963" y="11681"/>
                  </a:cubicBezTo>
                  <a:cubicBezTo>
                    <a:pt x="13620" y="11681"/>
                    <a:pt x="13226" y="11640"/>
                    <a:pt x="12794" y="11551"/>
                  </a:cubicBezTo>
                  <a:cubicBezTo>
                    <a:pt x="12314" y="11464"/>
                    <a:pt x="11973" y="11439"/>
                    <a:pt x="11697" y="11439"/>
                  </a:cubicBezTo>
                  <a:cubicBezTo>
                    <a:pt x="11336" y="11439"/>
                    <a:pt x="11087" y="11481"/>
                    <a:pt x="10784" y="11481"/>
                  </a:cubicBezTo>
                  <a:cubicBezTo>
                    <a:pt x="10443" y="11481"/>
                    <a:pt x="10034" y="11428"/>
                    <a:pt x="9321" y="11200"/>
                  </a:cubicBezTo>
                  <a:cubicBezTo>
                    <a:pt x="8404" y="10927"/>
                    <a:pt x="7760" y="10829"/>
                    <a:pt x="7058" y="10751"/>
                  </a:cubicBezTo>
                  <a:lnTo>
                    <a:pt x="7058" y="10751"/>
                  </a:lnTo>
                  <a:cubicBezTo>
                    <a:pt x="7780" y="11142"/>
                    <a:pt x="8053" y="11532"/>
                    <a:pt x="8912" y="11649"/>
                  </a:cubicBezTo>
                  <a:cubicBezTo>
                    <a:pt x="9592" y="11750"/>
                    <a:pt x="8881" y="11834"/>
                    <a:pt x="7993" y="11834"/>
                  </a:cubicBezTo>
                  <a:cubicBezTo>
                    <a:pt x="7506" y="11834"/>
                    <a:pt x="6964" y="11809"/>
                    <a:pt x="6570" y="11746"/>
                  </a:cubicBezTo>
                  <a:cubicBezTo>
                    <a:pt x="5438" y="11590"/>
                    <a:pt x="3351" y="11337"/>
                    <a:pt x="2453" y="10966"/>
                  </a:cubicBezTo>
                  <a:cubicBezTo>
                    <a:pt x="1517" y="10615"/>
                    <a:pt x="990" y="10088"/>
                    <a:pt x="443" y="9678"/>
                  </a:cubicBezTo>
                  <a:cubicBezTo>
                    <a:pt x="349" y="9599"/>
                    <a:pt x="277" y="9565"/>
                    <a:pt x="226" y="9565"/>
                  </a:cubicBezTo>
                  <a:cubicBezTo>
                    <a:pt x="1" y="9565"/>
                    <a:pt x="174" y="10219"/>
                    <a:pt x="619" y="10537"/>
                  </a:cubicBezTo>
                  <a:cubicBezTo>
                    <a:pt x="1204" y="10946"/>
                    <a:pt x="3390" y="12820"/>
                    <a:pt x="5887" y="13229"/>
                  </a:cubicBezTo>
                  <a:cubicBezTo>
                    <a:pt x="8365" y="13659"/>
                    <a:pt x="9048" y="13424"/>
                    <a:pt x="10882" y="14010"/>
                  </a:cubicBezTo>
                  <a:cubicBezTo>
                    <a:pt x="11591" y="14229"/>
                    <a:pt x="12000" y="14278"/>
                    <a:pt x="12338" y="14278"/>
                  </a:cubicBezTo>
                  <a:cubicBezTo>
                    <a:pt x="12619" y="14278"/>
                    <a:pt x="12852" y="14244"/>
                    <a:pt x="13168" y="14244"/>
                  </a:cubicBezTo>
                  <a:cubicBezTo>
                    <a:pt x="13455" y="14244"/>
                    <a:pt x="13811" y="14272"/>
                    <a:pt x="14336" y="14381"/>
                  </a:cubicBezTo>
                  <a:cubicBezTo>
                    <a:pt x="14770" y="14464"/>
                    <a:pt x="15164" y="14502"/>
                    <a:pt x="15507" y="14502"/>
                  </a:cubicBezTo>
                  <a:cubicBezTo>
                    <a:pt x="16611" y="14502"/>
                    <a:pt x="17172" y="14103"/>
                    <a:pt x="16755" y="13522"/>
                  </a:cubicBezTo>
                  <a:cubicBezTo>
                    <a:pt x="16228" y="12781"/>
                    <a:pt x="16716" y="12429"/>
                    <a:pt x="16443" y="12000"/>
                  </a:cubicBezTo>
                  <a:cubicBezTo>
                    <a:pt x="16170" y="11532"/>
                    <a:pt x="16033" y="11337"/>
                    <a:pt x="16463" y="11220"/>
                  </a:cubicBezTo>
                  <a:cubicBezTo>
                    <a:pt x="16931" y="11083"/>
                    <a:pt x="17458" y="10693"/>
                    <a:pt x="16638" y="10264"/>
                  </a:cubicBezTo>
                  <a:cubicBezTo>
                    <a:pt x="15961" y="9901"/>
                    <a:pt x="16123" y="9386"/>
                    <a:pt x="17279" y="9386"/>
                  </a:cubicBezTo>
                  <a:cubicBezTo>
                    <a:pt x="17554" y="9386"/>
                    <a:pt x="17886" y="9415"/>
                    <a:pt x="18277" y="9483"/>
                  </a:cubicBezTo>
                  <a:cubicBezTo>
                    <a:pt x="20287" y="9815"/>
                    <a:pt x="23350" y="10654"/>
                    <a:pt x="24638" y="10829"/>
                  </a:cubicBezTo>
                  <a:cubicBezTo>
                    <a:pt x="25926" y="10986"/>
                    <a:pt x="26960" y="11122"/>
                    <a:pt x="25633" y="11551"/>
                  </a:cubicBezTo>
                  <a:cubicBezTo>
                    <a:pt x="24326" y="11961"/>
                    <a:pt x="26199" y="12742"/>
                    <a:pt x="27272" y="12742"/>
                  </a:cubicBezTo>
                  <a:cubicBezTo>
                    <a:pt x="27861" y="12742"/>
                    <a:pt x="28250" y="12841"/>
                    <a:pt x="28735" y="12841"/>
                  </a:cubicBezTo>
                  <a:cubicBezTo>
                    <a:pt x="29135" y="12841"/>
                    <a:pt x="29600" y="12774"/>
                    <a:pt x="30296" y="12527"/>
                  </a:cubicBezTo>
                  <a:cubicBezTo>
                    <a:pt x="31732" y="12036"/>
                    <a:pt x="32253" y="12020"/>
                    <a:pt x="33515" y="12020"/>
                  </a:cubicBezTo>
                  <a:cubicBezTo>
                    <a:pt x="33609" y="12020"/>
                    <a:pt x="33706" y="12020"/>
                    <a:pt x="33809" y="12020"/>
                  </a:cubicBezTo>
                  <a:cubicBezTo>
                    <a:pt x="35291" y="12020"/>
                    <a:pt x="38335" y="11610"/>
                    <a:pt x="37106" y="11064"/>
                  </a:cubicBezTo>
                  <a:cubicBezTo>
                    <a:pt x="35925" y="10573"/>
                    <a:pt x="36385" y="10556"/>
                    <a:pt x="37178" y="10556"/>
                  </a:cubicBezTo>
                  <a:cubicBezTo>
                    <a:pt x="37237" y="10556"/>
                    <a:pt x="37298" y="10556"/>
                    <a:pt x="37360" y="10556"/>
                  </a:cubicBezTo>
                  <a:cubicBezTo>
                    <a:pt x="38238" y="10556"/>
                    <a:pt x="39974" y="10283"/>
                    <a:pt x="38511" y="9659"/>
                  </a:cubicBezTo>
                  <a:cubicBezTo>
                    <a:pt x="37048" y="9015"/>
                    <a:pt x="37887" y="8254"/>
                    <a:pt x="40560" y="7337"/>
                  </a:cubicBezTo>
                  <a:cubicBezTo>
                    <a:pt x="43252" y="6400"/>
                    <a:pt x="43603" y="5073"/>
                    <a:pt x="42979" y="3922"/>
                  </a:cubicBezTo>
                  <a:cubicBezTo>
                    <a:pt x="42374" y="2830"/>
                    <a:pt x="42023" y="2869"/>
                    <a:pt x="41652" y="2186"/>
                  </a:cubicBezTo>
                  <a:cubicBezTo>
                    <a:pt x="41652" y="2166"/>
                    <a:pt x="41633" y="2147"/>
                    <a:pt x="41613" y="2088"/>
                  </a:cubicBezTo>
                  <a:cubicBezTo>
                    <a:pt x="41223" y="1288"/>
                    <a:pt x="40052" y="313"/>
                    <a:pt x="38882" y="0"/>
                  </a:cubicBezTo>
                  <a:close/>
                </a:path>
              </a:pathLst>
            </a:custGeom>
            <a:solidFill>
              <a:srgbClr val="0088D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626836" y="2371999"/>
              <a:ext cx="1225545" cy="446369"/>
            </a:xfrm>
            <a:custGeom>
              <a:avLst/>
              <a:gdLst/>
              <a:ahLst/>
              <a:cxnLst/>
              <a:rect l="l" t="t" r="r" b="b"/>
              <a:pathLst>
                <a:path w="19123" h="6965" extrusionOk="0">
                  <a:moveTo>
                    <a:pt x="9094" y="1"/>
                  </a:moveTo>
                  <a:cubicBezTo>
                    <a:pt x="8895" y="1"/>
                    <a:pt x="9911" y="729"/>
                    <a:pt x="11317" y="998"/>
                  </a:cubicBezTo>
                  <a:cubicBezTo>
                    <a:pt x="13057" y="1291"/>
                    <a:pt x="13525" y="1963"/>
                    <a:pt x="14722" y="1963"/>
                  </a:cubicBezTo>
                  <a:cubicBezTo>
                    <a:pt x="14800" y="1963"/>
                    <a:pt x="14881" y="1960"/>
                    <a:pt x="14965" y="1954"/>
                  </a:cubicBezTo>
                  <a:cubicBezTo>
                    <a:pt x="15067" y="1947"/>
                    <a:pt x="15149" y="1944"/>
                    <a:pt x="15211" y="1944"/>
                  </a:cubicBezTo>
                  <a:cubicBezTo>
                    <a:pt x="15964" y="1944"/>
                    <a:pt x="13914" y="2426"/>
                    <a:pt x="12654" y="2426"/>
                  </a:cubicBezTo>
                  <a:cubicBezTo>
                    <a:pt x="12590" y="2426"/>
                    <a:pt x="12527" y="2425"/>
                    <a:pt x="12468" y="2422"/>
                  </a:cubicBezTo>
                  <a:cubicBezTo>
                    <a:pt x="11570" y="2370"/>
                    <a:pt x="10681" y="2327"/>
                    <a:pt x="9917" y="2327"/>
                  </a:cubicBezTo>
                  <a:cubicBezTo>
                    <a:pt x="9535" y="2327"/>
                    <a:pt x="9183" y="2338"/>
                    <a:pt x="8878" y="2364"/>
                  </a:cubicBezTo>
                  <a:cubicBezTo>
                    <a:pt x="8786" y="2371"/>
                    <a:pt x="8684" y="2375"/>
                    <a:pt x="8574" y="2375"/>
                  </a:cubicBezTo>
                  <a:cubicBezTo>
                    <a:pt x="7562" y="2375"/>
                    <a:pt x="5880" y="2075"/>
                    <a:pt x="5405" y="1934"/>
                  </a:cubicBezTo>
                  <a:cubicBezTo>
                    <a:pt x="5335" y="1910"/>
                    <a:pt x="5277" y="1899"/>
                    <a:pt x="5233" y="1899"/>
                  </a:cubicBezTo>
                  <a:cubicBezTo>
                    <a:pt x="4958" y="1899"/>
                    <a:pt x="5201" y="2326"/>
                    <a:pt x="6126" y="2578"/>
                  </a:cubicBezTo>
                  <a:cubicBezTo>
                    <a:pt x="6976" y="2823"/>
                    <a:pt x="7237" y="3055"/>
                    <a:pt x="6842" y="3055"/>
                  </a:cubicBezTo>
                  <a:cubicBezTo>
                    <a:pt x="6765" y="3055"/>
                    <a:pt x="6663" y="3046"/>
                    <a:pt x="6536" y="3027"/>
                  </a:cubicBezTo>
                  <a:cubicBezTo>
                    <a:pt x="6432" y="3012"/>
                    <a:pt x="6349" y="3005"/>
                    <a:pt x="6284" y="3005"/>
                  </a:cubicBezTo>
                  <a:cubicBezTo>
                    <a:pt x="5859" y="3005"/>
                    <a:pt x="6190" y="3299"/>
                    <a:pt x="6478" y="3417"/>
                  </a:cubicBezTo>
                  <a:cubicBezTo>
                    <a:pt x="6819" y="3531"/>
                    <a:pt x="7178" y="4160"/>
                    <a:pt x="5088" y="4160"/>
                  </a:cubicBezTo>
                  <a:cubicBezTo>
                    <a:pt x="5026" y="4160"/>
                    <a:pt x="4963" y="4160"/>
                    <a:pt x="4897" y="4159"/>
                  </a:cubicBezTo>
                  <a:cubicBezTo>
                    <a:pt x="3902" y="4159"/>
                    <a:pt x="3395" y="4198"/>
                    <a:pt x="3024" y="4217"/>
                  </a:cubicBezTo>
                  <a:cubicBezTo>
                    <a:pt x="2691" y="4231"/>
                    <a:pt x="2485" y="4262"/>
                    <a:pt x="2152" y="4262"/>
                  </a:cubicBezTo>
                  <a:cubicBezTo>
                    <a:pt x="1997" y="4262"/>
                    <a:pt x="1815" y="4255"/>
                    <a:pt x="1580" y="4237"/>
                  </a:cubicBezTo>
                  <a:cubicBezTo>
                    <a:pt x="826" y="4165"/>
                    <a:pt x="204" y="4034"/>
                    <a:pt x="79" y="4034"/>
                  </a:cubicBezTo>
                  <a:cubicBezTo>
                    <a:pt x="1" y="4034"/>
                    <a:pt x="120" y="4086"/>
                    <a:pt x="527" y="4237"/>
                  </a:cubicBezTo>
                  <a:cubicBezTo>
                    <a:pt x="1619" y="4647"/>
                    <a:pt x="2497" y="5212"/>
                    <a:pt x="4175" y="5369"/>
                  </a:cubicBezTo>
                  <a:cubicBezTo>
                    <a:pt x="5545" y="5465"/>
                    <a:pt x="5877" y="5695"/>
                    <a:pt x="6534" y="5695"/>
                  </a:cubicBezTo>
                  <a:cubicBezTo>
                    <a:pt x="6672" y="5695"/>
                    <a:pt x="6825" y="5685"/>
                    <a:pt x="7004" y="5661"/>
                  </a:cubicBezTo>
                  <a:cubicBezTo>
                    <a:pt x="7143" y="5640"/>
                    <a:pt x="7281" y="5631"/>
                    <a:pt x="7412" y="5631"/>
                  </a:cubicBezTo>
                  <a:cubicBezTo>
                    <a:pt x="8250" y="5631"/>
                    <a:pt x="8837" y="6006"/>
                    <a:pt x="7590" y="6090"/>
                  </a:cubicBezTo>
                  <a:cubicBezTo>
                    <a:pt x="6146" y="6208"/>
                    <a:pt x="6361" y="6364"/>
                    <a:pt x="7239" y="6461"/>
                  </a:cubicBezTo>
                  <a:cubicBezTo>
                    <a:pt x="8156" y="6559"/>
                    <a:pt x="6146" y="6734"/>
                    <a:pt x="7824" y="6929"/>
                  </a:cubicBezTo>
                  <a:cubicBezTo>
                    <a:pt x="8085" y="6954"/>
                    <a:pt x="8332" y="6965"/>
                    <a:pt x="8565" y="6965"/>
                  </a:cubicBezTo>
                  <a:cubicBezTo>
                    <a:pt x="9808" y="6965"/>
                    <a:pt x="10645" y="6664"/>
                    <a:pt x="11121" y="6598"/>
                  </a:cubicBezTo>
                  <a:cubicBezTo>
                    <a:pt x="11687" y="6539"/>
                    <a:pt x="11882" y="6208"/>
                    <a:pt x="10829" y="5993"/>
                  </a:cubicBezTo>
                  <a:cubicBezTo>
                    <a:pt x="9775" y="5778"/>
                    <a:pt x="9346" y="5232"/>
                    <a:pt x="8839" y="4881"/>
                  </a:cubicBezTo>
                  <a:cubicBezTo>
                    <a:pt x="8588" y="4695"/>
                    <a:pt x="8731" y="4646"/>
                    <a:pt x="9080" y="4646"/>
                  </a:cubicBezTo>
                  <a:cubicBezTo>
                    <a:pt x="9464" y="4646"/>
                    <a:pt x="10098" y="4705"/>
                    <a:pt x="10731" y="4705"/>
                  </a:cubicBezTo>
                  <a:cubicBezTo>
                    <a:pt x="11960" y="4705"/>
                    <a:pt x="14556" y="4608"/>
                    <a:pt x="12995" y="4256"/>
                  </a:cubicBezTo>
                  <a:cubicBezTo>
                    <a:pt x="11434" y="3925"/>
                    <a:pt x="12663" y="4042"/>
                    <a:pt x="14263" y="3710"/>
                  </a:cubicBezTo>
                  <a:cubicBezTo>
                    <a:pt x="15882" y="3359"/>
                    <a:pt x="15102" y="3378"/>
                    <a:pt x="16214" y="2949"/>
                  </a:cubicBezTo>
                  <a:cubicBezTo>
                    <a:pt x="17307" y="2500"/>
                    <a:pt x="17794" y="2013"/>
                    <a:pt x="18438" y="1876"/>
                  </a:cubicBezTo>
                  <a:cubicBezTo>
                    <a:pt x="18931" y="1760"/>
                    <a:pt x="19122" y="1591"/>
                    <a:pt x="18646" y="1591"/>
                  </a:cubicBezTo>
                  <a:cubicBezTo>
                    <a:pt x="18480" y="1591"/>
                    <a:pt x="18234" y="1611"/>
                    <a:pt x="17892" y="1661"/>
                  </a:cubicBezTo>
                  <a:cubicBezTo>
                    <a:pt x="17658" y="1700"/>
                    <a:pt x="17463" y="1700"/>
                    <a:pt x="17307" y="1700"/>
                  </a:cubicBezTo>
                  <a:cubicBezTo>
                    <a:pt x="16740" y="1682"/>
                    <a:pt x="16841" y="1424"/>
                    <a:pt x="16004" y="1424"/>
                  </a:cubicBezTo>
                  <a:cubicBezTo>
                    <a:pt x="15948" y="1424"/>
                    <a:pt x="15888" y="1425"/>
                    <a:pt x="15824" y="1427"/>
                  </a:cubicBezTo>
                  <a:cubicBezTo>
                    <a:pt x="15704" y="1435"/>
                    <a:pt x="15587" y="1438"/>
                    <a:pt x="15473" y="1438"/>
                  </a:cubicBezTo>
                  <a:cubicBezTo>
                    <a:pt x="14454" y="1438"/>
                    <a:pt x="13694" y="1171"/>
                    <a:pt x="13969" y="1171"/>
                  </a:cubicBezTo>
                  <a:cubicBezTo>
                    <a:pt x="13985" y="1171"/>
                    <a:pt x="14005" y="1172"/>
                    <a:pt x="14029" y="1173"/>
                  </a:cubicBezTo>
                  <a:cubicBezTo>
                    <a:pt x="14045" y="1175"/>
                    <a:pt x="14064" y="1176"/>
                    <a:pt x="14084" y="1176"/>
                  </a:cubicBezTo>
                  <a:cubicBezTo>
                    <a:pt x="14608" y="1176"/>
                    <a:pt x="16294" y="702"/>
                    <a:pt x="16858" y="608"/>
                  </a:cubicBezTo>
                  <a:cubicBezTo>
                    <a:pt x="17352" y="525"/>
                    <a:pt x="17332" y="332"/>
                    <a:pt x="16670" y="332"/>
                  </a:cubicBezTo>
                  <a:cubicBezTo>
                    <a:pt x="16547" y="332"/>
                    <a:pt x="16402" y="339"/>
                    <a:pt x="16234" y="354"/>
                  </a:cubicBezTo>
                  <a:cubicBezTo>
                    <a:pt x="15068" y="445"/>
                    <a:pt x="13455" y="644"/>
                    <a:pt x="12056" y="644"/>
                  </a:cubicBezTo>
                  <a:cubicBezTo>
                    <a:pt x="11064" y="644"/>
                    <a:pt x="10181" y="544"/>
                    <a:pt x="9639" y="237"/>
                  </a:cubicBezTo>
                  <a:cubicBezTo>
                    <a:pt x="9329" y="68"/>
                    <a:pt x="9155" y="1"/>
                    <a:pt x="9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626708" y="2473900"/>
              <a:ext cx="1225673" cy="344470"/>
            </a:xfrm>
            <a:custGeom>
              <a:avLst/>
              <a:gdLst/>
              <a:ahLst/>
              <a:cxnLst/>
              <a:rect l="l" t="t" r="r" b="b"/>
              <a:pathLst>
                <a:path w="19125" h="5375" extrusionOk="0">
                  <a:moveTo>
                    <a:pt x="18648" y="1"/>
                  </a:moveTo>
                  <a:cubicBezTo>
                    <a:pt x="18482" y="1"/>
                    <a:pt x="18236" y="21"/>
                    <a:pt x="17894" y="71"/>
                  </a:cubicBezTo>
                  <a:cubicBezTo>
                    <a:pt x="17660" y="110"/>
                    <a:pt x="17465" y="110"/>
                    <a:pt x="17309" y="110"/>
                  </a:cubicBezTo>
                  <a:cubicBezTo>
                    <a:pt x="14988" y="1500"/>
                    <a:pt x="14063" y="1931"/>
                    <a:pt x="12494" y="1931"/>
                  </a:cubicBezTo>
                  <a:cubicBezTo>
                    <a:pt x="12190" y="1931"/>
                    <a:pt x="11861" y="1914"/>
                    <a:pt x="11494" y="1886"/>
                  </a:cubicBezTo>
                  <a:cubicBezTo>
                    <a:pt x="11294" y="1870"/>
                    <a:pt x="11126" y="1863"/>
                    <a:pt x="10986" y="1863"/>
                  </a:cubicBezTo>
                  <a:cubicBezTo>
                    <a:pt x="9563" y="1863"/>
                    <a:pt x="10933" y="2592"/>
                    <a:pt x="9837" y="2592"/>
                  </a:cubicBezTo>
                  <a:cubicBezTo>
                    <a:pt x="9690" y="2592"/>
                    <a:pt x="9499" y="2579"/>
                    <a:pt x="9250" y="2549"/>
                  </a:cubicBezTo>
                  <a:cubicBezTo>
                    <a:pt x="9090" y="2530"/>
                    <a:pt x="8954" y="2522"/>
                    <a:pt x="8839" y="2522"/>
                  </a:cubicBezTo>
                  <a:cubicBezTo>
                    <a:pt x="7464" y="2522"/>
                    <a:pt x="9161" y="3779"/>
                    <a:pt x="7994" y="3779"/>
                  </a:cubicBezTo>
                  <a:cubicBezTo>
                    <a:pt x="7853" y="3779"/>
                    <a:pt x="7671" y="3761"/>
                    <a:pt x="7436" y="3720"/>
                  </a:cubicBezTo>
                  <a:cubicBezTo>
                    <a:pt x="5738" y="3427"/>
                    <a:pt x="3943" y="2920"/>
                    <a:pt x="3065" y="2608"/>
                  </a:cubicBezTo>
                  <a:cubicBezTo>
                    <a:pt x="2729" y="2621"/>
                    <a:pt x="2522" y="2644"/>
                    <a:pt x="2189" y="2644"/>
                  </a:cubicBezTo>
                  <a:cubicBezTo>
                    <a:pt x="2040" y="2644"/>
                    <a:pt x="1865" y="2639"/>
                    <a:pt x="1641" y="2627"/>
                  </a:cubicBezTo>
                  <a:cubicBezTo>
                    <a:pt x="856" y="2568"/>
                    <a:pt x="223" y="2443"/>
                    <a:pt x="87" y="2443"/>
                  </a:cubicBezTo>
                  <a:cubicBezTo>
                    <a:pt x="0" y="2443"/>
                    <a:pt x="117" y="2494"/>
                    <a:pt x="529" y="2647"/>
                  </a:cubicBezTo>
                  <a:cubicBezTo>
                    <a:pt x="1621" y="3057"/>
                    <a:pt x="2499" y="3622"/>
                    <a:pt x="4177" y="3779"/>
                  </a:cubicBezTo>
                  <a:cubicBezTo>
                    <a:pt x="5547" y="3875"/>
                    <a:pt x="5879" y="4105"/>
                    <a:pt x="6536" y="4105"/>
                  </a:cubicBezTo>
                  <a:cubicBezTo>
                    <a:pt x="6674" y="4105"/>
                    <a:pt x="6827" y="4095"/>
                    <a:pt x="7006" y="4071"/>
                  </a:cubicBezTo>
                  <a:cubicBezTo>
                    <a:pt x="7145" y="4050"/>
                    <a:pt x="7283" y="4041"/>
                    <a:pt x="7414" y="4041"/>
                  </a:cubicBezTo>
                  <a:cubicBezTo>
                    <a:pt x="8252" y="4041"/>
                    <a:pt x="8839" y="4416"/>
                    <a:pt x="7592" y="4500"/>
                  </a:cubicBezTo>
                  <a:cubicBezTo>
                    <a:pt x="6148" y="4618"/>
                    <a:pt x="6363" y="4774"/>
                    <a:pt x="7241" y="4871"/>
                  </a:cubicBezTo>
                  <a:cubicBezTo>
                    <a:pt x="8158" y="4969"/>
                    <a:pt x="6148" y="5144"/>
                    <a:pt x="7826" y="5339"/>
                  </a:cubicBezTo>
                  <a:cubicBezTo>
                    <a:pt x="8087" y="5364"/>
                    <a:pt x="8334" y="5375"/>
                    <a:pt x="8567" y="5375"/>
                  </a:cubicBezTo>
                  <a:cubicBezTo>
                    <a:pt x="9810" y="5375"/>
                    <a:pt x="10647" y="5074"/>
                    <a:pt x="11123" y="5008"/>
                  </a:cubicBezTo>
                  <a:cubicBezTo>
                    <a:pt x="11689" y="4949"/>
                    <a:pt x="11884" y="4618"/>
                    <a:pt x="10831" y="4403"/>
                  </a:cubicBezTo>
                  <a:cubicBezTo>
                    <a:pt x="9777" y="4188"/>
                    <a:pt x="9348" y="3642"/>
                    <a:pt x="8841" y="3291"/>
                  </a:cubicBezTo>
                  <a:cubicBezTo>
                    <a:pt x="8590" y="3105"/>
                    <a:pt x="8733" y="3056"/>
                    <a:pt x="9082" y="3056"/>
                  </a:cubicBezTo>
                  <a:cubicBezTo>
                    <a:pt x="9466" y="3056"/>
                    <a:pt x="10100" y="3115"/>
                    <a:pt x="10733" y="3115"/>
                  </a:cubicBezTo>
                  <a:cubicBezTo>
                    <a:pt x="11962" y="3115"/>
                    <a:pt x="14558" y="3018"/>
                    <a:pt x="12997" y="2666"/>
                  </a:cubicBezTo>
                  <a:cubicBezTo>
                    <a:pt x="11436" y="2335"/>
                    <a:pt x="12665" y="2452"/>
                    <a:pt x="14265" y="2120"/>
                  </a:cubicBezTo>
                  <a:cubicBezTo>
                    <a:pt x="15884" y="1769"/>
                    <a:pt x="15104" y="1788"/>
                    <a:pt x="16216" y="1359"/>
                  </a:cubicBezTo>
                  <a:cubicBezTo>
                    <a:pt x="17309" y="910"/>
                    <a:pt x="17796" y="423"/>
                    <a:pt x="18440" y="286"/>
                  </a:cubicBezTo>
                  <a:cubicBezTo>
                    <a:pt x="18933" y="170"/>
                    <a:pt x="19124" y="1"/>
                    <a:pt x="18648" y="1"/>
                  </a:cubicBezTo>
                  <a:close/>
                </a:path>
              </a:pathLst>
            </a:custGeom>
            <a:solidFill>
              <a:srgbClr val="0088D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4765808" y="2220685"/>
              <a:ext cx="1378714" cy="813142"/>
            </a:xfrm>
            <a:custGeom>
              <a:avLst/>
              <a:gdLst/>
              <a:ahLst/>
              <a:cxnLst/>
              <a:rect l="l" t="t" r="r" b="b"/>
              <a:pathLst>
                <a:path w="21513" h="12688" extrusionOk="0">
                  <a:moveTo>
                    <a:pt x="755" y="1"/>
                  </a:moveTo>
                  <a:cubicBezTo>
                    <a:pt x="653" y="1"/>
                    <a:pt x="507" y="681"/>
                    <a:pt x="596" y="1271"/>
                  </a:cubicBezTo>
                  <a:cubicBezTo>
                    <a:pt x="733" y="2052"/>
                    <a:pt x="733" y="3125"/>
                    <a:pt x="1006" y="3671"/>
                  </a:cubicBezTo>
                  <a:cubicBezTo>
                    <a:pt x="1175" y="4065"/>
                    <a:pt x="1466" y="4449"/>
                    <a:pt x="1373" y="4449"/>
                  </a:cubicBezTo>
                  <a:cubicBezTo>
                    <a:pt x="1337" y="4449"/>
                    <a:pt x="1244" y="4392"/>
                    <a:pt x="1064" y="4256"/>
                  </a:cubicBezTo>
                  <a:cubicBezTo>
                    <a:pt x="559" y="3874"/>
                    <a:pt x="103" y="3180"/>
                    <a:pt x="23" y="3180"/>
                  </a:cubicBezTo>
                  <a:cubicBezTo>
                    <a:pt x="1" y="3180"/>
                    <a:pt x="8" y="3232"/>
                    <a:pt x="50" y="3359"/>
                  </a:cubicBezTo>
                  <a:cubicBezTo>
                    <a:pt x="245" y="3944"/>
                    <a:pt x="1045" y="4803"/>
                    <a:pt x="1298" y="5388"/>
                  </a:cubicBezTo>
                  <a:cubicBezTo>
                    <a:pt x="1533" y="5993"/>
                    <a:pt x="3152" y="7164"/>
                    <a:pt x="3562" y="7905"/>
                  </a:cubicBezTo>
                  <a:cubicBezTo>
                    <a:pt x="3972" y="8627"/>
                    <a:pt x="5591" y="9876"/>
                    <a:pt x="6703" y="10578"/>
                  </a:cubicBezTo>
                  <a:cubicBezTo>
                    <a:pt x="7835" y="11281"/>
                    <a:pt x="10625" y="12315"/>
                    <a:pt x="11484" y="12588"/>
                  </a:cubicBezTo>
                  <a:cubicBezTo>
                    <a:pt x="11715" y="12656"/>
                    <a:pt x="11866" y="12688"/>
                    <a:pt x="11944" y="12688"/>
                  </a:cubicBezTo>
                  <a:cubicBezTo>
                    <a:pt x="12157" y="12688"/>
                    <a:pt x="11841" y="12456"/>
                    <a:pt x="11171" y="12100"/>
                  </a:cubicBezTo>
                  <a:cubicBezTo>
                    <a:pt x="10235" y="11612"/>
                    <a:pt x="9806" y="11047"/>
                    <a:pt x="8420" y="10168"/>
                  </a:cubicBezTo>
                  <a:cubicBezTo>
                    <a:pt x="7358" y="9505"/>
                    <a:pt x="6809" y="8785"/>
                    <a:pt x="7135" y="8785"/>
                  </a:cubicBezTo>
                  <a:cubicBezTo>
                    <a:pt x="7241" y="8785"/>
                    <a:pt x="7437" y="8861"/>
                    <a:pt x="7737" y="9037"/>
                  </a:cubicBezTo>
                  <a:cubicBezTo>
                    <a:pt x="8928" y="9778"/>
                    <a:pt x="12381" y="10949"/>
                    <a:pt x="14040" y="11066"/>
                  </a:cubicBezTo>
                  <a:cubicBezTo>
                    <a:pt x="15361" y="11157"/>
                    <a:pt x="16848" y="11438"/>
                    <a:pt x="18335" y="11438"/>
                  </a:cubicBezTo>
                  <a:cubicBezTo>
                    <a:pt x="18758" y="11438"/>
                    <a:pt x="19181" y="11415"/>
                    <a:pt x="19600" y="11359"/>
                  </a:cubicBezTo>
                  <a:cubicBezTo>
                    <a:pt x="21513" y="11125"/>
                    <a:pt x="19015" y="11261"/>
                    <a:pt x="18079" y="10988"/>
                  </a:cubicBezTo>
                  <a:cubicBezTo>
                    <a:pt x="17747" y="10890"/>
                    <a:pt x="17240" y="10734"/>
                    <a:pt x="16674" y="10539"/>
                  </a:cubicBezTo>
                  <a:cubicBezTo>
                    <a:pt x="15581" y="10110"/>
                    <a:pt x="14274" y="9583"/>
                    <a:pt x="13727" y="9232"/>
                  </a:cubicBezTo>
                  <a:cubicBezTo>
                    <a:pt x="13473" y="9076"/>
                    <a:pt x="13428" y="9021"/>
                    <a:pt x="13508" y="9021"/>
                  </a:cubicBezTo>
                  <a:cubicBezTo>
                    <a:pt x="13700" y="9021"/>
                    <a:pt x="14599" y="9329"/>
                    <a:pt x="15093" y="9329"/>
                  </a:cubicBezTo>
                  <a:cubicBezTo>
                    <a:pt x="15796" y="9329"/>
                    <a:pt x="15737" y="9310"/>
                    <a:pt x="14957" y="9115"/>
                  </a:cubicBezTo>
                  <a:cubicBezTo>
                    <a:pt x="14248" y="8929"/>
                    <a:pt x="13831" y="8495"/>
                    <a:pt x="14552" y="8495"/>
                  </a:cubicBezTo>
                  <a:cubicBezTo>
                    <a:pt x="14665" y="8495"/>
                    <a:pt x="14805" y="8506"/>
                    <a:pt x="14976" y="8530"/>
                  </a:cubicBezTo>
                  <a:cubicBezTo>
                    <a:pt x="15182" y="8558"/>
                    <a:pt x="15388" y="8570"/>
                    <a:pt x="15579" y="8570"/>
                  </a:cubicBezTo>
                  <a:cubicBezTo>
                    <a:pt x="16587" y="8570"/>
                    <a:pt x="17203" y="8235"/>
                    <a:pt x="15366" y="8120"/>
                  </a:cubicBezTo>
                  <a:cubicBezTo>
                    <a:pt x="12245" y="7905"/>
                    <a:pt x="11425" y="7281"/>
                    <a:pt x="10176" y="6559"/>
                  </a:cubicBezTo>
                  <a:cubicBezTo>
                    <a:pt x="9636" y="6235"/>
                    <a:pt x="9309" y="6084"/>
                    <a:pt x="9173" y="6084"/>
                  </a:cubicBezTo>
                  <a:cubicBezTo>
                    <a:pt x="8991" y="6084"/>
                    <a:pt x="9159" y="6358"/>
                    <a:pt x="9630" y="6851"/>
                  </a:cubicBezTo>
                  <a:cubicBezTo>
                    <a:pt x="10352" y="7573"/>
                    <a:pt x="11363" y="8323"/>
                    <a:pt x="10913" y="8323"/>
                  </a:cubicBezTo>
                  <a:cubicBezTo>
                    <a:pt x="10828" y="8323"/>
                    <a:pt x="10690" y="8296"/>
                    <a:pt x="10488" y="8237"/>
                  </a:cubicBezTo>
                  <a:cubicBezTo>
                    <a:pt x="9220" y="7866"/>
                    <a:pt x="6976" y="6812"/>
                    <a:pt x="5006" y="5622"/>
                  </a:cubicBezTo>
                  <a:cubicBezTo>
                    <a:pt x="3015" y="4452"/>
                    <a:pt x="2040" y="2754"/>
                    <a:pt x="1533" y="2208"/>
                  </a:cubicBezTo>
                  <a:lnTo>
                    <a:pt x="1513" y="2188"/>
                  </a:lnTo>
                  <a:cubicBezTo>
                    <a:pt x="986" y="1661"/>
                    <a:pt x="869" y="900"/>
                    <a:pt x="830" y="237"/>
                  </a:cubicBezTo>
                  <a:cubicBezTo>
                    <a:pt x="816" y="71"/>
                    <a:pt x="788" y="1"/>
                    <a:pt x="7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4765808" y="2219275"/>
              <a:ext cx="1378714" cy="814552"/>
            </a:xfrm>
            <a:custGeom>
              <a:avLst/>
              <a:gdLst/>
              <a:ahLst/>
              <a:cxnLst/>
              <a:rect l="l" t="t" r="r" b="b"/>
              <a:pathLst>
                <a:path w="21513" h="12710" extrusionOk="0">
                  <a:moveTo>
                    <a:pt x="707" y="0"/>
                  </a:moveTo>
                  <a:cubicBezTo>
                    <a:pt x="613" y="0"/>
                    <a:pt x="469" y="666"/>
                    <a:pt x="557" y="1254"/>
                  </a:cubicBezTo>
                  <a:cubicBezTo>
                    <a:pt x="674" y="2035"/>
                    <a:pt x="674" y="3108"/>
                    <a:pt x="947" y="3674"/>
                  </a:cubicBezTo>
                  <a:cubicBezTo>
                    <a:pt x="1130" y="4068"/>
                    <a:pt x="1415" y="4452"/>
                    <a:pt x="1325" y="4452"/>
                  </a:cubicBezTo>
                  <a:cubicBezTo>
                    <a:pt x="1290" y="4452"/>
                    <a:pt x="1199" y="4395"/>
                    <a:pt x="1025" y="4259"/>
                  </a:cubicBezTo>
                  <a:cubicBezTo>
                    <a:pt x="551" y="3892"/>
                    <a:pt x="101" y="3202"/>
                    <a:pt x="23" y="3202"/>
                  </a:cubicBezTo>
                  <a:cubicBezTo>
                    <a:pt x="1" y="3202"/>
                    <a:pt x="7" y="3254"/>
                    <a:pt x="50" y="3381"/>
                  </a:cubicBezTo>
                  <a:cubicBezTo>
                    <a:pt x="245" y="3966"/>
                    <a:pt x="1045" y="4825"/>
                    <a:pt x="1298" y="5410"/>
                  </a:cubicBezTo>
                  <a:cubicBezTo>
                    <a:pt x="1533" y="6015"/>
                    <a:pt x="3152" y="7186"/>
                    <a:pt x="3562" y="7927"/>
                  </a:cubicBezTo>
                  <a:cubicBezTo>
                    <a:pt x="3972" y="8649"/>
                    <a:pt x="5591" y="9898"/>
                    <a:pt x="6703" y="10600"/>
                  </a:cubicBezTo>
                  <a:cubicBezTo>
                    <a:pt x="7835" y="11303"/>
                    <a:pt x="10625" y="12337"/>
                    <a:pt x="11484" y="12610"/>
                  </a:cubicBezTo>
                  <a:cubicBezTo>
                    <a:pt x="11715" y="12678"/>
                    <a:pt x="11866" y="12710"/>
                    <a:pt x="11944" y="12710"/>
                  </a:cubicBezTo>
                  <a:cubicBezTo>
                    <a:pt x="12157" y="12710"/>
                    <a:pt x="11841" y="12478"/>
                    <a:pt x="11171" y="12122"/>
                  </a:cubicBezTo>
                  <a:cubicBezTo>
                    <a:pt x="10235" y="11634"/>
                    <a:pt x="9806" y="11069"/>
                    <a:pt x="8420" y="10190"/>
                  </a:cubicBezTo>
                  <a:cubicBezTo>
                    <a:pt x="7358" y="9527"/>
                    <a:pt x="6809" y="8807"/>
                    <a:pt x="7135" y="8807"/>
                  </a:cubicBezTo>
                  <a:cubicBezTo>
                    <a:pt x="7241" y="8807"/>
                    <a:pt x="7437" y="8883"/>
                    <a:pt x="7737" y="9059"/>
                  </a:cubicBezTo>
                  <a:cubicBezTo>
                    <a:pt x="8928" y="9800"/>
                    <a:pt x="12381" y="10971"/>
                    <a:pt x="14040" y="11088"/>
                  </a:cubicBezTo>
                  <a:cubicBezTo>
                    <a:pt x="15361" y="11179"/>
                    <a:pt x="16848" y="11460"/>
                    <a:pt x="18335" y="11460"/>
                  </a:cubicBezTo>
                  <a:cubicBezTo>
                    <a:pt x="18758" y="11460"/>
                    <a:pt x="19181" y="11437"/>
                    <a:pt x="19600" y="11381"/>
                  </a:cubicBezTo>
                  <a:cubicBezTo>
                    <a:pt x="21513" y="11147"/>
                    <a:pt x="19015" y="11283"/>
                    <a:pt x="18079" y="11010"/>
                  </a:cubicBezTo>
                  <a:cubicBezTo>
                    <a:pt x="17747" y="10912"/>
                    <a:pt x="17240" y="10756"/>
                    <a:pt x="16674" y="10561"/>
                  </a:cubicBezTo>
                  <a:cubicBezTo>
                    <a:pt x="14801" y="10503"/>
                    <a:pt x="11152" y="10210"/>
                    <a:pt x="8869" y="8961"/>
                  </a:cubicBezTo>
                  <a:cubicBezTo>
                    <a:pt x="7331" y="8103"/>
                    <a:pt x="6291" y="7754"/>
                    <a:pt x="5777" y="7754"/>
                  </a:cubicBezTo>
                  <a:cubicBezTo>
                    <a:pt x="5274" y="7754"/>
                    <a:pt x="5275" y="8089"/>
                    <a:pt x="5806" y="8610"/>
                  </a:cubicBezTo>
                  <a:cubicBezTo>
                    <a:pt x="6201" y="8998"/>
                    <a:pt x="6220" y="9169"/>
                    <a:pt x="6027" y="9169"/>
                  </a:cubicBezTo>
                  <a:cubicBezTo>
                    <a:pt x="5706" y="9169"/>
                    <a:pt x="4800" y="8697"/>
                    <a:pt x="4069" y="7966"/>
                  </a:cubicBezTo>
                  <a:cubicBezTo>
                    <a:pt x="2996" y="6893"/>
                    <a:pt x="1435" y="4513"/>
                    <a:pt x="1455" y="2191"/>
                  </a:cubicBezTo>
                  <a:cubicBezTo>
                    <a:pt x="947" y="1644"/>
                    <a:pt x="830" y="903"/>
                    <a:pt x="772" y="240"/>
                  </a:cubicBezTo>
                  <a:cubicBezTo>
                    <a:pt x="762" y="71"/>
                    <a:pt x="737" y="0"/>
                    <a:pt x="707" y="0"/>
                  </a:cubicBezTo>
                  <a:close/>
                </a:path>
              </a:pathLst>
            </a:custGeom>
            <a:solidFill>
              <a:srgbClr val="0088D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6480879" y="2378280"/>
              <a:ext cx="1217278" cy="805580"/>
            </a:xfrm>
            <a:custGeom>
              <a:avLst/>
              <a:gdLst/>
              <a:ahLst/>
              <a:cxnLst/>
              <a:rect l="l" t="t" r="r" b="b"/>
              <a:pathLst>
                <a:path w="18994" h="12570" extrusionOk="0">
                  <a:moveTo>
                    <a:pt x="13698" y="4919"/>
                  </a:moveTo>
                  <a:cubicBezTo>
                    <a:pt x="13683" y="4919"/>
                    <a:pt x="13680" y="4919"/>
                    <a:pt x="13671" y="4934"/>
                  </a:cubicBezTo>
                  <a:lnTo>
                    <a:pt x="13671" y="4934"/>
                  </a:lnTo>
                  <a:cubicBezTo>
                    <a:pt x="13684" y="4927"/>
                    <a:pt x="13693" y="4922"/>
                    <a:pt x="13698" y="4919"/>
                  </a:cubicBezTo>
                  <a:close/>
                  <a:moveTo>
                    <a:pt x="18931" y="0"/>
                  </a:moveTo>
                  <a:cubicBezTo>
                    <a:pt x="18791" y="0"/>
                    <a:pt x="18346" y="1197"/>
                    <a:pt x="17971" y="1739"/>
                  </a:cubicBezTo>
                  <a:cubicBezTo>
                    <a:pt x="17658" y="2168"/>
                    <a:pt x="16839" y="3358"/>
                    <a:pt x="15512" y="4490"/>
                  </a:cubicBezTo>
                  <a:cubicBezTo>
                    <a:pt x="14556" y="5271"/>
                    <a:pt x="13366" y="6031"/>
                    <a:pt x="11863" y="6461"/>
                  </a:cubicBezTo>
                  <a:cubicBezTo>
                    <a:pt x="13093" y="5778"/>
                    <a:pt x="13327" y="5173"/>
                    <a:pt x="13659" y="4958"/>
                  </a:cubicBezTo>
                  <a:cubicBezTo>
                    <a:pt x="13664" y="4947"/>
                    <a:pt x="13668" y="4940"/>
                    <a:pt x="13671" y="4934"/>
                  </a:cubicBezTo>
                  <a:lnTo>
                    <a:pt x="13671" y="4934"/>
                  </a:lnTo>
                  <a:cubicBezTo>
                    <a:pt x="13468" y="5051"/>
                    <a:pt x="12296" y="5759"/>
                    <a:pt x="12039" y="5778"/>
                  </a:cubicBezTo>
                  <a:cubicBezTo>
                    <a:pt x="12021" y="5781"/>
                    <a:pt x="12008" y="5783"/>
                    <a:pt x="11999" y="5783"/>
                  </a:cubicBezTo>
                  <a:cubicBezTo>
                    <a:pt x="11854" y="5783"/>
                    <a:pt x="12682" y="5357"/>
                    <a:pt x="13268" y="4568"/>
                  </a:cubicBezTo>
                  <a:cubicBezTo>
                    <a:pt x="13931" y="3597"/>
                    <a:pt x="15263" y="1142"/>
                    <a:pt x="14996" y="1142"/>
                  </a:cubicBezTo>
                  <a:cubicBezTo>
                    <a:pt x="14925" y="1142"/>
                    <a:pt x="14741" y="1316"/>
                    <a:pt x="14400" y="1739"/>
                  </a:cubicBezTo>
                  <a:cubicBezTo>
                    <a:pt x="11922" y="4783"/>
                    <a:pt x="7707" y="6578"/>
                    <a:pt x="3844" y="6578"/>
                  </a:cubicBezTo>
                  <a:cubicBezTo>
                    <a:pt x="0" y="6617"/>
                    <a:pt x="742" y="7534"/>
                    <a:pt x="2927" y="7788"/>
                  </a:cubicBezTo>
                  <a:cubicBezTo>
                    <a:pt x="5093" y="8022"/>
                    <a:pt x="5190" y="8197"/>
                    <a:pt x="4586" y="8295"/>
                  </a:cubicBezTo>
                  <a:cubicBezTo>
                    <a:pt x="3961" y="8392"/>
                    <a:pt x="6244" y="8373"/>
                    <a:pt x="4976" y="8763"/>
                  </a:cubicBezTo>
                  <a:cubicBezTo>
                    <a:pt x="3727" y="9153"/>
                    <a:pt x="2498" y="9114"/>
                    <a:pt x="3473" y="9212"/>
                  </a:cubicBezTo>
                  <a:cubicBezTo>
                    <a:pt x="4423" y="9307"/>
                    <a:pt x="4781" y="9994"/>
                    <a:pt x="2818" y="9994"/>
                  </a:cubicBezTo>
                  <a:cubicBezTo>
                    <a:pt x="2765" y="9994"/>
                    <a:pt x="2710" y="9993"/>
                    <a:pt x="2654" y="9992"/>
                  </a:cubicBezTo>
                  <a:cubicBezTo>
                    <a:pt x="2147" y="9992"/>
                    <a:pt x="1698" y="9992"/>
                    <a:pt x="1366" y="10031"/>
                  </a:cubicBezTo>
                  <a:cubicBezTo>
                    <a:pt x="215" y="10070"/>
                    <a:pt x="0" y="10246"/>
                    <a:pt x="1327" y="10519"/>
                  </a:cubicBezTo>
                  <a:cubicBezTo>
                    <a:pt x="2788" y="10789"/>
                    <a:pt x="3939" y="10956"/>
                    <a:pt x="5159" y="10956"/>
                  </a:cubicBezTo>
                  <a:cubicBezTo>
                    <a:pt x="5437" y="10956"/>
                    <a:pt x="5720" y="10947"/>
                    <a:pt x="6010" y="10929"/>
                  </a:cubicBezTo>
                  <a:cubicBezTo>
                    <a:pt x="6078" y="10926"/>
                    <a:pt x="6141" y="10925"/>
                    <a:pt x="6200" y="10925"/>
                  </a:cubicBezTo>
                  <a:cubicBezTo>
                    <a:pt x="7532" y="10925"/>
                    <a:pt x="6408" y="11540"/>
                    <a:pt x="4800" y="11690"/>
                  </a:cubicBezTo>
                  <a:cubicBezTo>
                    <a:pt x="4140" y="11744"/>
                    <a:pt x="3588" y="11777"/>
                    <a:pt x="3103" y="11777"/>
                  </a:cubicBezTo>
                  <a:cubicBezTo>
                    <a:pt x="2371" y="11777"/>
                    <a:pt x="1793" y="11702"/>
                    <a:pt x="1230" y="11514"/>
                  </a:cubicBezTo>
                  <a:cubicBezTo>
                    <a:pt x="1135" y="11481"/>
                    <a:pt x="1060" y="11467"/>
                    <a:pt x="1003" y="11467"/>
                  </a:cubicBezTo>
                  <a:cubicBezTo>
                    <a:pt x="521" y="11467"/>
                    <a:pt x="1419" y="12533"/>
                    <a:pt x="3864" y="12568"/>
                  </a:cubicBezTo>
                  <a:cubicBezTo>
                    <a:pt x="3944" y="12569"/>
                    <a:pt x="4025" y="12570"/>
                    <a:pt x="4106" y="12570"/>
                  </a:cubicBezTo>
                  <a:cubicBezTo>
                    <a:pt x="6746" y="12570"/>
                    <a:pt x="9214" y="11952"/>
                    <a:pt x="11902" y="10948"/>
                  </a:cubicBezTo>
                  <a:cubicBezTo>
                    <a:pt x="13908" y="10209"/>
                    <a:pt x="14255" y="9718"/>
                    <a:pt x="13834" y="9718"/>
                  </a:cubicBezTo>
                  <a:cubicBezTo>
                    <a:pt x="13678" y="9718"/>
                    <a:pt x="13415" y="9786"/>
                    <a:pt x="13093" y="9934"/>
                  </a:cubicBezTo>
                  <a:cubicBezTo>
                    <a:pt x="12664" y="10124"/>
                    <a:pt x="12407" y="10194"/>
                    <a:pt x="12281" y="10194"/>
                  </a:cubicBezTo>
                  <a:cubicBezTo>
                    <a:pt x="12057" y="10194"/>
                    <a:pt x="12243" y="9972"/>
                    <a:pt x="12605" y="9797"/>
                  </a:cubicBezTo>
                  <a:cubicBezTo>
                    <a:pt x="12994" y="9596"/>
                    <a:pt x="13069" y="9422"/>
                    <a:pt x="12869" y="9422"/>
                  </a:cubicBezTo>
                  <a:cubicBezTo>
                    <a:pt x="12778" y="9422"/>
                    <a:pt x="12630" y="9458"/>
                    <a:pt x="12429" y="9544"/>
                  </a:cubicBezTo>
                  <a:cubicBezTo>
                    <a:pt x="12315" y="9590"/>
                    <a:pt x="12236" y="9610"/>
                    <a:pt x="12185" y="9610"/>
                  </a:cubicBezTo>
                  <a:cubicBezTo>
                    <a:pt x="11958" y="9610"/>
                    <a:pt x="12311" y="9215"/>
                    <a:pt x="12741" y="9056"/>
                  </a:cubicBezTo>
                  <a:cubicBezTo>
                    <a:pt x="12878" y="9007"/>
                    <a:pt x="12867" y="8995"/>
                    <a:pt x="12793" y="8995"/>
                  </a:cubicBezTo>
                  <a:cubicBezTo>
                    <a:pt x="12719" y="8995"/>
                    <a:pt x="12582" y="9007"/>
                    <a:pt x="12466" y="9007"/>
                  </a:cubicBezTo>
                  <a:cubicBezTo>
                    <a:pt x="12234" y="9007"/>
                    <a:pt x="12088" y="8958"/>
                    <a:pt x="12702" y="8666"/>
                  </a:cubicBezTo>
                  <a:cubicBezTo>
                    <a:pt x="13912" y="8080"/>
                    <a:pt x="15668" y="5836"/>
                    <a:pt x="16527" y="4900"/>
                  </a:cubicBezTo>
                  <a:cubicBezTo>
                    <a:pt x="17385" y="3983"/>
                    <a:pt x="18673" y="2480"/>
                    <a:pt x="18927" y="705"/>
                  </a:cubicBezTo>
                  <a:cubicBezTo>
                    <a:pt x="18994" y="195"/>
                    <a:pt x="18987" y="0"/>
                    <a:pt x="189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6478379" y="2378280"/>
              <a:ext cx="1219777" cy="805580"/>
            </a:xfrm>
            <a:custGeom>
              <a:avLst/>
              <a:gdLst/>
              <a:ahLst/>
              <a:cxnLst/>
              <a:rect l="l" t="t" r="r" b="b"/>
              <a:pathLst>
                <a:path w="19033" h="12570" extrusionOk="0">
                  <a:moveTo>
                    <a:pt x="18970" y="0"/>
                  </a:moveTo>
                  <a:cubicBezTo>
                    <a:pt x="18830" y="0"/>
                    <a:pt x="18385" y="1197"/>
                    <a:pt x="18010" y="1739"/>
                  </a:cubicBezTo>
                  <a:cubicBezTo>
                    <a:pt x="17697" y="2168"/>
                    <a:pt x="16878" y="3358"/>
                    <a:pt x="15551" y="4490"/>
                  </a:cubicBezTo>
                  <a:cubicBezTo>
                    <a:pt x="14907" y="6168"/>
                    <a:pt x="13698" y="7202"/>
                    <a:pt x="11844" y="8100"/>
                  </a:cubicBezTo>
                  <a:cubicBezTo>
                    <a:pt x="9698" y="9114"/>
                    <a:pt x="12683" y="9661"/>
                    <a:pt x="10634" y="10363"/>
                  </a:cubicBezTo>
                  <a:cubicBezTo>
                    <a:pt x="10186" y="10525"/>
                    <a:pt x="9937" y="10587"/>
                    <a:pt x="9792" y="10587"/>
                  </a:cubicBezTo>
                  <a:cubicBezTo>
                    <a:pt x="9338" y="10587"/>
                    <a:pt x="9895" y="9990"/>
                    <a:pt x="8584" y="9990"/>
                  </a:cubicBezTo>
                  <a:cubicBezTo>
                    <a:pt x="8393" y="9990"/>
                    <a:pt x="8163" y="10002"/>
                    <a:pt x="7883" y="10031"/>
                  </a:cubicBezTo>
                  <a:cubicBezTo>
                    <a:pt x="6485" y="10170"/>
                    <a:pt x="4999" y="10322"/>
                    <a:pt x="3699" y="10322"/>
                  </a:cubicBezTo>
                  <a:cubicBezTo>
                    <a:pt x="2803" y="10322"/>
                    <a:pt x="1995" y="10250"/>
                    <a:pt x="1366" y="10051"/>
                  </a:cubicBezTo>
                  <a:cubicBezTo>
                    <a:pt x="234" y="10090"/>
                    <a:pt x="0" y="10266"/>
                    <a:pt x="1347" y="10539"/>
                  </a:cubicBezTo>
                  <a:cubicBezTo>
                    <a:pt x="2792" y="10809"/>
                    <a:pt x="3953" y="10975"/>
                    <a:pt x="5177" y="10975"/>
                  </a:cubicBezTo>
                  <a:cubicBezTo>
                    <a:pt x="5456" y="10975"/>
                    <a:pt x="5739" y="10967"/>
                    <a:pt x="6029" y="10948"/>
                  </a:cubicBezTo>
                  <a:cubicBezTo>
                    <a:pt x="6120" y="10944"/>
                    <a:pt x="6202" y="10942"/>
                    <a:pt x="6276" y="10942"/>
                  </a:cubicBezTo>
                  <a:cubicBezTo>
                    <a:pt x="7540" y="10942"/>
                    <a:pt x="6425" y="11542"/>
                    <a:pt x="4839" y="11690"/>
                  </a:cubicBezTo>
                  <a:cubicBezTo>
                    <a:pt x="4179" y="11744"/>
                    <a:pt x="3627" y="11777"/>
                    <a:pt x="3142" y="11777"/>
                  </a:cubicBezTo>
                  <a:cubicBezTo>
                    <a:pt x="2410" y="11777"/>
                    <a:pt x="1832" y="11702"/>
                    <a:pt x="1269" y="11514"/>
                  </a:cubicBezTo>
                  <a:cubicBezTo>
                    <a:pt x="1174" y="11481"/>
                    <a:pt x="1099" y="11467"/>
                    <a:pt x="1042" y="11467"/>
                  </a:cubicBezTo>
                  <a:cubicBezTo>
                    <a:pt x="560" y="11467"/>
                    <a:pt x="1458" y="12533"/>
                    <a:pt x="3903" y="12568"/>
                  </a:cubicBezTo>
                  <a:cubicBezTo>
                    <a:pt x="3983" y="12569"/>
                    <a:pt x="4064" y="12570"/>
                    <a:pt x="4145" y="12570"/>
                  </a:cubicBezTo>
                  <a:cubicBezTo>
                    <a:pt x="6785" y="12570"/>
                    <a:pt x="9253" y="11952"/>
                    <a:pt x="11941" y="10948"/>
                  </a:cubicBezTo>
                  <a:cubicBezTo>
                    <a:pt x="13947" y="10209"/>
                    <a:pt x="14294" y="9718"/>
                    <a:pt x="13873" y="9718"/>
                  </a:cubicBezTo>
                  <a:cubicBezTo>
                    <a:pt x="13717" y="9718"/>
                    <a:pt x="13454" y="9786"/>
                    <a:pt x="13132" y="9934"/>
                  </a:cubicBezTo>
                  <a:cubicBezTo>
                    <a:pt x="12703" y="10124"/>
                    <a:pt x="12446" y="10194"/>
                    <a:pt x="12320" y="10194"/>
                  </a:cubicBezTo>
                  <a:cubicBezTo>
                    <a:pt x="12096" y="10194"/>
                    <a:pt x="12282" y="9972"/>
                    <a:pt x="12644" y="9797"/>
                  </a:cubicBezTo>
                  <a:cubicBezTo>
                    <a:pt x="13033" y="9596"/>
                    <a:pt x="13108" y="9422"/>
                    <a:pt x="12908" y="9422"/>
                  </a:cubicBezTo>
                  <a:cubicBezTo>
                    <a:pt x="12817" y="9422"/>
                    <a:pt x="12669" y="9458"/>
                    <a:pt x="12468" y="9544"/>
                  </a:cubicBezTo>
                  <a:cubicBezTo>
                    <a:pt x="12354" y="9590"/>
                    <a:pt x="12275" y="9610"/>
                    <a:pt x="12224" y="9610"/>
                  </a:cubicBezTo>
                  <a:cubicBezTo>
                    <a:pt x="11997" y="9610"/>
                    <a:pt x="12350" y="9215"/>
                    <a:pt x="12780" y="9056"/>
                  </a:cubicBezTo>
                  <a:cubicBezTo>
                    <a:pt x="12917" y="9007"/>
                    <a:pt x="12906" y="8995"/>
                    <a:pt x="12832" y="8995"/>
                  </a:cubicBezTo>
                  <a:cubicBezTo>
                    <a:pt x="12758" y="8995"/>
                    <a:pt x="12621" y="9007"/>
                    <a:pt x="12505" y="9007"/>
                  </a:cubicBezTo>
                  <a:cubicBezTo>
                    <a:pt x="12273" y="9007"/>
                    <a:pt x="12127" y="8958"/>
                    <a:pt x="12741" y="8666"/>
                  </a:cubicBezTo>
                  <a:cubicBezTo>
                    <a:pt x="13951" y="8080"/>
                    <a:pt x="15707" y="5836"/>
                    <a:pt x="16566" y="4900"/>
                  </a:cubicBezTo>
                  <a:cubicBezTo>
                    <a:pt x="17424" y="3983"/>
                    <a:pt x="18712" y="2480"/>
                    <a:pt x="18966" y="705"/>
                  </a:cubicBezTo>
                  <a:cubicBezTo>
                    <a:pt x="19033" y="195"/>
                    <a:pt x="19026" y="0"/>
                    <a:pt x="18970" y="0"/>
                  </a:cubicBezTo>
                  <a:close/>
                </a:path>
              </a:pathLst>
            </a:custGeom>
            <a:solidFill>
              <a:srgbClr val="0088D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dk2"/>
            </a:gs>
            <a:gs pos="100000">
              <a:schemeClr val="lt2"/>
            </a:gs>
          </a:gsLst>
          <a:lin ang="10800025" scaled="0"/>
        </a:gradFill>
        <a:effectLst/>
      </p:bgPr>
    </p:bg>
    <p:spTree>
      <p:nvGrpSpPr>
        <p:cNvPr id="1" name="Shape 39"/>
        <p:cNvGrpSpPr/>
        <p:nvPr/>
      </p:nvGrpSpPr>
      <p:grpSpPr>
        <a:xfrm>
          <a:off x="0" y="0"/>
          <a:ext cx="0" cy="0"/>
          <a:chOff x="0" y="0"/>
          <a:chExt cx="0" cy="0"/>
        </a:xfrm>
      </p:grpSpPr>
      <p:sp>
        <p:nvSpPr>
          <p:cNvPr id="40" name="Google Shape;40;p3"/>
          <p:cNvSpPr txBox="1">
            <a:spLocks noGrp="1"/>
          </p:cNvSpPr>
          <p:nvPr>
            <p:ph type="title"/>
          </p:nvPr>
        </p:nvSpPr>
        <p:spPr>
          <a:xfrm>
            <a:off x="4147675" y="2529125"/>
            <a:ext cx="4731300" cy="5307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3600"/>
              <a:buNone/>
              <a:defRPr sz="3500">
                <a:solidFill>
                  <a:schemeClr val="dk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1" name="Google Shape;41;p3"/>
          <p:cNvSpPr txBox="1">
            <a:spLocks noGrp="1"/>
          </p:cNvSpPr>
          <p:nvPr>
            <p:ph type="subTitle" idx="1"/>
          </p:nvPr>
        </p:nvSpPr>
        <p:spPr>
          <a:xfrm>
            <a:off x="5010175" y="3116825"/>
            <a:ext cx="2975100" cy="695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2" name="Google Shape;42;p3"/>
          <p:cNvSpPr txBox="1">
            <a:spLocks noGrp="1"/>
          </p:cNvSpPr>
          <p:nvPr>
            <p:ph type="title" idx="2" hasCustomPrompt="1"/>
          </p:nvPr>
        </p:nvSpPr>
        <p:spPr>
          <a:xfrm>
            <a:off x="5577925" y="1331263"/>
            <a:ext cx="1839600" cy="1153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2"/>
              </a:buClr>
              <a:buSzPts val="12000"/>
              <a:buNone/>
              <a:defRPr sz="6500"/>
            </a:lvl1pPr>
            <a:lvl2pPr lvl="1" algn="ctr" rtl="0">
              <a:spcBef>
                <a:spcPts val="0"/>
              </a:spcBef>
              <a:spcAft>
                <a:spcPts val="0"/>
              </a:spcAft>
              <a:buClr>
                <a:schemeClr val="accent5"/>
              </a:buClr>
              <a:buSzPts val="12000"/>
              <a:buNone/>
              <a:defRPr sz="12000">
                <a:solidFill>
                  <a:schemeClr val="accent5"/>
                </a:solidFill>
              </a:defRPr>
            </a:lvl2pPr>
            <a:lvl3pPr lvl="2" algn="ctr" rtl="0">
              <a:spcBef>
                <a:spcPts val="0"/>
              </a:spcBef>
              <a:spcAft>
                <a:spcPts val="0"/>
              </a:spcAft>
              <a:buClr>
                <a:schemeClr val="accent5"/>
              </a:buClr>
              <a:buSzPts val="12000"/>
              <a:buNone/>
              <a:defRPr sz="12000">
                <a:solidFill>
                  <a:schemeClr val="accent5"/>
                </a:solidFill>
              </a:defRPr>
            </a:lvl3pPr>
            <a:lvl4pPr lvl="3" algn="ctr" rtl="0">
              <a:spcBef>
                <a:spcPts val="0"/>
              </a:spcBef>
              <a:spcAft>
                <a:spcPts val="0"/>
              </a:spcAft>
              <a:buClr>
                <a:schemeClr val="accent5"/>
              </a:buClr>
              <a:buSzPts val="12000"/>
              <a:buNone/>
              <a:defRPr sz="12000">
                <a:solidFill>
                  <a:schemeClr val="accent5"/>
                </a:solidFill>
              </a:defRPr>
            </a:lvl4pPr>
            <a:lvl5pPr lvl="4" algn="ctr" rtl="0">
              <a:spcBef>
                <a:spcPts val="0"/>
              </a:spcBef>
              <a:spcAft>
                <a:spcPts val="0"/>
              </a:spcAft>
              <a:buClr>
                <a:schemeClr val="accent5"/>
              </a:buClr>
              <a:buSzPts val="12000"/>
              <a:buNone/>
              <a:defRPr sz="12000">
                <a:solidFill>
                  <a:schemeClr val="accent5"/>
                </a:solidFill>
              </a:defRPr>
            </a:lvl5pPr>
            <a:lvl6pPr lvl="5" algn="ctr" rtl="0">
              <a:spcBef>
                <a:spcPts val="0"/>
              </a:spcBef>
              <a:spcAft>
                <a:spcPts val="0"/>
              </a:spcAft>
              <a:buClr>
                <a:schemeClr val="accent5"/>
              </a:buClr>
              <a:buSzPts val="12000"/>
              <a:buNone/>
              <a:defRPr sz="12000">
                <a:solidFill>
                  <a:schemeClr val="accent5"/>
                </a:solidFill>
              </a:defRPr>
            </a:lvl6pPr>
            <a:lvl7pPr lvl="6" algn="ctr" rtl="0">
              <a:spcBef>
                <a:spcPts val="0"/>
              </a:spcBef>
              <a:spcAft>
                <a:spcPts val="0"/>
              </a:spcAft>
              <a:buClr>
                <a:schemeClr val="accent5"/>
              </a:buClr>
              <a:buSzPts val="12000"/>
              <a:buNone/>
              <a:defRPr sz="12000">
                <a:solidFill>
                  <a:schemeClr val="accent5"/>
                </a:solidFill>
              </a:defRPr>
            </a:lvl7pPr>
            <a:lvl8pPr lvl="7" algn="ctr" rtl="0">
              <a:spcBef>
                <a:spcPts val="0"/>
              </a:spcBef>
              <a:spcAft>
                <a:spcPts val="0"/>
              </a:spcAft>
              <a:buClr>
                <a:schemeClr val="accent5"/>
              </a:buClr>
              <a:buSzPts val="12000"/>
              <a:buNone/>
              <a:defRPr sz="12000">
                <a:solidFill>
                  <a:schemeClr val="accent5"/>
                </a:solidFill>
              </a:defRPr>
            </a:lvl8pPr>
            <a:lvl9pPr lvl="8" algn="ctr" rtl="0">
              <a:spcBef>
                <a:spcPts val="0"/>
              </a:spcBef>
              <a:spcAft>
                <a:spcPts val="0"/>
              </a:spcAft>
              <a:buClr>
                <a:schemeClr val="accent5"/>
              </a:buClr>
              <a:buSzPts val="12000"/>
              <a:buNone/>
              <a:defRPr sz="12000">
                <a:solidFill>
                  <a:schemeClr val="accent5"/>
                </a:solidFill>
              </a:defRPr>
            </a:lvl9pPr>
          </a:lstStyle>
          <a:p>
            <a:r>
              <a:t>xx%</a:t>
            </a:r>
          </a:p>
        </p:txBody>
      </p:sp>
      <p:sp>
        <p:nvSpPr>
          <p:cNvPr id="43" name="Google Shape;43;p3"/>
          <p:cNvSpPr/>
          <p:nvPr/>
        </p:nvSpPr>
        <p:spPr>
          <a:xfrm rot="538783">
            <a:off x="7590835" y="4435473"/>
            <a:ext cx="834279" cy="99245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rot="194745">
            <a:off x="7674223" y="-78173"/>
            <a:ext cx="787928" cy="1269373"/>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rot="10800000">
            <a:off x="8426497" y="4087887"/>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rot="10800000">
            <a:off x="8624255" y="854907"/>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rot="10800000">
            <a:off x="8455564" y="-29735"/>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rot="10800000">
            <a:off x="8084408" y="655276"/>
            <a:ext cx="1066167" cy="4517949"/>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rot="10800000">
            <a:off x="8651098" y="2788161"/>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rot="10800000">
            <a:off x="8262404" y="365517"/>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rot="10800000">
            <a:off x="8624259" y="248198"/>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rot="10800000">
            <a:off x="8781809" y="4804911"/>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6453744" y="1764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rot="10800000">
            <a:off x="8262394" y="48649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rot="10800000">
            <a:off x="2317745" y="587629"/>
            <a:ext cx="201031" cy="26632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782770" y="3408479"/>
            <a:ext cx="201031" cy="26632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441769" y="109632"/>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rot="10800000">
            <a:off x="2640869" y="4755282"/>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rot="10800000">
            <a:off x="251959" y="1674036"/>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4541996" y="268861"/>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598759" y="4755286"/>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gradFill>
          <a:gsLst>
            <a:gs pos="0">
              <a:schemeClr val="dk2"/>
            </a:gs>
            <a:gs pos="100000">
              <a:schemeClr val="lt2"/>
            </a:gs>
          </a:gsLst>
          <a:lin ang="16200038" scaled="0"/>
        </a:gradFill>
        <a:effectLst/>
      </p:bgPr>
    </p:bg>
    <p:spTree>
      <p:nvGrpSpPr>
        <p:cNvPr id="1" name="Shape 63"/>
        <p:cNvGrpSpPr/>
        <p:nvPr/>
      </p:nvGrpSpPr>
      <p:grpSpPr>
        <a:xfrm>
          <a:off x="0" y="0"/>
          <a:ext cx="0" cy="0"/>
          <a:chOff x="0" y="0"/>
          <a:chExt cx="0" cy="0"/>
        </a:xfrm>
      </p:grpSpPr>
      <p:sp>
        <p:nvSpPr>
          <p:cNvPr id="64" name="Google Shape;64;p4"/>
          <p:cNvSpPr txBox="1">
            <a:spLocks noGrp="1"/>
          </p:cNvSpPr>
          <p:nvPr>
            <p:ph type="body" idx="1"/>
          </p:nvPr>
        </p:nvSpPr>
        <p:spPr>
          <a:xfrm>
            <a:off x="716800" y="1028375"/>
            <a:ext cx="7710300" cy="3651600"/>
          </a:xfrm>
          <a:prstGeom prst="rect">
            <a:avLst/>
          </a:prstGeom>
        </p:spPr>
        <p:txBody>
          <a:bodyPr spcFirstLastPara="1" wrap="square" lIns="91425" tIns="91425" rIns="91425" bIns="91425" anchor="t" anchorCtr="0">
            <a:noAutofit/>
          </a:bodyPr>
          <a:lstStyle>
            <a:lvl1pPr marL="285750" lvl="0" indent="-171450" rtl="0">
              <a:lnSpc>
                <a:spcPct val="100000"/>
              </a:lnSpc>
              <a:spcBef>
                <a:spcPts val="0"/>
              </a:spcBef>
              <a:spcAft>
                <a:spcPts val="0"/>
              </a:spcAft>
              <a:buSzPts val="1800"/>
              <a:buFont typeface="Arial" panose="020B0604020202020204" pitchFamily="34" charset="0"/>
              <a:buChar char="•"/>
              <a:defRPr sz="1200"/>
            </a:lvl1pPr>
            <a:lvl2pPr marL="914400" lvl="1" indent="-317500" rtl="0">
              <a:spcBef>
                <a:spcPts val="0"/>
              </a:spcBef>
              <a:spcAft>
                <a:spcPts val="0"/>
              </a:spcAft>
              <a:buClr>
                <a:srgbClr val="FFB000"/>
              </a:buClr>
              <a:buSzPts val="1400"/>
              <a:buFont typeface="Arial"/>
              <a:buAutoNum type="alphaLcPeriod"/>
              <a:defRPr/>
            </a:lvl2pPr>
            <a:lvl3pPr marL="1371600" lvl="2" indent="-317500" rtl="0">
              <a:spcBef>
                <a:spcPts val="0"/>
              </a:spcBef>
              <a:spcAft>
                <a:spcPts val="0"/>
              </a:spcAft>
              <a:buClr>
                <a:srgbClr val="FFB000"/>
              </a:buClr>
              <a:buSzPts val="1400"/>
              <a:buFont typeface="Arial"/>
              <a:buAutoNum type="romanLcPeriod"/>
              <a:defRPr/>
            </a:lvl3pPr>
            <a:lvl4pPr marL="1828800" lvl="3" indent="-317500" rtl="0">
              <a:spcBef>
                <a:spcPts val="0"/>
              </a:spcBef>
              <a:spcAft>
                <a:spcPts val="0"/>
              </a:spcAft>
              <a:buClr>
                <a:srgbClr val="FFB000"/>
              </a:buClr>
              <a:buSzPts val="1400"/>
              <a:buFont typeface="Arial"/>
              <a:buAutoNum type="arabicPeriod"/>
              <a:defRPr/>
            </a:lvl4pPr>
            <a:lvl5pPr marL="2286000" lvl="4" indent="-317500" rtl="0">
              <a:spcBef>
                <a:spcPts val="0"/>
              </a:spcBef>
              <a:spcAft>
                <a:spcPts val="0"/>
              </a:spcAft>
              <a:buClr>
                <a:srgbClr val="FFB000"/>
              </a:buClr>
              <a:buSzPts val="1400"/>
              <a:buFont typeface="Arial"/>
              <a:buAutoNum type="alphaLcPeriod"/>
              <a:defRPr/>
            </a:lvl5pPr>
            <a:lvl6pPr marL="2743200" lvl="5" indent="-317500" rtl="0">
              <a:spcBef>
                <a:spcPts val="0"/>
              </a:spcBef>
              <a:spcAft>
                <a:spcPts val="0"/>
              </a:spcAft>
              <a:buClr>
                <a:srgbClr val="FFB000"/>
              </a:buClr>
              <a:buSzPts val="1400"/>
              <a:buFont typeface="Arial"/>
              <a:buAutoNum type="romanLcPeriod"/>
              <a:defRPr/>
            </a:lvl6pPr>
            <a:lvl7pPr marL="3200400" lvl="6" indent="-317500" rtl="0">
              <a:spcBef>
                <a:spcPts val="0"/>
              </a:spcBef>
              <a:spcAft>
                <a:spcPts val="0"/>
              </a:spcAft>
              <a:buClr>
                <a:srgbClr val="FFB000"/>
              </a:buClr>
              <a:buSzPts val="1400"/>
              <a:buFont typeface="Arial"/>
              <a:buAutoNum type="arabicPeriod"/>
              <a:defRPr/>
            </a:lvl7pPr>
            <a:lvl8pPr marL="3657600" lvl="7" indent="-317500" rtl="0">
              <a:spcBef>
                <a:spcPts val="0"/>
              </a:spcBef>
              <a:spcAft>
                <a:spcPts val="0"/>
              </a:spcAft>
              <a:buClr>
                <a:srgbClr val="FFB000"/>
              </a:buClr>
              <a:buSzPts val="1400"/>
              <a:buFont typeface="Arial"/>
              <a:buAutoNum type="alphaLcPeriod"/>
              <a:defRPr/>
            </a:lvl8pPr>
            <a:lvl9pPr marL="4114800" lvl="8" indent="-317500" rtl="0">
              <a:spcBef>
                <a:spcPts val="0"/>
              </a:spcBef>
              <a:spcAft>
                <a:spcPts val="0"/>
              </a:spcAft>
              <a:buClr>
                <a:srgbClr val="FFB000"/>
              </a:buClr>
              <a:buSzPts val="1400"/>
              <a:buFont typeface="Arial"/>
              <a:buAutoNum type="romanLcPeriod"/>
              <a:defRPr/>
            </a:lvl9pPr>
          </a:lstStyle>
          <a:p>
            <a:endParaRPr dirty="0"/>
          </a:p>
        </p:txBody>
      </p:sp>
      <p:sp>
        <p:nvSpPr>
          <p:cNvPr id="65" name="Google Shape;65;p4"/>
          <p:cNvSpPr txBox="1">
            <a:spLocks noGrp="1"/>
          </p:cNvSpPr>
          <p:nvPr>
            <p:ph type="title"/>
          </p:nvPr>
        </p:nvSpPr>
        <p:spPr>
          <a:xfrm>
            <a:off x="716800" y="455675"/>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6" name="Google Shape;66;p4"/>
          <p:cNvSpPr/>
          <p:nvPr/>
        </p:nvSpPr>
        <p:spPr>
          <a:xfrm>
            <a:off x="8443992" y="840453"/>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4"/>
          <p:cNvSpPr/>
          <p:nvPr/>
        </p:nvSpPr>
        <p:spPr>
          <a:xfrm>
            <a:off x="7583971" y="4501660"/>
            <a:ext cx="880538" cy="74096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4"/>
          <p:cNvSpPr/>
          <p:nvPr/>
        </p:nvSpPr>
        <p:spPr>
          <a:xfrm rot="-929517">
            <a:off x="8446483" y="4481710"/>
            <a:ext cx="697261" cy="780876"/>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a:off x="8336604" y="-184839"/>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p:nvPr/>
        </p:nvSpPr>
        <p:spPr>
          <a:xfrm>
            <a:off x="26223" y="-22878"/>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4"/>
          <p:cNvSpPr/>
          <p:nvPr/>
        </p:nvSpPr>
        <p:spPr>
          <a:xfrm>
            <a:off x="-69881" y="3614958"/>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p:nvPr/>
        </p:nvSpPr>
        <p:spPr>
          <a:xfrm>
            <a:off x="-31375" y="446184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4"/>
          <p:cNvSpPr/>
          <p:nvPr/>
        </p:nvSpPr>
        <p:spPr>
          <a:xfrm>
            <a:off x="-24181" y="-22898"/>
            <a:ext cx="702217" cy="2975656"/>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 name="Google Shape;74;p4"/>
          <p:cNvGrpSpPr/>
          <p:nvPr/>
        </p:nvGrpSpPr>
        <p:grpSpPr>
          <a:xfrm>
            <a:off x="-1087568" y="-1126448"/>
            <a:ext cx="2274300" cy="2274300"/>
            <a:chOff x="-1087568" y="-1126448"/>
            <a:chExt cx="2274300" cy="2274300"/>
          </a:xfrm>
        </p:grpSpPr>
        <p:sp>
          <p:nvSpPr>
            <p:cNvPr id="75" name="Google Shape;75;p4"/>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4"/>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4"/>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 name="Google Shape;79;p4"/>
          <p:cNvGrpSpPr/>
          <p:nvPr/>
        </p:nvGrpSpPr>
        <p:grpSpPr>
          <a:xfrm>
            <a:off x="8000382" y="4004977"/>
            <a:ext cx="2274300" cy="2274300"/>
            <a:chOff x="-1087568" y="-1126448"/>
            <a:chExt cx="2274300" cy="2274300"/>
          </a:xfrm>
        </p:grpSpPr>
        <p:sp>
          <p:nvSpPr>
            <p:cNvPr id="80" name="Google Shape;80;p4"/>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4"/>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4"/>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4"/>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4"/>
          <p:cNvSpPr/>
          <p:nvPr/>
        </p:nvSpPr>
        <p:spPr>
          <a:xfrm>
            <a:off x="855300" y="1465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4"/>
          <p:cNvSpPr/>
          <p:nvPr/>
        </p:nvSpPr>
        <p:spPr>
          <a:xfrm>
            <a:off x="8874400"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4"/>
          <p:cNvSpPr/>
          <p:nvPr/>
        </p:nvSpPr>
        <p:spPr>
          <a:xfrm>
            <a:off x="327950" y="4402825"/>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a:off x="442100"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4"/>
          <p:cNvSpPr/>
          <p:nvPr/>
        </p:nvSpPr>
        <p:spPr>
          <a:xfrm>
            <a:off x="8699738" y="2358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4"/>
          <p:cNvSpPr/>
          <p:nvPr/>
        </p:nvSpPr>
        <p:spPr>
          <a:xfrm>
            <a:off x="125200" y="17581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4"/>
          <p:cNvSpPr/>
          <p:nvPr/>
        </p:nvSpPr>
        <p:spPr>
          <a:xfrm>
            <a:off x="8424174"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4"/>
          <p:cNvSpPr/>
          <p:nvPr/>
        </p:nvSpPr>
        <p:spPr>
          <a:xfrm>
            <a:off x="8608325" y="34465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4"/>
          <p:cNvSpPr/>
          <p:nvPr/>
        </p:nvSpPr>
        <p:spPr>
          <a:xfrm>
            <a:off x="8920738"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4"/>
          <p:cNvSpPr/>
          <p:nvPr/>
        </p:nvSpPr>
        <p:spPr>
          <a:xfrm>
            <a:off x="78863" y="380153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p:nvPr/>
        </p:nvSpPr>
        <p:spPr>
          <a:xfrm>
            <a:off x="2553123" y="48146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4"/>
          <p:cNvSpPr/>
          <p:nvPr/>
        </p:nvSpPr>
        <p:spPr>
          <a:xfrm>
            <a:off x="7357023"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gradFill>
          <a:gsLst>
            <a:gs pos="0">
              <a:schemeClr val="dk2"/>
            </a:gs>
            <a:gs pos="100000">
              <a:schemeClr val="lt2"/>
            </a:gs>
          </a:gsLst>
          <a:lin ang="16200038" scaled="0"/>
        </a:gradFill>
        <a:effectLst/>
      </p:bgPr>
    </p:bg>
    <p:spTree>
      <p:nvGrpSpPr>
        <p:cNvPr id="1" name="Shape 97"/>
        <p:cNvGrpSpPr/>
        <p:nvPr/>
      </p:nvGrpSpPr>
      <p:grpSpPr>
        <a:xfrm>
          <a:off x="0" y="0"/>
          <a:ext cx="0" cy="0"/>
          <a:chOff x="0" y="0"/>
          <a:chExt cx="0" cy="0"/>
        </a:xfrm>
      </p:grpSpPr>
      <p:sp>
        <p:nvSpPr>
          <p:cNvPr id="98" name="Google Shape;98;p5"/>
          <p:cNvSpPr txBox="1">
            <a:spLocks noGrp="1"/>
          </p:cNvSpPr>
          <p:nvPr>
            <p:ph type="subTitle" idx="1"/>
          </p:nvPr>
        </p:nvSpPr>
        <p:spPr>
          <a:xfrm>
            <a:off x="1006338" y="2420600"/>
            <a:ext cx="3269700" cy="52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9" name="Google Shape;99;p5"/>
          <p:cNvSpPr txBox="1">
            <a:spLocks noGrp="1"/>
          </p:cNvSpPr>
          <p:nvPr>
            <p:ph type="subTitle" idx="2"/>
          </p:nvPr>
        </p:nvSpPr>
        <p:spPr>
          <a:xfrm>
            <a:off x="1272600" y="2800150"/>
            <a:ext cx="2737200" cy="81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0" name="Google Shape;100;p5"/>
          <p:cNvSpPr txBox="1">
            <a:spLocks noGrp="1"/>
          </p:cNvSpPr>
          <p:nvPr>
            <p:ph type="title"/>
          </p:nvPr>
        </p:nvSpPr>
        <p:spPr>
          <a:xfrm>
            <a:off x="716800" y="457275"/>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1" name="Google Shape;101;p5"/>
          <p:cNvSpPr txBox="1">
            <a:spLocks noGrp="1"/>
          </p:cNvSpPr>
          <p:nvPr>
            <p:ph type="subTitle" idx="3"/>
          </p:nvPr>
        </p:nvSpPr>
        <p:spPr>
          <a:xfrm>
            <a:off x="4867963" y="2420600"/>
            <a:ext cx="3269700" cy="52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2" name="Google Shape;102;p5"/>
          <p:cNvSpPr txBox="1">
            <a:spLocks noGrp="1"/>
          </p:cNvSpPr>
          <p:nvPr>
            <p:ph type="subTitle" idx="4"/>
          </p:nvPr>
        </p:nvSpPr>
        <p:spPr>
          <a:xfrm>
            <a:off x="5134225" y="2800150"/>
            <a:ext cx="2737200" cy="81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3" name="Google Shape;103;p5"/>
          <p:cNvSpPr/>
          <p:nvPr/>
        </p:nvSpPr>
        <p:spPr>
          <a:xfrm>
            <a:off x="1340206" y="260785"/>
            <a:ext cx="11424" cy="7332"/>
          </a:xfrm>
          <a:custGeom>
            <a:avLst/>
            <a:gdLst/>
            <a:ahLst/>
            <a:cxnLst/>
            <a:rect l="l" t="t" r="r" b="b"/>
            <a:pathLst>
              <a:path w="201" h="129" extrusionOk="0">
                <a:moveTo>
                  <a:pt x="1" y="1"/>
                </a:moveTo>
                <a:lnTo>
                  <a:pt x="1" y="1"/>
                </a:lnTo>
                <a:cubicBezTo>
                  <a:pt x="67" y="42"/>
                  <a:pt x="139" y="83"/>
                  <a:pt x="200" y="129"/>
                </a:cubicBezTo>
                <a:cubicBezTo>
                  <a:pt x="139" y="83"/>
                  <a:pt x="72" y="42"/>
                  <a:pt x="1" y="1"/>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p:nvPr/>
        </p:nvSpPr>
        <p:spPr>
          <a:xfrm>
            <a:off x="1233578" y="226795"/>
            <a:ext cx="7900" cy="625"/>
          </a:xfrm>
          <a:custGeom>
            <a:avLst/>
            <a:gdLst/>
            <a:ahLst/>
            <a:cxnLst/>
            <a:rect l="l" t="t" r="r" b="b"/>
            <a:pathLst>
              <a:path w="139" h="11" extrusionOk="0">
                <a:moveTo>
                  <a:pt x="0" y="1"/>
                </a:moveTo>
                <a:cubicBezTo>
                  <a:pt x="38" y="5"/>
                  <a:pt x="80" y="6"/>
                  <a:pt x="117" y="9"/>
                </a:cubicBezTo>
                <a:lnTo>
                  <a:pt x="117" y="9"/>
                </a:lnTo>
                <a:cubicBezTo>
                  <a:pt x="75" y="4"/>
                  <a:pt x="40" y="1"/>
                  <a:pt x="0" y="1"/>
                </a:cubicBezTo>
                <a:close/>
                <a:moveTo>
                  <a:pt x="117" y="9"/>
                </a:moveTo>
                <a:cubicBezTo>
                  <a:pt x="124" y="9"/>
                  <a:pt x="131" y="10"/>
                  <a:pt x="138" y="11"/>
                </a:cubicBezTo>
                <a:cubicBezTo>
                  <a:pt x="131" y="10"/>
                  <a:pt x="124" y="9"/>
                  <a:pt x="117" y="9"/>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a:off x="1328611" y="254419"/>
            <a:ext cx="8468" cy="4718"/>
          </a:xfrm>
          <a:custGeom>
            <a:avLst/>
            <a:gdLst/>
            <a:ahLst/>
            <a:cxnLst/>
            <a:rect l="l" t="t" r="r" b="b"/>
            <a:pathLst>
              <a:path w="149" h="83" extrusionOk="0">
                <a:moveTo>
                  <a:pt x="0" y="1"/>
                </a:moveTo>
                <a:cubicBezTo>
                  <a:pt x="51" y="26"/>
                  <a:pt x="97" y="52"/>
                  <a:pt x="148" y="82"/>
                </a:cubicBezTo>
                <a:cubicBezTo>
                  <a:pt x="102" y="52"/>
                  <a:pt x="51" y="26"/>
                  <a:pt x="0" y="1"/>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a:off x="1352426" y="268344"/>
            <a:ext cx="10230" cy="7332"/>
          </a:xfrm>
          <a:custGeom>
            <a:avLst/>
            <a:gdLst/>
            <a:ahLst/>
            <a:cxnLst/>
            <a:rect l="l" t="t" r="r" b="b"/>
            <a:pathLst>
              <a:path w="180" h="129" extrusionOk="0">
                <a:moveTo>
                  <a:pt x="0" y="1"/>
                </a:moveTo>
                <a:cubicBezTo>
                  <a:pt x="62" y="47"/>
                  <a:pt x="118" y="88"/>
                  <a:pt x="179" y="129"/>
                </a:cubicBezTo>
                <a:cubicBezTo>
                  <a:pt x="118" y="88"/>
                  <a:pt x="57" y="42"/>
                  <a:pt x="0" y="1"/>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1261201" y="230319"/>
            <a:ext cx="7900" cy="1762"/>
          </a:xfrm>
          <a:custGeom>
            <a:avLst/>
            <a:gdLst/>
            <a:ahLst/>
            <a:cxnLst/>
            <a:rect l="l" t="t" r="r" b="b"/>
            <a:pathLst>
              <a:path w="139" h="31" extrusionOk="0">
                <a:moveTo>
                  <a:pt x="0" y="0"/>
                </a:moveTo>
                <a:cubicBezTo>
                  <a:pt x="46" y="5"/>
                  <a:pt x="97" y="21"/>
                  <a:pt x="138" y="31"/>
                </a:cubicBezTo>
                <a:cubicBezTo>
                  <a:pt x="97" y="21"/>
                  <a:pt x="46" y="5"/>
                  <a:pt x="0"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a:off x="1247503" y="228273"/>
            <a:ext cx="7900" cy="909"/>
          </a:xfrm>
          <a:custGeom>
            <a:avLst/>
            <a:gdLst/>
            <a:ahLst/>
            <a:cxnLst/>
            <a:rect l="l" t="t" r="r" b="b"/>
            <a:pathLst>
              <a:path w="139" h="16" extrusionOk="0">
                <a:moveTo>
                  <a:pt x="1" y="0"/>
                </a:moveTo>
                <a:lnTo>
                  <a:pt x="139" y="16"/>
                </a:ln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1274274" y="233218"/>
            <a:ext cx="11651" cy="3240"/>
          </a:xfrm>
          <a:custGeom>
            <a:avLst/>
            <a:gdLst/>
            <a:ahLst/>
            <a:cxnLst/>
            <a:rect l="l" t="t" r="r" b="b"/>
            <a:pathLst>
              <a:path w="205" h="57" extrusionOk="0">
                <a:moveTo>
                  <a:pt x="0" y="0"/>
                </a:moveTo>
                <a:cubicBezTo>
                  <a:pt x="72" y="21"/>
                  <a:pt x="133" y="41"/>
                  <a:pt x="205" y="56"/>
                </a:cubicBezTo>
                <a:cubicBezTo>
                  <a:pt x="138" y="41"/>
                  <a:pt x="72" y="21"/>
                  <a:pt x="0"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1316959" y="248621"/>
            <a:ext cx="7332" cy="3524"/>
          </a:xfrm>
          <a:custGeom>
            <a:avLst/>
            <a:gdLst/>
            <a:ahLst/>
            <a:cxnLst/>
            <a:rect l="l" t="t" r="r" b="b"/>
            <a:pathLst>
              <a:path w="129" h="62" extrusionOk="0">
                <a:moveTo>
                  <a:pt x="1" y="0"/>
                </a:moveTo>
                <a:cubicBezTo>
                  <a:pt x="47" y="16"/>
                  <a:pt x="88" y="36"/>
                  <a:pt x="128" y="62"/>
                </a:cubicBezTo>
                <a:cubicBezTo>
                  <a:pt x="88" y="36"/>
                  <a:pt x="47" y="16"/>
                  <a:pt x="1"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1290245" y="237879"/>
            <a:ext cx="9037" cy="3524"/>
          </a:xfrm>
          <a:custGeom>
            <a:avLst/>
            <a:gdLst/>
            <a:ahLst/>
            <a:cxnLst/>
            <a:rect l="l" t="t" r="r" b="b"/>
            <a:pathLst>
              <a:path w="159" h="62" extrusionOk="0">
                <a:moveTo>
                  <a:pt x="0" y="0"/>
                </a:moveTo>
                <a:lnTo>
                  <a:pt x="0" y="0"/>
                </a:lnTo>
                <a:cubicBezTo>
                  <a:pt x="51" y="20"/>
                  <a:pt x="108" y="41"/>
                  <a:pt x="159" y="61"/>
                </a:cubicBezTo>
                <a:cubicBezTo>
                  <a:pt x="108" y="41"/>
                  <a:pt x="57" y="20"/>
                  <a:pt x="0"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1304455" y="243108"/>
            <a:ext cx="7332" cy="2956"/>
          </a:xfrm>
          <a:custGeom>
            <a:avLst/>
            <a:gdLst/>
            <a:ahLst/>
            <a:cxnLst/>
            <a:rect l="l" t="t" r="r" b="b"/>
            <a:pathLst>
              <a:path w="129" h="52" extrusionOk="0">
                <a:moveTo>
                  <a:pt x="1" y="0"/>
                </a:moveTo>
                <a:cubicBezTo>
                  <a:pt x="42" y="21"/>
                  <a:pt x="88" y="36"/>
                  <a:pt x="129" y="51"/>
                </a:cubicBezTo>
                <a:cubicBezTo>
                  <a:pt x="88" y="36"/>
                  <a:pt x="42" y="21"/>
                  <a:pt x="1"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1217266" y="225942"/>
            <a:ext cx="10230" cy="341"/>
          </a:xfrm>
          <a:custGeom>
            <a:avLst/>
            <a:gdLst/>
            <a:ahLst/>
            <a:cxnLst/>
            <a:rect l="l" t="t" r="r" b="b"/>
            <a:pathLst>
              <a:path w="180" h="6" extrusionOk="0">
                <a:moveTo>
                  <a:pt x="1" y="0"/>
                </a:moveTo>
                <a:cubicBezTo>
                  <a:pt x="62" y="0"/>
                  <a:pt x="119" y="0"/>
                  <a:pt x="180" y="6"/>
                </a:cubicBezTo>
                <a:cubicBezTo>
                  <a:pt x="119" y="0"/>
                  <a:pt x="62" y="0"/>
                  <a:pt x="1"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a:off x="1351573" y="268060"/>
            <a:ext cx="909" cy="341"/>
          </a:xfrm>
          <a:custGeom>
            <a:avLst/>
            <a:gdLst/>
            <a:ahLst/>
            <a:cxnLst/>
            <a:rect l="l" t="t" r="r" b="b"/>
            <a:pathLst>
              <a:path w="16" h="6" extrusionOk="0">
                <a:moveTo>
                  <a:pt x="0" y="1"/>
                </a:moveTo>
                <a:cubicBezTo>
                  <a:pt x="5" y="1"/>
                  <a:pt x="5" y="6"/>
                  <a:pt x="15" y="6"/>
                </a:cubicBezTo>
                <a:cubicBezTo>
                  <a:pt x="5" y="1"/>
                  <a:pt x="5" y="1"/>
                  <a:pt x="0" y="1"/>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1312014" y="246291"/>
            <a:ext cx="5001" cy="2387"/>
          </a:xfrm>
          <a:custGeom>
            <a:avLst/>
            <a:gdLst/>
            <a:ahLst/>
            <a:cxnLst/>
            <a:rect l="l" t="t" r="r" b="b"/>
            <a:pathLst>
              <a:path w="88" h="42" extrusionOk="0">
                <a:moveTo>
                  <a:pt x="1" y="0"/>
                </a:moveTo>
                <a:cubicBezTo>
                  <a:pt x="31" y="16"/>
                  <a:pt x="57" y="26"/>
                  <a:pt x="88" y="41"/>
                </a:cubicBezTo>
                <a:cubicBezTo>
                  <a:pt x="57" y="26"/>
                  <a:pt x="31" y="16"/>
                  <a:pt x="1"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1324234" y="252088"/>
            <a:ext cx="5001" cy="2387"/>
          </a:xfrm>
          <a:custGeom>
            <a:avLst/>
            <a:gdLst/>
            <a:ahLst/>
            <a:cxnLst/>
            <a:rect l="l" t="t" r="r" b="b"/>
            <a:pathLst>
              <a:path w="88" h="42" extrusionOk="0">
                <a:moveTo>
                  <a:pt x="0" y="1"/>
                </a:moveTo>
                <a:cubicBezTo>
                  <a:pt x="26" y="11"/>
                  <a:pt x="52" y="26"/>
                  <a:pt x="87" y="41"/>
                </a:cubicBezTo>
                <a:cubicBezTo>
                  <a:pt x="52" y="26"/>
                  <a:pt x="26" y="11"/>
                  <a:pt x="0" y="1"/>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1337023" y="259079"/>
            <a:ext cx="3240" cy="1762"/>
          </a:xfrm>
          <a:custGeom>
            <a:avLst/>
            <a:gdLst/>
            <a:ahLst/>
            <a:cxnLst/>
            <a:rect l="l" t="t" r="r" b="b"/>
            <a:pathLst>
              <a:path w="57" h="31" extrusionOk="0">
                <a:moveTo>
                  <a:pt x="0" y="0"/>
                </a:moveTo>
                <a:lnTo>
                  <a:pt x="0" y="0"/>
                </a:lnTo>
                <a:cubicBezTo>
                  <a:pt x="21" y="10"/>
                  <a:pt x="41" y="21"/>
                  <a:pt x="57" y="31"/>
                </a:cubicBezTo>
                <a:cubicBezTo>
                  <a:pt x="41" y="16"/>
                  <a:pt x="21" y="5"/>
                  <a:pt x="0"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1362600" y="275619"/>
            <a:ext cx="2103" cy="2103"/>
          </a:xfrm>
          <a:custGeom>
            <a:avLst/>
            <a:gdLst/>
            <a:ahLst/>
            <a:cxnLst/>
            <a:rect l="l" t="t" r="r" b="b"/>
            <a:pathLst>
              <a:path w="37" h="37" extrusionOk="0">
                <a:moveTo>
                  <a:pt x="0" y="1"/>
                </a:moveTo>
                <a:cubicBezTo>
                  <a:pt x="11" y="16"/>
                  <a:pt x="21" y="26"/>
                  <a:pt x="36" y="36"/>
                </a:cubicBezTo>
                <a:cubicBezTo>
                  <a:pt x="21" y="21"/>
                  <a:pt x="11" y="16"/>
                  <a:pt x="0" y="1"/>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1255347" y="229125"/>
            <a:ext cx="5854" cy="1250"/>
          </a:xfrm>
          <a:custGeom>
            <a:avLst/>
            <a:gdLst/>
            <a:ahLst/>
            <a:cxnLst/>
            <a:rect l="l" t="t" r="r" b="b"/>
            <a:pathLst>
              <a:path w="103" h="22" extrusionOk="0">
                <a:moveTo>
                  <a:pt x="1" y="1"/>
                </a:moveTo>
                <a:lnTo>
                  <a:pt x="1" y="1"/>
                </a:lnTo>
                <a:cubicBezTo>
                  <a:pt x="31" y="11"/>
                  <a:pt x="72" y="16"/>
                  <a:pt x="103" y="21"/>
                </a:cubicBezTo>
                <a:cubicBezTo>
                  <a:pt x="72" y="16"/>
                  <a:pt x="31" y="6"/>
                  <a:pt x="1" y="1"/>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1241422" y="227363"/>
            <a:ext cx="6138" cy="682"/>
          </a:xfrm>
          <a:custGeom>
            <a:avLst/>
            <a:gdLst/>
            <a:ahLst/>
            <a:cxnLst/>
            <a:rect l="l" t="t" r="r" b="b"/>
            <a:pathLst>
              <a:path w="108" h="12" extrusionOk="0">
                <a:moveTo>
                  <a:pt x="0" y="1"/>
                </a:moveTo>
                <a:cubicBezTo>
                  <a:pt x="41" y="6"/>
                  <a:pt x="72" y="6"/>
                  <a:pt x="108" y="11"/>
                </a:cubicBezTo>
                <a:cubicBezTo>
                  <a:pt x="72" y="6"/>
                  <a:pt x="36" y="1"/>
                  <a:pt x="0" y="1"/>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1227781" y="225942"/>
            <a:ext cx="5854" cy="341"/>
          </a:xfrm>
          <a:custGeom>
            <a:avLst/>
            <a:gdLst/>
            <a:ahLst/>
            <a:cxnLst/>
            <a:rect l="l" t="t" r="r" b="b"/>
            <a:pathLst>
              <a:path w="103" h="6" extrusionOk="0">
                <a:moveTo>
                  <a:pt x="0" y="0"/>
                </a:moveTo>
                <a:cubicBezTo>
                  <a:pt x="31" y="6"/>
                  <a:pt x="61" y="6"/>
                  <a:pt x="102" y="6"/>
                </a:cubicBezTo>
                <a:cubicBezTo>
                  <a:pt x="72" y="6"/>
                  <a:pt x="31" y="0"/>
                  <a:pt x="0"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1285869" y="236401"/>
            <a:ext cx="4433" cy="1535"/>
          </a:xfrm>
          <a:custGeom>
            <a:avLst/>
            <a:gdLst/>
            <a:ahLst/>
            <a:cxnLst/>
            <a:rect l="l" t="t" r="r" b="b"/>
            <a:pathLst>
              <a:path w="78" h="27" extrusionOk="0">
                <a:moveTo>
                  <a:pt x="1" y="0"/>
                </a:moveTo>
                <a:lnTo>
                  <a:pt x="1" y="0"/>
                </a:lnTo>
                <a:cubicBezTo>
                  <a:pt x="26" y="11"/>
                  <a:pt x="52" y="21"/>
                  <a:pt x="77" y="26"/>
                </a:cubicBezTo>
                <a:cubicBezTo>
                  <a:pt x="52" y="21"/>
                  <a:pt x="26" y="6"/>
                  <a:pt x="1"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1299510" y="241346"/>
            <a:ext cx="5286" cy="1819"/>
          </a:xfrm>
          <a:custGeom>
            <a:avLst/>
            <a:gdLst/>
            <a:ahLst/>
            <a:cxnLst/>
            <a:rect l="l" t="t" r="r" b="b"/>
            <a:pathLst>
              <a:path w="93" h="32" extrusionOk="0">
                <a:moveTo>
                  <a:pt x="1" y="0"/>
                </a:moveTo>
                <a:cubicBezTo>
                  <a:pt x="37" y="11"/>
                  <a:pt x="57" y="26"/>
                  <a:pt x="93" y="31"/>
                </a:cubicBezTo>
                <a:cubicBezTo>
                  <a:pt x="62" y="16"/>
                  <a:pt x="26" y="6"/>
                  <a:pt x="1"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1269045" y="232024"/>
            <a:ext cx="5570" cy="1250"/>
          </a:xfrm>
          <a:custGeom>
            <a:avLst/>
            <a:gdLst/>
            <a:ahLst/>
            <a:cxnLst/>
            <a:rect l="l" t="t" r="r" b="b"/>
            <a:pathLst>
              <a:path w="98" h="22" extrusionOk="0">
                <a:moveTo>
                  <a:pt x="0" y="1"/>
                </a:moveTo>
                <a:lnTo>
                  <a:pt x="97" y="21"/>
                </a:ln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6707050" y="2554322"/>
            <a:ext cx="26641" cy="29978"/>
          </a:xfrm>
          <a:custGeom>
            <a:avLst/>
            <a:gdLst/>
            <a:ahLst/>
            <a:cxnLst/>
            <a:rect l="l" t="t" r="r" b="b"/>
            <a:pathLst>
              <a:path w="423" h="476" extrusionOk="0">
                <a:moveTo>
                  <a:pt x="1" y="1"/>
                </a:moveTo>
                <a:lnTo>
                  <a:pt x="1" y="475"/>
                </a:lnTo>
                <a:lnTo>
                  <a:pt x="277" y="475"/>
                </a:lnTo>
                <a:cubicBezTo>
                  <a:pt x="354" y="475"/>
                  <a:pt x="422" y="407"/>
                  <a:pt x="422" y="330"/>
                </a:cubicBezTo>
                <a:lnTo>
                  <a:pt x="422" y="1"/>
                </a:lnTo>
                <a:close/>
              </a:path>
            </a:pathLst>
          </a:custGeom>
          <a:solidFill>
            <a:srgbClr val="132B5F">
              <a:alpha val="28000"/>
            </a:srgbClr>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5"/>
          <p:cNvSpPr/>
          <p:nvPr/>
        </p:nvSpPr>
        <p:spPr>
          <a:xfrm flipH="1">
            <a:off x="71330" y="488492"/>
            <a:ext cx="5223" cy="36560"/>
          </a:xfrm>
          <a:custGeom>
            <a:avLst/>
            <a:gdLst/>
            <a:ahLst/>
            <a:cxnLst/>
            <a:rect l="l" t="t" r="r" b="b"/>
            <a:pathLst>
              <a:path w="32" h="224" extrusionOk="0">
                <a:moveTo>
                  <a:pt x="32" y="0"/>
                </a:moveTo>
                <a:cubicBezTo>
                  <a:pt x="9" y="45"/>
                  <a:pt x="0" y="90"/>
                  <a:pt x="0" y="121"/>
                </a:cubicBezTo>
                <a:cubicBezTo>
                  <a:pt x="0" y="161"/>
                  <a:pt x="9" y="192"/>
                  <a:pt x="32" y="224"/>
                </a:cubicBezTo>
                <a:lnTo>
                  <a:pt x="32" y="0"/>
                </a:lnTo>
                <a:close/>
              </a:path>
            </a:pathLst>
          </a:custGeom>
          <a:solidFill>
            <a:srgbClr val="0606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7" name="Google Shape;127;p5"/>
          <p:cNvSpPr/>
          <p:nvPr/>
        </p:nvSpPr>
        <p:spPr>
          <a:xfrm flipH="1">
            <a:off x="-7861" y="840453"/>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flipH="1">
            <a:off x="673855" y="4501660"/>
            <a:ext cx="880538" cy="74096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rot="929517" flipH="1">
            <a:off x="-5379" y="4481710"/>
            <a:ext cx="697261" cy="780876"/>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flipH="1">
            <a:off x="-5637" y="-184839"/>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5"/>
          <p:cNvSpPr/>
          <p:nvPr/>
        </p:nvSpPr>
        <p:spPr>
          <a:xfrm flipH="1">
            <a:off x="8438476" y="-22878"/>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flipH="1">
            <a:off x="8636234" y="3614958"/>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flipH="1">
            <a:off x="8467543" y="446184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flipH="1">
            <a:off x="8460328" y="-22898"/>
            <a:ext cx="702217" cy="2975656"/>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 name="Google Shape;135;p5"/>
          <p:cNvGrpSpPr/>
          <p:nvPr/>
        </p:nvGrpSpPr>
        <p:grpSpPr>
          <a:xfrm flipH="1">
            <a:off x="7951632" y="-1126448"/>
            <a:ext cx="2274300" cy="2274300"/>
            <a:chOff x="-1087568" y="-1126448"/>
            <a:chExt cx="2274300" cy="2274300"/>
          </a:xfrm>
        </p:grpSpPr>
        <p:sp>
          <p:nvSpPr>
            <p:cNvPr id="136" name="Google Shape;136;p5"/>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 name="Google Shape;140;p5"/>
          <p:cNvGrpSpPr/>
          <p:nvPr/>
        </p:nvGrpSpPr>
        <p:grpSpPr>
          <a:xfrm flipH="1">
            <a:off x="-1136318" y="4004977"/>
            <a:ext cx="2274300" cy="2274300"/>
            <a:chOff x="-1087568" y="-1126448"/>
            <a:chExt cx="2274300" cy="2274300"/>
          </a:xfrm>
        </p:grpSpPr>
        <p:sp>
          <p:nvSpPr>
            <p:cNvPr id="141" name="Google Shape;141;p5"/>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 name="Google Shape;145;p5"/>
          <p:cNvSpPr/>
          <p:nvPr/>
        </p:nvSpPr>
        <p:spPr>
          <a:xfrm flipH="1">
            <a:off x="8092314" y="1465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flipH="1">
            <a:off x="111264"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flipH="1">
            <a:off x="470014" y="158261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flipH="1">
            <a:off x="8781413" y="2107750"/>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flipH="1">
            <a:off x="8636238"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flipH="1">
            <a:off x="247877" y="2358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flipH="1">
            <a:off x="8953138" y="17581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flipH="1">
            <a:off x="594661"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flipH="1">
            <a:off x="470013" y="34465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flipH="1">
            <a:off x="157601"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flipH="1">
            <a:off x="8906802" y="380153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flipH="1">
            <a:off x="7251873" y="4792508"/>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flipH="1">
            <a:off x="1661823"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chemeClr val="dk2"/>
            </a:gs>
            <a:gs pos="100000">
              <a:schemeClr val="lt2"/>
            </a:gs>
          </a:gsLst>
          <a:lin ang="16200038" scaled="0"/>
        </a:gradFill>
        <a:effectLst/>
      </p:bgPr>
    </p:bg>
    <p:spTree>
      <p:nvGrpSpPr>
        <p:cNvPr id="1" name="Shape 159"/>
        <p:cNvGrpSpPr/>
        <p:nvPr/>
      </p:nvGrpSpPr>
      <p:grpSpPr>
        <a:xfrm>
          <a:off x="0" y="0"/>
          <a:ext cx="0" cy="0"/>
          <a:chOff x="0" y="0"/>
          <a:chExt cx="0" cy="0"/>
        </a:xfrm>
      </p:grpSpPr>
      <p:sp>
        <p:nvSpPr>
          <p:cNvPr id="160" name="Google Shape;160;p6"/>
          <p:cNvSpPr txBox="1">
            <a:spLocks noGrp="1"/>
          </p:cNvSpPr>
          <p:nvPr>
            <p:ph type="title"/>
          </p:nvPr>
        </p:nvSpPr>
        <p:spPr>
          <a:xfrm>
            <a:off x="716800" y="456500"/>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1" name="Google Shape;161;p6"/>
          <p:cNvSpPr/>
          <p:nvPr/>
        </p:nvSpPr>
        <p:spPr>
          <a:xfrm rot="10800000">
            <a:off x="-7861" y="2307661"/>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6"/>
          <p:cNvSpPr/>
          <p:nvPr/>
        </p:nvSpPr>
        <p:spPr>
          <a:xfrm rot="10800000">
            <a:off x="-5637" y="3429350"/>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6"/>
          <p:cNvSpPr/>
          <p:nvPr/>
        </p:nvSpPr>
        <p:spPr>
          <a:xfrm flipH="1">
            <a:off x="774734" y="4593833"/>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6"/>
          <p:cNvSpPr/>
          <p:nvPr/>
        </p:nvSpPr>
        <p:spPr>
          <a:xfrm rot="10800000" flipH="1">
            <a:off x="-18632" y="-2291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 name="Google Shape;165;p6"/>
          <p:cNvGrpSpPr/>
          <p:nvPr/>
        </p:nvGrpSpPr>
        <p:grpSpPr>
          <a:xfrm>
            <a:off x="-1134868" y="-1133248"/>
            <a:ext cx="2274300" cy="2274300"/>
            <a:chOff x="-1087568" y="-1126448"/>
            <a:chExt cx="2274300" cy="2274300"/>
          </a:xfrm>
        </p:grpSpPr>
        <p:sp>
          <p:nvSpPr>
            <p:cNvPr id="166" name="Google Shape;166;p6"/>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6"/>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6"/>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6"/>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0" name="Google Shape;170;p6"/>
          <p:cNvSpPr/>
          <p:nvPr/>
        </p:nvSpPr>
        <p:spPr>
          <a:xfrm>
            <a:off x="411875" y="4731343"/>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6"/>
          <p:cNvSpPr/>
          <p:nvPr/>
        </p:nvSpPr>
        <p:spPr>
          <a:xfrm>
            <a:off x="483400" y="960875"/>
            <a:ext cx="81175" cy="8114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6"/>
          <p:cNvSpPr/>
          <p:nvPr/>
        </p:nvSpPr>
        <p:spPr>
          <a:xfrm>
            <a:off x="805475" y="139463"/>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6"/>
          <p:cNvSpPr/>
          <p:nvPr/>
        </p:nvSpPr>
        <p:spPr>
          <a:xfrm>
            <a:off x="1683050" y="475518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6"/>
          <p:cNvSpPr/>
          <p:nvPr/>
        </p:nvSpPr>
        <p:spPr>
          <a:xfrm>
            <a:off x="302463" y="279448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6"/>
          <p:cNvSpPr/>
          <p:nvPr/>
        </p:nvSpPr>
        <p:spPr>
          <a:xfrm>
            <a:off x="8441760" y="908819"/>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6"/>
          <p:cNvSpPr/>
          <p:nvPr/>
        </p:nvSpPr>
        <p:spPr>
          <a:xfrm>
            <a:off x="8378022" y="-116473"/>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6"/>
          <p:cNvSpPr/>
          <p:nvPr/>
        </p:nvSpPr>
        <p:spPr>
          <a:xfrm rot="10800000" flipH="1">
            <a:off x="7833036" y="-107682"/>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6"/>
          <p:cNvSpPr/>
          <p:nvPr/>
        </p:nvSpPr>
        <p:spPr>
          <a:xfrm flipH="1">
            <a:off x="8496218" y="4471301"/>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9" name="Google Shape;179;p6"/>
          <p:cNvGrpSpPr/>
          <p:nvPr/>
        </p:nvGrpSpPr>
        <p:grpSpPr>
          <a:xfrm rot="10800000">
            <a:off x="8040350" y="4025570"/>
            <a:ext cx="2274300" cy="2274300"/>
            <a:chOff x="-1087568" y="-1126448"/>
            <a:chExt cx="2274300" cy="2274300"/>
          </a:xfrm>
        </p:grpSpPr>
        <p:sp>
          <p:nvSpPr>
            <p:cNvPr id="180" name="Google Shape;180;p6"/>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6"/>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6"/>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6"/>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 name="Google Shape;184;p6"/>
          <p:cNvSpPr/>
          <p:nvPr/>
        </p:nvSpPr>
        <p:spPr>
          <a:xfrm rot="10800000">
            <a:off x="8648389" y="276058"/>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6"/>
          <p:cNvSpPr/>
          <p:nvPr/>
        </p:nvSpPr>
        <p:spPr>
          <a:xfrm rot="10800000">
            <a:off x="8615208" y="4124605"/>
            <a:ext cx="81175" cy="8114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6"/>
          <p:cNvSpPr/>
          <p:nvPr/>
        </p:nvSpPr>
        <p:spPr>
          <a:xfrm rot="10800000">
            <a:off x="8183557" y="477446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6"/>
          <p:cNvSpPr/>
          <p:nvPr/>
        </p:nvSpPr>
        <p:spPr>
          <a:xfrm rot="10800000">
            <a:off x="8817294" y="2312135"/>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gradFill>
          <a:gsLst>
            <a:gs pos="0">
              <a:schemeClr val="dk2"/>
            </a:gs>
            <a:gs pos="100000">
              <a:schemeClr val="lt2"/>
            </a:gs>
          </a:gsLst>
          <a:lin ang="10801400" scaled="0"/>
        </a:gradFill>
        <a:effectLst/>
      </p:bgPr>
    </p:bg>
    <p:spTree>
      <p:nvGrpSpPr>
        <p:cNvPr id="1" name="Shape 189"/>
        <p:cNvGrpSpPr/>
        <p:nvPr/>
      </p:nvGrpSpPr>
      <p:grpSpPr>
        <a:xfrm>
          <a:off x="0" y="0"/>
          <a:ext cx="0" cy="0"/>
          <a:chOff x="0" y="0"/>
          <a:chExt cx="0" cy="0"/>
        </a:xfrm>
      </p:grpSpPr>
      <p:sp>
        <p:nvSpPr>
          <p:cNvPr id="190" name="Google Shape;190;p7"/>
          <p:cNvSpPr txBox="1">
            <a:spLocks noGrp="1"/>
          </p:cNvSpPr>
          <p:nvPr>
            <p:ph type="title"/>
          </p:nvPr>
        </p:nvSpPr>
        <p:spPr>
          <a:xfrm>
            <a:off x="678700" y="456775"/>
            <a:ext cx="3893400" cy="1010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1" name="Google Shape;191;p7"/>
          <p:cNvSpPr/>
          <p:nvPr/>
        </p:nvSpPr>
        <p:spPr>
          <a:xfrm rot="-194745" flipH="1">
            <a:off x="-190189" y="-78173"/>
            <a:ext cx="787928" cy="1269373"/>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7"/>
          <p:cNvSpPr/>
          <p:nvPr/>
        </p:nvSpPr>
        <p:spPr>
          <a:xfrm rot="-10441822">
            <a:off x="-236933" y="3637813"/>
            <a:ext cx="1002677" cy="1615389"/>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7"/>
          <p:cNvSpPr/>
          <p:nvPr/>
        </p:nvSpPr>
        <p:spPr>
          <a:xfrm rot="10800000">
            <a:off x="8620617" y="854907"/>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7"/>
          <p:cNvSpPr/>
          <p:nvPr/>
        </p:nvSpPr>
        <p:spPr>
          <a:xfrm rot="10800000">
            <a:off x="8451926" y="-29735"/>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7"/>
          <p:cNvSpPr/>
          <p:nvPr/>
        </p:nvSpPr>
        <p:spPr>
          <a:xfrm rot="10800000">
            <a:off x="8194650" y="-173562"/>
            <a:ext cx="952275" cy="5401787"/>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7"/>
          <p:cNvSpPr/>
          <p:nvPr/>
        </p:nvSpPr>
        <p:spPr>
          <a:xfrm rot="10800000">
            <a:off x="8194660" y="4673436"/>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7"/>
          <p:cNvSpPr/>
          <p:nvPr/>
        </p:nvSpPr>
        <p:spPr>
          <a:xfrm rot="10800000">
            <a:off x="269292" y="194867"/>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7"/>
          <p:cNvSpPr/>
          <p:nvPr/>
        </p:nvSpPr>
        <p:spPr>
          <a:xfrm rot="10800000">
            <a:off x="8949721" y="2594861"/>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7"/>
          <p:cNvSpPr/>
          <p:nvPr/>
        </p:nvSpPr>
        <p:spPr>
          <a:xfrm rot="10800000">
            <a:off x="8723321" y="4866136"/>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7"/>
          <p:cNvSpPr/>
          <p:nvPr/>
        </p:nvSpPr>
        <p:spPr>
          <a:xfrm rot="10800000">
            <a:off x="204644" y="4514207"/>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7"/>
          <p:cNvSpPr/>
          <p:nvPr/>
        </p:nvSpPr>
        <p:spPr>
          <a:xfrm rot="538783">
            <a:off x="72335" y="4491023"/>
            <a:ext cx="834279" cy="99245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7"/>
          <p:cNvSpPr/>
          <p:nvPr/>
        </p:nvSpPr>
        <p:spPr>
          <a:xfrm rot="10800000">
            <a:off x="173759" y="1315086"/>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7"/>
          <p:cNvSpPr/>
          <p:nvPr/>
        </p:nvSpPr>
        <p:spPr>
          <a:xfrm rot="5400000" flipH="1">
            <a:off x="8489677" y="3121749"/>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7"/>
          <p:cNvSpPr/>
          <p:nvPr/>
        </p:nvSpPr>
        <p:spPr>
          <a:xfrm flipH="1">
            <a:off x="5386778" y="235150"/>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7"/>
          <p:cNvSpPr/>
          <p:nvPr/>
        </p:nvSpPr>
        <p:spPr>
          <a:xfrm flipH="1">
            <a:off x="6113838" y="26057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6" name="Google Shape;206;p7"/>
          <p:cNvGrpSpPr/>
          <p:nvPr/>
        </p:nvGrpSpPr>
        <p:grpSpPr>
          <a:xfrm rot="-5400000">
            <a:off x="5494129" y="-3584126"/>
            <a:ext cx="7174183" cy="7174183"/>
            <a:chOff x="-3791416" y="-1218645"/>
            <a:chExt cx="7569300" cy="7569300"/>
          </a:xfrm>
        </p:grpSpPr>
        <p:sp>
          <p:nvSpPr>
            <p:cNvPr id="207" name="Google Shape;207;p7"/>
            <p:cNvSpPr/>
            <p:nvPr/>
          </p:nvSpPr>
          <p:spPr>
            <a:xfrm>
              <a:off x="-1542462" y="1030300"/>
              <a:ext cx="3071400" cy="30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7"/>
            <p:cNvSpPr/>
            <p:nvPr/>
          </p:nvSpPr>
          <p:spPr>
            <a:xfrm>
              <a:off x="-1972812" y="599950"/>
              <a:ext cx="3932100" cy="3932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7"/>
            <p:cNvSpPr/>
            <p:nvPr/>
          </p:nvSpPr>
          <p:spPr>
            <a:xfrm>
              <a:off x="-2270712" y="302050"/>
              <a:ext cx="4527900" cy="4527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7"/>
            <p:cNvSpPr/>
            <p:nvPr/>
          </p:nvSpPr>
          <p:spPr>
            <a:xfrm>
              <a:off x="-2973462" y="-400700"/>
              <a:ext cx="5933400" cy="593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7"/>
            <p:cNvSpPr/>
            <p:nvPr/>
          </p:nvSpPr>
          <p:spPr>
            <a:xfrm>
              <a:off x="-3791416" y="-1218645"/>
              <a:ext cx="7569300" cy="7569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2" name="Google Shape;212;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gradFill>
          <a:gsLst>
            <a:gs pos="0">
              <a:schemeClr val="dk2"/>
            </a:gs>
            <a:gs pos="100000">
              <a:schemeClr val="lt2"/>
            </a:gs>
          </a:gsLst>
          <a:lin ang="18900044" scaled="0"/>
        </a:gradFill>
        <a:effectLst/>
      </p:bgPr>
    </p:bg>
    <p:spTree>
      <p:nvGrpSpPr>
        <p:cNvPr id="1" name="Shape 213"/>
        <p:cNvGrpSpPr/>
        <p:nvPr/>
      </p:nvGrpSpPr>
      <p:grpSpPr>
        <a:xfrm>
          <a:off x="0" y="0"/>
          <a:ext cx="0" cy="0"/>
          <a:chOff x="0" y="0"/>
          <a:chExt cx="0" cy="0"/>
        </a:xfrm>
      </p:grpSpPr>
      <p:sp>
        <p:nvSpPr>
          <p:cNvPr id="214" name="Google Shape;214;p8"/>
          <p:cNvSpPr txBox="1">
            <a:spLocks noGrp="1"/>
          </p:cNvSpPr>
          <p:nvPr>
            <p:ph type="title"/>
          </p:nvPr>
        </p:nvSpPr>
        <p:spPr>
          <a:xfrm>
            <a:off x="1388100" y="1433250"/>
            <a:ext cx="6367800" cy="22770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4800"/>
              <a:buNone/>
              <a:defRPr sz="97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215" name="Google Shape;215;p8"/>
          <p:cNvSpPr/>
          <p:nvPr/>
        </p:nvSpPr>
        <p:spPr>
          <a:xfrm rot="-5400000">
            <a:off x="7775776" y="779191"/>
            <a:ext cx="1042631" cy="877333"/>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8"/>
          <p:cNvSpPr/>
          <p:nvPr/>
        </p:nvSpPr>
        <p:spPr>
          <a:xfrm rot="-5400000">
            <a:off x="3583353" y="-4150160"/>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8"/>
          <p:cNvSpPr/>
          <p:nvPr/>
        </p:nvSpPr>
        <p:spPr>
          <a:xfrm rot="-6329527">
            <a:off x="8219975" y="-295336"/>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8"/>
          <p:cNvSpPr/>
          <p:nvPr/>
        </p:nvSpPr>
        <p:spPr>
          <a:xfrm rot="-5400000">
            <a:off x="259780" y="-555938"/>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8"/>
          <p:cNvSpPr/>
          <p:nvPr/>
        </p:nvSpPr>
        <p:spPr>
          <a:xfrm rot="-538079">
            <a:off x="8437704" y="1391351"/>
            <a:ext cx="1019033" cy="857448"/>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8"/>
          <p:cNvSpPr/>
          <p:nvPr/>
        </p:nvSpPr>
        <p:spPr>
          <a:xfrm rot="-9560681">
            <a:off x="2271856" y="-161951"/>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8"/>
          <p:cNvSpPr/>
          <p:nvPr/>
        </p:nvSpPr>
        <p:spPr>
          <a:xfrm rot="5400000">
            <a:off x="282534" y="3466895"/>
            <a:ext cx="1042631" cy="877333"/>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8"/>
          <p:cNvSpPr/>
          <p:nvPr/>
        </p:nvSpPr>
        <p:spPr>
          <a:xfrm rot="5400000">
            <a:off x="3677205" y="-18397"/>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8"/>
          <p:cNvSpPr/>
          <p:nvPr/>
        </p:nvSpPr>
        <p:spPr>
          <a:xfrm rot="4470473">
            <a:off x="-168950" y="4243067"/>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8"/>
          <p:cNvSpPr/>
          <p:nvPr/>
        </p:nvSpPr>
        <p:spPr>
          <a:xfrm rot="5400000">
            <a:off x="8024759" y="3804984"/>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8"/>
          <p:cNvSpPr/>
          <p:nvPr/>
        </p:nvSpPr>
        <p:spPr>
          <a:xfrm rot="10261921">
            <a:off x="-355796" y="2874620"/>
            <a:ext cx="1019033" cy="857448"/>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8"/>
          <p:cNvSpPr/>
          <p:nvPr/>
        </p:nvSpPr>
        <p:spPr>
          <a:xfrm rot="1239319">
            <a:off x="6027326" y="4610694"/>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7" name="Google Shape;227;p8"/>
          <p:cNvGrpSpPr/>
          <p:nvPr/>
        </p:nvGrpSpPr>
        <p:grpSpPr>
          <a:xfrm>
            <a:off x="-1074487" y="-989812"/>
            <a:ext cx="11292974" cy="7049036"/>
            <a:chOff x="-1074487" y="-989812"/>
            <a:chExt cx="11292974" cy="7049036"/>
          </a:xfrm>
        </p:grpSpPr>
        <p:grpSp>
          <p:nvGrpSpPr>
            <p:cNvPr id="228" name="Google Shape;228;p8"/>
            <p:cNvGrpSpPr/>
            <p:nvPr/>
          </p:nvGrpSpPr>
          <p:grpSpPr>
            <a:xfrm>
              <a:off x="7476363" y="3317101"/>
              <a:ext cx="2742124" cy="2742124"/>
              <a:chOff x="-1087568" y="-1126448"/>
              <a:chExt cx="2274300" cy="2274300"/>
            </a:xfrm>
          </p:grpSpPr>
          <p:sp>
            <p:nvSpPr>
              <p:cNvPr id="229" name="Google Shape;229;p8"/>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8"/>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8"/>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8"/>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 name="Google Shape;233;p8"/>
            <p:cNvGrpSpPr/>
            <p:nvPr/>
          </p:nvGrpSpPr>
          <p:grpSpPr>
            <a:xfrm>
              <a:off x="-1074487" y="-989812"/>
              <a:ext cx="2742124" cy="2742124"/>
              <a:chOff x="-1087568" y="-1126448"/>
              <a:chExt cx="2274300" cy="2274300"/>
            </a:xfrm>
          </p:grpSpPr>
          <p:sp>
            <p:nvSpPr>
              <p:cNvPr id="234" name="Google Shape;234;p8"/>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8"/>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8"/>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8"/>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38" name="Google Shape;238;p8"/>
          <p:cNvSpPr/>
          <p:nvPr/>
        </p:nvSpPr>
        <p:spPr>
          <a:xfrm flipH="1">
            <a:off x="7667675" y="371643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8"/>
          <p:cNvSpPr/>
          <p:nvPr/>
        </p:nvSpPr>
        <p:spPr>
          <a:xfrm flipH="1">
            <a:off x="279638" y="273438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8"/>
          <p:cNvSpPr/>
          <p:nvPr/>
        </p:nvSpPr>
        <p:spPr>
          <a:xfrm flipH="1">
            <a:off x="575669" y="358675"/>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8"/>
          <p:cNvSpPr/>
          <p:nvPr/>
        </p:nvSpPr>
        <p:spPr>
          <a:xfrm flipH="1">
            <a:off x="624450" y="15980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8"/>
          <p:cNvSpPr/>
          <p:nvPr/>
        </p:nvSpPr>
        <p:spPr>
          <a:xfrm flipH="1">
            <a:off x="562260"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8"/>
          <p:cNvSpPr/>
          <p:nvPr/>
        </p:nvSpPr>
        <p:spPr>
          <a:xfrm flipH="1">
            <a:off x="125199"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8"/>
          <p:cNvSpPr/>
          <p:nvPr/>
        </p:nvSpPr>
        <p:spPr>
          <a:xfrm flipH="1">
            <a:off x="8668575" y="37410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8"/>
          <p:cNvSpPr/>
          <p:nvPr/>
        </p:nvSpPr>
        <p:spPr>
          <a:xfrm flipH="1">
            <a:off x="2410371" y="34327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8"/>
          <p:cNvSpPr/>
          <p:nvPr/>
        </p:nvSpPr>
        <p:spPr>
          <a:xfrm flipH="1">
            <a:off x="7294602" y="491803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8"/>
          <p:cNvSpPr/>
          <p:nvPr/>
        </p:nvSpPr>
        <p:spPr>
          <a:xfrm flipH="1">
            <a:off x="8288794" y="4402838"/>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8"/>
          <p:cNvSpPr/>
          <p:nvPr/>
        </p:nvSpPr>
        <p:spPr>
          <a:xfrm flipH="1">
            <a:off x="8337588" y="74063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8"/>
          <p:cNvSpPr/>
          <p:nvPr/>
        </p:nvSpPr>
        <p:spPr>
          <a:xfrm flipH="1">
            <a:off x="7858427" y="29868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8"/>
          <p:cNvSpPr/>
          <p:nvPr/>
        </p:nvSpPr>
        <p:spPr>
          <a:xfrm flipH="1">
            <a:off x="8856485" y="436088"/>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gradFill>
          <a:gsLst>
            <a:gs pos="0">
              <a:schemeClr val="dk2"/>
            </a:gs>
            <a:gs pos="100000">
              <a:schemeClr val="lt2"/>
            </a:gs>
          </a:gsLst>
          <a:lin ang="16200038" scaled="0"/>
        </a:gradFill>
        <a:effectLst/>
      </p:bgPr>
    </p:bg>
    <p:spTree>
      <p:nvGrpSpPr>
        <p:cNvPr id="1" name="Shape 252"/>
        <p:cNvGrpSpPr/>
        <p:nvPr/>
      </p:nvGrpSpPr>
      <p:grpSpPr>
        <a:xfrm>
          <a:off x="0" y="0"/>
          <a:ext cx="0" cy="0"/>
          <a:chOff x="0" y="0"/>
          <a:chExt cx="0" cy="0"/>
        </a:xfrm>
      </p:grpSpPr>
      <p:sp>
        <p:nvSpPr>
          <p:cNvPr id="253" name="Google Shape;253;p9"/>
          <p:cNvSpPr txBox="1">
            <a:spLocks noGrp="1"/>
          </p:cNvSpPr>
          <p:nvPr>
            <p:ph type="title"/>
          </p:nvPr>
        </p:nvSpPr>
        <p:spPr>
          <a:xfrm>
            <a:off x="4329650" y="1517175"/>
            <a:ext cx="4078800" cy="8145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sz="4000">
                <a:solidFill>
                  <a:schemeClr val="dk1"/>
                </a:solidFill>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254" name="Google Shape;254;p9"/>
          <p:cNvSpPr txBox="1">
            <a:spLocks noGrp="1"/>
          </p:cNvSpPr>
          <p:nvPr>
            <p:ph type="subTitle" idx="1"/>
          </p:nvPr>
        </p:nvSpPr>
        <p:spPr>
          <a:xfrm>
            <a:off x="4329025" y="2200425"/>
            <a:ext cx="3859800" cy="142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255" name="Google Shape;255;p9"/>
          <p:cNvSpPr/>
          <p:nvPr/>
        </p:nvSpPr>
        <p:spPr>
          <a:xfrm rot="-5400000">
            <a:off x="1958929" y="-877893"/>
            <a:ext cx="649787" cy="1804495"/>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9"/>
          <p:cNvSpPr/>
          <p:nvPr/>
        </p:nvSpPr>
        <p:spPr>
          <a:xfrm rot="-5400000">
            <a:off x="7723752" y="943010"/>
            <a:ext cx="1325793" cy="1115603"/>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9"/>
          <p:cNvSpPr/>
          <p:nvPr/>
        </p:nvSpPr>
        <p:spPr>
          <a:xfrm rot="-5400000">
            <a:off x="3583353" y="-4188310"/>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9"/>
          <p:cNvSpPr/>
          <p:nvPr/>
        </p:nvSpPr>
        <p:spPr>
          <a:xfrm rot="-6329527">
            <a:off x="8219975" y="-295336"/>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9"/>
          <p:cNvSpPr/>
          <p:nvPr/>
        </p:nvSpPr>
        <p:spPr>
          <a:xfrm rot="-5400000">
            <a:off x="259780" y="-730963"/>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9"/>
          <p:cNvSpPr/>
          <p:nvPr/>
        </p:nvSpPr>
        <p:spPr>
          <a:xfrm rot="5400000" flipH="1">
            <a:off x="8299399" y="438522"/>
            <a:ext cx="73399" cy="7335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9"/>
          <p:cNvSpPr/>
          <p:nvPr/>
        </p:nvSpPr>
        <p:spPr>
          <a:xfrm rot="-5400000">
            <a:off x="7253791" y="3286113"/>
            <a:ext cx="1308629" cy="3634136"/>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9"/>
          <p:cNvSpPr/>
          <p:nvPr/>
        </p:nvSpPr>
        <p:spPr>
          <a:xfrm rot="-538088">
            <a:off x="8082029" y="3722830"/>
            <a:ext cx="1325784" cy="1115596"/>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9"/>
          <p:cNvSpPr/>
          <p:nvPr/>
        </p:nvSpPr>
        <p:spPr>
          <a:xfrm flipH="1">
            <a:off x="8241981" y="4402838"/>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9"/>
          <p:cNvSpPr/>
          <p:nvPr/>
        </p:nvSpPr>
        <p:spPr>
          <a:xfrm flipH="1">
            <a:off x="8603836"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9"/>
          <p:cNvSpPr/>
          <p:nvPr/>
        </p:nvSpPr>
        <p:spPr>
          <a:xfrm flipH="1">
            <a:off x="402150" y="1159075"/>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9"/>
          <p:cNvSpPr/>
          <p:nvPr/>
        </p:nvSpPr>
        <p:spPr>
          <a:xfrm flipH="1">
            <a:off x="8920736" y="17581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9"/>
          <p:cNvSpPr/>
          <p:nvPr/>
        </p:nvSpPr>
        <p:spPr>
          <a:xfrm flipH="1">
            <a:off x="437760" y="467755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9"/>
          <p:cNvSpPr/>
          <p:nvPr/>
        </p:nvSpPr>
        <p:spPr>
          <a:xfrm flipH="1">
            <a:off x="125199"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9"/>
          <p:cNvSpPr/>
          <p:nvPr/>
        </p:nvSpPr>
        <p:spPr>
          <a:xfrm flipH="1">
            <a:off x="1629421"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9"/>
          <p:cNvSpPr/>
          <p:nvPr/>
        </p:nvSpPr>
        <p:spPr>
          <a:xfrm flipH="1">
            <a:off x="8241971"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9"/>
          <p:cNvSpPr/>
          <p:nvPr/>
        </p:nvSpPr>
        <p:spPr>
          <a:xfrm flipH="1">
            <a:off x="2221599" y="37656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2" name="Google Shape;272;p9"/>
          <p:cNvGrpSpPr/>
          <p:nvPr/>
        </p:nvGrpSpPr>
        <p:grpSpPr>
          <a:xfrm>
            <a:off x="-1461648" y="390277"/>
            <a:ext cx="4362945" cy="4362945"/>
            <a:chOff x="-3791416" y="-1218645"/>
            <a:chExt cx="7569300" cy="7569300"/>
          </a:xfrm>
        </p:grpSpPr>
        <p:sp>
          <p:nvSpPr>
            <p:cNvPr id="273" name="Google Shape;273;p9"/>
            <p:cNvSpPr/>
            <p:nvPr/>
          </p:nvSpPr>
          <p:spPr>
            <a:xfrm>
              <a:off x="-1542462" y="1030300"/>
              <a:ext cx="3071400" cy="30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9"/>
            <p:cNvSpPr/>
            <p:nvPr/>
          </p:nvSpPr>
          <p:spPr>
            <a:xfrm>
              <a:off x="-1972812" y="599950"/>
              <a:ext cx="3932100" cy="3932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9"/>
            <p:cNvSpPr/>
            <p:nvPr/>
          </p:nvSpPr>
          <p:spPr>
            <a:xfrm>
              <a:off x="-2270712" y="302050"/>
              <a:ext cx="4527900" cy="4527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9"/>
            <p:cNvSpPr/>
            <p:nvPr/>
          </p:nvSpPr>
          <p:spPr>
            <a:xfrm>
              <a:off x="-2973462" y="-400700"/>
              <a:ext cx="5933400" cy="593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9"/>
            <p:cNvSpPr/>
            <p:nvPr/>
          </p:nvSpPr>
          <p:spPr>
            <a:xfrm>
              <a:off x="-3791416" y="-1218645"/>
              <a:ext cx="7569300" cy="7569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8" name="Google Shape;278;p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gradFill>
          <a:gsLst>
            <a:gs pos="0">
              <a:schemeClr val="dk2"/>
            </a:gs>
            <a:gs pos="100000">
              <a:schemeClr val="lt2"/>
            </a:gs>
          </a:gsLst>
          <a:lin ang="18900732" scaled="0"/>
        </a:gradFill>
        <a:effectLst/>
      </p:bgPr>
    </p:bg>
    <p:spTree>
      <p:nvGrpSpPr>
        <p:cNvPr id="1" name="Shape 279"/>
        <p:cNvGrpSpPr/>
        <p:nvPr/>
      </p:nvGrpSpPr>
      <p:grpSpPr>
        <a:xfrm>
          <a:off x="0" y="0"/>
          <a:ext cx="0" cy="0"/>
          <a:chOff x="0" y="0"/>
          <a:chExt cx="0" cy="0"/>
        </a:xfrm>
      </p:grpSpPr>
      <p:sp>
        <p:nvSpPr>
          <p:cNvPr id="280" name="Google Shape;280;p10"/>
          <p:cNvSpPr txBox="1">
            <a:spLocks noGrp="1"/>
          </p:cNvSpPr>
          <p:nvPr>
            <p:ph type="title"/>
          </p:nvPr>
        </p:nvSpPr>
        <p:spPr>
          <a:xfrm>
            <a:off x="716800" y="3107900"/>
            <a:ext cx="2760900" cy="1538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81" name="Google Shape;281;p10"/>
          <p:cNvSpPr/>
          <p:nvPr/>
        </p:nvSpPr>
        <p:spPr>
          <a:xfrm>
            <a:off x="8588675" y="1562175"/>
            <a:ext cx="747653" cy="2076276"/>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0"/>
          <p:cNvSpPr/>
          <p:nvPr/>
        </p:nvSpPr>
        <p:spPr>
          <a:xfrm>
            <a:off x="7648215" y="4273086"/>
            <a:ext cx="1423780" cy="1198113"/>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0"/>
          <p:cNvSpPr/>
          <p:nvPr/>
        </p:nvSpPr>
        <p:spPr>
          <a:xfrm>
            <a:off x="8065850" y="-184854"/>
            <a:ext cx="1108595" cy="2545312"/>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0"/>
          <p:cNvSpPr/>
          <p:nvPr/>
        </p:nvSpPr>
        <p:spPr>
          <a:xfrm>
            <a:off x="32298" y="-22878"/>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0"/>
          <p:cNvSpPr/>
          <p:nvPr/>
        </p:nvSpPr>
        <p:spPr>
          <a:xfrm>
            <a:off x="-63806" y="3614958"/>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0"/>
          <p:cNvSpPr/>
          <p:nvPr/>
        </p:nvSpPr>
        <p:spPr>
          <a:xfrm>
            <a:off x="-25300" y="446184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0"/>
          <p:cNvSpPr/>
          <p:nvPr/>
        </p:nvSpPr>
        <p:spPr>
          <a:xfrm>
            <a:off x="-18106" y="-22898"/>
            <a:ext cx="702217" cy="2975656"/>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0"/>
          <p:cNvSpPr/>
          <p:nvPr/>
        </p:nvSpPr>
        <p:spPr>
          <a:xfrm flipH="1">
            <a:off x="8300354" y="4402342"/>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0"/>
          <p:cNvSpPr/>
          <p:nvPr/>
        </p:nvSpPr>
        <p:spPr>
          <a:xfrm flipH="1">
            <a:off x="317450" y="14162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0"/>
          <p:cNvSpPr/>
          <p:nvPr/>
        </p:nvSpPr>
        <p:spPr>
          <a:xfrm flipH="1">
            <a:off x="388660"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0"/>
          <p:cNvSpPr/>
          <p:nvPr/>
        </p:nvSpPr>
        <p:spPr>
          <a:xfrm flipH="1">
            <a:off x="125199"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0"/>
          <p:cNvSpPr/>
          <p:nvPr/>
        </p:nvSpPr>
        <p:spPr>
          <a:xfrm flipH="1">
            <a:off x="6846046" y="474134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0"/>
          <p:cNvSpPr/>
          <p:nvPr/>
        </p:nvSpPr>
        <p:spPr>
          <a:xfrm flipH="1">
            <a:off x="8819749" y="41369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0"/>
          <p:cNvSpPr/>
          <p:nvPr/>
        </p:nvSpPr>
        <p:spPr>
          <a:xfrm flipH="1">
            <a:off x="8700221" y="834783"/>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0"/>
          <p:cNvSpPr/>
          <p:nvPr/>
        </p:nvSpPr>
        <p:spPr>
          <a:xfrm flipH="1">
            <a:off x="7948274" y="5840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0"/>
          <p:cNvSpPr/>
          <p:nvPr/>
        </p:nvSpPr>
        <p:spPr>
          <a:xfrm flipH="1">
            <a:off x="3926949" y="1008173"/>
            <a:ext cx="119503"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gradFill>
          <a:gsLst>
            <a:gs pos="0">
              <a:schemeClr val="dk2"/>
            </a:gs>
            <a:gs pos="100000">
              <a:schemeClr val="lt2"/>
            </a:gs>
          </a:gsLst>
          <a:lin ang="18900044" scaled="0"/>
        </a:gradFill>
        <a:effectLst/>
      </p:bgPr>
    </p:bg>
    <p:spTree>
      <p:nvGrpSpPr>
        <p:cNvPr id="1" name="Shape 298"/>
        <p:cNvGrpSpPr/>
        <p:nvPr/>
      </p:nvGrpSpPr>
      <p:grpSpPr>
        <a:xfrm>
          <a:off x="0" y="0"/>
          <a:ext cx="0" cy="0"/>
          <a:chOff x="0" y="0"/>
          <a:chExt cx="0" cy="0"/>
        </a:xfrm>
      </p:grpSpPr>
      <p:sp>
        <p:nvSpPr>
          <p:cNvPr id="299" name="Google Shape;299;p11"/>
          <p:cNvSpPr txBox="1">
            <a:spLocks noGrp="1"/>
          </p:cNvSpPr>
          <p:nvPr>
            <p:ph type="subTitle" idx="1"/>
          </p:nvPr>
        </p:nvSpPr>
        <p:spPr>
          <a:xfrm>
            <a:off x="1354650" y="2990575"/>
            <a:ext cx="6434700" cy="6180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00" name="Google Shape;300;p11"/>
          <p:cNvSpPr txBox="1">
            <a:spLocks noGrp="1"/>
          </p:cNvSpPr>
          <p:nvPr>
            <p:ph type="title" hasCustomPrompt="1"/>
          </p:nvPr>
        </p:nvSpPr>
        <p:spPr>
          <a:xfrm>
            <a:off x="716800" y="1534925"/>
            <a:ext cx="7710300" cy="1515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0"/>
              <a:buNone/>
              <a:defRPr sz="9800">
                <a:solidFill>
                  <a:schemeClr val="dk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301" name="Google Shape;301;p11"/>
          <p:cNvSpPr/>
          <p:nvPr/>
        </p:nvSpPr>
        <p:spPr>
          <a:xfrm rot="2362087" flipH="1">
            <a:off x="60588" y="1051550"/>
            <a:ext cx="1042635" cy="87733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1"/>
          <p:cNvSpPr/>
          <p:nvPr/>
        </p:nvSpPr>
        <p:spPr>
          <a:xfrm rot="5400000" flipH="1">
            <a:off x="3720263" y="-4150160"/>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1"/>
          <p:cNvSpPr/>
          <p:nvPr/>
        </p:nvSpPr>
        <p:spPr>
          <a:xfrm rot="6329527" flipH="1">
            <a:off x="-125891" y="-295336"/>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1"/>
          <p:cNvSpPr/>
          <p:nvPr/>
        </p:nvSpPr>
        <p:spPr>
          <a:xfrm rot="5400000" flipH="1">
            <a:off x="8067818" y="-555938"/>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1"/>
          <p:cNvSpPr/>
          <p:nvPr/>
        </p:nvSpPr>
        <p:spPr>
          <a:xfrm rot="538079" flipH="1">
            <a:off x="-359812" y="1719601"/>
            <a:ext cx="1019033" cy="857448"/>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1"/>
          <p:cNvSpPr/>
          <p:nvPr/>
        </p:nvSpPr>
        <p:spPr>
          <a:xfrm rot="9560681" flipH="1">
            <a:off x="6070384" y="-161951"/>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1"/>
          <p:cNvSpPr/>
          <p:nvPr/>
        </p:nvSpPr>
        <p:spPr>
          <a:xfrm rot="-4481061" flipH="1">
            <a:off x="7004838" y="4045970"/>
            <a:ext cx="1042639" cy="877340"/>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1"/>
          <p:cNvSpPr/>
          <p:nvPr/>
        </p:nvSpPr>
        <p:spPr>
          <a:xfrm rot="-5400000" flipH="1">
            <a:off x="3626412" y="-18397"/>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1"/>
          <p:cNvSpPr/>
          <p:nvPr/>
        </p:nvSpPr>
        <p:spPr>
          <a:xfrm rot="-4470473" flipH="1">
            <a:off x="8263034" y="4243067"/>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1"/>
          <p:cNvSpPr/>
          <p:nvPr/>
        </p:nvSpPr>
        <p:spPr>
          <a:xfrm rot="-5400000" flipH="1">
            <a:off x="302839" y="3804984"/>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1"/>
          <p:cNvSpPr/>
          <p:nvPr/>
        </p:nvSpPr>
        <p:spPr>
          <a:xfrm rot="8584896" flipH="1">
            <a:off x="8435376" y="3502897"/>
            <a:ext cx="1019032" cy="857452"/>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1"/>
          <p:cNvSpPr/>
          <p:nvPr/>
        </p:nvSpPr>
        <p:spPr>
          <a:xfrm rot="-1239319" flipH="1">
            <a:off x="2314915" y="4610694"/>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3" name="Google Shape;313;p11"/>
          <p:cNvGrpSpPr/>
          <p:nvPr/>
        </p:nvGrpSpPr>
        <p:grpSpPr>
          <a:xfrm flipH="1">
            <a:off x="-1074487" y="-989812"/>
            <a:ext cx="11292974" cy="7049036"/>
            <a:chOff x="-1074487" y="-989812"/>
            <a:chExt cx="11292974" cy="7049036"/>
          </a:xfrm>
        </p:grpSpPr>
        <p:grpSp>
          <p:nvGrpSpPr>
            <p:cNvPr id="314" name="Google Shape;314;p11"/>
            <p:cNvGrpSpPr/>
            <p:nvPr/>
          </p:nvGrpSpPr>
          <p:grpSpPr>
            <a:xfrm>
              <a:off x="7476363" y="3317101"/>
              <a:ext cx="2742124" cy="2742124"/>
              <a:chOff x="-1087568" y="-1126448"/>
              <a:chExt cx="2274300" cy="2274300"/>
            </a:xfrm>
          </p:grpSpPr>
          <p:sp>
            <p:nvSpPr>
              <p:cNvPr id="315" name="Google Shape;315;p11"/>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1"/>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1"/>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1"/>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 name="Google Shape;319;p11"/>
            <p:cNvGrpSpPr/>
            <p:nvPr/>
          </p:nvGrpSpPr>
          <p:grpSpPr>
            <a:xfrm>
              <a:off x="-1074487" y="-989812"/>
              <a:ext cx="2742124" cy="2742124"/>
              <a:chOff x="-1087568" y="-1126448"/>
              <a:chExt cx="2274300" cy="2274300"/>
            </a:xfrm>
          </p:grpSpPr>
          <p:sp>
            <p:nvSpPr>
              <p:cNvPr id="320" name="Google Shape;320;p11"/>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1"/>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1"/>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1"/>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24" name="Google Shape;324;p11"/>
          <p:cNvSpPr/>
          <p:nvPr/>
        </p:nvSpPr>
        <p:spPr>
          <a:xfrm>
            <a:off x="8711662" y="273438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1"/>
          <p:cNvSpPr/>
          <p:nvPr/>
        </p:nvSpPr>
        <p:spPr>
          <a:xfrm>
            <a:off x="8280025" y="1501275"/>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1"/>
          <p:cNvSpPr/>
          <p:nvPr/>
        </p:nvSpPr>
        <p:spPr>
          <a:xfrm>
            <a:off x="7763275" y="7406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1"/>
          <p:cNvSpPr/>
          <p:nvPr/>
        </p:nvSpPr>
        <p:spPr>
          <a:xfrm>
            <a:off x="8462212"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1"/>
          <p:cNvSpPr/>
          <p:nvPr/>
        </p:nvSpPr>
        <p:spPr>
          <a:xfrm>
            <a:off x="8958775"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1"/>
          <p:cNvSpPr/>
          <p:nvPr/>
        </p:nvSpPr>
        <p:spPr>
          <a:xfrm>
            <a:off x="322725" y="37410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1"/>
          <p:cNvSpPr/>
          <p:nvPr/>
        </p:nvSpPr>
        <p:spPr>
          <a:xfrm>
            <a:off x="6614111" y="34327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1"/>
          <p:cNvSpPr/>
          <p:nvPr/>
        </p:nvSpPr>
        <p:spPr>
          <a:xfrm>
            <a:off x="575675" y="3188113"/>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1"/>
          <p:cNvSpPr/>
          <p:nvPr/>
        </p:nvSpPr>
        <p:spPr>
          <a:xfrm>
            <a:off x="615662" y="74063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1"/>
          <p:cNvSpPr/>
          <p:nvPr/>
        </p:nvSpPr>
        <p:spPr>
          <a:xfrm>
            <a:off x="1225547" y="29868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1"/>
          <p:cNvSpPr/>
          <p:nvPr/>
        </p:nvSpPr>
        <p:spPr>
          <a:xfrm>
            <a:off x="167987" y="436088"/>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1"/>
          <p:cNvSpPr/>
          <p:nvPr/>
        </p:nvSpPr>
        <p:spPr>
          <a:xfrm>
            <a:off x="8081311" y="47602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337"/>
        <p:cNvGrpSpPr/>
        <p:nvPr/>
      </p:nvGrpSpPr>
      <p:grpSpPr>
        <a:xfrm>
          <a:off x="0" y="0"/>
          <a:ext cx="0" cy="0"/>
          <a:chOff x="0" y="0"/>
          <a:chExt cx="0" cy="0"/>
        </a:xfrm>
      </p:grpSpPr>
      <p:sp>
        <p:nvSpPr>
          <p:cNvPr id="338" name="Google Shape;338;p1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_4">
    <p:bg>
      <p:bgPr>
        <a:gradFill>
          <a:gsLst>
            <a:gs pos="0">
              <a:schemeClr val="dk2"/>
            </a:gs>
            <a:gs pos="100000">
              <a:schemeClr val="lt2"/>
            </a:gs>
          </a:gsLst>
          <a:lin ang="18900044" scaled="0"/>
        </a:gradFill>
        <a:effectLst/>
      </p:bgPr>
    </p:bg>
    <p:spTree>
      <p:nvGrpSpPr>
        <p:cNvPr id="1" name="Shape 339"/>
        <p:cNvGrpSpPr/>
        <p:nvPr/>
      </p:nvGrpSpPr>
      <p:grpSpPr>
        <a:xfrm>
          <a:off x="0" y="0"/>
          <a:ext cx="0" cy="0"/>
          <a:chOff x="0" y="0"/>
          <a:chExt cx="0" cy="0"/>
        </a:xfrm>
      </p:grpSpPr>
      <p:sp>
        <p:nvSpPr>
          <p:cNvPr id="340" name="Google Shape;340;p13"/>
          <p:cNvSpPr txBox="1">
            <a:spLocks noGrp="1"/>
          </p:cNvSpPr>
          <p:nvPr>
            <p:ph type="title"/>
          </p:nvPr>
        </p:nvSpPr>
        <p:spPr>
          <a:xfrm>
            <a:off x="1499100" y="458900"/>
            <a:ext cx="6145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41" name="Google Shape;341;p13">
            <a:hlinkClick r:id="" action="ppaction://noaction"/>
          </p:cNvPr>
          <p:cNvSpPr txBox="1">
            <a:spLocks noGrp="1"/>
          </p:cNvSpPr>
          <p:nvPr>
            <p:ph type="title" idx="2" hasCustomPrompt="1"/>
          </p:nvPr>
        </p:nvSpPr>
        <p:spPr>
          <a:xfrm>
            <a:off x="2281757" y="1170900"/>
            <a:ext cx="1176900" cy="914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0"/>
              <a:buNone/>
              <a:defRPr sz="36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342" name="Google Shape;342;p13">
            <a:hlinkClick r:id="" action="ppaction://noaction"/>
          </p:cNvPr>
          <p:cNvSpPr txBox="1">
            <a:spLocks noGrp="1"/>
          </p:cNvSpPr>
          <p:nvPr>
            <p:ph type="subTitle" idx="1"/>
          </p:nvPr>
        </p:nvSpPr>
        <p:spPr>
          <a:xfrm>
            <a:off x="1280799" y="1711050"/>
            <a:ext cx="3178800" cy="49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000"/>
              <a:buFont typeface="Times New Roman"/>
              <a:buNone/>
              <a:defRPr sz="22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3" name="Google Shape;343;p13"/>
          <p:cNvSpPr txBox="1">
            <a:spLocks noGrp="1"/>
          </p:cNvSpPr>
          <p:nvPr>
            <p:ph type="subTitle" idx="3"/>
          </p:nvPr>
        </p:nvSpPr>
        <p:spPr>
          <a:xfrm>
            <a:off x="1690600" y="2101400"/>
            <a:ext cx="2359200" cy="60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000"/>
              <a:buFont typeface="Times New Roman"/>
              <a:buNone/>
              <a:defRPr sz="1400"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4" name="Google Shape;344;p13">
            <a:hlinkClick r:id="" action="ppaction://noaction"/>
          </p:cNvPr>
          <p:cNvSpPr txBox="1">
            <a:spLocks noGrp="1"/>
          </p:cNvSpPr>
          <p:nvPr>
            <p:ph type="title" idx="4" hasCustomPrompt="1"/>
          </p:nvPr>
        </p:nvSpPr>
        <p:spPr>
          <a:xfrm>
            <a:off x="2281758" y="2981088"/>
            <a:ext cx="1176900" cy="914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0"/>
              <a:buNone/>
              <a:defRPr sz="36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345" name="Google Shape;345;p13">
            <a:hlinkClick r:id="" action="ppaction://noaction"/>
          </p:cNvPr>
          <p:cNvSpPr txBox="1">
            <a:spLocks noGrp="1"/>
          </p:cNvSpPr>
          <p:nvPr>
            <p:ph type="subTitle" idx="5"/>
          </p:nvPr>
        </p:nvSpPr>
        <p:spPr>
          <a:xfrm>
            <a:off x="1280799" y="3533000"/>
            <a:ext cx="3178800" cy="49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000"/>
              <a:buFont typeface="Times New Roman"/>
              <a:buNone/>
              <a:defRPr sz="22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6" name="Google Shape;346;p13"/>
          <p:cNvSpPr txBox="1">
            <a:spLocks noGrp="1"/>
          </p:cNvSpPr>
          <p:nvPr>
            <p:ph type="subTitle" idx="6"/>
          </p:nvPr>
        </p:nvSpPr>
        <p:spPr>
          <a:xfrm>
            <a:off x="1690600" y="3920947"/>
            <a:ext cx="2359200" cy="612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000"/>
              <a:buFont typeface="Times New Roman"/>
              <a:buNone/>
              <a:defRPr sz="1400"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7" name="Google Shape;347;p13">
            <a:hlinkClick r:id="" action="ppaction://noaction"/>
          </p:cNvPr>
          <p:cNvSpPr txBox="1">
            <a:spLocks noGrp="1"/>
          </p:cNvSpPr>
          <p:nvPr>
            <p:ph type="title" idx="7" hasCustomPrompt="1"/>
          </p:nvPr>
        </p:nvSpPr>
        <p:spPr>
          <a:xfrm>
            <a:off x="5622283" y="1174250"/>
            <a:ext cx="1176900" cy="914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0"/>
              <a:buNone/>
              <a:defRPr sz="36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348" name="Google Shape;348;p13">
            <a:hlinkClick r:id="" action="ppaction://noaction"/>
          </p:cNvPr>
          <p:cNvSpPr txBox="1">
            <a:spLocks noGrp="1"/>
          </p:cNvSpPr>
          <p:nvPr>
            <p:ph type="subTitle" idx="8"/>
          </p:nvPr>
        </p:nvSpPr>
        <p:spPr>
          <a:xfrm>
            <a:off x="4621326" y="1711050"/>
            <a:ext cx="3178800" cy="49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000"/>
              <a:buFont typeface="Times New Roman"/>
              <a:buNone/>
              <a:defRPr sz="22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9" name="Google Shape;349;p13"/>
          <p:cNvSpPr txBox="1">
            <a:spLocks noGrp="1"/>
          </p:cNvSpPr>
          <p:nvPr>
            <p:ph type="subTitle" idx="9"/>
          </p:nvPr>
        </p:nvSpPr>
        <p:spPr>
          <a:xfrm>
            <a:off x="5031125" y="2108146"/>
            <a:ext cx="2359200" cy="60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000"/>
              <a:buFont typeface="Times New Roman"/>
              <a:buNone/>
              <a:defRPr sz="1400"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50" name="Google Shape;350;p13">
            <a:hlinkClick r:id="" action="ppaction://noaction"/>
          </p:cNvPr>
          <p:cNvSpPr txBox="1">
            <a:spLocks noGrp="1"/>
          </p:cNvSpPr>
          <p:nvPr>
            <p:ph type="title" idx="13" hasCustomPrompt="1"/>
          </p:nvPr>
        </p:nvSpPr>
        <p:spPr>
          <a:xfrm>
            <a:off x="5622283" y="2981088"/>
            <a:ext cx="1176900" cy="914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0"/>
              <a:buNone/>
              <a:defRPr sz="36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351" name="Google Shape;351;p13">
            <a:hlinkClick r:id="" action="ppaction://noaction"/>
          </p:cNvPr>
          <p:cNvSpPr txBox="1">
            <a:spLocks noGrp="1"/>
          </p:cNvSpPr>
          <p:nvPr>
            <p:ph type="subTitle" idx="14"/>
          </p:nvPr>
        </p:nvSpPr>
        <p:spPr>
          <a:xfrm>
            <a:off x="4684401" y="3523350"/>
            <a:ext cx="3178800" cy="49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000"/>
              <a:buFont typeface="Times New Roman"/>
              <a:buNone/>
              <a:defRPr sz="22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52" name="Google Shape;352;p13"/>
          <p:cNvSpPr txBox="1">
            <a:spLocks noGrp="1"/>
          </p:cNvSpPr>
          <p:nvPr>
            <p:ph type="subTitle" idx="15"/>
          </p:nvPr>
        </p:nvSpPr>
        <p:spPr>
          <a:xfrm>
            <a:off x="5031125" y="3916323"/>
            <a:ext cx="2359200" cy="612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000"/>
              <a:buFont typeface="Times New Roman"/>
              <a:buNone/>
              <a:defRPr sz="1400"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53" name="Google Shape;353;p13"/>
          <p:cNvSpPr/>
          <p:nvPr/>
        </p:nvSpPr>
        <p:spPr>
          <a:xfrm>
            <a:off x="8061975" y="-337675"/>
            <a:ext cx="724400" cy="2011700"/>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3"/>
          <p:cNvSpPr/>
          <p:nvPr/>
        </p:nvSpPr>
        <p:spPr>
          <a:xfrm>
            <a:off x="7690300" y="4412137"/>
            <a:ext cx="733868" cy="617521"/>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3"/>
          <p:cNvSpPr/>
          <p:nvPr/>
        </p:nvSpPr>
        <p:spPr>
          <a:xfrm>
            <a:off x="8125285" y="-250"/>
            <a:ext cx="1018707" cy="5143387"/>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3"/>
          <p:cNvSpPr/>
          <p:nvPr/>
        </p:nvSpPr>
        <p:spPr>
          <a:xfrm rot="-929579">
            <a:off x="8435488" y="4593828"/>
            <a:ext cx="581152" cy="650799"/>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3"/>
          <p:cNvSpPr/>
          <p:nvPr/>
        </p:nvSpPr>
        <p:spPr>
          <a:xfrm>
            <a:off x="8704400" y="-59250"/>
            <a:ext cx="451908" cy="1037534"/>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3"/>
          <p:cNvSpPr/>
          <p:nvPr/>
        </p:nvSpPr>
        <p:spPr>
          <a:xfrm rot="10800000">
            <a:off x="320183" y="3471846"/>
            <a:ext cx="724400" cy="2011700"/>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3"/>
          <p:cNvSpPr/>
          <p:nvPr/>
        </p:nvSpPr>
        <p:spPr>
          <a:xfrm rot="10800000">
            <a:off x="682390" y="116213"/>
            <a:ext cx="733868" cy="617521"/>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3"/>
          <p:cNvSpPr/>
          <p:nvPr/>
        </p:nvSpPr>
        <p:spPr>
          <a:xfrm rot="10800000">
            <a:off x="-37434" y="2735"/>
            <a:ext cx="1018707" cy="5143387"/>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3"/>
          <p:cNvSpPr/>
          <p:nvPr/>
        </p:nvSpPr>
        <p:spPr>
          <a:xfrm rot="9870421">
            <a:off x="89918" y="-98755"/>
            <a:ext cx="581152" cy="650799"/>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3"/>
          <p:cNvSpPr/>
          <p:nvPr/>
        </p:nvSpPr>
        <p:spPr>
          <a:xfrm rot="10800000">
            <a:off x="-49750" y="4167587"/>
            <a:ext cx="451908" cy="1037534"/>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3" name="Google Shape;363;p13"/>
          <p:cNvGrpSpPr/>
          <p:nvPr/>
        </p:nvGrpSpPr>
        <p:grpSpPr>
          <a:xfrm>
            <a:off x="-1361400" y="1281988"/>
            <a:ext cx="2742124" cy="2742124"/>
            <a:chOff x="-1087568" y="-1126448"/>
            <a:chExt cx="2274300" cy="2274300"/>
          </a:xfrm>
        </p:grpSpPr>
        <p:sp>
          <p:nvSpPr>
            <p:cNvPr id="364" name="Google Shape;364;p13"/>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3"/>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3"/>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3"/>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8" name="Google Shape;368;p13"/>
          <p:cNvGrpSpPr/>
          <p:nvPr/>
        </p:nvGrpSpPr>
        <p:grpSpPr>
          <a:xfrm>
            <a:off x="7751225" y="1281988"/>
            <a:ext cx="2742124" cy="2742124"/>
            <a:chOff x="-1087568" y="-1126448"/>
            <a:chExt cx="2274300" cy="2274300"/>
          </a:xfrm>
        </p:grpSpPr>
        <p:sp>
          <p:nvSpPr>
            <p:cNvPr id="369" name="Google Shape;369;p13"/>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3"/>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3"/>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3"/>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3" name="Google Shape;373;p13"/>
          <p:cNvSpPr/>
          <p:nvPr/>
        </p:nvSpPr>
        <p:spPr>
          <a:xfrm flipH="1">
            <a:off x="8630675" y="2109475"/>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3"/>
          <p:cNvSpPr/>
          <p:nvPr/>
        </p:nvSpPr>
        <p:spPr>
          <a:xfrm flipH="1">
            <a:off x="78863"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3"/>
          <p:cNvSpPr/>
          <p:nvPr/>
        </p:nvSpPr>
        <p:spPr>
          <a:xfrm flipH="1">
            <a:off x="8241981" y="4402838"/>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3"/>
          <p:cNvSpPr/>
          <p:nvPr/>
        </p:nvSpPr>
        <p:spPr>
          <a:xfrm flipH="1">
            <a:off x="8603836"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3"/>
          <p:cNvSpPr/>
          <p:nvPr/>
        </p:nvSpPr>
        <p:spPr>
          <a:xfrm flipH="1">
            <a:off x="402150" y="12413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3"/>
          <p:cNvSpPr/>
          <p:nvPr/>
        </p:nvSpPr>
        <p:spPr>
          <a:xfrm flipH="1">
            <a:off x="8920736" y="17581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3"/>
          <p:cNvSpPr/>
          <p:nvPr/>
        </p:nvSpPr>
        <p:spPr>
          <a:xfrm flipH="1">
            <a:off x="562260"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3"/>
          <p:cNvSpPr/>
          <p:nvPr/>
        </p:nvSpPr>
        <p:spPr>
          <a:xfrm flipH="1">
            <a:off x="125199"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3"/>
          <p:cNvSpPr/>
          <p:nvPr/>
        </p:nvSpPr>
        <p:spPr>
          <a:xfrm flipH="1">
            <a:off x="8874400" y="380153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3"/>
          <p:cNvSpPr/>
          <p:nvPr/>
        </p:nvSpPr>
        <p:spPr>
          <a:xfrm flipH="1">
            <a:off x="6433321" y="48146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3"/>
          <p:cNvSpPr/>
          <p:nvPr/>
        </p:nvSpPr>
        <p:spPr>
          <a:xfrm flipH="1">
            <a:off x="1629421"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3"/>
          <p:cNvSpPr/>
          <p:nvPr/>
        </p:nvSpPr>
        <p:spPr>
          <a:xfrm flipH="1">
            <a:off x="8241971"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1">
  <p:cSld name="CUSTOM_10">
    <p:bg>
      <p:bgPr>
        <a:gradFill>
          <a:gsLst>
            <a:gs pos="0">
              <a:schemeClr val="dk2"/>
            </a:gs>
            <a:gs pos="100000">
              <a:schemeClr val="lt2"/>
            </a:gs>
          </a:gsLst>
          <a:lin ang="10800025" scaled="0"/>
        </a:gradFill>
        <a:effectLst/>
      </p:bgPr>
    </p:bg>
    <p:spTree>
      <p:nvGrpSpPr>
        <p:cNvPr id="1" name="Shape 386"/>
        <p:cNvGrpSpPr/>
        <p:nvPr/>
      </p:nvGrpSpPr>
      <p:grpSpPr>
        <a:xfrm>
          <a:off x="0" y="0"/>
          <a:ext cx="0" cy="0"/>
          <a:chOff x="0" y="0"/>
          <a:chExt cx="0" cy="0"/>
        </a:xfrm>
      </p:grpSpPr>
      <p:sp>
        <p:nvSpPr>
          <p:cNvPr id="387" name="Google Shape;387;p14"/>
          <p:cNvSpPr txBox="1">
            <a:spLocks noGrp="1"/>
          </p:cNvSpPr>
          <p:nvPr>
            <p:ph type="title"/>
          </p:nvPr>
        </p:nvSpPr>
        <p:spPr>
          <a:xfrm>
            <a:off x="483100" y="2529125"/>
            <a:ext cx="4731300" cy="5307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3600"/>
              <a:buNone/>
              <a:defRPr sz="3500">
                <a:solidFill>
                  <a:schemeClr val="dk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88" name="Google Shape;388;p14"/>
          <p:cNvSpPr txBox="1">
            <a:spLocks noGrp="1"/>
          </p:cNvSpPr>
          <p:nvPr>
            <p:ph type="subTitle" idx="1"/>
          </p:nvPr>
        </p:nvSpPr>
        <p:spPr>
          <a:xfrm>
            <a:off x="1251850" y="3116825"/>
            <a:ext cx="3162600" cy="695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89" name="Google Shape;389;p14"/>
          <p:cNvSpPr txBox="1">
            <a:spLocks noGrp="1"/>
          </p:cNvSpPr>
          <p:nvPr>
            <p:ph type="title" idx="2" hasCustomPrompt="1"/>
          </p:nvPr>
        </p:nvSpPr>
        <p:spPr>
          <a:xfrm>
            <a:off x="1913350" y="1331263"/>
            <a:ext cx="1839600" cy="1153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2"/>
              </a:buClr>
              <a:buSzPts val="12000"/>
              <a:buNone/>
              <a:defRPr sz="6500"/>
            </a:lvl1pPr>
            <a:lvl2pPr lvl="1" algn="ctr" rtl="0">
              <a:spcBef>
                <a:spcPts val="0"/>
              </a:spcBef>
              <a:spcAft>
                <a:spcPts val="0"/>
              </a:spcAft>
              <a:buClr>
                <a:schemeClr val="accent5"/>
              </a:buClr>
              <a:buSzPts val="12000"/>
              <a:buNone/>
              <a:defRPr sz="12000">
                <a:solidFill>
                  <a:schemeClr val="accent5"/>
                </a:solidFill>
              </a:defRPr>
            </a:lvl2pPr>
            <a:lvl3pPr lvl="2" algn="ctr" rtl="0">
              <a:spcBef>
                <a:spcPts val="0"/>
              </a:spcBef>
              <a:spcAft>
                <a:spcPts val="0"/>
              </a:spcAft>
              <a:buClr>
                <a:schemeClr val="accent5"/>
              </a:buClr>
              <a:buSzPts val="12000"/>
              <a:buNone/>
              <a:defRPr sz="12000">
                <a:solidFill>
                  <a:schemeClr val="accent5"/>
                </a:solidFill>
              </a:defRPr>
            </a:lvl3pPr>
            <a:lvl4pPr lvl="3" algn="ctr" rtl="0">
              <a:spcBef>
                <a:spcPts val="0"/>
              </a:spcBef>
              <a:spcAft>
                <a:spcPts val="0"/>
              </a:spcAft>
              <a:buClr>
                <a:schemeClr val="accent5"/>
              </a:buClr>
              <a:buSzPts val="12000"/>
              <a:buNone/>
              <a:defRPr sz="12000">
                <a:solidFill>
                  <a:schemeClr val="accent5"/>
                </a:solidFill>
              </a:defRPr>
            </a:lvl4pPr>
            <a:lvl5pPr lvl="4" algn="ctr" rtl="0">
              <a:spcBef>
                <a:spcPts val="0"/>
              </a:spcBef>
              <a:spcAft>
                <a:spcPts val="0"/>
              </a:spcAft>
              <a:buClr>
                <a:schemeClr val="accent5"/>
              </a:buClr>
              <a:buSzPts val="12000"/>
              <a:buNone/>
              <a:defRPr sz="12000">
                <a:solidFill>
                  <a:schemeClr val="accent5"/>
                </a:solidFill>
              </a:defRPr>
            </a:lvl5pPr>
            <a:lvl6pPr lvl="5" algn="ctr" rtl="0">
              <a:spcBef>
                <a:spcPts val="0"/>
              </a:spcBef>
              <a:spcAft>
                <a:spcPts val="0"/>
              </a:spcAft>
              <a:buClr>
                <a:schemeClr val="accent5"/>
              </a:buClr>
              <a:buSzPts val="12000"/>
              <a:buNone/>
              <a:defRPr sz="12000">
                <a:solidFill>
                  <a:schemeClr val="accent5"/>
                </a:solidFill>
              </a:defRPr>
            </a:lvl6pPr>
            <a:lvl7pPr lvl="6" algn="ctr" rtl="0">
              <a:spcBef>
                <a:spcPts val="0"/>
              </a:spcBef>
              <a:spcAft>
                <a:spcPts val="0"/>
              </a:spcAft>
              <a:buClr>
                <a:schemeClr val="accent5"/>
              </a:buClr>
              <a:buSzPts val="12000"/>
              <a:buNone/>
              <a:defRPr sz="12000">
                <a:solidFill>
                  <a:schemeClr val="accent5"/>
                </a:solidFill>
              </a:defRPr>
            </a:lvl7pPr>
            <a:lvl8pPr lvl="7" algn="ctr" rtl="0">
              <a:spcBef>
                <a:spcPts val="0"/>
              </a:spcBef>
              <a:spcAft>
                <a:spcPts val="0"/>
              </a:spcAft>
              <a:buClr>
                <a:schemeClr val="accent5"/>
              </a:buClr>
              <a:buSzPts val="12000"/>
              <a:buNone/>
              <a:defRPr sz="12000">
                <a:solidFill>
                  <a:schemeClr val="accent5"/>
                </a:solidFill>
              </a:defRPr>
            </a:lvl8pPr>
            <a:lvl9pPr lvl="8" algn="ctr" rtl="0">
              <a:spcBef>
                <a:spcPts val="0"/>
              </a:spcBef>
              <a:spcAft>
                <a:spcPts val="0"/>
              </a:spcAft>
              <a:buClr>
                <a:schemeClr val="accent5"/>
              </a:buClr>
              <a:buSzPts val="12000"/>
              <a:buNone/>
              <a:defRPr sz="12000">
                <a:solidFill>
                  <a:schemeClr val="accent5"/>
                </a:solidFill>
              </a:defRPr>
            </a:lvl9pPr>
          </a:lstStyle>
          <a:p>
            <a:r>
              <a:t>xx%</a:t>
            </a:r>
          </a:p>
        </p:txBody>
      </p:sp>
      <p:sp>
        <p:nvSpPr>
          <p:cNvPr id="390" name="Google Shape;390;p14"/>
          <p:cNvSpPr/>
          <p:nvPr/>
        </p:nvSpPr>
        <p:spPr>
          <a:xfrm rot="-538783" flipH="1">
            <a:off x="625612" y="4448310"/>
            <a:ext cx="834279" cy="99245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4"/>
          <p:cNvSpPr/>
          <p:nvPr/>
        </p:nvSpPr>
        <p:spPr>
          <a:xfrm rot="-194745" flipH="1">
            <a:off x="648788" y="-78173"/>
            <a:ext cx="787928" cy="1269373"/>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4"/>
          <p:cNvSpPr/>
          <p:nvPr/>
        </p:nvSpPr>
        <p:spPr>
          <a:xfrm rot="10800000" flipH="1">
            <a:off x="10777" y="4087887"/>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4"/>
          <p:cNvSpPr/>
          <p:nvPr/>
        </p:nvSpPr>
        <p:spPr>
          <a:xfrm rot="10800000" flipH="1">
            <a:off x="-85327" y="854907"/>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4"/>
          <p:cNvSpPr/>
          <p:nvPr/>
        </p:nvSpPr>
        <p:spPr>
          <a:xfrm rot="10800000" flipH="1">
            <a:off x="-46821" y="-29735"/>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4"/>
          <p:cNvSpPr/>
          <p:nvPr/>
        </p:nvSpPr>
        <p:spPr>
          <a:xfrm rot="10800000" flipH="1">
            <a:off x="-39623" y="-173562"/>
            <a:ext cx="1274725" cy="5401787"/>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4"/>
          <p:cNvSpPr/>
          <p:nvPr/>
        </p:nvSpPr>
        <p:spPr>
          <a:xfrm rot="10800000" flipH="1">
            <a:off x="269091" y="2788161"/>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4"/>
          <p:cNvSpPr/>
          <p:nvPr/>
        </p:nvSpPr>
        <p:spPr>
          <a:xfrm rot="10800000" flipH="1">
            <a:off x="560216" y="365517"/>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4"/>
          <p:cNvSpPr/>
          <p:nvPr/>
        </p:nvSpPr>
        <p:spPr>
          <a:xfrm rot="10800000" flipH="1">
            <a:off x="426654" y="248198"/>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4"/>
          <p:cNvSpPr/>
          <p:nvPr/>
        </p:nvSpPr>
        <p:spPr>
          <a:xfrm rot="10800000" flipH="1">
            <a:off x="269104" y="4804911"/>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4"/>
          <p:cNvSpPr/>
          <p:nvPr/>
        </p:nvSpPr>
        <p:spPr>
          <a:xfrm rot="10800000" flipH="1">
            <a:off x="729027" y="48649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4"/>
          <p:cNvSpPr/>
          <p:nvPr/>
        </p:nvSpPr>
        <p:spPr>
          <a:xfrm rot="10800000" flipH="1">
            <a:off x="5912329" y="4864936"/>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4"/>
          <p:cNvSpPr/>
          <p:nvPr/>
        </p:nvSpPr>
        <p:spPr>
          <a:xfrm rot="10800000" flipH="1">
            <a:off x="4968066" y="3745911"/>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4"/>
          <p:cNvSpPr/>
          <p:nvPr/>
        </p:nvSpPr>
        <p:spPr>
          <a:xfrm rot="10800000" flipH="1">
            <a:off x="8280016" y="1331267"/>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4"/>
          <p:cNvSpPr/>
          <p:nvPr/>
        </p:nvSpPr>
        <p:spPr>
          <a:xfrm rot="10800000" flipH="1">
            <a:off x="8803852" y="2176707"/>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4"/>
          <p:cNvSpPr/>
          <p:nvPr/>
        </p:nvSpPr>
        <p:spPr>
          <a:xfrm rot="10800000" flipH="1">
            <a:off x="8280029" y="247086"/>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6" name="Google Shape;406;p14"/>
          <p:cNvGrpSpPr/>
          <p:nvPr/>
        </p:nvGrpSpPr>
        <p:grpSpPr>
          <a:xfrm>
            <a:off x="5493609" y="1473250"/>
            <a:ext cx="7174183" cy="7174183"/>
            <a:chOff x="-3791416" y="-1218645"/>
            <a:chExt cx="7569300" cy="7569300"/>
          </a:xfrm>
        </p:grpSpPr>
        <p:sp>
          <p:nvSpPr>
            <p:cNvPr id="407" name="Google Shape;407;p14"/>
            <p:cNvSpPr/>
            <p:nvPr/>
          </p:nvSpPr>
          <p:spPr>
            <a:xfrm>
              <a:off x="-1542462" y="1030300"/>
              <a:ext cx="3071400" cy="30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4"/>
            <p:cNvSpPr/>
            <p:nvPr/>
          </p:nvSpPr>
          <p:spPr>
            <a:xfrm>
              <a:off x="-1972812" y="599950"/>
              <a:ext cx="3932100" cy="3932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4"/>
            <p:cNvSpPr/>
            <p:nvPr/>
          </p:nvSpPr>
          <p:spPr>
            <a:xfrm>
              <a:off x="-2270712" y="302050"/>
              <a:ext cx="4527900" cy="4527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4"/>
            <p:cNvSpPr/>
            <p:nvPr/>
          </p:nvSpPr>
          <p:spPr>
            <a:xfrm>
              <a:off x="-2973462" y="-400700"/>
              <a:ext cx="5933400" cy="593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4"/>
            <p:cNvSpPr/>
            <p:nvPr/>
          </p:nvSpPr>
          <p:spPr>
            <a:xfrm>
              <a:off x="-3791416" y="-1218645"/>
              <a:ext cx="7569300" cy="7569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2" name="Google Shape;412;p1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2">
  <p:cSld name="CUSTOM_11">
    <p:bg>
      <p:bgPr>
        <a:gradFill>
          <a:gsLst>
            <a:gs pos="0">
              <a:schemeClr val="lt2"/>
            </a:gs>
            <a:gs pos="100000">
              <a:schemeClr val="dk2"/>
            </a:gs>
          </a:gsLst>
          <a:lin ang="10800025" scaled="0"/>
        </a:gradFill>
        <a:effectLst/>
      </p:bgPr>
    </p:bg>
    <p:spTree>
      <p:nvGrpSpPr>
        <p:cNvPr id="1" name="Shape 413"/>
        <p:cNvGrpSpPr/>
        <p:nvPr/>
      </p:nvGrpSpPr>
      <p:grpSpPr>
        <a:xfrm>
          <a:off x="0" y="0"/>
          <a:ext cx="0" cy="0"/>
          <a:chOff x="0" y="0"/>
          <a:chExt cx="0" cy="0"/>
        </a:xfrm>
      </p:grpSpPr>
      <p:sp>
        <p:nvSpPr>
          <p:cNvPr id="414" name="Google Shape;414;p15"/>
          <p:cNvSpPr txBox="1">
            <a:spLocks noGrp="1"/>
          </p:cNvSpPr>
          <p:nvPr>
            <p:ph type="title"/>
          </p:nvPr>
        </p:nvSpPr>
        <p:spPr>
          <a:xfrm>
            <a:off x="4147675" y="2529125"/>
            <a:ext cx="4731300" cy="5307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3600"/>
              <a:buNone/>
              <a:defRPr sz="3500">
                <a:solidFill>
                  <a:schemeClr val="dk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15" name="Google Shape;415;p15"/>
          <p:cNvSpPr txBox="1">
            <a:spLocks noGrp="1"/>
          </p:cNvSpPr>
          <p:nvPr>
            <p:ph type="subTitle" idx="1"/>
          </p:nvPr>
        </p:nvSpPr>
        <p:spPr>
          <a:xfrm>
            <a:off x="4931875" y="3116825"/>
            <a:ext cx="3131700" cy="695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16" name="Google Shape;416;p15"/>
          <p:cNvSpPr txBox="1">
            <a:spLocks noGrp="1"/>
          </p:cNvSpPr>
          <p:nvPr>
            <p:ph type="title" idx="2" hasCustomPrompt="1"/>
          </p:nvPr>
        </p:nvSpPr>
        <p:spPr>
          <a:xfrm>
            <a:off x="5577925" y="1331263"/>
            <a:ext cx="1839600" cy="1153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2"/>
              </a:buClr>
              <a:buSzPts val="12000"/>
              <a:buNone/>
              <a:defRPr sz="6500"/>
            </a:lvl1pPr>
            <a:lvl2pPr lvl="1" algn="ctr" rtl="0">
              <a:spcBef>
                <a:spcPts val="0"/>
              </a:spcBef>
              <a:spcAft>
                <a:spcPts val="0"/>
              </a:spcAft>
              <a:buClr>
                <a:schemeClr val="accent5"/>
              </a:buClr>
              <a:buSzPts val="12000"/>
              <a:buNone/>
              <a:defRPr sz="12000">
                <a:solidFill>
                  <a:schemeClr val="accent5"/>
                </a:solidFill>
              </a:defRPr>
            </a:lvl2pPr>
            <a:lvl3pPr lvl="2" algn="ctr" rtl="0">
              <a:spcBef>
                <a:spcPts val="0"/>
              </a:spcBef>
              <a:spcAft>
                <a:spcPts val="0"/>
              </a:spcAft>
              <a:buClr>
                <a:schemeClr val="accent5"/>
              </a:buClr>
              <a:buSzPts val="12000"/>
              <a:buNone/>
              <a:defRPr sz="12000">
                <a:solidFill>
                  <a:schemeClr val="accent5"/>
                </a:solidFill>
              </a:defRPr>
            </a:lvl3pPr>
            <a:lvl4pPr lvl="3" algn="ctr" rtl="0">
              <a:spcBef>
                <a:spcPts val="0"/>
              </a:spcBef>
              <a:spcAft>
                <a:spcPts val="0"/>
              </a:spcAft>
              <a:buClr>
                <a:schemeClr val="accent5"/>
              </a:buClr>
              <a:buSzPts val="12000"/>
              <a:buNone/>
              <a:defRPr sz="12000">
                <a:solidFill>
                  <a:schemeClr val="accent5"/>
                </a:solidFill>
              </a:defRPr>
            </a:lvl4pPr>
            <a:lvl5pPr lvl="4" algn="ctr" rtl="0">
              <a:spcBef>
                <a:spcPts val="0"/>
              </a:spcBef>
              <a:spcAft>
                <a:spcPts val="0"/>
              </a:spcAft>
              <a:buClr>
                <a:schemeClr val="accent5"/>
              </a:buClr>
              <a:buSzPts val="12000"/>
              <a:buNone/>
              <a:defRPr sz="12000">
                <a:solidFill>
                  <a:schemeClr val="accent5"/>
                </a:solidFill>
              </a:defRPr>
            </a:lvl5pPr>
            <a:lvl6pPr lvl="5" algn="ctr" rtl="0">
              <a:spcBef>
                <a:spcPts val="0"/>
              </a:spcBef>
              <a:spcAft>
                <a:spcPts val="0"/>
              </a:spcAft>
              <a:buClr>
                <a:schemeClr val="accent5"/>
              </a:buClr>
              <a:buSzPts val="12000"/>
              <a:buNone/>
              <a:defRPr sz="12000">
                <a:solidFill>
                  <a:schemeClr val="accent5"/>
                </a:solidFill>
              </a:defRPr>
            </a:lvl6pPr>
            <a:lvl7pPr lvl="6" algn="ctr" rtl="0">
              <a:spcBef>
                <a:spcPts val="0"/>
              </a:spcBef>
              <a:spcAft>
                <a:spcPts val="0"/>
              </a:spcAft>
              <a:buClr>
                <a:schemeClr val="accent5"/>
              </a:buClr>
              <a:buSzPts val="12000"/>
              <a:buNone/>
              <a:defRPr sz="12000">
                <a:solidFill>
                  <a:schemeClr val="accent5"/>
                </a:solidFill>
              </a:defRPr>
            </a:lvl7pPr>
            <a:lvl8pPr lvl="7" algn="ctr" rtl="0">
              <a:spcBef>
                <a:spcPts val="0"/>
              </a:spcBef>
              <a:spcAft>
                <a:spcPts val="0"/>
              </a:spcAft>
              <a:buClr>
                <a:schemeClr val="accent5"/>
              </a:buClr>
              <a:buSzPts val="12000"/>
              <a:buNone/>
              <a:defRPr sz="12000">
                <a:solidFill>
                  <a:schemeClr val="accent5"/>
                </a:solidFill>
              </a:defRPr>
            </a:lvl8pPr>
            <a:lvl9pPr lvl="8" algn="ctr" rtl="0">
              <a:spcBef>
                <a:spcPts val="0"/>
              </a:spcBef>
              <a:spcAft>
                <a:spcPts val="0"/>
              </a:spcAft>
              <a:buClr>
                <a:schemeClr val="accent5"/>
              </a:buClr>
              <a:buSzPts val="12000"/>
              <a:buNone/>
              <a:defRPr sz="12000">
                <a:solidFill>
                  <a:schemeClr val="accent5"/>
                </a:solidFill>
              </a:defRPr>
            </a:lvl9pPr>
          </a:lstStyle>
          <a:p>
            <a:r>
              <a:t>xx%</a:t>
            </a:r>
          </a:p>
        </p:txBody>
      </p:sp>
      <p:sp>
        <p:nvSpPr>
          <p:cNvPr id="417" name="Google Shape;417;p15"/>
          <p:cNvSpPr/>
          <p:nvPr/>
        </p:nvSpPr>
        <p:spPr>
          <a:xfrm rot="10261217" flipH="1">
            <a:off x="7628785" y="-278083"/>
            <a:ext cx="834279" cy="99245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5"/>
          <p:cNvSpPr/>
          <p:nvPr/>
        </p:nvSpPr>
        <p:spPr>
          <a:xfrm rot="10605255" flipH="1">
            <a:off x="7712173" y="3958641"/>
            <a:ext cx="787928" cy="1269373"/>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16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5"/>
          <p:cNvSpPr/>
          <p:nvPr/>
        </p:nvSpPr>
        <p:spPr>
          <a:xfrm flipH="1">
            <a:off x="8464447" y="-23373"/>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5"/>
          <p:cNvSpPr/>
          <p:nvPr/>
        </p:nvSpPr>
        <p:spPr>
          <a:xfrm flipH="1">
            <a:off x="8662205" y="3614463"/>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5"/>
          <p:cNvSpPr/>
          <p:nvPr/>
        </p:nvSpPr>
        <p:spPr>
          <a:xfrm flipH="1">
            <a:off x="8493514" y="4461345"/>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5"/>
          <p:cNvSpPr/>
          <p:nvPr/>
        </p:nvSpPr>
        <p:spPr>
          <a:xfrm flipH="1">
            <a:off x="8355164" y="-23650"/>
            <a:ext cx="858521" cy="4517949"/>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5"/>
          <p:cNvSpPr/>
          <p:nvPr/>
        </p:nvSpPr>
        <p:spPr>
          <a:xfrm flipH="1">
            <a:off x="8689048" y="210898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5"/>
          <p:cNvSpPr/>
          <p:nvPr/>
        </p:nvSpPr>
        <p:spPr>
          <a:xfrm flipH="1">
            <a:off x="8300354" y="4402342"/>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5"/>
          <p:cNvSpPr/>
          <p:nvPr/>
        </p:nvSpPr>
        <p:spPr>
          <a:xfrm flipH="1">
            <a:off x="8819759" y="284930"/>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5"/>
          <p:cNvSpPr/>
          <p:nvPr/>
        </p:nvSpPr>
        <p:spPr>
          <a:xfrm flipH="1">
            <a:off x="8300344" y="12570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5"/>
          <p:cNvSpPr/>
          <p:nvPr/>
        </p:nvSpPr>
        <p:spPr>
          <a:xfrm flipH="1">
            <a:off x="990152" y="4129466"/>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5"/>
          <p:cNvSpPr/>
          <p:nvPr/>
        </p:nvSpPr>
        <p:spPr>
          <a:xfrm flipH="1">
            <a:off x="8603836"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5"/>
          <p:cNvSpPr/>
          <p:nvPr/>
        </p:nvSpPr>
        <p:spPr>
          <a:xfrm flipH="1">
            <a:off x="402150" y="1159075"/>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5"/>
          <p:cNvSpPr/>
          <p:nvPr/>
        </p:nvSpPr>
        <p:spPr>
          <a:xfrm flipH="1">
            <a:off x="437760" y="467755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5"/>
          <p:cNvSpPr/>
          <p:nvPr/>
        </p:nvSpPr>
        <p:spPr>
          <a:xfrm flipH="1">
            <a:off x="125199"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5"/>
          <p:cNvSpPr/>
          <p:nvPr/>
        </p:nvSpPr>
        <p:spPr>
          <a:xfrm flipH="1">
            <a:off x="1629421"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5"/>
          <p:cNvSpPr/>
          <p:nvPr/>
        </p:nvSpPr>
        <p:spPr>
          <a:xfrm flipH="1">
            <a:off x="2681674" y="593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5"/>
          <p:cNvSpPr/>
          <p:nvPr/>
        </p:nvSpPr>
        <p:spPr>
          <a:xfrm flipH="1">
            <a:off x="5816121" y="474084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 name="Google Shape;435;p15"/>
          <p:cNvGrpSpPr/>
          <p:nvPr/>
        </p:nvGrpSpPr>
        <p:grpSpPr>
          <a:xfrm>
            <a:off x="-1461648" y="390277"/>
            <a:ext cx="4362945" cy="4362945"/>
            <a:chOff x="-3791416" y="-1218645"/>
            <a:chExt cx="7569300" cy="7569300"/>
          </a:xfrm>
        </p:grpSpPr>
        <p:sp>
          <p:nvSpPr>
            <p:cNvPr id="436" name="Google Shape;436;p15"/>
            <p:cNvSpPr/>
            <p:nvPr/>
          </p:nvSpPr>
          <p:spPr>
            <a:xfrm>
              <a:off x="-1542462" y="1030300"/>
              <a:ext cx="3071400" cy="30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5"/>
            <p:cNvSpPr/>
            <p:nvPr/>
          </p:nvSpPr>
          <p:spPr>
            <a:xfrm>
              <a:off x="-1972812" y="599950"/>
              <a:ext cx="3932100" cy="3932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5"/>
            <p:cNvSpPr/>
            <p:nvPr/>
          </p:nvSpPr>
          <p:spPr>
            <a:xfrm>
              <a:off x="-2270712" y="302050"/>
              <a:ext cx="4527900" cy="4527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5"/>
            <p:cNvSpPr/>
            <p:nvPr/>
          </p:nvSpPr>
          <p:spPr>
            <a:xfrm>
              <a:off x="-2973462" y="-400700"/>
              <a:ext cx="5933400" cy="593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5"/>
            <p:cNvSpPr/>
            <p:nvPr/>
          </p:nvSpPr>
          <p:spPr>
            <a:xfrm>
              <a:off x="-3791416" y="-1218645"/>
              <a:ext cx="7569300" cy="7569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1" name="Google Shape;441;p1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3">
  <p:cSld name="SECTION_HEADER_1">
    <p:bg>
      <p:bgPr>
        <a:gradFill>
          <a:gsLst>
            <a:gs pos="0">
              <a:schemeClr val="dk2"/>
            </a:gs>
            <a:gs pos="100000">
              <a:schemeClr val="lt2"/>
            </a:gs>
          </a:gsLst>
          <a:lin ang="18900732" scaled="0"/>
        </a:gradFill>
        <a:effectLst/>
      </p:bgPr>
    </p:bg>
    <p:spTree>
      <p:nvGrpSpPr>
        <p:cNvPr id="1" name="Shape 442"/>
        <p:cNvGrpSpPr/>
        <p:nvPr/>
      </p:nvGrpSpPr>
      <p:grpSpPr>
        <a:xfrm>
          <a:off x="0" y="0"/>
          <a:ext cx="0" cy="0"/>
          <a:chOff x="0" y="0"/>
          <a:chExt cx="0" cy="0"/>
        </a:xfrm>
      </p:grpSpPr>
      <p:sp>
        <p:nvSpPr>
          <p:cNvPr id="443" name="Google Shape;443;p16"/>
          <p:cNvSpPr txBox="1">
            <a:spLocks noGrp="1"/>
          </p:cNvSpPr>
          <p:nvPr>
            <p:ph type="title"/>
          </p:nvPr>
        </p:nvSpPr>
        <p:spPr>
          <a:xfrm>
            <a:off x="2206350" y="2529125"/>
            <a:ext cx="4731300" cy="5307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3600"/>
              <a:buNone/>
              <a:defRPr sz="3500">
                <a:solidFill>
                  <a:schemeClr val="dk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44" name="Google Shape;444;p16"/>
          <p:cNvSpPr txBox="1">
            <a:spLocks noGrp="1"/>
          </p:cNvSpPr>
          <p:nvPr>
            <p:ph type="subTitle" idx="1"/>
          </p:nvPr>
        </p:nvSpPr>
        <p:spPr>
          <a:xfrm>
            <a:off x="2999250" y="3116825"/>
            <a:ext cx="3114300" cy="695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45" name="Google Shape;445;p16"/>
          <p:cNvSpPr txBox="1">
            <a:spLocks noGrp="1"/>
          </p:cNvSpPr>
          <p:nvPr>
            <p:ph type="title" idx="2" hasCustomPrompt="1"/>
          </p:nvPr>
        </p:nvSpPr>
        <p:spPr>
          <a:xfrm>
            <a:off x="3636600" y="1331263"/>
            <a:ext cx="1839600" cy="1153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2"/>
              </a:buClr>
              <a:buSzPts val="12000"/>
              <a:buNone/>
              <a:defRPr sz="6500"/>
            </a:lvl1pPr>
            <a:lvl2pPr lvl="1" algn="ctr" rtl="0">
              <a:spcBef>
                <a:spcPts val="0"/>
              </a:spcBef>
              <a:spcAft>
                <a:spcPts val="0"/>
              </a:spcAft>
              <a:buClr>
                <a:schemeClr val="accent5"/>
              </a:buClr>
              <a:buSzPts val="12000"/>
              <a:buNone/>
              <a:defRPr sz="12000">
                <a:solidFill>
                  <a:schemeClr val="accent5"/>
                </a:solidFill>
              </a:defRPr>
            </a:lvl2pPr>
            <a:lvl3pPr lvl="2" algn="ctr" rtl="0">
              <a:spcBef>
                <a:spcPts val="0"/>
              </a:spcBef>
              <a:spcAft>
                <a:spcPts val="0"/>
              </a:spcAft>
              <a:buClr>
                <a:schemeClr val="accent5"/>
              </a:buClr>
              <a:buSzPts val="12000"/>
              <a:buNone/>
              <a:defRPr sz="12000">
                <a:solidFill>
                  <a:schemeClr val="accent5"/>
                </a:solidFill>
              </a:defRPr>
            </a:lvl3pPr>
            <a:lvl4pPr lvl="3" algn="ctr" rtl="0">
              <a:spcBef>
                <a:spcPts val="0"/>
              </a:spcBef>
              <a:spcAft>
                <a:spcPts val="0"/>
              </a:spcAft>
              <a:buClr>
                <a:schemeClr val="accent5"/>
              </a:buClr>
              <a:buSzPts val="12000"/>
              <a:buNone/>
              <a:defRPr sz="12000">
                <a:solidFill>
                  <a:schemeClr val="accent5"/>
                </a:solidFill>
              </a:defRPr>
            </a:lvl4pPr>
            <a:lvl5pPr lvl="4" algn="ctr" rtl="0">
              <a:spcBef>
                <a:spcPts val="0"/>
              </a:spcBef>
              <a:spcAft>
                <a:spcPts val="0"/>
              </a:spcAft>
              <a:buClr>
                <a:schemeClr val="accent5"/>
              </a:buClr>
              <a:buSzPts val="12000"/>
              <a:buNone/>
              <a:defRPr sz="12000">
                <a:solidFill>
                  <a:schemeClr val="accent5"/>
                </a:solidFill>
              </a:defRPr>
            </a:lvl5pPr>
            <a:lvl6pPr lvl="5" algn="ctr" rtl="0">
              <a:spcBef>
                <a:spcPts val="0"/>
              </a:spcBef>
              <a:spcAft>
                <a:spcPts val="0"/>
              </a:spcAft>
              <a:buClr>
                <a:schemeClr val="accent5"/>
              </a:buClr>
              <a:buSzPts val="12000"/>
              <a:buNone/>
              <a:defRPr sz="12000">
                <a:solidFill>
                  <a:schemeClr val="accent5"/>
                </a:solidFill>
              </a:defRPr>
            </a:lvl6pPr>
            <a:lvl7pPr lvl="6" algn="ctr" rtl="0">
              <a:spcBef>
                <a:spcPts val="0"/>
              </a:spcBef>
              <a:spcAft>
                <a:spcPts val="0"/>
              </a:spcAft>
              <a:buClr>
                <a:schemeClr val="accent5"/>
              </a:buClr>
              <a:buSzPts val="12000"/>
              <a:buNone/>
              <a:defRPr sz="12000">
                <a:solidFill>
                  <a:schemeClr val="accent5"/>
                </a:solidFill>
              </a:defRPr>
            </a:lvl7pPr>
            <a:lvl8pPr lvl="7" algn="ctr" rtl="0">
              <a:spcBef>
                <a:spcPts val="0"/>
              </a:spcBef>
              <a:spcAft>
                <a:spcPts val="0"/>
              </a:spcAft>
              <a:buClr>
                <a:schemeClr val="accent5"/>
              </a:buClr>
              <a:buSzPts val="12000"/>
              <a:buNone/>
              <a:defRPr sz="12000">
                <a:solidFill>
                  <a:schemeClr val="accent5"/>
                </a:solidFill>
              </a:defRPr>
            </a:lvl8pPr>
            <a:lvl9pPr lvl="8" algn="ctr" rtl="0">
              <a:spcBef>
                <a:spcPts val="0"/>
              </a:spcBef>
              <a:spcAft>
                <a:spcPts val="0"/>
              </a:spcAft>
              <a:buClr>
                <a:schemeClr val="accent5"/>
              </a:buClr>
              <a:buSzPts val="12000"/>
              <a:buNone/>
              <a:defRPr sz="12000">
                <a:solidFill>
                  <a:schemeClr val="accent5"/>
                </a:solidFill>
              </a:defRPr>
            </a:lvl9pPr>
          </a:lstStyle>
          <a:p>
            <a:r>
              <a:t>xx%</a:t>
            </a:r>
          </a:p>
        </p:txBody>
      </p:sp>
      <p:sp>
        <p:nvSpPr>
          <p:cNvPr id="446" name="Google Shape;446;p16"/>
          <p:cNvSpPr/>
          <p:nvPr/>
        </p:nvSpPr>
        <p:spPr>
          <a:xfrm rot="-5400000">
            <a:off x="3796609" y="-4219391"/>
            <a:ext cx="1413858"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6"/>
          <p:cNvSpPr/>
          <p:nvPr/>
        </p:nvSpPr>
        <p:spPr>
          <a:xfrm rot="-6329527">
            <a:off x="8219975" y="-295336"/>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6"/>
          <p:cNvSpPr/>
          <p:nvPr/>
        </p:nvSpPr>
        <p:spPr>
          <a:xfrm rot="-5400000">
            <a:off x="259780" y="-555938"/>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6"/>
          <p:cNvSpPr/>
          <p:nvPr/>
        </p:nvSpPr>
        <p:spPr>
          <a:xfrm rot="-9560681">
            <a:off x="2277506" y="-115801"/>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6"/>
          <p:cNvSpPr/>
          <p:nvPr/>
        </p:nvSpPr>
        <p:spPr>
          <a:xfrm rot="4481061">
            <a:off x="1102173" y="4581745"/>
            <a:ext cx="1042639" cy="877340"/>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6"/>
          <p:cNvSpPr/>
          <p:nvPr/>
        </p:nvSpPr>
        <p:spPr>
          <a:xfrm rot="4470473">
            <a:off x="-168950" y="4243067"/>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6"/>
          <p:cNvSpPr/>
          <p:nvPr/>
        </p:nvSpPr>
        <p:spPr>
          <a:xfrm rot="5400000">
            <a:off x="8024759" y="3804984"/>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6"/>
          <p:cNvSpPr/>
          <p:nvPr/>
        </p:nvSpPr>
        <p:spPr>
          <a:xfrm rot="-9467822">
            <a:off x="-428842" y="4280817"/>
            <a:ext cx="870303" cy="732272"/>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6"/>
          <p:cNvSpPr/>
          <p:nvPr/>
        </p:nvSpPr>
        <p:spPr>
          <a:xfrm rot="1239319">
            <a:off x="6027326" y="4610694"/>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6"/>
          <p:cNvSpPr/>
          <p:nvPr/>
        </p:nvSpPr>
        <p:spPr>
          <a:xfrm flipH="1">
            <a:off x="523831" y="436088"/>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6"/>
          <p:cNvSpPr/>
          <p:nvPr/>
        </p:nvSpPr>
        <p:spPr>
          <a:xfrm flipH="1">
            <a:off x="562260"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6"/>
          <p:cNvSpPr/>
          <p:nvPr/>
        </p:nvSpPr>
        <p:spPr>
          <a:xfrm flipH="1">
            <a:off x="219624" y="298700"/>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6"/>
          <p:cNvSpPr/>
          <p:nvPr/>
        </p:nvSpPr>
        <p:spPr>
          <a:xfrm flipH="1">
            <a:off x="8668575" y="43339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6"/>
          <p:cNvSpPr/>
          <p:nvPr/>
        </p:nvSpPr>
        <p:spPr>
          <a:xfrm flipH="1">
            <a:off x="2410371" y="34327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6"/>
          <p:cNvSpPr/>
          <p:nvPr/>
        </p:nvSpPr>
        <p:spPr>
          <a:xfrm flipH="1">
            <a:off x="7294602" y="491803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6"/>
          <p:cNvSpPr/>
          <p:nvPr/>
        </p:nvSpPr>
        <p:spPr>
          <a:xfrm flipH="1">
            <a:off x="8649538" y="1078563"/>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6"/>
          <p:cNvSpPr/>
          <p:nvPr/>
        </p:nvSpPr>
        <p:spPr>
          <a:xfrm flipH="1">
            <a:off x="7563752" y="19153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6"/>
          <p:cNvSpPr/>
          <p:nvPr/>
        </p:nvSpPr>
        <p:spPr>
          <a:xfrm flipH="1">
            <a:off x="8856485" y="436088"/>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6"/>
          <p:cNvSpPr/>
          <p:nvPr/>
        </p:nvSpPr>
        <p:spPr>
          <a:xfrm flipH="1">
            <a:off x="943171" y="47602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5" name="Google Shape;465;p16"/>
          <p:cNvGrpSpPr/>
          <p:nvPr/>
        </p:nvGrpSpPr>
        <p:grpSpPr>
          <a:xfrm>
            <a:off x="-1683724" y="860819"/>
            <a:ext cx="3380065" cy="3379837"/>
            <a:chOff x="-1087568" y="-1126448"/>
            <a:chExt cx="2274300" cy="2274300"/>
          </a:xfrm>
        </p:grpSpPr>
        <p:sp>
          <p:nvSpPr>
            <p:cNvPr id="466" name="Google Shape;466;p16"/>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6"/>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6"/>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6"/>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16"/>
          <p:cNvGrpSpPr/>
          <p:nvPr/>
        </p:nvGrpSpPr>
        <p:grpSpPr>
          <a:xfrm>
            <a:off x="7447651" y="860819"/>
            <a:ext cx="3380065" cy="3379837"/>
            <a:chOff x="-1087568" y="-1126448"/>
            <a:chExt cx="2274300" cy="2274300"/>
          </a:xfrm>
        </p:grpSpPr>
        <p:sp>
          <p:nvSpPr>
            <p:cNvPr id="471" name="Google Shape;471;p16"/>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6"/>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6"/>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6"/>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5" name="Google Shape;475;p16"/>
          <p:cNvSpPr/>
          <p:nvPr/>
        </p:nvSpPr>
        <p:spPr>
          <a:xfrm flipH="1">
            <a:off x="388402" y="2261863"/>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Quote">
  <p:cSld name="CUSTOM_7">
    <p:bg>
      <p:bgPr>
        <a:gradFill>
          <a:gsLst>
            <a:gs pos="0">
              <a:schemeClr val="dk2"/>
            </a:gs>
            <a:gs pos="100000">
              <a:schemeClr val="lt2"/>
            </a:gs>
          </a:gsLst>
          <a:lin ang="10800025" scaled="0"/>
        </a:gradFill>
        <a:effectLst/>
      </p:bgPr>
    </p:bg>
    <p:spTree>
      <p:nvGrpSpPr>
        <p:cNvPr id="1" name="Shape 477"/>
        <p:cNvGrpSpPr/>
        <p:nvPr/>
      </p:nvGrpSpPr>
      <p:grpSpPr>
        <a:xfrm>
          <a:off x="0" y="0"/>
          <a:ext cx="0" cy="0"/>
          <a:chOff x="0" y="0"/>
          <a:chExt cx="0" cy="0"/>
        </a:xfrm>
      </p:grpSpPr>
      <p:sp>
        <p:nvSpPr>
          <p:cNvPr id="478" name="Google Shape;478;p17"/>
          <p:cNvSpPr txBox="1">
            <a:spLocks noGrp="1"/>
          </p:cNvSpPr>
          <p:nvPr>
            <p:ph type="subTitle" idx="1"/>
          </p:nvPr>
        </p:nvSpPr>
        <p:spPr>
          <a:xfrm>
            <a:off x="2640300" y="3009688"/>
            <a:ext cx="3863400" cy="491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2000"/>
              <a:buFont typeface="Times New Roman"/>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9" name="Google Shape;479;p17"/>
          <p:cNvSpPr txBox="1">
            <a:spLocks noGrp="1"/>
          </p:cNvSpPr>
          <p:nvPr>
            <p:ph type="subTitle" idx="2"/>
          </p:nvPr>
        </p:nvSpPr>
        <p:spPr>
          <a:xfrm>
            <a:off x="1646850" y="1642700"/>
            <a:ext cx="5850300" cy="1324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000"/>
              <a:buFont typeface="Times New Roman"/>
              <a:buNone/>
              <a:defRPr sz="2400"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0" name="Google Shape;480;p17"/>
          <p:cNvSpPr/>
          <p:nvPr/>
        </p:nvSpPr>
        <p:spPr>
          <a:xfrm>
            <a:off x="-51508" y="1697622"/>
            <a:ext cx="279718" cy="1556308"/>
          </a:xfrm>
          <a:custGeom>
            <a:avLst/>
            <a:gdLst/>
            <a:ahLst/>
            <a:cxnLst/>
            <a:rect l="l" t="t" r="r" b="b"/>
            <a:pathLst>
              <a:path w="4801" h="26712" extrusionOk="0">
                <a:moveTo>
                  <a:pt x="118" y="0"/>
                </a:moveTo>
                <a:lnTo>
                  <a:pt x="1" y="26712"/>
                </a:lnTo>
                <a:cubicBezTo>
                  <a:pt x="3220" y="25561"/>
                  <a:pt x="2030" y="21385"/>
                  <a:pt x="1893" y="18966"/>
                </a:cubicBezTo>
                <a:cubicBezTo>
                  <a:pt x="1776" y="16546"/>
                  <a:pt x="1835" y="16429"/>
                  <a:pt x="2810" y="15161"/>
                </a:cubicBezTo>
                <a:cubicBezTo>
                  <a:pt x="3786" y="13893"/>
                  <a:pt x="4800" y="11610"/>
                  <a:pt x="4137" y="9366"/>
                </a:cubicBezTo>
                <a:cubicBezTo>
                  <a:pt x="3474" y="7122"/>
                  <a:pt x="2264" y="4781"/>
                  <a:pt x="2030" y="3024"/>
                </a:cubicBezTo>
                <a:cubicBezTo>
                  <a:pt x="1776" y="1268"/>
                  <a:pt x="118" y="0"/>
                  <a:pt x="118"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7"/>
          <p:cNvSpPr/>
          <p:nvPr/>
        </p:nvSpPr>
        <p:spPr>
          <a:xfrm>
            <a:off x="-483527" y="965598"/>
            <a:ext cx="1315334" cy="3729790"/>
          </a:xfrm>
          <a:custGeom>
            <a:avLst/>
            <a:gdLst/>
            <a:ahLst/>
            <a:cxnLst/>
            <a:rect l="l" t="t" r="r" b="b"/>
            <a:pathLst>
              <a:path w="22576" h="64017" extrusionOk="0">
                <a:moveTo>
                  <a:pt x="3944" y="0"/>
                </a:moveTo>
                <a:cubicBezTo>
                  <a:pt x="3769" y="0"/>
                  <a:pt x="3652" y="68"/>
                  <a:pt x="3610" y="213"/>
                </a:cubicBezTo>
                <a:cubicBezTo>
                  <a:pt x="3356" y="1013"/>
                  <a:pt x="12136" y="8018"/>
                  <a:pt x="11356" y="8603"/>
                </a:cubicBezTo>
                <a:cubicBezTo>
                  <a:pt x="11323" y="8628"/>
                  <a:pt x="11282" y="8639"/>
                  <a:pt x="11235" y="8639"/>
                </a:cubicBezTo>
                <a:cubicBezTo>
                  <a:pt x="10548" y="8639"/>
                  <a:pt x="8480" y="6140"/>
                  <a:pt x="7889" y="6140"/>
                </a:cubicBezTo>
                <a:cubicBezTo>
                  <a:pt x="7856" y="6140"/>
                  <a:pt x="7828" y="6147"/>
                  <a:pt x="7805" y="6164"/>
                </a:cubicBezTo>
                <a:cubicBezTo>
                  <a:pt x="7356" y="6437"/>
                  <a:pt x="8839" y="8057"/>
                  <a:pt x="8839" y="8057"/>
                </a:cubicBezTo>
                <a:cubicBezTo>
                  <a:pt x="8839" y="8057"/>
                  <a:pt x="14927" y="14456"/>
                  <a:pt x="16331" y="20251"/>
                </a:cubicBezTo>
                <a:cubicBezTo>
                  <a:pt x="17756" y="26066"/>
                  <a:pt x="17287" y="26671"/>
                  <a:pt x="18439" y="30788"/>
                </a:cubicBezTo>
                <a:cubicBezTo>
                  <a:pt x="19570" y="34924"/>
                  <a:pt x="16566" y="38749"/>
                  <a:pt x="16214" y="42066"/>
                </a:cubicBezTo>
                <a:cubicBezTo>
                  <a:pt x="15863" y="45383"/>
                  <a:pt x="13112" y="49382"/>
                  <a:pt x="11278" y="50982"/>
                </a:cubicBezTo>
                <a:cubicBezTo>
                  <a:pt x="9463" y="52602"/>
                  <a:pt x="3473" y="55236"/>
                  <a:pt x="0" y="55236"/>
                </a:cubicBezTo>
                <a:lnTo>
                  <a:pt x="0" y="64016"/>
                </a:lnTo>
                <a:cubicBezTo>
                  <a:pt x="0" y="64016"/>
                  <a:pt x="2166" y="63431"/>
                  <a:pt x="7805" y="59743"/>
                </a:cubicBezTo>
                <a:cubicBezTo>
                  <a:pt x="12214" y="56875"/>
                  <a:pt x="11980" y="55431"/>
                  <a:pt x="14790" y="53675"/>
                </a:cubicBezTo>
                <a:cubicBezTo>
                  <a:pt x="17658" y="51919"/>
                  <a:pt x="20741" y="48056"/>
                  <a:pt x="20741" y="45422"/>
                </a:cubicBezTo>
                <a:cubicBezTo>
                  <a:pt x="20741" y="42787"/>
                  <a:pt x="20136" y="39939"/>
                  <a:pt x="21365" y="37188"/>
                </a:cubicBezTo>
                <a:cubicBezTo>
                  <a:pt x="22575" y="34397"/>
                  <a:pt x="21970" y="32797"/>
                  <a:pt x="21365" y="30163"/>
                </a:cubicBezTo>
                <a:cubicBezTo>
                  <a:pt x="20741" y="27529"/>
                  <a:pt x="21365" y="23061"/>
                  <a:pt x="19863" y="19978"/>
                </a:cubicBezTo>
                <a:cubicBezTo>
                  <a:pt x="18380" y="16856"/>
                  <a:pt x="17092" y="15100"/>
                  <a:pt x="16566" y="13481"/>
                </a:cubicBezTo>
                <a:cubicBezTo>
                  <a:pt x="16019" y="11842"/>
                  <a:pt x="12917" y="7940"/>
                  <a:pt x="10283" y="4896"/>
                </a:cubicBezTo>
                <a:cubicBezTo>
                  <a:pt x="8033" y="2313"/>
                  <a:pt x="4972" y="0"/>
                  <a:pt x="39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7"/>
          <p:cNvSpPr/>
          <p:nvPr/>
        </p:nvSpPr>
        <p:spPr>
          <a:xfrm>
            <a:off x="-59606" y="385699"/>
            <a:ext cx="372763" cy="304888"/>
          </a:xfrm>
          <a:custGeom>
            <a:avLst/>
            <a:gdLst/>
            <a:ahLst/>
            <a:cxnLst/>
            <a:rect l="l" t="t" r="r" b="b"/>
            <a:pathLst>
              <a:path w="6398" h="5233" extrusionOk="0">
                <a:moveTo>
                  <a:pt x="20" y="0"/>
                </a:moveTo>
                <a:cubicBezTo>
                  <a:pt x="7" y="0"/>
                  <a:pt x="1" y="1"/>
                  <a:pt x="1" y="1"/>
                </a:cubicBezTo>
                <a:lnTo>
                  <a:pt x="1" y="1445"/>
                </a:lnTo>
                <a:cubicBezTo>
                  <a:pt x="1" y="1445"/>
                  <a:pt x="2244" y="2401"/>
                  <a:pt x="5035" y="4684"/>
                </a:cubicBezTo>
                <a:cubicBezTo>
                  <a:pt x="5508" y="5069"/>
                  <a:pt x="5796" y="5232"/>
                  <a:pt x="5931" y="5232"/>
                </a:cubicBezTo>
                <a:cubicBezTo>
                  <a:pt x="6397" y="5232"/>
                  <a:pt x="5034" y="3283"/>
                  <a:pt x="3142" y="1816"/>
                </a:cubicBezTo>
                <a:cubicBezTo>
                  <a:pt x="929" y="80"/>
                  <a:pt x="146" y="0"/>
                  <a:pt x="20"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7"/>
          <p:cNvSpPr/>
          <p:nvPr/>
        </p:nvSpPr>
        <p:spPr>
          <a:xfrm>
            <a:off x="-498326" y="385691"/>
            <a:ext cx="1650460" cy="3321254"/>
          </a:xfrm>
          <a:custGeom>
            <a:avLst/>
            <a:gdLst/>
            <a:ahLst/>
            <a:cxnLst/>
            <a:rect l="l" t="t" r="r" b="b"/>
            <a:pathLst>
              <a:path w="28328" h="57005" extrusionOk="0">
                <a:moveTo>
                  <a:pt x="0" y="0"/>
                </a:moveTo>
                <a:lnTo>
                  <a:pt x="0" y="5405"/>
                </a:lnTo>
                <a:lnTo>
                  <a:pt x="39" y="5405"/>
                </a:lnTo>
                <a:cubicBezTo>
                  <a:pt x="39" y="5405"/>
                  <a:pt x="10029" y="7727"/>
                  <a:pt x="16059" y="17990"/>
                </a:cubicBezTo>
                <a:cubicBezTo>
                  <a:pt x="20819" y="26126"/>
                  <a:pt x="23024" y="29678"/>
                  <a:pt x="23610" y="33151"/>
                </a:cubicBezTo>
                <a:cubicBezTo>
                  <a:pt x="24195" y="36604"/>
                  <a:pt x="24371" y="45502"/>
                  <a:pt x="24722" y="46087"/>
                </a:cubicBezTo>
                <a:cubicBezTo>
                  <a:pt x="24794" y="46218"/>
                  <a:pt x="24864" y="46281"/>
                  <a:pt x="24929" y="46281"/>
                </a:cubicBezTo>
                <a:cubicBezTo>
                  <a:pt x="25510" y="46281"/>
                  <a:pt x="25752" y="41278"/>
                  <a:pt x="25014" y="35785"/>
                </a:cubicBezTo>
                <a:cubicBezTo>
                  <a:pt x="24854" y="34562"/>
                  <a:pt x="24981" y="33771"/>
                  <a:pt x="25240" y="33771"/>
                </a:cubicBezTo>
                <a:cubicBezTo>
                  <a:pt x="25609" y="33771"/>
                  <a:pt x="26245" y="35381"/>
                  <a:pt x="26692" y="39648"/>
                </a:cubicBezTo>
                <a:cubicBezTo>
                  <a:pt x="27453" y="46906"/>
                  <a:pt x="23844" y="56584"/>
                  <a:pt x="24858" y="56994"/>
                </a:cubicBezTo>
                <a:cubicBezTo>
                  <a:pt x="24875" y="57001"/>
                  <a:pt x="24892" y="57004"/>
                  <a:pt x="24910" y="57004"/>
                </a:cubicBezTo>
                <a:cubicBezTo>
                  <a:pt x="25834" y="57004"/>
                  <a:pt x="28328" y="48231"/>
                  <a:pt x="28136" y="40097"/>
                </a:cubicBezTo>
                <a:cubicBezTo>
                  <a:pt x="27941" y="31804"/>
                  <a:pt x="24839" y="29385"/>
                  <a:pt x="23415" y="23785"/>
                </a:cubicBezTo>
                <a:cubicBezTo>
                  <a:pt x="22010" y="18127"/>
                  <a:pt x="17151" y="11532"/>
                  <a:pt x="14595" y="9307"/>
                </a:cubicBezTo>
                <a:cubicBezTo>
                  <a:pt x="12039" y="7103"/>
                  <a:pt x="10205" y="5951"/>
                  <a:pt x="7961" y="3981"/>
                </a:cubicBezTo>
                <a:cubicBezTo>
                  <a:pt x="5717" y="1990"/>
                  <a:pt x="3844" y="527"/>
                  <a:pt x="0"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7"/>
          <p:cNvSpPr/>
          <p:nvPr/>
        </p:nvSpPr>
        <p:spPr>
          <a:xfrm>
            <a:off x="11539" y="1620024"/>
            <a:ext cx="380512" cy="533626"/>
          </a:xfrm>
          <a:custGeom>
            <a:avLst/>
            <a:gdLst/>
            <a:ahLst/>
            <a:cxnLst/>
            <a:rect l="l" t="t" r="r" b="b"/>
            <a:pathLst>
              <a:path w="6531" h="9159" extrusionOk="0">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7"/>
          <p:cNvSpPr/>
          <p:nvPr/>
        </p:nvSpPr>
        <p:spPr>
          <a:xfrm>
            <a:off x="-147464" y="3348051"/>
            <a:ext cx="361927" cy="546444"/>
          </a:xfrm>
          <a:custGeom>
            <a:avLst/>
            <a:gdLst/>
            <a:ahLst/>
            <a:cxnLst/>
            <a:rect l="l" t="t" r="r" b="b"/>
            <a:pathLst>
              <a:path w="6212" h="9379" extrusionOk="0">
                <a:moveTo>
                  <a:pt x="5824" y="0"/>
                </a:moveTo>
                <a:cubicBezTo>
                  <a:pt x="5720" y="0"/>
                  <a:pt x="5564" y="146"/>
                  <a:pt x="5367" y="467"/>
                </a:cubicBezTo>
                <a:cubicBezTo>
                  <a:pt x="5367" y="467"/>
                  <a:pt x="4294" y="3277"/>
                  <a:pt x="2537" y="5579"/>
                </a:cubicBezTo>
                <a:cubicBezTo>
                  <a:pt x="781" y="7901"/>
                  <a:pt x="1" y="8896"/>
                  <a:pt x="98" y="9325"/>
                </a:cubicBezTo>
                <a:cubicBezTo>
                  <a:pt x="107" y="9361"/>
                  <a:pt x="130" y="9379"/>
                  <a:pt x="166" y="9379"/>
                </a:cubicBezTo>
                <a:cubicBezTo>
                  <a:pt x="540" y="9379"/>
                  <a:pt x="2331" y="7483"/>
                  <a:pt x="4235" y="4564"/>
                </a:cubicBezTo>
                <a:cubicBezTo>
                  <a:pt x="5867" y="2039"/>
                  <a:pt x="6211" y="0"/>
                  <a:pt x="5824"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7"/>
          <p:cNvSpPr/>
          <p:nvPr/>
        </p:nvSpPr>
        <p:spPr>
          <a:xfrm>
            <a:off x="-482420" y="3933239"/>
            <a:ext cx="1373364" cy="1019769"/>
          </a:xfrm>
          <a:custGeom>
            <a:avLst/>
            <a:gdLst/>
            <a:ahLst/>
            <a:cxnLst/>
            <a:rect l="l" t="t" r="r" b="b"/>
            <a:pathLst>
              <a:path w="23572" h="17503" extrusionOk="0">
                <a:moveTo>
                  <a:pt x="23429" y="1"/>
                </a:moveTo>
                <a:cubicBezTo>
                  <a:pt x="23104" y="1"/>
                  <a:pt x="22049" y="1258"/>
                  <a:pt x="22049" y="1258"/>
                </a:cubicBezTo>
                <a:cubicBezTo>
                  <a:pt x="22049" y="1258"/>
                  <a:pt x="20098" y="4263"/>
                  <a:pt x="16059" y="6312"/>
                </a:cubicBezTo>
                <a:cubicBezTo>
                  <a:pt x="10147" y="9277"/>
                  <a:pt x="8000" y="13726"/>
                  <a:pt x="1" y="14897"/>
                </a:cubicBezTo>
                <a:lnTo>
                  <a:pt x="1" y="17472"/>
                </a:lnTo>
                <a:cubicBezTo>
                  <a:pt x="1" y="17472"/>
                  <a:pt x="201" y="17503"/>
                  <a:pt x="569" y="17503"/>
                </a:cubicBezTo>
                <a:cubicBezTo>
                  <a:pt x="1819" y="17503"/>
                  <a:pt x="5001" y="17153"/>
                  <a:pt x="8800" y="14077"/>
                </a:cubicBezTo>
                <a:cubicBezTo>
                  <a:pt x="13522" y="10273"/>
                  <a:pt x="11025" y="11307"/>
                  <a:pt x="14751" y="8907"/>
                </a:cubicBezTo>
                <a:cubicBezTo>
                  <a:pt x="19590" y="5824"/>
                  <a:pt x="22693" y="2604"/>
                  <a:pt x="23376" y="712"/>
                </a:cubicBezTo>
                <a:cubicBezTo>
                  <a:pt x="23572" y="189"/>
                  <a:pt x="23555" y="1"/>
                  <a:pt x="23429"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7"/>
          <p:cNvSpPr/>
          <p:nvPr/>
        </p:nvSpPr>
        <p:spPr>
          <a:xfrm>
            <a:off x="-59607" y="2735370"/>
            <a:ext cx="269639" cy="710511"/>
          </a:xfrm>
          <a:custGeom>
            <a:avLst/>
            <a:gdLst/>
            <a:ahLst/>
            <a:cxnLst/>
            <a:rect l="l" t="t" r="r" b="b"/>
            <a:pathLst>
              <a:path w="4628" h="12195" extrusionOk="0">
                <a:moveTo>
                  <a:pt x="3537" y="0"/>
                </a:moveTo>
                <a:cubicBezTo>
                  <a:pt x="3460" y="0"/>
                  <a:pt x="3392" y="109"/>
                  <a:pt x="3339" y="355"/>
                </a:cubicBezTo>
                <a:cubicBezTo>
                  <a:pt x="3047" y="1818"/>
                  <a:pt x="3827" y="4823"/>
                  <a:pt x="3066" y="7008"/>
                </a:cubicBezTo>
                <a:cubicBezTo>
                  <a:pt x="2356" y="9067"/>
                  <a:pt x="879" y="9135"/>
                  <a:pt x="687" y="9135"/>
                </a:cubicBezTo>
                <a:cubicBezTo>
                  <a:pt x="674" y="9135"/>
                  <a:pt x="666" y="9135"/>
                  <a:pt x="666" y="9135"/>
                </a:cubicBezTo>
                <a:lnTo>
                  <a:pt x="666" y="9135"/>
                </a:lnTo>
                <a:cubicBezTo>
                  <a:pt x="666" y="9135"/>
                  <a:pt x="0" y="12195"/>
                  <a:pt x="812" y="12195"/>
                </a:cubicBezTo>
                <a:cubicBezTo>
                  <a:pt x="845" y="12195"/>
                  <a:pt x="881" y="12189"/>
                  <a:pt x="920" y="12179"/>
                </a:cubicBezTo>
                <a:cubicBezTo>
                  <a:pt x="979" y="12179"/>
                  <a:pt x="1037" y="12159"/>
                  <a:pt x="1096" y="12140"/>
                </a:cubicBezTo>
                <a:cubicBezTo>
                  <a:pt x="2052" y="11769"/>
                  <a:pt x="3125" y="10676"/>
                  <a:pt x="3847" y="9525"/>
                </a:cubicBezTo>
                <a:cubicBezTo>
                  <a:pt x="4627" y="8296"/>
                  <a:pt x="3964" y="6345"/>
                  <a:pt x="4237" y="4335"/>
                </a:cubicBezTo>
                <a:cubicBezTo>
                  <a:pt x="4480" y="2647"/>
                  <a:pt x="3914" y="0"/>
                  <a:pt x="3537"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7"/>
          <p:cNvSpPr/>
          <p:nvPr/>
        </p:nvSpPr>
        <p:spPr>
          <a:xfrm>
            <a:off x="339497" y="2411722"/>
            <a:ext cx="154629" cy="828784"/>
          </a:xfrm>
          <a:custGeom>
            <a:avLst/>
            <a:gdLst/>
            <a:ahLst/>
            <a:cxnLst/>
            <a:rect l="l" t="t" r="r" b="b"/>
            <a:pathLst>
              <a:path w="2654" h="14225" extrusionOk="0">
                <a:moveTo>
                  <a:pt x="550" y="1"/>
                </a:moveTo>
                <a:cubicBezTo>
                  <a:pt x="235" y="1"/>
                  <a:pt x="390" y="2453"/>
                  <a:pt x="937" y="4566"/>
                </a:cubicBezTo>
                <a:cubicBezTo>
                  <a:pt x="1522" y="6829"/>
                  <a:pt x="1366" y="6907"/>
                  <a:pt x="1269" y="8449"/>
                </a:cubicBezTo>
                <a:cubicBezTo>
                  <a:pt x="1190" y="9971"/>
                  <a:pt x="1015" y="10849"/>
                  <a:pt x="605" y="11980"/>
                </a:cubicBezTo>
                <a:cubicBezTo>
                  <a:pt x="195" y="13093"/>
                  <a:pt x="0" y="14224"/>
                  <a:pt x="195" y="14224"/>
                </a:cubicBezTo>
                <a:cubicBezTo>
                  <a:pt x="410" y="14224"/>
                  <a:pt x="917" y="13405"/>
                  <a:pt x="1132" y="12449"/>
                </a:cubicBezTo>
                <a:cubicBezTo>
                  <a:pt x="1366" y="11493"/>
                  <a:pt x="1854" y="10244"/>
                  <a:pt x="2264" y="8683"/>
                </a:cubicBezTo>
                <a:cubicBezTo>
                  <a:pt x="2654" y="7122"/>
                  <a:pt x="2205" y="6576"/>
                  <a:pt x="1971" y="5229"/>
                </a:cubicBezTo>
                <a:cubicBezTo>
                  <a:pt x="1717" y="3903"/>
                  <a:pt x="1288" y="2927"/>
                  <a:pt x="1288" y="1600"/>
                </a:cubicBezTo>
                <a:cubicBezTo>
                  <a:pt x="1288" y="254"/>
                  <a:pt x="625" y="39"/>
                  <a:pt x="625" y="39"/>
                </a:cubicBezTo>
                <a:cubicBezTo>
                  <a:pt x="597" y="13"/>
                  <a:pt x="572" y="1"/>
                  <a:pt x="550"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7"/>
          <p:cNvSpPr/>
          <p:nvPr/>
        </p:nvSpPr>
        <p:spPr>
          <a:xfrm>
            <a:off x="10840" y="2606733"/>
            <a:ext cx="698160" cy="1562600"/>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7"/>
          <p:cNvSpPr/>
          <p:nvPr/>
        </p:nvSpPr>
        <p:spPr>
          <a:xfrm>
            <a:off x="-59601" y="831881"/>
            <a:ext cx="891882" cy="1104307"/>
          </a:xfrm>
          <a:custGeom>
            <a:avLst/>
            <a:gdLst/>
            <a:ahLst/>
            <a:cxnLst/>
            <a:rect l="l" t="t" r="r" b="b"/>
            <a:pathLst>
              <a:path w="15308" h="18954" extrusionOk="0">
                <a:moveTo>
                  <a:pt x="206" y="1"/>
                </a:moveTo>
                <a:cubicBezTo>
                  <a:pt x="1" y="1"/>
                  <a:pt x="132" y="179"/>
                  <a:pt x="841" y="635"/>
                </a:cubicBezTo>
                <a:cubicBezTo>
                  <a:pt x="1017" y="732"/>
                  <a:pt x="5563" y="3093"/>
                  <a:pt x="8665" y="8615"/>
                </a:cubicBezTo>
                <a:cubicBezTo>
                  <a:pt x="11768" y="14137"/>
                  <a:pt x="13426" y="17942"/>
                  <a:pt x="14558" y="18820"/>
                </a:cubicBezTo>
                <a:cubicBezTo>
                  <a:pt x="14674" y="18912"/>
                  <a:pt x="14759" y="18954"/>
                  <a:pt x="14817" y="18954"/>
                </a:cubicBezTo>
                <a:cubicBezTo>
                  <a:pt x="15307" y="18954"/>
                  <a:pt x="13800" y="15867"/>
                  <a:pt x="12997" y="14312"/>
                </a:cubicBezTo>
                <a:cubicBezTo>
                  <a:pt x="12080" y="12576"/>
                  <a:pt x="10441" y="7932"/>
                  <a:pt x="9290" y="6118"/>
                </a:cubicBezTo>
                <a:cubicBezTo>
                  <a:pt x="8119" y="4322"/>
                  <a:pt x="5602" y="2781"/>
                  <a:pt x="4236" y="1766"/>
                </a:cubicBezTo>
                <a:cubicBezTo>
                  <a:pt x="3264" y="1086"/>
                  <a:pt x="711" y="1"/>
                  <a:pt x="206"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7"/>
          <p:cNvSpPr/>
          <p:nvPr/>
        </p:nvSpPr>
        <p:spPr>
          <a:xfrm>
            <a:off x="-131697" y="-80751"/>
            <a:ext cx="1650460" cy="3321254"/>
          </a:xfrm>
          <a:custGeom>
            <a:avLst/>
            <a:gdLst/>
            <a:ahLst/>
            <a:cxnLst/>
            <a:rect l="l" t="t" r="r" b="b"/>
            <a:pathLst>
              <a:path w="28328" h="57005" extrusionOk="0">
                <a:moveTo>
                  <a:pt x="0" y="0"/>
                </a:moveTo>
                <a:lnTo>
                  <a:pt x="0" y="5405"/>
                </a:lnTo>
                <a:lnTo>
                  <a:pt x="39" y="5405"/>
                </a:lnTo>
                <a:cubicBezTo>
                  <a:pt x="39" y="5405"/>
                  <a:pt x="10029" y="7727"/>
                  <a:pt x="16059" y="17990"/>
                </a:cubicBezTo>
                <a:cubicBezTo>
                  <a:pt x="20819" y="26126"/>
                  <a:pt x="23024" y="29678"/>
                  <a:pt x="23610" y="33151"/>
                </a:cubicBezTo>
                <a:cubicBezTo>
                  <a:pt x="24195" y="36604"/>
                  <a:pt x="24371" y="45502"/>
                  <a:pt x="24722" y="46087"/>
                </a:cubicBezTo>
                <a:cubicBezTo>
                  <a:pt x="24794" y="46218"/>
                  <a:pt x="24864" y="46281"/>
                  <a:pt x="24929" y="46281"/>
                </a:cubicBezTo>
                <a:cubicBezTo>
                  <a:pt x="25510" y="46281"/>
                  <a:pt x="25752" y="41278"/>
                  <a:pt x="25014" y="35785"/>
                </a:cubicBezTo>
                <a:cubicBezTo>
                  <a:pt x="24854" y="34562"/>
                  <a:pt x="24981" y="33771"/>
                  <a:pt x="25240" y="33771"/>
                </a:cubicBezTo>
                <a:cubicBezTo>
                  <a:pt x="25609" y="33771"/>
                  <a:pt x="26245" y="35381"/>
                  <a:pt x="26692" y="39648"/>
                </a:cubicBezTo>
                <a:cubicBezTo>
                  <a:pt x="27453" y="46906"/>
                  <a:pt x="23844" y="56584"/>
                  <a:pt x="24858" y="56994"/>
                </a:cubicBezTo>
                <a:cubicBezTo>
                  <a:pt x="24875" y="57001"/>
                  <a:pt x="24892" y="57004"/>
                  <a:pt x="24910" y="57004"/>
                </a:cubicBezTo>
                <a:cubicBezTo>
                  <a:pt x="25834" y="57004"/>
                  <a:pt x="28328" y="48231"/>
                  <a:pt x="28136" y="40097"/>
                </a:cubicBezTo>
                <a:cubicBezTo>
                  <a:pt x="27941" y="31804"/>
                  <a:pt x="24839" y="29385"/>
                  <a:pt x="23415" y="23785"/>
                </a:cubicBezTo>
                <a:cubicBezTo>
                  <a:pt x="22010" y="18127"/>
                  <a:pt x="17151" y="11532"/>
                  <a:pt x="14595" y="9307"/>
                </a:cubicBezTo>
                <a:cubicBezTo>
                  <a:pt x="12039" y="7103"/>
                  <a:pt x="10205" y="5951"/>
                  <a:pt x="7961" y="3981"/>
                </a:cubicBezTo>
                <a:cubicBezTo>
                  <a:pt x="5717" y="1990"/>
                  <a:pt x="3844" y="527"/>
                  <a:pt x="0"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7"/>
          <p:cNvSpPr/>
          <p:nvPr/>
        </p:nvSpPr>
        <p:spPr>
          <a:xfrm rot="1649251">
            <a:off x="173742" y="3661793"/>
            <a:ext cx="698189" cy="1562666"/>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7"/>
          <p:cNvSpPr/>
          <p:nvPr/>
        </p:nvSpPr>
        <p:spPr>
          <a:xfrm rot="10800000">
            <a:off x="8889001" y="1883475"/>
            <a:ext cx="279718" cy="1556308"/>
          </a:xfrm>
          <a:custGeom>
            <a:avLst/>
            <a:gdLst/>
            <a:ahLst/>
            <a:cxnLst/>
            <a:rect l="l" t="t" r="r" b="b"/>
            <a:pathLst>
              <a:path w="4801" h="26712" extrusionOk="0">
                <a:moveTo>
                  <a:pt x="118" y="0"/>
                </a:moveTo>
                <a:lnTo>
                  <a:pt x="1" y="26712"/>
                </a:lnTo>
                <a:cubicBezTo>
                  <a:pt x="3220" y="25561"/>
                  <a:pt x="2030" y="21385"/>
                  <a:pt x="1893" y="18966"/>
                </a:cubicBezTo>
                <a:cubicBezTo>
                  <a:pt x="1776" y="16546"/>
                  <a:pt x="1835" y="16429"/>
                  <a:pt x="2810" y="15161"/>
                </a:cubicBezTo>
                <a:cubicBezTo>
                  <a:pt x="3786" y="13893"/>
                  <a:pt x="4800" y="11610"/>
                  <a:pt x="4137" y="9366"/>
                </a:cubicBezTo>
                <a:cubicBezTo>
                  <a:pt x="3474" y="7122"/>
                  <a:pt x="2264" y="4781"/>
                  <a:pt x="2030" y="3024"/>
                </a:cubicBezTo>
                <a:cubicBezTo>
                  <a:pt x="1776" y="1268"/>
                  <a:pt x="118" y="0"/>
                  <a:pt x="118"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7"/>
          <p:cNvSpPr/>
          <p:nvPr/>
        </p:nvSpPr>
        <p:spPr>
          <a:xfrm rot="10800000">
            <a:off x="8285405" y="442018"/>
            <a:ext cx="1315334" cy="3729790"/>
          </a:xfrm>
          <a:custGeom>
            <a:avLst/>
            <a:gdLst/>
            <a:ahLst/>
            <a:cxnLst/>
            <a:rect l="l" t="t" r="r" b="b"/>
            <a:pathLst>
              <a:path w="22576" h="64017" extrusionOk="0">
                <a:moveTo>
                  <a:pt x="3944" y="0"/>
                </a:moveTo>
                <a:cubicBezTo>
                  <a:pt x="3769" y="0"/>
                  <a:pt x="3652" y="68"/>
                  <a:pt x="3610" y="213"/>
                </a:cubicBezTo>
                <a:cubicBezTo>
                  <a:pt x="3356" y="1013"/>
                  <a:pt x="12136" y="8018"/>
                  <a:pt x="11356" y="8603"/>
                </a:cubicBezTo>
                <a:cubicBezTo>
                  <a:pt x="11323" y="8628"/>
                  <a:pt x="11282" y="8639"/>
                  <a:pt x="11235" y="8639"/>
                </a:cubicBezTo>
                <a:cubicBezTo>
                  <a:pt x="10548" y="8639"/>
                  <a:pt x="8480" y="6140"/>
                  <a:pt x="7889" y="6140"/>
                </a:cubicBezTo>
                <a:cubicBezTo>
                  <a:pt x="7856" y="6140"/>
                  <a:pt x="7828" y="6147"/>
                  <a:pt x="7805" y="6164"/>
                </a:cubicBezTo>
                <a:cubicBezTo>
                  <a:pt x="7356" y="6437"/>
                  <a:pt x="8839" y="8057"/>
                  <a:pt x="8839" y="8057"/>
                </a:cubicBezTo>
                <a:cubicBezTo>
                  <a:pt x="8839" y="8057"/>
                  <a:pt x="14927" y="14456"/>
                  <a:pt x="16331" y="20251"/>
                </a:cubicBezTo>
                <a:cubicBezTo>
                  <a:pt x="17756" y="26066"/>
                  <a:pt x="17287" y="26671"/>
                  <a:pt x="18439" y="30788"/>
                </a:cubicBezTo>
                <a:cubicBezTo>
                  <a:pt x="19570" y="34924"/>
                  <a:pt x="16566" y="38749"/>
                  <a:pt x="16214" y="42066"/>
                </a:cubicBezTo>
                <a:cubicBezTo>
                  <a:pt x="15863" y="45383"/>
                  <a:pt x="13112" y="49382"/>
                  <a:pt x="11278" y="50982"/>
                </a:cubicBezTo>
                <a:cubicBezTo>
                  <a:pt x="9463" y="52602"/>
                  <a:pt x="3473" y="55236"/>
                  <a:pt x="0" y="55236"/>
                </a:cubicBezTo>
                <a:lnTo>
                  <a:pt x="0" y="64016"/>
                </a:lnTo>
                <a:cubicBezTo>
                  <a:pt x="0" y="64016"/>
                  <a:pt x="2166" y="63431"/>
                  <a:pt x="7805" y="59743"/>
                </a:cubicBezTo>
                <a:cubicBezTo>
                  <a:pt x="12214" y="56875"/>
                  <a:pt x="11980" y="55431"/>
                  <a:pt x="14790" y="53675"/>
                </a:cubicBezTo>
                <a:cubicBezTo>
                  <a:pt x="17658" y="51919"/>
                  <a:pt x="20741" y="48056"/>
                  <a:pt x="20741" y="45422"/>
                </a:cubicBezTo>
                <a:cubicBezTo>
                  <a:pt x="20741" y="42787"/>
                  <a:pt x="20136" y="39939"/>
                  <a:pt x="21365" y="37188"/>
                </a:cubicBezTo>
                <a:cubicBezTo>
                  <a:pt x="22575" y="34397"/>
                  <a:pt x="21970" y="32797"/>
                  <a:pt x="21365" y="30163"/>
                </a:cubicBezTo>
                <a:cubicBezTo>
                  <a:pt x="20741" y="27529"/>
                  <a:pt x="21365" y="23061"/>
                  <a:pt x="19863" y="19978"/>
                </a:cubicBezTo>
                <a:cubicBezTo>
                  <a:pt x="18380" y="16856"/>
                  <a:pt x="17092" y="15100"/>
                  <a:pt x="16566" y="13481"/>
                </a:cubicBezTo>
                <a:cubicBezTo>
                  <a:pt x="16019" y="11842"/>
                  <a:pt x="12917" y="7940"/>
                  <a:pt x="10283" y="4896"/>
                </a:cubicBezTo>
                <a:cubicBezTo>
                  <a:pt x="8033" y="2313"/>
                  <a:pt x="4972" y="0"/>
                  <a:pt x="39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7"/>
          <p:cNvSpPr/>
          <p:nvPr/>
        </p:nvSpPr>
        <p:spPr>
          <a:xfrm rot="10800000">
            <a:off x="8804054" y="4446818"/>
            <a:ext cx="372763" cy="304888"/>
          </a:xfrm>
          <a:custGeom>
            <a:avLst/>
            <a:gdLst/>
            <a:ahLst/>
            <a:cxnLst/>
            <a:rect l="l" t="t" r="r" b="b"/>
            <a:pathLst>
              <a:path w="6398" h="5233" extrusionOk="0">
                <a:moveTo>
                  <a:pt x="20" y="0"/>
                </a:moveTo>
                <a:cubicBezTo>
                  <a:pt x="7" y="0"/>
                  <a:pt x="1" y="1"/>
                  <a:pt x="1" y="1"/>
                </a:cubicBezTo>
                <a:lnTo>
                  <a:pt x="1" y="1445"/>
                </a:lnTo>
                <a:cubicBezTo>
                  <a:pt x="1" y="1445"/>
                  <a:pt x="2244" y="2401"/>
                  <a:pt x="5035" y="4684"/>
                </a:cubicBezTo>
                <a:cubicBezTo>
                  <a:pt x="5508" y="5069"/>
                  <a:pt x="5796" y="5232"/>
                  <a:pt x="5931" y="5232"/>
                </a:cubicBezTo>
                <a:cubicBezTo>
                  <a:pt x="6397" y="5232"/>
                  <a:pt x="5034" y="3283"/>
                  <a:pt x="3142" y="1816"/>
                </a:cubicBezTo>
                <a:cubicBezTo>
                  <a:pt x="929" y="80"/>
                  <a:pt x="146" y="0"/>
                  <a:pt x="20"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7"/>
          <p:cNvSpPr/>
          <p:nvPr/>
        </p:nvSpPr>
        <p:spPr>
          <a:xfrm rot="10800000">
            <a:off x="7965078" y="1430460"/>
            <a:ext cx="1650460" cy="3321254"/>
          </a:xfrm>
          <a:custGeom>
            <a:avLst/>
            <a:gdLst/>
            <a:ahLst/>
            <a:cxnLst/>
            <a:rect l="l" t="t" r="r" b="b"/>
            <a:pathLst>
              <a:path w="28328" h="57005" extrusionOk="0">
                <a:moveTo>
                  <a:pt x="0" y="0"/>
                </a:moveTo>
                <a:lnTo>
                  <a:pt x="0" y="5405"/>
                </a:lnTo>
                <a:lnTo>
                  <a:pt x="39" y="5405"/>
                </a:lnTo>
                <a:cubicBezTo>
                  <a:pt x="39" y="5405"/>
                  <a:pt x="10029" y="7727"/>
                  <a:pt x="16059" y="17990"/>
                </a:cubicBezTo>
                <a:cubicBezTo>
                  <a:pt x="20819" y="26126"/>
                  <a:pt x="23024" y="29678"/>
                  <a:pt x="23610" y="33151"/>
                </a:cubicBezTo>
                <a:cubicBezTo>
                  <a:pt x="24195" y="36604"/>
                  <a:pt x="24371" y="45502"/>
                  <a:pt x="24722" y="46087"/>
                </a:cubicBezTo>
                <a:cubicBezTo>
                  <a:pt x="24794" y="46218"/>
                  <a:pt x="24864" y="46281"/>
                  <a:pt x="24929" y="46281"/>
                </a:cubicBezTo>
                <a:cubicBezTo>
                  <a:pt x="25510" y="46281"/>
                  <a:pt x="25752" y="41278"/>
                  <a:pt x="25014" y="35785"/>
                </a:cubicBezTo>
                <a:cubicBezTo>
                  <a:pt x="24854" y="34562"/>
                  <a:pt x="24981" y="33771"/>
                  <a:pt x="25240" y="33771"/>
                </a:cubicBezTo>
                <a:cubicBezTo>
                  <a:pt x="25609" y="33771"/>
                  <a:pt x="26245" y="35381"/>
                  <a:pt x="26692" y="39648"/>
                </a:cubicBezTo>
                <a:cubicBezTo>
                  <a:pt x="27453" y="46906"/>
                  <a:pt x="23844" y="56584"/>
                  <a:pt x="24858" y="56994"/>
                </a:cubicBezTo>
                <a:cubicBezTo>
                  <a:pt x="24875" y="57001"/>
                  <a:pt x="24892" y="57004"/>
                  <a:pt x="24910" y="57004"/>
                </a:cubicBezTo>
                <a:cubicBezTo>
                  <a:pt x="25834" y="57004"/>
                  <a:pt x="28328" y="48231"/>
                  <a:pt x="28136" y="40097"/>
                </a:cubicBezTo>
                <a:cubicBezTo>
                  <a:pt x="27941" y="31804"/>
                  <a:pt x="24839" y="29385"/>
                  <a:pt x="23415" y="23785"/>
                </a:cubicBezTo>
                <a:cubicBezTo>
                  <a:pt x="22010" y="18127"/>
                  <a:pt x="17151" y="11532"/>
                  <a:pt x="14595" y="9307"/>
                </a:cubicBezTo>
                <a:cubicBezTo>
                  <a:pt x="12039" y="7103"/>
                  <a:pt x="10205" y="5951"/>
                  <a:pt x="7961" y="3981"/>
                </a:cubicBezTo>
                <a:cubicBezTo>
                  <a:pt x="5717" y="1990"/>
                  <a:pt x="3844" y="527"/>
                  <a:pt x="0"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7"/>
          <p:cNvSpPr/>
          <p:nvPr/>
        </p:nvSpPr>
        <p:spPr>
          <a:xfrm rot="10800000">
            <a:off x="8725160" y="2983755"/>
            <a:ext cx="380512" cy="533626"/>
          </a:xfrm>
          <a:custGeom>
            <a:avLst/>
            <a:gdLst/>
            <a:ahLst/>
            <a:cxnLst/>
            <a:rect l="l" t="t" r="r" b="b"/>
            <a:pathLst>
              <a:path w="6531" h="9159" extrusionOk="0">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7"/>
          <p:cNvSpPr/>
          <p:nvPr/>
        </p:nvSpPr>
        <p:spPr>
          <a:xfrm rot="10800000">
            <a:off x="8902749" y="1242911"/>
            <a:ext cx="361927" cy="546444"/>
          </a:xfrm>
          <a:custGeom>
            <a:avLst/>
            <a:gdLst/>
            <a:ahLst/>
            <a:cxnLst/>
            <a:rect l="l" t="t" r="r" b="b"/>
            <a:pathLst>
              <a:path w="6212" h="9379" extrusionOk="0">
                <a:moveTo>
                  <a:pt x="5824" y="0"/>
                </a:moveTo>
                <a:cubicBezTo>
                  <a:pt x="5720" y="0"/>
                  <a:pt x="5564" y="146"/>
                  <a:pt x="5367" y="467"/>
                </a:cubicBezTo>
                <a:cubicBezTo>
                  <a:pt x="5367" y="467"/>
                  <a:pt x="4294" y="3277"/>
                  <a:pt x="2537" y="5579"/>
                </a:cubicBezTo>
                <a:cubicBezTo>
                  <a:pt x="781" y="7901"/>
                  <a:pt x="1" y="8896"/>
                  <a:pt x="98" y="9325"/>
                </a:cubicBezTo>
                <a:cubicBezTo>
                  <a:pt x="107" y="9361"/>
                  <a:pt x="130" y="9379"/>
                  <a:pt x="166" y="9379"/>
                </a:cubicBezTo>
                <a:cubicBezTo>
                  <a:pt x="540" y="9379"/>
                  <a:pt x="2331" y="7483"/>
                  <a:pt x="4235" y="4564"/>
                </a:cubicBezTo>
                <a:cubicBezTo>
                  <a:pt x="5867" y="2039"/>
                  <a:pt x="6211" y="0"/>
                  <a:pt x="5824"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7"/>
          <p:cNvSpPr/>
          <p:nvPr/>
        </p:nvSpPr>
        <p:spPr>
          <a:xfrm rot="10800000">
            <a:off x="8226268" y="184398"/>
            <a:ext cx="1373364" cy="1019769"/>
          </a:xfrm>
          <a:custGeom>
            <a:avLst/>
            <a:gdLst/>
            <a:ahLst/>
            <a:cxnLst/>
            <a:rect l="l" t="t" r="r" b="b"/>
            <a:pathLst>
              <a:path w="23572" h="17503" extrusionOk="0">
                <a:moveTo>
                  <a:pt x="23429" y="1"/>
                </a:moveTo>
                <a:cubicBezTo>
                  <a:pt x="23104" y="1"/>
                  <a:pt x="22049" y="1258"/>
                  <a:pt x="22049" y="1258"/>
                </a:cubicBezTo>
                <a:cubicBezTo>
                  <a:pt x="22049" y="1258"/>
                  <a:pt x="20098" y="4263"/>
                  <a:pt x="16059" y="6312"/>
                </a:cubicBezTo>
                <a:cubicBezTo>
                  <a:pt x="10147" y="9277"/>
                  <a:pt x="8000" y="13726"/>
                  <a:pt x="1" y="14897"/>
                </a:cubicBezTo>
                <a:lnTo>
                  <a:pt x="1" y="17472"/>
                </a:lnTo>
                <a:cubicBezTo>
                  <a:pt x="1" y="17472"/>
                  <a:pt x="201" y="17503"/>
                  <a:pt x="569" y="17503"/>
                </a:cubicBezTo>
                <a:cubicBezTo>
                  <a:pt x="1819" y="17503"/>
                  <a:pt x="5001" y="17153"/>
                  <a:pt x="8800" y="14077"/>
                </a:cubicBezTo>
                <a:cubicBezTo>
                  <a:pt x="13522" y="10273"/>
                  <a:pt x="11025" y="11307"/>
                  <a:pt x="14751" y="8907"/>
                </a:cubicBezTo>
                <a:cubicBezTo>
                  <a:pt x="19590" y="5824"/>
                  <a:pt x="22693" y="2604"/>
                  <a:pt x="23376" y="712"/>
                </a:cubicBezTo>
                <a:cubicBezTo>
                  <a:pt x="23572" y="189"/>
                  <a:pt x="23555" y="1"/>
                  <a:pt x="23429"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7"/>
          <p:cNvSpPr/>
          <p:nvPr/>
        </p:nvSpPr>
        <p:spPr>
          <a:xfrm rot="10800000">
            <a:off x="8907179" y="1691524"/>
            <a:ext cx="269639" cy="710511"/>
          </a:xfrm>
          <a:custGeom>
            <a:avLst/>
            <a:gdLst/>
            <a:ahLst/>
            <a:cxnLst/>
            <a:rect l="l" t="t" r="r" b="b"/>
            <a:pathLst>
              <a:path w="4628" h="12195" extrusionOk="0">
                <a:moveTo>
                  <a:pt x="3537" y="0"/>
                </a:moveTo>
                <a:cubicBezTo>
                  <a:pt x="3460" y="0"/>
                  <a:pt x="3392" y="109"/>
                  <a:pt x="3339" y="355"/>
                </a:cubicBezTo>
                <a:cubicBezTo>
                  <a:pt x="3047" y="1818"/>
                  <a:pt x="3827" y="4823"/>
                  <a:pt x="3066" y="7008"/>
                </a:cubicBezTo>
                <a:cubicBezTo>
                  <a:pt x="2356" y="9067"/>
                  <a:pt x="879" y="9135"/>
                  <a:pt x="687" y="9135"/>
                </a:cubicBezTo>
                <a:cubicBezTo>
                  <a:pt x="674" y="9135"/>
                  <a:pt x="666" y="9135"/>
                  <a:pt x="666" y="9135"/>
                </a:cubicBezTo>
                <a:lnTo>
                  <a:pt x="666" y="9135"/>
                </a:lnTo>
                <a:cubicBezTo>
                  <a:pt x="666" y="9135"/>
                  <a:pt x="0" y="12195"/>
                  <a:pt x="812" y="12195"/>
                </a:cubicBezTo>
                <a:cubicBezTo>
                  <a:pt x="845" y="12195"/>
                  <a:pt x="881" y="12189"/>
                  <a:pt x="920" y="12179"/>
                </a:cubicBezTo>
                <a:cubicBezTo>
                  <a:pt x="979" y="12179"/>
                  <a:pt x="1037" y="12159"/>
                  <a:pt x="1096" y="12140"/>
                </a:cubicBezTo>
                <a:cubicBezTo>
                  <a:pt x="2052" y="11769"/>
                  <a:pt x="3125" y="10676"/>
                  <a:pt x="3847" y="9525"/>
                </a:cubicBezTo>
                <a:cubicBezTo>
                  <a:pt x="4627" y="8296"/>
                  <a:pt x="3964" y="6345"/>
                  <a:pt x="4237" y="4335"/>
                </a:cubicBezTo>
                <a:cubicBezTo>
                  <a:pt x="4480" y="2647"/>
                  <a:pt x="3914" y="0"/>
                  <a:pt x="3537"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7"/>
          <p:cNvSpPr/>
          <p:nvPr/>
        </p:nvSpPr>
        <p:spPr>
          <a:xfrm rot="10800000">
            <a:off x="8623086" y="1896900"/>
            <a:ext cx="154629" cy="828784"/>
          </a:xfrm>
          <a:custGeom>
            <a:avLst/>
            <a:gdLst/>
            <a:ahLst/>
            <a:cxnLst/>
            <a:rect l="l" t="t" r="r" b="b"/>
            <a:pathLst>
              <a:path w="2654" h="14225" extrusionOk="0">
                <a:moveTo>
                  <a:pt x="550" y="1"/>
                </a:moveTo>
                <a:cubicBezTo>
                  <a:pt x="235" y="1"/>
                  <a:pt x="390" y="2453"/>
                  <a:pt x="937" y="4566"/>
                </a:cubicBezTo>
                <a:cubicBezTo>
                  <a:pt x="1522" y="6829"/>
                  <a:pt x="1366" y="6907"/>
                  <a:pt x="1269" y="8449"/>
                </a:cubicBezTo>
                <a:cubicBezTo>
                  <a:pt x="1190" y="9971"/>
                  <a:pt x="1015" y="10849"/>
                  <a:pt x="605" y="11980"/>
                </a:cubicBezTo>
                <a:cubicBezTo>
                  <a:pt x="195" y="13093"/>
                  <a:pt x="0" y="14224"/>
                  <a:pt x="195" y="14224"/>
                </a:cubicBezTo>
                <a:cubicBezTo>
                  <a:pt x="410" y="14224"/>
                  <a:pt x="917" y="13405"/>
                  <a:pt x="1132" y="12449"/>
                </a:cubicBezTo>
                <a:cubicBezTo>
                  <a:pt x="1366" y="11493"/>
                  <a:pt x="1854" y="10244"/>
                  <a:pt x="2264" y="8683"/>
                </a:cubicBezTo>
                <a:cubicBezTo>
                  <a:pt x="2654" y="7122"/>
                  <a:pt x="2205" y="6576"/>
                  <a:pt x="1971" y="5229"/>
                </a:cubicBezTo>
                <a:cubicBezTo>
                  <a:pt x="1717" y="3903"/>
                  <a:pt x="1288" y="2927"/>
                  <a:pt x="1288" y="1600"/>
                </a:cubicBezTo>
                <a:cubicBezTo>
                  <a:pt x="1288" y="254"/>
                  <a:pt x="625" y="39"/>
                  <a:pt x="625" y="39"/>
                </a:cubicBezTo>
                <a:cubicBezTo>
                  <a:pt x="597" y="13"/>
                  <a:pt x="572" y="1"/>
                  <a:pt x="550"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7"/>
          <p:cNvSpPr/>
          <p:nvPr/>
        </p:nvSpPr>
        <p:spPr>
          <a:xfrm rot="10800000">
            <a:off x="8408212" y="968073"/>
            <a:ext cx="698160" cy="1562600"/>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7"/>
          <p:cNvSpPr/>
          <p:nvPr/>
        </p:nvSpPr>
        <p:spPr>
          <a:xfrm rot="10800000">
            <a:off x="8284930" y="3201217"/>
            <a:ext cx="891882" cy="1104307"/>
          </a:xfrm>
          <a:custGeom>
            <a:avLst/>
            <a:gdLst/>
            <a:ahLst/>
            <a:cxnLst/>
            <a:rect l="l" t="t" r="r" b="b"/>
            <a:pathLst>
              <a:path w="15308" h="18954" extrusionOk="0">
                <a:moveTo>
                  <a:pt x="206" y="1"/>
                </a:moveTo>
                <a:cubicBezTo>
                  <a:pt x="1" y="1"/>
                  <a:pt x="132" y="179"/>
                  <a:pt x="841" y="635"/>
                </a:cubicBezTo>
                <a:cubicBezTo>
                  <a:pt x="1017" y="732"/>
                  <a:pt x="5563" y="3093"/>
                  <a:pt x="8665" y="8615"/>
                </a:cubicBezTo>
                <a:cubicBezTo>
                  <a:pt x="11768" y="14137"/>
                  <a:pt x="13426" y="17942"/>
                  <a:pt x="14558" y="18820"/>
                </a:cubicBezTo>
                <a:cubicBezTo>
                  <a:pt x="14674" y="18912"/>
                  <a:pt x="14759" y="18954"/>
                  <a:pt x="14817" y="18954"/>
                </a:cubicBezTo>
                <a:cubicBezTo>
                  <a:pt x="15307" y="18954"/>
                  <a:pt x="13800" y="15867"/>
                  <a:pt x="12997" y="14312"/>
                </a:cubicBezTo>
                <a:cubicBezTo>
                  <a:pt x="12080" y="12576"/>
                  <a:pt x="10441" y="7932"/>
                  <a:pt x="9290" y="6118"/>
                </a:cubicBezTo>
                <a:cubicBezTo>
                  <a:pt x="8119" y="4322"/>
                  <a:pt x="5602" y="2781"/>
                  <a:pt x="4236" y="1766"/>
                </a:cubicBezTo>
                <a:cubicBezTo>
                  <a:pt x="3264" y="1086"/>
                  <a:pt x="711" y="1"/>
                  <a:pt x="206"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7"/>
          <p:cNvSpPr/>
          <p:nvPr/>
        </p:nvSpPr>
        <p:spPr>
          <a:xfrm rot="-9150749">
            <a:off x="8245280" y="-87053"/>
            <a:ext cx="698189" cy="1562666"/>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7"/>
          <p:cNvSpPr/>
          <p:nvPr/>
        </p:nvSpPr>
        <p:spPr>
          <a:xfrm rot="7554719">
            <a:off x="7928494" y="2668518"/>
            <a:ext cx="1163688" cy="2604532"/>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7"/>
          <p:cNvSpPr/>
          <p:nvPr/>
        </p:nvSpPr>
        <p:spPr>
          <a:xfrm rot="459677">
            <a:off x="426438" y="-116695"/>
            <a:ext cx="686992" cy="561899"/>
          </a:xfrm>
          <a:custGeom>
            <a:avLst/>
            <a:gdLst/>
            <a:ahLst/>
            <a:cxnLst/>
            <a:rect l="l" t="t" r="r" b="b"/>
            <a:pathLst>
              <a:path w="6398" h="5233" extrusionOk="0">
                <a:moveTo>
                  <a:pt x="20" y="0"/>
                </a:moveTo>
                <a:cubicBezTo>
                  <a:pt x="7" y="0"/>
                  <a:pt x="1" y="1"/>
                  <a:pt x="1" y="1"/>
                </a:cubicBezTo>
                <a:lnTo>
                  <a:pt x="1" y="1445"/>
                </a:lnTo>
                <a:cubicBezTo>
                  <a:pt x="1" y="1445"/>
                  <a:pt x="2244" y="2401"/>
                  <a:pt x="5035" y="4684"/>
                </a:cubicBezTo>
                <a:cubicBezTo>
                  <a:pt x="5508" y="5069"/>
                  <a:pt x="5796" y="5232"/>
                  <a:pt x="5931" y="5232"/>
                </a:cubicBezTo>
                <a:cubicBezTo>
                  <a:pt x="6397" y="5232"/>
                  <a:pt x="5034" y="3283"/>
                  <a:pt x="3142" y="1816"/>
                </a:cubicBezTo>
                <a:cubicBezTo>
                  <a:pt x="929" y="80"/>
                  <a:pt x="146" y="0"/>
                  <a:pt x="20"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7"/>
          <p:cNvSpPr/>
          <p:nvPr/>
        </p:nvSpPr>
        <p:spPr>
          <a:xfrm>
            <a:off x="1071939" y="586662"/>
            <a:ext cx="380512" cy="533626"/>
          </a:xfrm>
          <a:custGeom>
            <a:avLst/>
            <a:gdLst/>
            <a:ahLst/>
            <a:cxnLst/>
            <a:rect l="l" t="t" r="r" b="b"/>
            <a:pathLst>
              <a:path w="6531" h="9159" extrusionOk="0">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740FA3">
              <a:alpha val="16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7"/>
          <p:cNvSpPr/>
          <p:nvPr/>
        </p:nvSpPr>
        <p:spPr>
          <a:xfrm rot="-6722857">
            <a:off x="7762929" y="-63871"/>
            <a:ext cx="663231" cy="930108"/>
          </a:xfrm>
          <a:custGeom>
            <a:avLst/>
            <a:gdLst/>
            <a:ahLst/>
            <a:cxnLst/>
            <a:rect l="l" t="t" r="r" b="b"/>
            <a:pathLst>
              <a:path w="6531" h="9159" extrusionOk="0">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740FA3">
              <a:alpha val="16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9" name="Google Shape;509;p17"/>
          <p:cNvGrpSpPr/>
          <p:nvPr/>
        </p:nvGrpSpPr>
        <p:grpSpPr>
          <a:xfrm>
            <a:off x="3434850" y="-1133248"/>
            <a:ext cx="2274300" cy="7430025"/>
            <a:chOff x="3421695" y="-1133248"/>
            <a:chExt cx="2274300" cy="7430025"/>
          </a:xfrm>
        </p:grpSpPr>
        <p:grpSp>
          <p:nvGrpSpPr>
            <p:cNvPr id="510" name="Google Shape;510;p17"/>
            <p:cNvGrpSpPr/>
            <p:nvPr/>
          </p:nvGrpSpPr>
          <p:grpSpPr>
            <a:xfrm>
              <a:off x="3421695" y="-1133248"/>
              <a:ext cx="2274300" cy="2274300"/>
              <a:chOff x="-1087568" y="-1126448"/>
              <a:chExt cx="2274300" cy="2274300"/>
            </a:xfrm>
          </p:grpSpPr>
          <p:sp>
            <p:nvSpPr>
              <p:cNvPr id="511" name="Google Shape;511;p17"/>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7"/>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7"/>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7"/>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 name="Google Shape;515;p17"/>
            <p:cNvGrpSpPr/>
            <p:nvPr/>
          </p:nvGrpSpPr>
          <p:grpSpPr>
            <a:xfrm>
              <a:off x="3421695" y="4022477"/>
              <a:ext cx="2274300" cy="2274300"/>
              <a:chOff x="-1087568" y="-1126448"/>
              <a:chExt cx="2274300" cy="2274300"/>
            </a:xfrm>
          </p:grpSpPr>
          <p:sp>
            <p:nvSpPr>
              <p:cNvPr id="516" name="Google Shape;516;p17"/>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7"/>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17"/>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17"/>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20" name="Google Shape;520;p17"/>
          <p:cNvSpPr/>
          <p:nvPr/>
        </p:nvSpPr>
        <p:spPr>
          <a:xfrm>
            <a:off x="8711662" y="273438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17"/>
          <p:cNvSpPr/>
          <p:nvPr/>
        </p:nvSpPr>
        <p:spPr>
          <a:xfrm>
            <a:off x="250550" y="449211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7"/>
          <p:cNvSpPr/>
          <p:nvPr/>
        </p:nvSpPr>
        <p:spPr>
          <a:xfrm>
            <a:off x="5420825" y="4446813"/>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7"/>
          <p:cNvSpPr/>
          <p:nvPr/>
        </p:nvSpPr>
        <p:spPr>
          <a:xfrm>
            <a:off x="3376337" y="202325"/>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7"/>
          <p:cNvSpPr/>
          <p:nvPr/>
        </p:nvSpPr>
        <p:spPr>
          <a:xfrm>
            <a:off x="329909" y="3790101"/>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7"/>
          <p:cNvSpPr/>
          <p:nvPr/>
        </p:nvSpPr>
        <p:spPr>
          <a:xfrm>
            <a:off x="167987" y="436088"/>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7"/>
          <p:cNvSpPr/>
          <p:nvPr/>
        </p:nvSpPr>
        <p:spPr>
          <a:xfrm>
            <a:off x="8534623" y="466957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7"/>
          <p:cNvSpPr/>
          <p:nvPr/>
        </p:nvSpPr>
        <p:spPr>
          <a:xfrm>
            <a:off x="8280025" y="723400"/>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7"/>
          <p:cNvSpPr/>
          <p:nvPr/>
        </p:nvSpPr>
        <p:spPr>
          <a:xfrm>
            <a:off x="4693628" y="488881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7"/>
          <p:cNvSpPr/>
          <p:nvPr/>
        </p:nvSpPr>
        <p:spPr>
          <a:xfrm>
            <a:off x="988187" y="2964275"/>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7"/>
          <p:cNvSpPr/>
          <p:nvPr/>
        </p:nvSpPr>
        <p:spPr>
          <a:xfrm>
            <a:off x="3907184" y="4828801"/>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7"/>
          <p:cNvSpPr/>
          <p:nvPr/>
        </p:nvSpPr>
        <p:spPr>
          <a:xfrm>
            <a:off x="5004134" y="233801"/>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7"/>
          <p:cNvSpPr/>
          <p:nvPr/>
        </p:nvSpPr>
        <p:spPr>
          <a:xfrm>
            <a:off x="8727284" y="455001"/>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Numbers and text">
  <p:cSld name="CUSTOM_9">
    <p:bg>
      <p:bgPr>
        <a:gradFill>
          <a:gsLst>
            <a:gs pos="0">
              <a:schemeClr val="dk2"/>
            </a:gs>
            <a:gs pos="100000">
              <a:schemeClr val="lt2"/>
            </a:gs>
          </a:gsLst>
          <a:lin ang="18900732" scaled="0"/>
        </a:gradFill>
        <a:effectLst/>
      </p:bgPr>
    </p:bg>
    <p:spTree>
      <p:nvGrpSpPr>
        <p:cNvPr id="1" name="Shape 534"/>
        <p:cNvGrpSpPr/>
        <p:nvPr/>
      </p:nvGrpSpPr>
      <p:grpSpPr>
        <a:xfrm>
          <a:off x="0" y="0"/>
          <a:ext cx="0" cy="0"/>
          <a:chOff x="0" y="0"/>
          <a:chExt cx="0" cy="0"/>
        </a:xfrm>
      </p:grpSpPr>
      <p:sp>
        <p:nvSpPr>
          <p:cNvPr id="535" name="Google Shape;535;p18"/>
          <p:cNvSpPr txBox="1">
            <a:spLocks noGrp="1"/>
          </p:cNvSpPr>
          <p:nvPr>
            <p:ph type="title"/>
          </p:nvPr>
        </p:nvSpPr>
        <p:spPr>
          <a:xfrm>
            <a:off x="740125" y="457200"/>
            <a:ext cx="76761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36" name="Google Shape;536;p18"/>
          <p:cNvSpPr/>
          <p:nvPr/>
        </p:nvSpPr>
        <p:spPr>
          <a:xfrm rot="-6329527">
            <a:off x="8206913" y="-285286"/>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8"/>
          <p:cNvSpPr/>
          <p:nvPr/>
        </p:nvSpPr>
        <p:spPr>
          <a:xfrm rot="-9560678">
            <a:off x="-310329" y="-164985"/>
            <a:ext cx="1111233" cy="935086"/>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8"/>
          <p:cNvSpPr/>
          <p:nvPr/>
        </p:nvSpPr>
        <p:spPr>
          <a:xfrm rot="5400000">
            <a:off x="3906068" y="19768"/>
            <a:ext cx="1356514"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8"/>
          <p:cNvSpPr/>
          <p:nvPr/>
        </p:nvSpPr>
        <p:spPr>
          <a:xfrm rot="4470473">
            <a:off x="-182012" y="4253117"/>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8"/>
          <p:cNvSpPr/>
          <p:nvPr/>
        </p:nvSpPr>
        <p:spPr>
          <a:xfrm rot="-8584896">
            <a:off x="8471718" y="4175159"/>
            <a:ext cx="1019032" cy="857452"/>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8"/>
          <p:cNvSpPr/>
          <p:nvPr/>
        </p:nvSpPr>
        <p:spPr>
          <a:xfrm flipH="1">
            <a:off x="266576" y="274443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8"/>
          <p:cNvSpPr/>
          <p:nvPr/>
        </p:nvSpPr>
        <p:spPr>
          <a:xfrm flipH="1">
            <a:off x="8759032" y="1078600"/>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8"/>
          <p:cNvSpPr/>
          <p:nvPr/>
        </p:nvSpPr>
        <p:spPr>
          <a:xfrm flipH="1">
            <a:off x="549198" y="482245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8"/>
          <p:cNvSpPr/>
          <p:nvPr/>
        </p:nvSpPr>
        <p:spPr>
          <a:xfrm flipH="1">
            <a:off x="8716463" y="409848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8"/>
          <p:cNvSpPr/>
          <p:nvPr/>
        </p:nvSpPr>
        <p:spPr>
          <a:xfrm flipH="1">
            <a:off x="419284" y="1495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18"/>
          <p:cNvSpPr/>
          <p:nvPr/>
        </p:nvSpPr>
        <p:spPr>
          <a:xfrm flipH="1">
            <a:off x="7281540" y="492808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18"/>
          <p:cNvSpPr/>
          <p:nvPr/>
        </p:nvSpPr>
        <p:spPr>
          <a:xfrm flipH="1">
            <a:off x="8315726" y="433363"/>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8"/>
          <p:cNvSpPr/>
          <p:nvPr/>
        </p:nvSpPr>
        <p:spPr>
          <a:xfrm flipH="1">
            <a:off x="7845365" y="30873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8"/>
          <p:cNvSpPr/>
          <p:nvPr/>
        </p:nvSpPr>
        <p:spPr>
          <a:xfrm flipH="1">
            <a:off x="8843423" y="446138"/>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8"/>
          <p:cNvSpPr/>
          <p:nvPr/>
        </p:nvSpPr>
        <p:spPr>
          <a:xfrm flipH="1">
            <a:off x="930109" y="477034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8"/>
          <p:cNvSpPr/>
          <p:nvPr/>
        </p:nvSpPr>
        <p:spPr>
          <a:xfrm flipH="1">
            <a:off x="109065" y="44613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8"/>
          <p:cNvSpPr txBox="1">
            <a:spLocks noGrp="1"/>
          </p:cNvSpPr>
          <p:nvPr>
            <p:ph type="subTitle" idx="1"/>
          </p:nvPr>
        </p:nvSpPr>
        <p:spPr>
          <a:xfrm>
            <a:off x="751900" y="2647000"/>
            <a:ext cx="1893600" cy="50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Anton"/>
              <a:buNone/>
              <a:defRPr sz="2700">
                <a:latin typeface="Anton"/>
                <a:ea typeface="Anton"/>
                <a:cs typeface="Anton"/>
                <a:sym typeface="Anton"/>
              </a:defRPr>
            </a:lvl1pPr>
            <a:lvl2pPr lvl="1" rtl="0">
              <a:spcBef>
                <a:spcPts val="0"/>
              </a:spcBef>
              <a:spcAft>
                <a:spcPts val="0"/>
              </a:spcAft>
              <a:buSzPts val="2400"/>
              <a:buFont typeface="Anton"/>
              <a:buNone/>
              <a:defRPr sz="2400">
                <a:latin typeface="Anton"/>
                <a:ea typeface="Anton"/>
                <a:cs typeface="Anton"/>
                <a:sym typeface="Anton"/>
              </a:defRPr>
            </a:lvl2pPr>
            <a:lvl3pPr lvl="2" rtl="0">
              <a:spcBef>
                <a:spcPts val="0"/>
              </a:spcBef>
              <a:spcAft>
                <a:spcPts val="0"/>
              </a:spcAft>
              <a:buSzPts val="2400"/>
              <a:buFont typeface="Anton"/>
              <a:buNone/>
              <a:defRPr sz="2400">
                <a:latin typeface="Anton"/>
                <a:ea typeface="Anton"/>
                <a:cs typeface="Anton"/>
                <a:sym typeface="Anton"/>
              </a:defRPr>
            </a:lvl3pPr>
            <a:lvl4pPr lvl="3" rtl="0">
              <a:spcBef>
                <a:spcPts val="0"/>
              </a:spcBef>
              <a:spcAft>
                <a:spcPts val="0"/>
              </a:spcAft>
              <a:buSzPts val="2400"/>
              <a:buFont typeface="Anton"/>
              <a:buNone/>
              <a:defRPr sz="2400">
                <a:latin typeface="Anton"/>
                <a:ea typeface="Anton"/>
                <a:cs typeface="Anton"/>
                <a:sym typeface="Anton"/>
              </a:defRPr>
            </a:lvl4pPr>
            <a:lvl5pPr lvl="4" rtl="0">
              <a:spcBef>
                <a:spcPts val="0"/>
              </a:spcBef>
              <a:spcAft>
                <a:spcPts val="0"/>
              </a:spcAft>
              <a:buSzPts val="2400"/>
              <a:buFont typeface="Anton"/>
              <a:buNone/>
              <a:defRPr sz="2400">
                <a:latin typeface="Anton"/>
                <a:ea typeface="Anton"/>
                <a:cs typeface="Anton"/>
                <a:sym typeface="Anton"/>
              </a:defRPr>
            </a:lvl5pPr>
            <a:lvl6pPr lvl="5" rtl="0">
              <a:spcBef>
                <a:spcPts val="0"/>
              </a:spcBef>
              <a:spcAft>
                <a:spcPts val="0"/>
              </a:spcAft>
              <a:buSzPts val="2400"/>
              <a:buFont typeface="Anton"/>
              <a:buNone/>
              <a:defRPr sz="2400">
                <a:latin typeface="Anton"/>
                <a:ea typeface="Anton"/>
                <a:cs typeface="Anton"/>
                <a:sym typeface="Anton"/>
              </a:defRPr>
            </a:lvl6pPr>
            <a:lvl7pPr lvl="6" rtl="0">
              <a:spcBef>
                <a:spcPts val="0"/>
              </a:spcBef>
              <a:spcAft>
                <a:spcPts val="0"/>
              </a:spcAft>
              <a:buSzPts val="2400"/>
              <a:buFont typeface="Anton"/>
              <a:buNone/>
              <a:defRPr sz="2400">
                <a:latin typeface="Anton"/>
                <a:ea typeface="Anton"/>
                <a:cs typeface="Anton"/>
                <a:sym typeface="Anton"/>
              </a:defRPr>
            </a:lvl7pPr>
            <a:lvl8pPr lvl="7" rtl="0">
              <a:spcBef>
                <a:spcPts val="0"/>
              </a:spcBef>
              <a:spcAft>
                <a:spcPts val="0"/>
              </a:spcAft>
              <a:buSzPts val="2400"/>
              <a:buFont typeface="Anton"/>
              <a:buNone/>
              <a:defRPr sz="2400">
                <a:latin typeface="Anton"/>
                <a:ea typeface="Anton"/>
                <a:cs typeface="Anton"/>
                <a:sym typeface="Anton"/>
              </a:defRPr>
            </a:lvl8pPr>
            <a:lvl9pPr lvl="8" rtl="0">
              <a:spcBef>
                <a:spcPts val="0"/>
              </a:spcBef>
              <a:spcAft>
                <a:spcPts val="0"/>
              </a:spcAft>
              <a:buSzPts val="2400"/>
              <a:buFont typeface="Anton"/>
              <a:buNone/>
              <a:defRPr sz="2400">
                <a:latin typeface="Anton"/>
                <a:ea typeface="Anton"/>
                <a:cs typeface="Anton"/>
                <a:sym typeface="Anton"/>
              </a:defRPr>
            </a:lvl9pPr>
          </a:lstStyle>
          <a:p>
            <a:endParaRPr/>
          </a:p>
        </p:txBody>
      </p:sp>
      <p:sp>
        <p:nvSpPr>
          <p:cNvPr id="553" name="Google Shape;553;p18"/>
          <p:cNvSpPr txBox="1">
            <a:spLocks noGrp="1"/>
          </p:cNvSpPr>
          <p:nvPr>
            <p:ph type="subTitle" idx="2"/>
          </p:nvPr>
        </p:nvSpPr>
        <p:spPr>
          <a:xfrm>
            <a:off x="876250" y="3587825"/>
            <a:ext cx="1644900" cy="6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4" name="Google Shape;554;p18"/>
          <p:cNvSpPr txBox="1">
            <a:spLocks noGrp="1"/>
          </p:cNvSpPr>
          <p:nvPr>
            <p:ph type="subTitle" idx="3"/>
          </p:nvPr>
        </p:nvSpPr>
        <p:spPr>
          <a:xfrm>
            <a:off x="2746225" y="2647000"/>
            <a:ext cx="1893600" cy="50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Anton"/>
              <a:buNone/>
              <a:defRPr sz="2700">
                <a:latin typeface="Anton"/>
                <a:ea typeface="Anton"/>
                <a:cs typeface="Anton"/>
                <a:sym typeface="Anton"/>
              </a:defRPr>
            </a:lvl1pPr>
            <a:lvl2pPr lvl="1" rtl="0">
              <a:spcBef>
                <a:spcPts val="0"/>
              </a:spcBef>
              <a:spcAft>
                <a:spcPts val="0"/>
              </a:spcAft>
              <a:buSzPts val="2400"/>
              <a:buFont typeface="Anton"/>
              <a:buNone/>
              <a:defRPr sz="2400">
                <a:latin typeface="Anton"/>
                <a:ea typeface="Anton"/>
                <a:cs typeface="Anton"/>
                <a:sym typeface="Anton"/>
              </a:defRPr>
            </a:lvl2pPr>
            <a:lvl3pPr lvl="2" rtl="0">
              <a:spcBef>
                <a:spcPts val="0"/>
              </a:spcBef>
              <a:spcAft>
                <a:spcPts val="0"/>
              </a:spcAft>
              <a:buSzPts val="2400"/>
              <a:buFont typeface="Anton"/>
              <a:buNone/>
              <a:defRPr sz="2400">
                <a:latin typeface="Anton"/>
                <a:ea typeface="Anton"/>
                <a:cs typeface="Anton"/>
                <a:sym typeface="Anton"/>
              </a:defRPr>
            </a:lvl3pPr>
            <a:lvl4pPr lvl="3" rtl="0">
              <a:spcBef>
                <a:spcPts val="0"/>
              </a:spcBef>
              <a:spcAft>
                <a:spcPts val="0"/>
              </a:spcAft>
              <a:buSzPts val="2400"/>
              <a:buFont typeface="Anton"/>
              <a:buNone/>
              <a:defRPr sz="2400">
                <a:latin typeface="Anton"/>
                <a:ea typeface="Anton"/>
                <a:cs typeface="Anton"/>
                <a:sym typeface="Anton"/>
              </a:defRPr>
            </a:lvl4pPr>
            <a:lvl5pPr lvl="4" rtl="0">
              <a:spcBef>
                <a:spcPts val="0"/>
              </a:spcBef>
              <a:spcAft>
                <a:spcPts val="0"/>
              </a:spcAft>
              <a:buSzPts val="2400"/>
              <a:buFont typeface="Anton"/>
              <a:buNone/>
              <a:defRPr sz="2400">
                <a:latin typeface="Anton"/>
                <a:ea typeface="Anton"/>
                <a:cs typeface="Anton"/>
                <a:sym typeface="Anton"/>
              </a:defRPr>
            </a:lvl5pPr>
            <a:lvl6pPr lvl="5" rtl="0">
              <a:spcBef>
                <a:spcPts val="0"/>
              </a:spcBef>
              <a:spcAft>
                <a:spcPts val="0"/>
              </a:spcAft>
              <a:buSzPts val="2400"/>
              <a:buFont typeface="Anton"/>
              <a:buNone/>
              <a:defRPr sz="2400">
                <a:latin typeface="Anton"/>
                <a:ea typeface="Anton"/>
                <a:cs typeface="Anton"/>
                <a:sym typeface="Anton"/>
              </a:defRPr>
            </a:lvl6pPr>
            <a:lvl7pPr lvl="6" rtl="0">
              <a:spcBef>
                <a:spcPts val="0"/>
              </a:spcBef>
              <a:spcAft>
                <a:spcPts val="0"/>
              </a:spcAft>
              <a:buSzPts val="2400"/>
              <a:buFont typeface="Anton"/>
              <a:buNone/>
              <a:defRPr sz="2400">
                <a:latin typeface="Anton"/>
                <a:ea typeface="Anton"/>
                <a:cs typeface="Anton"/>
                <a:sym typeface="Anton"/>
              </a:defRPr>
            </a:lvl7pPr>
            <a:lvl8pPr lvl="7" rtl="0">
              <a:spcBef>
                <a:spcPts val="0"/>
              </a:spcBef>
              <a:spcAft>
                <a:spcPts val="0"/>
              </a:spcAft>
              <a:buSzPts val="2400"/>
              <a:buFont typeface="Anton"/>
              <a:buNone/>
              <a:defRPr sz="2400">
                <a:latin typeface="Anton"/>
                <a:ea typeface="Anton"/>
                <a:cs typeface="Anton"/>
                <a:sym typeface="Anton"/>
              </a:defRPr>
            </a:lvl8pPr>
            <a:lvl9pPr lvl="8" rtl="0">
              <a:spcBef>
                <a:spcPts val="0"/>
              </a:spcBef>
              <a:spcAft>
                <a:spcPts val="0"/>
              </a:spcAft>
              <a:buSzPts val="2400"/>
              <a:buFont typeface="Anton"/>
              <a:buNone/>
              <a:defRPr sz="2400">
                <a:latin typeface="Anton"/>
                <a:ea typeface="Anton"/>
                <a:cs typeface="Anton"/>
                <a:sym typeface="Anton"/>
              </a:defRPr>
            </a:lvl9pPr>
          </a:lstStyle>
          <a:p>
            <a:endParaRPr/>
          </a:p>
        </p:txBody>
      </p:sp>
      <p:sp>
        <p:nvSpPr>
          <p:cNvPr id="555" name="Google Shape;555;p18"/>
          <p:cNvSpPr txBox="1">
            <a:spLocks noGrp="1"/>
          </p:cNvSpPr>
          <p:nvPr>
            <p:ph type="subTitle" idx="4"/>
          </p:nvPr>
        </p:nvSpPr>
        <p:spPr>
          <a:xfrm>
            <a:off x="2870575" y="3587825"/>
            <a:ext cx="1644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6" name="Google Shape;556;p18"/>
          <p:cNvSpPr txBox="1">
            <a:spLocks noGrp="1"/>
          </p:cNvSpPr>
          <p:nvPr>
            <p:ph type="subTitle" idx="5"/>
          </p:nvPr>
        </p:nvSpPr>
        <p:spPr>
          <a:xfrm>
            <a:off x="4740538" y="2647000"/>
            <a:ext cx="1893600" cy="50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Anton"/>
              <a:buNone/>
              <a:defRPr sz="2700">
                <a:latin typeface="Anton"/>
                <a:ea typeface="Anton"/>
                <a:cs typeface="Anton"/>
                <a:sym typeface="Anton"/>
              </a:defRPr>
            </a:lvl1pPr>
            <a:lvl2pPr lvl="1" rtl="0">
              <a:spcBef>
                <a:spcPts val="0"/>
              </a:spcBef>
              <a:spcAft>
                <a:spcPts val="0"/>
              </a:spcAft>
              <a:buSzPts val="2400"/>
              <a:buFont typeface="Anton"/>
              <a:buNone/>
              <a:defRPr sz="2400">
                <a:latin typeface="Anton"/>
                <a:ea typeface="Anton"/>
                <a:cs typeface="Anton"/>
                <a:sym typeface="Anton"/>
              </a:defRPr>
            </a:lvl2pPr>
            <a:lvl3pPr lvl="2" rtl="0">
              <a:spcBef>
                <a:spcPts val="0"/>
              </a:spcBef>
              <a:spcAft>
                <a:spcPts val="0"/>
              </a:spcAft>
              <a:buSzPts val="2400"/>
              <a:buFont typeface="Anton"/>
              <a:buNone/>
              <a:defRPr sz="2400">
                <a:latin typeface="Anton"/>
                <a:ea typeface="Anton"/>
                <a:cs typeface="Anton"/>
                <a:sym typeface="Anton"/>
              </a:defRPr>
            </a:lvl3pPr>
            <a:lvl4pPr lvl="3" rtl="0">
              <a:spcBef>
                <a:spcPts val="0"/>
              </a:spcBef>
              <a:spcAft>
                <a:spcPts val="0"/>
              </a:spcAft>
              <a:buSzPts val="2400"/>
              <a:buFont typeface="Anton"/>
              <a:buNone/>
              <a:defRPr sz="2400">
                <a:latin typeface="Anton"/>
                <a:ea typeface="Anton"/>
                <a:cs typeface="Anton"/>
                <a:sym typeface="Anton"/>
              </a:defRPr>
            </a:lvl4pPr>
            <a:lvl5pPr lvl="4" rtl="0">
              <a:spcBef>
                <a:spcPts val="0"/>
              </a:spcBef>
              <a:spcAft>
                <a:spcPts val="0"/>
              </a:spcAft>
              <a:buSzPts val="2400"/>
              <a:buFont typeface="Anton"/>
              <a:buNone/>
              <a:defRPr sz="2400">
                <a:latin typeface="Anton"/>
                <a:ea typeface="Anton"/>
                <a:cs typeface="Anton"/>
                <a:sym typeface="Anton"/>
              </a:defRPr>
            </a:lvl5pPr>
            <a:lvl6pPr lvl="5" rtl="0">
              <a:spcBef>
                <a:spcPts val="0"/>
              </a:spcBef>
              <a:spcAft>
                <a:spcPts val="0"/>
              </a:spcAft>
              <a:buSzPts val="2400"/>
              <a:buFont typeface="Anton"/>
              <a:buNone/>
              <a:defRPr sz="2400">
                <a:latin typeface="Anton"/>
                <a:ea typeface="Anton"/>
                <a:cs typeface="Anton"/>
                <a:sym typeface="Anton"/>
              </a:defRPr>
            </a:lvl6pPr>
            <a:lvl7pPr lvl="6" rtl="0">
              <a:spcBef>
                <a:spcPts val="0"/>
              </a:spcBef>
              <a:spcAft>
                <a:spcPts val="0"/>
              </a:spcAft>
              <a:buSzPts val="2400"/>
              <a:buFont typeface="Anton"/>
              <a:buNone/>
              <a:defRPr sz="2400">
                <a:latin typeface="Anton"/>
                <a:ea typeface="Anton"/>
                <a:cs typeface="Anton"/>
                <a:sym typeface="Anton"/>
              </a:defRPr>
            </a:lvl7pPr>
            <a:lvl8pPr lvl="7" rtl="0">
              <a:spcBef>
                <a:spcPts val="0"/>
              </a:spcBef>
              <a:spcAft>
                <a:spcPts val="0"/>
              </a:spcAft>
              <a:buSzPts val="2400"/>
              <a:buFont typeface="Anton"/>
              <a:buNone/>
              <a:defRPr sz="2400">
                <a:latin typeface="Anton"/>
                <a:ea typeface="Anton"/>
                <a:cs typeface="Anton"/>
                <a:sym typeface="Anton"/>
              </a:defRPr>
            </a:lvl8pPr>
            <a:lvl9pPr lvl="8" rtl="0">
              <a:spcBef>
                <a:spcPts val="0"/>
              </a:spcBef>
              <a:spcAft>
                <a:spcPts val="0"/>
              </a:spcAft>
              <a:buSzPts val="2400"/>
              <a:buFont typeface="Anton"/>
              <a:buNone/>
              <a:defRPr sz="2400">
                <a:latin typeface="Anton"/>
                <a:ea typeface="Anton"/>
                <a:cs typeface="Anton"/>
                <a:sym typeface="Anton"/>
              </a:defRPr>
            </a:lvl9pPr>
          </a:lstStyle>
          <a:p>
            <a:endParaRPr/>
          </a:p>
        </p:txBody>
      </p:sp>
      <p:sp>
        <p:nvSpPr>
          <p:cNvPr id="557" name="Google Shape;557;p18"/>
          <p:cNvSpPr txBox="1">
            <a:spLocks noGrp="1"/>
          </p:cNvSpPr>
          <p:nvPr>
            <p:ph type="subTitle" idx="6"/>
          </p:nvPr>
        </p:nvSpPr>
        <p:spPr>
          <a:xfrm>
            <a:off x="4864900" y="3587825"/>
            <a:ext cx="1644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8" name="Google Shape;558;p18"/>
          <p:cNvSpPr txBox="1">
            <a:spLocks noGrp="1"/>
          </p:cNvSpPr>
          <p:nvPr>
            <p:ph type="subTitle" idx="7"/>
          </p:nvPr>
        </p:nvSpPr>
        <p:spPr>
          <a:xfrm>
            <a:off x="591250" y="3180850"/>
            <a:ext cx="2214900" cy="43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59" name="Google Shape;559;p18"/>
          <p:cNvSpPr txBox="1">
            <a:spLocks noGrp="1"/>
          </p:cNvSpPr>
          <p:nvPr>
            <p:ph type="subTitle" idx="8"/>
          </p:nvPr>
        </p:nvSpPr>
        <p:spPr>
          <a:xfrm>
            <a:off x="2585579" y="3180850"/>
            <a:ext cx="2214900" cy="43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60" name="Google Shape;560;p18"/>
          <p:cNvSpPr txBox="1">
            <a:spLocks noGrp="1"/>
          </p:cNvSpPr>
          <p:nvPr>
            <p:ph type="subTitle" idx="9"/>
          </p:nvPr>
        </p:nvSpPr>
        <p:spPr>
          <a:xfrm>
            <a:off x="4579909" y="3180850"/>
            <a:ext cx="2214900" cy="43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61" name="Google Shape;561;p18"/>
          <p:cNvSpPr txBox="1">
            <a:spLocks noGrp="1"/>
          </p:cNvSpPr>
          <p:nvPr>
            <p:ph type="subTitle" idx="13"/>
          </p:nvPr>
        </p:nvSpPr>
        <p:spPr>
          <a:xfrm>
            <a:off x="6734888" y="2647000"/>
            <a:ext cx="1893600" cy="50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Anton"/>
              <a:buNone/>
              <a:defRPr sz="2700">
                <a:latin typeface="Anton"/>
                <a:ea typeface="Anton"/>
                <a:cs typeface="Anton"/>
                <a:sym typeface="Anton"/>
              </a:defRPr>
            </a:lvl1pPr>
            <a:lvl2pPr lvl="1" rtl="0">
              <a:spcBef>
                <a:spcPts val="0"/>
              </a:spcBef>
              <a:spcAft>
                <a:spcPts val="0"/>
              </a:spcAft>
              <a:buSzPts val="2400"/>
              <a:buFont typeface="Anton"/>
              <a:buNone/>
              <a:defRPr sz="2400">
                <a:latin typeface="Anton"/>
                <a:ea typeface="Anton"/>
                <a:cs typeface="Anton"/>
                <a:sym typeface="Anton"/>
              </a:defRPr>
            </a:lvl2pPr>
            <a:lvl3pPr lvl="2" rtl="0">
              <a:spcBef>
                <a:spcPts val="0"/>
              </a:spcBef>
              <a:spcAft>
                <a:spcPts val="0"/>
              </a:spcAft>
              <a:buSzPts val="2400"/>
              <a:buFont typeface="Anton"/>
              <a:buNone/>
              <a:defRPr sz="2400">
                <a:latin typeface="Anton"/>
                <a:ea typeface="Anton"/>
                <a:cs typeface="Anton"/>
                <a:sym typeface="Anton"/>
              </a:defRPr>
            </a:lvl3pPr>
            <a:lvl4pPr lvl="3" rtl="0">
              <a:spcBef>
                <a:spcPts val="0"/>
              </a:spcBef>
              <a:spcAft>
                <a:spcPts val="0"/>
              </a:spcAft>
              <a:buSzPts val="2400"/>
              <a:buFont typeface="Anton"/>
              <a:buNone/>
              <a:defRPr sz="2400">
                <a:latin typeface="Anton"/>
                <a:ea typeface="Anton"/>
                <a:cs typeface="Anton"/>
                <a:sym typeface="Anton"/>
              </a:defRPr>
            </a:lvl4pPr>
            <a:lvl5pPr lvl="4" rtl="0">
              <a:spcBef>
                <a:spcPts val="0"/>
              </a:spcBef>
              <a:spcAft>
                <a:spcPts val="0"/>
              </a:spcAft>
              <a:buSzPts val="2400"/>
              <a:buFont typeface="Anton"/>
              <a:buNone/>
              <a:defRPr sz="2400">
                <a:latin typeface="Anton"/>
                <a:ea typeface="Anton"/>
                <a:cs typeface="Anton"/>
                <a:sym typeface="Anton"/>
              </a:defRPr>
            </a:lvl5pPr>
            <a:lvl6pPr lvl="5" rtl="0">
              <a:spcBef>
                <a:spcPts val="0"/>
              </a:spcBef>
              <a:spcAft>
                <a:spcPts val="0"/>
              </a:spcAft>
              <a:buSzPts val="2400"/>
              <a:buFont typeface="Anton"/>
              <a:buNone/>
              <a:defRPr sz="2400">
                <a:latin typeface="Anton"/>
                <a:ea typeface="Anton"/>
                <a:cs typeface="Anton"/>
                <a:sym typeface="Anton"/>
              </a:defRPr>
            </a:lvl6pPr>
            <a:lvl7pPr lvl="6" rtl="0">
              <a:spcBef>
                <a:spcPts val="0"/>
              </a:spcBef>
              <a:spcAft>
                <a:spcPts val="0"/>
              </a:spcAft>
              <a:buSzPts val="2400"/>
              <a:buFont typeface="Anton"/>
              <a:buNone/>
              <a:defRPr sz="2400">
                <a:latin typeface="Anton"/>
                <a:ea typeface="Anton"/>
                <a:cs typeface="Anton"/>
                <a:sym typeface="Anton"/>
              </a:defRPr>
            </a:lvl7pPr>
            <a:lvl8pPr lvl="7" rtl="0">
              <a:spcBef>
                <a:spcPts val="0"/>
              </a:spcBef>
              <a:spcAft>
                <a:spcPts val="0"/>
              </a:spcAft>
              <a:buSzPts val="2400"/>
              <a:buFont typeface="Anton"/>
              <a:buNone/>
              <a:defRPr sz="2400">
                <a:latin typeface="Anton"/>
                <a:ea typeface="Anton"/>
                <a:cs typeface="Anton"/>
                <a:sym typeface="Anton"/>
              </a:defRPr>
            </a:lvl8pPr>
            <a:lvl9pPr lvl="8" rtl="0">
              <a:spcBef>
                <a:spcPts val="0"/>
              </a:spcBef>
              <a:spcAft>
                <a:spcPts val="0"/>
              </a:spcAft>
              <a:buSzPts val="2400"/>
              <a:buFont typeface="Anton"/>
              <a:buNone/>
              <a:defRPr sz="2400">
                <a:latin typeface="Anton"/>
                <a:ea typeface="Anton"/>
                <a:cs typeface="Anton"/>
                <a:sym typeface="Anton"/>
              </a:defRPr>
            </a:lvl9pPr>
          </a:lstStyle>
          <a:p>
            <a:endParaRPr/>
          </a:p>
        </p:txBody>
      </p:sp>
      <p:sp>
        <p:nvSpPr>
          <p:cNvPr id="562" name="Google Shape;562;p18"/>
          <p:cNvSpPr txBox="1">
            <a:spLocks noGrp="1"/>
          </p:cNvSpPr>
          <p:nvPr>
            <p:ph type="subTitle" idx="14"/>
          </p:nvPr>
        </p:nvSpPr>
        <p:spPr>
          <a:xfrm>
            <a:off x="6859238" y="3587825"/>
            <a:ext cx="1644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63" name="Google Shape;563;p18"/>
          <p:cNvSpPr txBox="1">
            <a:spLocks noGrp="1"/>
          </p:cNvSpPr>
          <p:nvPr>
            <p:ph type="subTitle" idx="15"/>
          </p:nvPr>
        </p:nvSpPr>
        <p:spPr>
          <a:xfrm>
            <a:off x="6574238" y="3180850"/>
            <a:ext cx="2214900" cy="43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64" name="Google Shape;564;p1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mbers and text 1">
  <p:cSld name="CUSTOM_9_1">
    <p:bg>
      <p:bgPr>
        <a:gradFill>
          <a:gsLst>
            <a:gs pos="0">
              <a:schemeClr val="dk2"/>
            </a:gs>
            <a:gs pos="100000">
              <a:schemeClr val="lt2"/>
            </a:gs>
          </a:gsLst>
          <a:lin ang="5400700" scaled="0"/>
        </a:gradFill>
        <a:effectLst/>
      </p:bgPr>
    </p:bg>
    <p:spTree>
      <p:nvGrpSpPr>
        <p:cNvPr id="1" name="Shape 565"/>
        <p:cNvGrpSpPr/>
        <p:nvPr/>
      </p:nvGrpSpPr>
      <p:grpSpPr>
        <a:xfrm>
          <a:off x="0" y="0"/>
          <a:ext cx="0" cy="0"/>
          <a:chOff x="0" y="0"/>
          <a:chExt cx="0" cy="0"/>
        </a:xfrm>
      </p:grpSpPr>
      <p:sp>
        <p:nvSpPr>
          <p:cNvPr id="566" name="Google Shape;566;p19"/>
          <p:cNvSpPr txBox="1">
            <a:spLocks noGrp="1"/>
          </p:cNvSpPr>
          <p:nvPr>
            <p:ph type="title" hasCustomPrompt="1"/>
          </p:nvPr>
        </p:nvSpPr>
        <p:spPr>
          <a:xfrm>
            <a:off x="1763613" y="457800"/>
            <a:ext cx="5616900" cy="861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0000"/>
              <a:buNone/>
              <a:defRPr sz="5400">
                <a:solidFill>
                  <a:schemeClr val="dk1"/>
                </a:solidFill>
              </a:defRPr>
            </a:lvl1pPr>
            <a:lvl2pPr lvl="1" algn="ctr" rtl="0">
              <a:spcBef>
                <a:spcPts val="0"/>
              </a:spcBef>
              <a:spcAft>
                <a:spcPts val="0"/>
              </a:spcAft>
              <a:buSzPts val="11600"/>
              <a:buNone/>
              <a:defRPr sz="11600"/>
            </a:lvl2pPr>
            <a:lvl3pPr lvl="2" algn="ctr" rtl="0">
              <a:spcBef>
                <a:spcPts val="0"/>
              </a:spcBef>
              <a:spcAft>
                <a:spcPts val="0"/>
              </a:spcAft>
              <a:buSzPts val="11600"/>
              <a:buNone/>
              <a:defRPr sz="11600"/>
            </a:lvl3pPr>
            <a:lvl4pPr lvl="3" algn="ctr" rtl="0">
              <a:spcBef>
                <a:spcPts val="0"/>
              </a:spcBef>
              <a:spcAft>
                <a:spcPts val="0"/>
              </a:spcAft>
              <a:buSzPts val="11600"/>
              <a:buNone/>
              <a:defRPr sz="11600"/>
            </a:lvl4pPr>
            <a:lvl5pPr lvl="4" algn="ctr" rtl="0">
              <a:spcBef>
                <a:spcPts val="0"/>
              </a:spcBef>
              <a:spcAft>
                <a:spcPts val="0"/>
              </a:spcAft>
              <a:buSzPts val="11600"/>
              <a:buNone/>
              <a:defRPr sz="11600"/>
            </a:lvl5pPr>
            <a:lvl6pPr lvl="5" algn="ctr" rtl="0">
              <a:spcBef>
                <a:spcPts val="0"/>
              </a:spcBef>
              <a:spcAft>
                <a:spcPts val="0"/>
              </a:spcAft>
              <a:buSzPts val="11600"/>
              <a:buNone/>
              <a:defRPr sz="11600"/>
            </a:lvl6pPr>
            <a:lvl7pPr lvl="6" algn="ctr" rtl="0">
              <a:spcBef>
                <a:spcPts val="0"/>
              </a:spcBef>
              <a:spcAft>
                <a:spcPts val="0"/>
              </a:spcAft>
              <a:buSzPts val="11600"/>
              <a:buNone/>
              <a:defRPr sz="11600"/>
            </a:lvl7pPr>
            <a:lvl8pPr lvl="7" algn="ctr" rtl="0">
              <a:spcBef>
                <a:spcPts val="0"/>
              </a:spcBef>
              <a:spcAft>
                <a:spcPts val="0"/>
              </a:spcAft>
              <a:buSzPts val="11600"/>
              <a:buNone/>
              <a:defRPr sz="11600"/>
            </a:lvl8pPr>
            <a:lvl9pPr lvl="8" algn="ctr" rtl="0">
              <a:spcBef>
                <a:spcPts val="0"/>
              </a:spcBef>
              <a:spcAft>
                <a:spcPts val="0"/>
              </a:spcAft>
              <a:buSzPts val="11600"/>
              <a:buNone/>
              <a:defRPr sz="11600"/>
            </a:lvl9pPr>
          </a:lstStyle>
          <a:p>
            <a:r>
              <a:t>xx%</a:t>
            </a:r>
          </a:p>
        </p:txBody>
      </p:sp>
      <p:sp>
        <p:nvSpPr>
          <p:cNvPr id="567" name="Google Shape;567;p19"/>
          <p:cNvSpPr txBox="1">
            <a:spLocks noGrp="1"/>
          </p:cNvSpPr>
          <p:nvPr>
            <p:ph type="subTitle" idx="1"/>
          </p:nvPr>
        </p:nvSpPr>
        <p:spPr>
          <a:xfrm>
            <a:off x="2526000" y="1223675"/>
            <a:ext cx="4092000" cy="38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68" name="Google Shape;568;p19"/>
          <p:cNvSpPr txBox="1">
            <a:spLocks noGrp="1"/>
          </p:cNvSpPr>
          <p:nvPr>
            <p:ph type="title" idx="2" hasCustomPrompt="1"/>
          </p:nvPr>
        </p:nvSpPr>
        <p:spPr>
          <a:xfrm>
            <a:off x="1763488" y="1966563"/>
            <a:ext cx="5616900" cy="861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0000"/>
              <a:buNone/>
              <a:defRPr sz="5400">
                <a:solidFill>
                  <a:schemeClr val="dk1"/>
                </a:solidFill>
              </a:defRPr>
            </a:lvl1pPr>
            <a:lvl2pPr lvl="1" algn="ctr" rtl="0">
              <a:spcBef>
                <a:spcPts val="0"/>
              </a:spcBef>
              <a:spcAft>
                <a:spcPts val="0"/>
              </a:spcAft>
              <a:buSzPts val="11600"/>
              <a:buNone/>
              <a:defRPr sz="11600"/>
            </a:lvl2pPr>
            <a:lvl3pPr lvl="2" algn="ctr" rtl="0">
              <a:spcBef>
                <a:spcPts val="0"/>
              </a:spcBef>
              <a:spcAft>
                <a:spcPts val="0"/>
              </a:spcAft>
              <a:buSzPts val="11600"/>
              <a:buNone/>
              <a:defRPr sz="11600"/>
            </a:lvl3pPr>
            <a:lvl4pPr lvl="3" algn="ctr" rtl="0">
              <a:spcBef>
                <a:spcPts val="0"/>
              </a:spcBef>
              <a:spcAft>
                <a:spcPts val="0"/>
              </a:spcAft>
              <a:buSzPts val="11600"/>
              <a:buNone/>
              <a:defRPr sz="11600"/>
            </a:lvl4pPr>
            <a:lvl5pPr lvl="4" algn="ctr" rtl="0">
              <a:spcBef>
                <a:spcPts val="0"/>
              </a:spcBef>
              <a:spcAft>
                <a:spcPts val="0"/>
              </a:spcAft>
              <a:buSzPts val="11600"/>
              <a:buNone/>
              <a:defRPr sz="11600"/>
            </a:lvl5pPr>
            <a:lvl6pPr lvl="5" algn="ctr" rtl="0">
              <a:spcBef>
                <a:spcPts val="0"/>
              </a:spcBef>
              <a:spcAft>
                <a:spcPts val="0"/>
              </a:spcAft>
              <a:buSzPts val="11600"/>
              <a:buNone/>
              <a:defRPr sz="11600"/>
            </a:lvl6pPr>
            <a:lvl7pPr lvl="6" algn="ctr" rtl="0">
              <a:spcBef>
                <a:spcPts val="0"/>
              </a:spcBef>
              <a:spcAft>
                <a:spcPts val="0"/>
              </a:spcAft>
              <a:buSzPts val="11600"/>
              <a:buNone/>
              <a:defRPr sz="11600"/>
            </a:lvl7pPr>
            <a:lvl8pPr lvl="7" algn="ctr" rtl="0">
              <a:spcBef>
                <a:spcPts val="0"/>
              </a:spcBef>
              <a:spcAft>
                <a:spcPts val="0"/>
              </a:spcAft>
              <a:buSzPts val="11600"/>
              <a:buNone/>
              <a:defRPr sz="11600"/>
            </a:lvl8pPr>
            <a:lvl9pPr lvl="8" algn="ctr" rtl="0">
              <a:spcBef>
                <a:spcPts val="0"/>
              </a:spcBef>
              <a:spcAft>
                <a:spcPts val="0"/>
              </a:spcAft>
              <a:buSzPts val="11600"/>
              <a:buNone/>
              <a:defRPr sz="11600"/>
            </a:lvl9pPr>
          </a:lstStyle>
          <a:p>
            <a:r>
              <a:t>xx%</a:t>
            </a:r>
          </a:p>
        </p:txBody>
      </p:sp>
      <p:sp>
        <p:nvSpPr>
          <p:cNvPr id="569" name="Google Shape;569;p19"/>
          <p:cNvSpPr txBox="1">
            <a:spLocks noGrp="1"/>
          </p:cNvSpPr>
          <p:nvPr>
            <p:ph type="subTitle" idx="3"/>
          </p:nvPr>
        </p:nvSpPr>
        <p:spPr>
          <a:xfrm>
            <a:off x="2526000" y="2732438"/>
            <a:ext cx="4092000" cy="38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70" name="Google Shape;570;p19"/>
          <p:cNvSpPr txBox="1">
            <a:spLocks noGrp="1"/>
          </p:cNvSpPr>
          <p:nvPr>
            <p:ph type="title" idx="4" hasCustomPrompt="1"/>
          </p:nvPr>
        </p:nvSpPr>
        <p:spPr>
          <a:xfrm>
            <a:off x="1763613" y="3475325"/>
            <a:ext cx="5616900" cy="861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0000"/>
              <a:buNone/>
              <a:defRPr sz="5400">
                <a:solidFill>
                  <a:schemeClr val="dk1"/>
                </a:solidFill>
              </a:defRPr>
            </a:lvl1pPr>
            <a:lvl2pPr lvl="1" algn="ctr" rtl="0">
              <a:spcBef>
                <a:spcPts val="0"/>
              </a:spcBef>
              <a:spcAft>
                <a:spcPts val="0"/>
              </a:spcAft>
              <a:buSzPts val="11600"/>
              <a:buNone/>
              <a:defRPr sz="11600"/>
            </a:lvl2pPr>
            <a:lvl3pPr lvl="2" algn="ctr" rtl="0">
              <a:spcBef>
                <a:spcPts val="0"/>
              </a:spcBef>
              <a:spcAft>
                <a:spcPts val="0"/>
              </a:spcAft>
              <a:buSzPts val="11600"/>
              <a:buNone/>
              <a:defRPr sz="11600"/>
            </a:lvl3pPr>
            <a:lvl4pPr lvl="3" algn="ctr" rtl="0">
              <a:spcBef>
                <a:spcPts val="0"/>
              </a:spcBef>
              <a:spcAft>
                <a:spcPts val="0"/>
              </a:spcAft>
              <a:buSzPts val="11600"/>
              <a:buNone/>
              <a:defRPr sz="11600"/>
            </a:lvl4pPr>
            <a:lvl5pPr lvl="4" algn="ctr" rtl="0">
              <a:spcBef>
                <a:spcPts val="0"/>
              </a:spcBef>
              <a:spcAft>
                <a:spcPts val="0"/>
              </a:spcAft>
              <a:buSzPts val="11600"/>
              <a:buNone/>
              <a:defRPr sz="11600"/>
            </a:lvl5pPr>
            <a:lvl6pPr lvl="5" algn="ctr" rtl="0">
              <a:spcBef>
                <a:spcPts val="0"/>
              </a:spcBef>
              <a:spcAft>
                <a:spcPts val="0"/>
              </a:spcAft>
              <a:buSzPts val="11600"/>
              <a:buNone/>
              <a:defRPr sz="11600"/>
            </a:lvl6pPr>
            <a:lvl7pPr lvl="6" algn="ctr" rtl="0">
              <a:spcBef>
                <a:spcPts val="0"/>
              </a:spcBef>
              <a:spcAft>
                <a:spcPts val="0"/>
              </a:spcAft>
              <a:buSzPts val="11600"/>
              <a:buNone/>
              <a:defRPr sz="11600"/>
            </a:lvl7pPr>
            <a:lvl8pPr lvl="7" algn="ctr" rtl="0">
              <a:spcBef>
                <a:spcPts val="0"/>
              </a:spcBef>
              <a:spcAft>
                <a:spcPts val="0"/>
              </a:spcAft>
              <a:buSzPts val="11600"/>
              <a:buNone/>
              <a:defRPr sz="11600"/>
            </a:lvl8pPr>
            <a:lvl9pPr lvl="8" algn="ctr" rtl="0">
              <a:spcBef>
                <a:spcPts val="0"/>
              </a:spcBef>
              <a:spcAft>
                <a:spcPts val="0"/>
              </a:spcAft>
              <a:buSzPts val="11600"/>
              <a:buNone/>
              <a:defRPr sz="11600"/>
            </a:lvl9pPr>
          </a:lstStyle>
          <a:p>
            <a:r>
              <a:t>xx%</a:t>
            </a:r>
          </a:p>
        </p:txBody>
      </p:sp>
      <p:sp>
        <p:nvSpPr>
          <p:cNvPr id="571" name="Google Shape;571;p19"/>
          <p:cNvSpPr txBox="1">
            <a:spLocks noGrp="1"/>
          </p:cNvSpPr>
          <p:nvPr>
            <p:ph type="subTitle" idx="5"/>
          </p:nvPr>
        </p:nvSpPr>
        <p:spPr>
          <a:xfrm>
            <a:off x="2526000" y="4241200"/>
            <a:ext cx="4092000" cy="38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72" name="Google Shape;572;p19"/>
          <p:cNvSpPr/>
          <p:nvPr/>
        </p:nvSpPr>
        <p:spPr>
          <a:xfrm flipH="1">
            <a:off x="2410749" y="2554322"/>
            <a:ext cx="26641" cy="29978"/>
          </a:xfrm>
          <a:custGeom>
            <a:avLst/>
            <a:gdLst/>
            <a:ahLst/>
            <a:cxnLst/>
            <a:rect l="l" t="t" r="r" b="b"/>
            <a:pathLst>
              <a:path w="423" h="476" extrusionOk="0">
                <a:moveTo>
                  <a:pt x="1" y="1"/>
                </a:moveTo>
                <a:lnTo>
                  <a:pt x="1" y="475"/>
                </a:lnTo>
                <a:lnTo>
                  <a:pt x="277" y="475"/>
                </a:lnTo>
                <a:cubicBezTo>
                  <a:pt x="354" y="475"/>
                  <a:pt x="422" y="407"/>
                  <a:pt x="422" y="330"/>
                </a:cubicBezTo>
                <a:lnTo>
                  <a:pt x="422" y="1"/>
                </a:lnTo>
                <a:close/>
              </a:path>
            </a:pathLst>
          </a:custGeom>
          <a:solidFill>
            <a:srgbClr val="132B5F">
              <a:alpha val="28000"/>
            </a:srgbClr>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3" name="Google Shape;573;p19"/>
          <p:cNvSpPr/>
          <p:nvPr/>
        </p:nvSpPr>
        <p:spPr>
          <a:xfrm>
            <a:off x="9067886" y="488492"/>
            <a:ext cx="5223" cy="36560"/>
          </a:xfrm>
          <a:custGeom>
            <a:avLst/>
            <a:gdLst/>
            <a:ahLst/>
            <a:cxnLst/>
            <a:rect l="l" t="t" r="r" b="b"/>
            <a:pathLst>
              <a:path w="32" h="224" extrusionOk="0">
                <a:moveTo>
                  <a:pt x="32" y="0"/>
                </a:moveTo>
                <a:cubicBezTo>
                  <a:pt x="9" y="45"/>
                  <a:pt x="0" y="90"/>
                  <a:pt x="0" y="121"/>
                </a:cubicBezTo>
                <a:cubicBezTo>
                  <a:pt x="0" y="161"/>
                  <a:pt x="9" y="192"/>
                  <a:pt x="32" y="224"/>
                </a:cubicBezTo>
                <a:lnTo>
                  <a:pt x="32" y="0"/>
                </a:lnTo>
                <a:close/>
              </a:path>
            </a:pathLst>
          </a:custGeom>
          <a:solidFill>
            <a:srgbClr val="0606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74" name="Google Shape;574;p19"/>
          <p:cNvSpPr/>
          <p:nvPr/>
        </p:nvSpPr>
        <p:spPr>
          <a:xfrm>
            <a:off x="8450067" y="840453"/>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9"/>
          <p:cNvSpPr/>
          <p:nvPr/>
        </p:nvSpPr>
        <p:spPr>
          <a:xfrm>
            <a:off x="7590046" y="4501660"/>
            <a:ext cx="880538" cy="74096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9"/>
          <p:cNvSpPr/>
          <p:nvPr/>
        </p:nvSpPr>
        <p:spPr>
          <a:xfrm rot="-929517">
            <a:off x="8452558" y="4481710"/>
            <a:ext cx="697261" cy="780876"/>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9"/>
          <p:cNvSpPr/>
          <p:nvPr/>
        </p:nvSpPr>
        <p:spPr>
          <a:xfrm>
            <a:off x="8342679" y="-184839"/>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9"/>
          <p:cNvSpPr/>
          <p:nvPr/>
        </p:nvSpPr>
        <p:spPr>
          <a:xfrm>
            <a:off x="32298" y="-22878"/>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9"/>
          <p:cNvSpPr/>
          <p:nvPr/>
        </p:nvSpPr>
        <p:spPr>
          <a:xfrm>
            <a:off x="-63806" y="3614958"/>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9"/>
          <p:cNvSpPr/>
          <p:nvPr/>
        </p:nvSpPr>
        <p:spPr>
          <a:xfrm>
            <a:off x="-25300" y="446184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9"/>
          <p:cNvSpPr/>
          <p:nvPr/>
        </p:nvSpPr>
        <p:spPr>
          <a:xfrm>
            <a:off x="-18106" y="-22898"/>
            <a:ext cx="702217" cy="2975656"/>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2" name="Google Shape;582;p19"/>
          <p:cNvGrpSpPr/>
          <p:nvPr/>
        </p:nvGrpSpPr>
        <p:grpSpPr>
          <a:xfrm>
            <a:off x="-1081493" y="-1126448"/>
            <a:ext cx="2274300" cy="2274300"/>
            <a:chOff x="-1087568" y="-1126448"/>
            <a:chExt cx="2274300" cy="2274300"/>
          </a:xfrm>
        </p:grpSpPr>
        <p:sp>
          <p:nvSpPr>
            <p:cNvPr id="583" name="Google Shape;583;p19"/>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9"/>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9"/>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9"/>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7" name="Google Shape;587;p19"/>
          <p:cNvGrpSpPr/>
          <p:nvPr/>
        </p:nvGrpSpPr>
        <p:grpSpPr>
          <a:xfrm>
            <a:off x="8006457" y="4004977"/>
            <a:ext cx="2274300" cy="2274300"/>
            <a:chOff x="-1087568" y="-1126448"/>
            <a:chExt cx="2274300" cy="2274300"/>
          </a:xfrm>
        </p:grpSpPr>
        <p:sp>
          <p:nvSpPr>
            <p:cNvPr id="588" name="Google Shape;588;p19"/>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9"/>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9"/>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9"/>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2" name="Google Shape;592;p19"/>
          <p:cNvSpPr/>
          <p:nvPr/>
        </p:nvSpPr>
        <p:spPr>
          <a:xfrm>
            <a:off x="776050" y="6584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9"/>
          <p:cNvSpPr/>
          <p:nvPr/>
        </p:nvSpPr>
        <p:spPr>
          <a:xfrm>
            <a:off x="8880475"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9"/>
          <p:cNvSpPr/>
          <p:nvPr/>
        </p:nvSpPr>
        <p:spPr>
          <a:xfrm>
            <a:off x="8521725" y="158261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9"/>
          <p:cNvSpPr/>
          <p:nvPr/>
        </p:nvSpPr>
        <p:spPr>
          <a:xfrm>
            <a:off x="303000" y="2107750"/>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9"/>
          <p:cNvSpPr/>
          <p:nvPr/>
        </p:nvSpPr>
        <p:spPr>
          <a:xfrm>
            <a:off x="448175"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9"/>
          <p:cNvSpPr/>
          <p:nvPr/>
        </p:nvSpPr>
        <p:spPr>
          <a:xfrm>
            <a:off x="8705813" y="2358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9"/>
          <p:cNvSpPr/>
          <p:nvPr/>
        </p:nvSpPr>
        <p:spPr>
          <a:xfrm>
            <a:off x="1063675" y="12621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9"/>
          <p:cNvSpPr/>
          <p:nvPr/>
        </p:nvSpPr>
        <p:spPr>
          <a:xfrm>
            <a:off x="8430249"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9"/>
          <p:cNvSpPr/>
          <p:nvPr/>
        </p:nvSpPr>
        <p:spPr>
          <a:xfrm>
            <a:off x="8614400" y="34465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9"/>
          <p:cNvSpPr/>
          <p:nvPr/>
        </p:nvSpPr>
        <p:spPr>
          <a:xfrm>
            <a:off x="8926813"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9"/>
          <p:cNvSpPr/>
          <p:nvPr/>
        </p:nvSpPr>
        <p:spPr>
          <a:xfrm>
            <a:off x="84938" y="380153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9"/>
          <p:cNvSpPr/>
          <p:nvPr/>
        </p:nvSpPr>
        <p:spPr>
          <a:xfrm>
            <a:off x="1773048" y="4792508"/>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9"/>
          <p:cNvSpPr/>
          <p:nvPr/>
        </p:nvSpPr>
        <p:spPr>
          <a:xfrm>
            <a:off x="266036" y="186208"/>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1">
  <p:cSld name="CUSTOM_1">
    <p:bg>
      <p:bgPr>
        <a:gradFill>
          <a:gsLst>
            <a:gs pos="0">
              <a:schemeClr val="dk2"/>
            </a:gs>
            <a:gs pos="100000">
              <a:schemeClr val="lt2"/>
            </a:gs>
          </a:gsLst>
          <a:lin ang="5400700" scaled="0"/>
        </a:gradFill>
        <a:effectLst/>
      </p:bgPr>
    </p:bg>
    <p:spTree>
      <p:nvGrpSpPr>
        <p:cNvPr id="1" name="Shape 606"/>
        <p:cNvGrpSpPr/>
        <p:nvPr/>
      </p:nvGrpSpPr>
      <p:grpSpPr>
        <a:xfrm>
          <a:off x="0" y="0"/>
          <a:ext cx="0" cy="0"/>
          <a:chOff x="0" y="0"/>
          <a:chExt cx="0" cy="0"/>
        </a:xfrm>
      </p:grpSpPr>
      <p:sp>
        <p:nvSpPr>
          <p:cNvPr id="607" name="Google Shape;607;p20"/>
          <p:cNvSpPr txBox="1">
            <a:spLocks noGrp="1"/>
          </p:cNvSpPr>
          <p:nvPr>
            <p:ph type="title"/>
          </p:nvPr>
        </p:nvSpPr>
        <p:spPr>
          <a:xfrm>
            <a:off x="716850" y="454825"/>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08" name="Google Shape;608;p20"/>
          <p:cNvSpPr/>
          <p:nvPr/>
        </p:nvSpPr>
        <p:spPr>
          <a:xfrm rot="10800000">
            <a:off x="133083" y="3587971"/>
            <a:ext cx="724400" cy="2011700"/>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0"/>
          <p:cNvSpPr/>
          <p:nvPr/>
        </p:nvSpPr>
        <p:spPr>
          <a:xfrm rot="10800000">
            <a:off x="479790" y="-77462"/>
            <a:ext cx="733868" cy="617521"/>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0"/>
          <p:cNvSpPr/>
          <p:nvPr/>
        </p:nvSpPr>
        <p:spPr>
          <a:xfrm rot="10800000">
            <a:off x="-37434" y="2735"/>
            <a:ext cx="1018707" cy="5143387"/>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0"/>
          <p:cNvSpPr/>
          <p:nvPr/>
        </p:nvSpPr>
        <p:spPr>
          <a:xfrm rot="9870421">
            <a:off x="89918" y="-98755"/>
            <a:ext cx="581152" cy="650799"/>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0"/>
          <p:cNvSpPr/>
          <p:nvPr/>
        </p:nvSpPr>
        <p:spPr>
          <a:xfrm rot="10800000">
            <a:off x="-49750" y="4167587"/>
            <a:ext cx="451908" cy="1037534"/>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0"/>
          <p:cNvSpPr/>
          <p:nvPr/>
        </p:nvSpPr>
        <p:spPr>
          <a:xfrm flipH="1">
            <a:off x="78863"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0"/>
          <p:cNvSpPr/>
          <p:nvPr/>
        </p:nvSpPr>
        <p:spPr>
          <a:xfrm flipH="1">
            <a:off x="402150" y="12413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0"/>
          <p:cNvSpPr/>
          <p:nvPr/>
        </p:nvSpPr>
        <p:spPr>
          <a:xfrm flipH="1">
            <a:off x="562260"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0"/>
          <p:cNvSpPr/>
          <p:nvPr/>
        </p:nvSpPr>
        <p:spPr>
          <a:xfrm flipH="1">
            <a:off x="125199"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0"/>
          <p:cNvSpPr/>
          <p:nvPr/>
        </p:nvSpPr>
        <p:spPr>
          <a:xfrm flipH="1">
            <a:off x="1629421"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0"/>
          <p:cNvSpPr/>
          <p:nvPr/>
        </p:nvSpPr>
        <p:spPr>
          <a:xfrm>
            <a:off x="8187706" y="-580875"/>
            <a:ext cx="724400" cy="2011700"/>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0"/>
          <p:cNvSpPr/>
          <p:nvPr/>
        </p:nvSpPr>
        <p:spPr>
          <a:xfrm>
            <a:off x="7726931" y="4647937"/>
            <a:ext cx="733868" cy="617521"/>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0"/>
          <p:cNvSpPr/>
          <p:nvPr/>
        </p:nvSpPr>
        <p:spPr>
          <a:xfrm>
            <a:off x="8119617" y="-11350"/>
            <a:ext cx="1018707" cy="5143387"/>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0"/>
          <p:cNvSpPr/>
          <p:nvPr/>
        </p:nvSpPr>
        <p:spPr>
          <a:xfrm rot="-929579">
            <a:off x="8429819" y="4582728"/>
            <a:ext cx="581152" cy="650799"/>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0"/>
          <p:cNvSpPr/>
          <p:nvPr/>
        </p:nvSpPr>
        <p:spPr>
          <a:xfrm>
            <a:off x="8698731" y="-70350"/>
            <a:ext cx="451908" cy="1037534"/>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0"/>
          <p:cNvSpPr/>
          <p:nvPr/>
        </p:nvSpPr>
        <p:spPr>
          <a:xfrm rot="10800000" flipH="1">
            <a:off x="8869327" y="1012084"/>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0"/>
          <p:cNvSpPr/>
          <p:nvPr/>
        </p:nvSpPr>
        <p:spPr>
          <a:xfrm rot="10800000" flipH="1">
            <a:off x="8507989" y="3640721"/>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0"/>
          <p:cNvSpPr/>
          <p:nvPr/>
        </p:nvSpPr>
        <p:spPr>
          <a:xfrm rot="10800000" flipH="1">
            <a:off x="8915664" y="4362734"/>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0"/>
          <p:cNvSpPr/>
          <p:nvPr/>
        </p:nvSpPr>
        <p:spPr>
          <a:xfrm rot="10800000" flipH="1">
            <a:off x="8456275" y="518598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2">
  <p:cSld name="CUSTOM_2">
    <p:bg>
      <p:bgPr>
        <a:gradFill>
          <a:gsLst>
            <a:gs pos="0">
              <a:schemeClr val="dk2"/>
            </a:gs>
            <a:gs pos="100000">
              <a:schemeClr val="lt2"/>
            </a:gs>
          </a:gsLst>
          <a:lin ang="16200038" scaled="0"/>
        </a:gradFill>
        <a:effectLst/>
      </p:bgPr>
    </p:bg>
    <p:spTree>
      <p:nvGrpSpPr>
        <p:cNvPr id="1" name="Shape 628"/>
        <p:cNvGrpSpPr/>
        <p:nvPr/>
      </p:nvGrpSpPr>
      <p:grpSpPr>
        <a:xfrm>
          <a:off x="0" y="0"/>
          <a:ext cx="0" cy="0"/>
          <a:chOff x="0" y="0"/>
          <a:chExt cx="0" cy="0"/>
        </a:xfrm>
      </p:grpSpPr>
      <p:sp>
        <p:nvSpPr>
          <p:cNvPr id="629" name="Google Shape;629;p21"/>
          <p:cNvSpPr txBox="1">
            <a:spLocks noGrp="1"/>
          </p:cNvSpPr>
          <p:nvPr>
            <p:ph type="title"/>
          </p:nvPr>
        </p:nvSpPr>
        <p:spPr>
          <a:xfrm>
            <a:off x="716800" y="455700"/>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30" name="Google Shape;630;p21"/>
          <p:cNvSpPr/>
          <p:nvPr/>
        </p:nvSpPr>
        <p:spPr>
          <a:xfrm flipH="1">
            <a:off x="71330" y="488492"/>
            <a:ext cx="5223" cy="36560"/>
          </a:xfrm>
          <a:custGeom>
            <a:avLst/>
            <a:gdLst/>
            <a:ahLst/>
            <a:cxnLst/>
            <a:rect l="l" t="t" r="r" b="b"/>
            <a:pathLst>
              <a:path w="32" h="224" extrusionOk="0">
                <a:moveTo>
                  <a:pt x="32" y="0"/>
                </a:moveTo>
                <a:cubicBezTo>
                  <a:pt x="9" y="45"/>
                  <a:pt x="0" y="90"/>
                  <a:pt x="0" y="121"/>
                </a:cubicBezTo>
                <a:cubicBezTo>
                  <a:pt x="0" y="161"/>
                  <a:pt x="9" y="192"/>
                  <a:pt x="32" y="224"/>
                </a:cubicBezTo>
                <a:lnTo>
                  <a:pt x="32" y="0"/>
                </a:lnTo>
                <a:close/>
              </a:path>
            </a:pathLst>
          </a:custGeom>
          <a:solidFill>
            <a:srgbClr val="0606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31" name="Google Shape;631;p21"/>
          <p:cNvSpPr/>
          <p:nvPr/>
        </p:nvSpPr>
        <p:spPr>
          <a:xfrm flipH="1">
            <a:off x="-7861" y="840453"/>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1"/>
          <p:cNvSpPr/>
          <p:nvPr/>
        </p:nvSpPr>
        <p:spPr>
          <a:xfrm flipH="1">
            <a:off x="673855" y="4501660"/>
            <a:ext cx="880538" cy="74096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1"/>
          <p:cNvSpPr/>
          <p:nvPr/>
        </p:nvSpPr>
        <p:spPr>
          <a:xfrm rot="929517" flipH="1">
            <a:off x="-5379" y="4481710"/>
            <a:ext cx="697261" cy="780876"/>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1"/>
          <p:cNvSpPr/>
          <p:nvPr/>
        </p:nvSpPr>
        <p:spPr>
          <a:xfrm flipH="1">
            <a:off x="-5637" y="-184839"/>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1"/>
          <p:cNvSpPr/>
          <p:nvPr/>
        </p:nvSpPr>
        <p:spPr>
          <a:xfrm flipH="1">
            <a:off x="8438476" y="-22878"/>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1"/>
          <p:cNvSpPr/>
          <p:nvPr/>
        </p:nvSpPr>
        <p:spPr>
          <a:xfrm flipH="1">
            <a:off x="8636234" y="3614958"/>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1"/>
          <p:cNvSpPr/>
          <p:nvPr/>
        </p:nvSpPr>
        <p:spPr>
          <a:xfrm flipH="1">
            <a:off x="8467543" y="446184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1"/>
          <p:cNvSpPr/>
          <p:nvPr/>
        </p:nvSpPr>
        <p:spPr>
          <a:xfrm flipH="1">
            <a:off x="8460328" y="-22898"/>
            <a:ext cx="702217" cy="2975656"/>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9" name="Google Shape;639;p21"/>
          <p:cNvGrpSpPr/>
          <p:nvPr/>
        </p:nvGrpSpPr>
        <p:grpSpPr>
          <a:xfrm flipH="1">
            <a:off x="7951632" y="-1126448"/>
            <a:ext cx="2274300" cy="2274300"/>
            <a:chOff x="-1087568" y="-1126448"/>
            <a:chExt cx="2274300" cy="2274300"/>
          </a:xfrm>
        </p:grpSpPr>
        <p:sp>
          <p:nvSpPr>
            <p:cNvPr id="640" name="Google Shape;640;p21"/>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1"/>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1"/>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1"/>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 name="Google Shape;644;p21"/>
          <p:cNvGrpSpPr/>
          <p:nvPr/>
        </p:nvGrpSpPr>
        <p:grpSpPr>
          <a:xfrm flipH="1">
            <a:off x="-1136318" y="4004977"/>
            <a:ext cx="2274300" cy="2274300"/>
            <a:chOff x="-1087568" y="-1126448"/>
            <a:chExt cx="2274300" cy="2274300"/>
          </a:xfrm>
        </p:grpSpPr>
        <p:sp>
          <p:nvSpPr>
            <p:cNvPr id="645" name="Google Shape;645;p21"/>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1"/>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1"/>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1"/>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9" name="Google Shape;649;p21"/>
          <p:cNvSpPr/>
          <p:nvPr/>
        </p:nvSpPr>
        <p:spPr>
          <a:xfrm flipH="1">
            <a:off x="8092314" y="1465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1"/>
          <p:cNvSpPr/>
          <p:nvPr/>
        </p:nvSpPr>
        <p:spPr>
          <a:xfrm flipH="1">
            <a:off x="111264"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1"/>
          <p:cNvSpPr/>
          <p:nvPr/>
        </p:nvSpPr>
        <p:spPr>
          <a:xfrm flipH="1">
            <a:off x="470014" y="158261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1"/>
          <p:cNvSpPr/>
          <p:nvPr/>
        </p:nvSpPr>
        <p:spPr>
          <a:xfrm flipH="1">
            <a:off x="8781413" y="2107750"/>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1"/>
          <p:cNvSpPr/>
          <p:nvPr/>
        </p:nvSpPr>
        <p:spPr>
          <a:xfrm flipH="1">
            <a:off x="8636238"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1"/>
          <p:cNvSpPr/>
          <p:nvPr/>
        </p:nvSpPr>
        <p:spPr>
          <a:xfrm flipH="1">
            <a:off x="247877" y="2358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1"/>
          <p:cNvSpPr/>
          <p:nvPr/>
        </p:nvSpPr>
        <p:spPr>
          <a:xfrm flipH="1">
            <a:off x="8953138" y="17581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1"/>
          <p:cNvSpPr/>
          <p:nvPr/>
        </p:nvSpPr>
        <p:spPr>
          <a:xfrm flipH="1">
            <a:off x="594661"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1"/>
          <p:cNvSpPr/>
          <p:nvPr/>
        </p:nvSpPr>
        <p:spPr>
          <a:xfrm flipH="1">
            <a:off x="470013" y="34465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1"/>
          <p:cNvSpPr/>
          <p:nvPr/>
        </p:nvSpPr>
        <p:spPr>
          <a:xfrm flipH="1">
            <a:off x="157601"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1"/>
          <p:cNvSpPr/>
          <p:nvPr/>
        </p:nvSpPr>
        <p:spPr>
          <a:xfrm flipH="1">
            <a:off x="8906802" y="380153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1"/>
          <p:cNvSpPr/>
          <p:nvPr/>
        </p:nvSpPr>
        <p:spPr>
          <a:xfrm flipH="1">
            <a:off x="7251873" y="4792508"/>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1"/>
          <p:cNvSpPr/>
          <p:nvPr/>
        </p:nvSpPr>
        <p:spPr>
          <a:xfrm flipH="1">
            <a:off x="1661823"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p:cSld name="CUSTOM_12">
    <p:bg>
      <p:bgPr>
        <a:gradFill>
          <a:gsLst>
            <a:gs pos="0">
              <a:schemeClr val="dk2"/>
            </a:gs>
            <a:gs pos="100000">
              <a:schemeClr val="lt2"/>
            </a:gs>
          </a:gsLst>
          <a:lin ang="5400700" scaled="0"/>
        </a:gradFill>
        <a:effectLst/>
      </p:bgPr>
    </p:bg>
    <p:spTree>
      <p:nvGrpSpPr>
        <p:cNvPr id="1" name="Shape 663"/>
        <p:cNvGrpSpPr/>
        <p:nvPr/>
      </p:nvGrpSpPr>
      <p:grpSpPr>
        <a:xfrm>
          <a:off x="0" y="0"/>
          <a:ext cx="0" cy="0"/>
          <a:chOff x="0" y="0"/>
          <a:chExt cx="0" cy="0"/>
        </a:xfrm>
      </p:grpSpPr>
      <p:sp>
        <p:nvSpPr>
          <p:cNvPr id="664" name="Google Shape;664;p22"/>
          <p:cNvSpPr txBox="1">
            <a:spLocks noGrp="1"/>
          </p:cNvSpPr>
          <p:nvPr>
            <p:ph type="title"/>
          </p:nvPr>
        </p:nvSpPr>
        <p:spPr>
          <a:xfrm>
            <a:off x="719813" y="1500625"/>
            <a:ext cx="3775800" cy="10929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3600"/>
              <a:buNone/>
              <a:defRPr sz="10000">
                <a:solidFill>
                  <a:schemeClr val="dk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65" name="Google Shape;665;p22"/>
          <p:cNvSpPr txBox="1">
            <a:spLocks noGrp="1"/>
          </p:cNvSpPr>
          <p:nvPr>
            <p:ph type="subTitle" idx="1"/>
          </p:nvPr>
        </p:nvSpPr>
        <p:spPr>
          <a:xfrm>
            <a:off x="719813" y="2716475"/>
            <a:ext cx="3775800" cy="92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grpSp>
        <p:nvGrpSpPr>
          <p:cNvPr id="666" name="Google Shape;666;p22"/>
          <p:cNvGrpSpPr/>
          <p:nvPr/>
        </p:nvGrpSpPr>
        <p:grpSpPr>
          <a:xfrm>
            <a:off x="4912443" y="1017517"/>
            <a:ext cx="5839715" cy="5839715"/>
            <a:chOff x="-3791416" y="-1218645"/>
            <a:chExt cx="7569300" cy="7569300"/>
          </a:xfrm>
        </p:grpSpPr>
        <p:sp>
          <p:nvSpPr>
            <p:cNvPr id="667" name="Google Shape;667;p22"/>
            <p:cNvSpPr/>
            <p:nvPr/>
          </p:nvSpPr>
          <p:spPr>
            <a:xfrm>
              <a:off x="-1542462" y="1030300"/>
              <a:ext cx="3071400" cy="30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2"/>
            <p:cNvSpPr/>
            <p:nvPr/>
          </p:nvSpPr>
          <p:spPr>
            <a:xfrm>
              <a:off x="-1972812" y="599950"/>
              <a:ext cx="3932100" cy="3932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2"/>
            <p:cNvSpPr/>
            <p:nvPr/>
          </p:nvSpPr>
          <p:spPr>
            <a:xfrm>
              <a:off x="-2270712" y="302050"/>
              <a:ext cx="4527900" cy="4527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2"/>
            <p:cNvSpPr/>
            <p:nvPr/>
          </p:nvSpPr>
          <p:spPr>
            <a:xfrm>
              <a:off x="-2973462" y="-400700"/>
              <a:ext cx="5933400" cy="593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2"/>
            <p:cNvSpPr/>
            <p:nvPr/>
          </p:nvSpPr>
          <p:spPr>
            <a:xfrm>
              <a:off x="-3791416" y="-1218645"/>
              <a:ext cx="7569300" cy="7569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2" name="Google Shape;672;p22"/>
          <p:cNvSpPr/>
          <p:nvPr/>
        </p:nvSpPr>
        <p:spPr>
          <a:xfrm>
            <a:off x="26223" y="-22878"/>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2"/>
          <p:cNvSpPr/>
          <p:nvPr/>
        </p:nvSpPr>
        <p:spPr>
          <a:xfrm>
            <a:off x="-69881" y="3614958"/>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2"/>
          <p:cNvSpPr/>
          <p:nvPr/>
        </p:nvSpPr>
        <p:spPr>
          <a:xfrm>
            <a:off x="-31375" y="446184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2"/>
          <p:cNvSpPr/>
          <p:nvPr/>
        </p:nvSpPr>
        <p:spPr>
          <a:xfrm>
            <a:off x="-24181" y="-22898"/>
            <a:ext cx="702217" cy="2975656"/>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2"/>
          <p:cNvSpPr/>
          <p:nvPr/>
        </p:nvSpPr>
        <p:spPr>
          <a:xfrm>
            <a:off x="284538" y="2109475"/>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2"/>
          <p:cNvSpPr/>
          <p:nvPr/>
        </p:nvSpPr>
        <p:spPr>
          <a:xfrm>
            <a:off x="4827850" y="3835650"/>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2"/>
          <p:cNvSpPr/>
          <p:nvPr/>
        </p:nvSpPr>
        <p:spPr>
          <a:xfrm>
            <a:off x="575663" y="4402838"/>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2"/>
          <p:cNvSpPr/>
          <p:nvPr/>
        </p:nvSpPr>
        <p:spPr>
          <a:xfrm>
            <a:off x="442100"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2"/>
          <p:cNvSpPr/>
          <p:nvPr/>
        </p:nvSpPr>
        <p:spPr>
          <a:xfrm>
            <a:off x="8519163" y="1649675"/>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2"/>
          <p:cNvSpPr/>
          <p:nvPr/>
        </p:nvSpPr>
        <p:spPr>
          <a:xfrm>
            <a:off x="284550" y="285425"/>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2"/>
          <p:cNvSpPr/>
          <p:nvPr/>
        </p:nvSpPr>
        <p:spPr>
          <a:xfrm>
            <a:off x="5572099" y="45341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2"/>
          <p:cNvSpPr/>
          <p:nvPr/>
        </p:nvSpPr>
        <p:spPr>
          <a:xfrm>
            <a:off x="8835413" y="76081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2"/>
          <p:cNvSpPr/>
          <p:nvPr/>
        </p:nvSpPr>
        <p:spPr>
          <a:xfrm>
            <a:off x="8598538" y="46535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2"/>
          <p:cNvSpPr/>
          <p:nvPr/>
        </p:nvSpPr>
        <p:spPr>
          <a:xfrm>
            <a:off x="2553123" y="48146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2"/>
          <p:cNvSpPr/>
          <p:nvPr/>
        </p:nvSpPr>
        <p:spPr>
          <a:xfrm>
            <a:off x="7101073" y="2357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2"/>
          <p:cNvSpPr/>
          <p:nvPr/>
        </p:nvSpPr>
        <p:spPr>
          <a:xfrm>
            <a:off x="744473"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2"/>
          <p:cNvSpPr/>
          <p:nvPr/>
        </p:nvSpPr>
        <p:spPr>
          <a:xfrm>
            <a:off x="6794225" y="15006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1">
  <p:cSld name="CUSTOM_5">
    <p:bg>
      <p:bgPr>
        <a:gradFill>
          <a:gsLst>
            <a:gs pos="0">
              <a:schemeClr val="dk2"/>
            </a:gs>
            <a:gs pos="100000">
              <a:schemeClr val="lt2"/>
            </a:gs>
          </a:gsLst>
          <a:lin ang="10800025" scaled="0"/>
        </a:gradFill>
        <a:effectLst/>
      </p:bgPr>
    </p:bg>
    <p:spTree>
      <p:nvGrpSpPr>
        <p:cNvPr id="1" name="Shape 690"/>
        <p:cNvGrpSpPr/>
        <p:nvPr/>
      </p:nvGrpSpPr>
      <p:grpSpPr>
        <a:xfrm>
          <a:off x="0" y="0"/>
          <a:ext cx="0" cy="0"/>
          <a:chOff x="0" y="0"/>
          <a:chExt cx="0" cy="0"/>
        </a:xfrm>
      </p:grpSpPr>
      <p:sp>
        <p:nvSpPr>
          <p:cNvPr id="691" name="Google Shape;691;p23"/>
          <p:cNvSpPr txBox="1">
            <a:spLocks noGrp="1"/>
          </p:cNvSpPr>
          <p:nvPr>
            <p:ph type="subTitle" idx="1"/>
          </p:nvPr>
        </p:nvSpPr>
        <p:spPr>
          <a:xfrm>
            <a:off x="4519650" y="2827025"/>
            <a:ext cx="3850800" cy="86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2" name="Google Shape;692;p23"/>
          <p:cNvSpPr txBox="1">
            <a:spLocks noGrp="1"/>
          </p:cNvSpPr>
          <p:nvPr>
            <p:ph type="title"/>
          </p:nvPr>
        </p:nvSpPr>
        <p:spPr>
          <a:xfrm>
            <a:off x="4519650" y="1451375"/>
            <a:ext cx="3850800" cy="1476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93" name="Google Shape;693;p23"/>
          <p:cNvSpPr/>
          <p:nvPr/>
        </p:nvSpPr>
        <p:spPr>
          <a:xfrm rot="-4481061" flipH="1">
            <a:off x="7004838" y="4045970"/>
            <a:ext cx="1042639" cy="877340"/>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3"/>
          <p:cNvSpPr/>
          <p:nvPr/>
        </p:nvSpPr>
        <p:spPr>
          <a:xfrm rot="-5400000" flipH="1">
            <a:off x="3626412" y="-18397"/>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3"/>
          <p:cNvSpPr/>
          <p:nvPr/>
        </p:nvSpPr>
        <p:spPr>
          <a:xfrm rot="-4470473" flipH="1">
            <a:off x="8263034" y="4243067"/>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3"/>
          <p:cNvSpPr/>
          <p:nvPr/>
        </p:nvSpPr>
        <p:spPr>
          <a:xfrm rot="-5400000" flipH="1">
            <a:off x="302839" y="3804984"/>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3"/>
          <p:cNvSpPr/>
          <p:nvPr/>
        </p:nvSpPr>
        <p:spPr>
          <a:xfrm rot="8584896" flipH="1">
            <a:off x="8435376" y="3502897"/>
            <a:ext cx="1019032" cy="857452"/>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3"/>
          <p:cNvSpPr/>
          <p:nvPr/>
        </p:nvSpPr>
        <p:spPr>
          <a:xfrm rot="-1239319" flipH="1">
            <a:off x="2314915" y="4610694"/>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3"/>
          <p:cNvSpPr/>
          <p:nvPr/>
        </p:nvSpPr>
        <p:spPr>
          <a:xfrm>
            <a:off x="8328800" y="4195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3"/>
          <p:cNvSpPr/>
          <p:nvPr/>
        </p:nvSpPr>
        <p:spPr>
          <a:xfrm>
            <a:off x="8885124" y="4490975"/>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3"/>
          <p:cNvSpPr/>
          <p:nvPr/>
        </p:nvSpPr>
        <p:spPr>
          <a:xfrm>
            <a:off x="8801936" y="109894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3"/>
          <p:cNvSpPr/>
          <p:nvPr/>
        </p:nvSpPr>
        <p:spPr>
          <a:xfrm>
            <a:off x="616147" y="466213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3"/>
          <p:cNvSpPr/>
          <p:nvPr/>
        </p:nvSpPr>
        <p:spPr>
          <a:xfrm>
            <a:off x="253287" y="268938"/>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3"/>
          <p:cNvSpPr/>
          <p:nvPr/>
        </p:nvSpPr>
        <p:spPr>
          <a:xfrm>
            <a:off x="8370461" y="46125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3"/>
          <p:cNvSpPr/>
          <p:nvPr/>
        </p:nvSpPr>
        <p:spPr>
          <a:xfrm rot="1022424" flipH="1">
            <a:off x="8527418" y="224248"/>
            <a:ext cx="1019018" cy="857455"/>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3"/>
          <p:cNvSpPr/>
          <p:nvPr/>
        </p:nvSpPr>
        <p:spPr>
          <a:xfrm rot="-4470473" flipH="1">
            <a:off x="8159434" y="-486033"/>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3"/>
          <p:cNvSpPr/>
          <p:nvPr/>
        </p:nvSpPr>
        <p:spPr>
          <a:xfrm>
            <a:off x="144300" y="47717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3"/>
          <p:cNvSpPr/>
          <p:nvPr/>
        </p:nvSpPr>
        <p:spPr>
          <a:xfrm>
            <a:off x="530847" y="82868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2">
  <p:cSld name="CUSTOM_8">
    <p:bg>
      <p:bgPr>
        <a:gradFill>
          <a:gsLst>
            <a:gs pos="0">
              <a:schemeClr val="dk2"/>
            </a:gs>
            <a:gs pos="100000">
              <a:schemeClr val="lt2"/>
            </a:gs>
          </a:gsLst>
          <a:lin ang="16198662" scaled="0"/>
        </a:gradFill>
        <a:effectLst/>
      </p:bgPr>
    </p:bg>
    <p:spTree>
      <p:nvGrpSpPr>
        <p:cNvPr id="1" name="Shape 710"/>
        <p:cNvGrpSpPr/>
        <p:nvPr/>
      </p:nvGrpSpPr>
      <p:grpSpPr>
        <a:xfrm>
          <a:off x="0" y="0"/>
          <a:ext cx="0" cy="0"/>
          <a:chOff x="0" y="0"/>
          <a:chExt cx="0" cy="0"/>
        </a:xfrm>
      </p:grpSpPr>
      <p:sp>
        <p:nvSpPr>
          <p:cNvPr id="711" name="Google Shape;711;p24"/>
          <p:cNvSpPr txBox="1">
            <a:spLocks noGrp="1"/>
          </p:cNvSpPr>
          <p:nvPr>
            <p:ph type="title"/>
          </p:nvPr>
        </p:nvSpPr>
        <p:spPr>
          <a:xfrm>
            <a:off x="4915300" y="1763463"/>
            <a:ext cx="3390300" cy="5991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12" name="Google Shape;712;p24"/>
          <p:cNvSpPr txBox="1">
            <a:spLocks noGrp="1"/>
          </p:cNvSpPr>
          <p:nvPr>
            <p:ph type="subTitle" idx="1"/>
          </p:nvPr>
        </p:nvSpPr>
        <p:spPr>
          <a:xfrm>
            <a:off x="4916850" y="2378475"/>
            <a:ext cx="3390300" cy="10017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600"/>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713" name="Google Shape;713;p24"/>
          <p:cNvSpPr/>
          <p:nvPr/>
        </p:nvSpPr>
        <p:spPr>
          <a:xfrm rot="-4481061" flipH="1">
            <a:off x="7004838" y="4045970"/>
            <a:ext cx="1042639" cy="877340"/>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4"/>
          <p:cNvSpPr/>
          <p:nvPr/>
        </p:nvSpPr>
        <p:spPr>
          <a:xfrm rot="-5400000" flipH="1">
            <a:off x="3626412" y="-18397"/>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4"/>
          <p:cNvSpPr/>
          <p:nvPr/>
        </p:nvSpPr>
        <p:spPr>
          <a:xfrm rot="-4470473" flipH="1">
            <a:off x="8263034" y="4243067"/>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4"/>
          <p:cNvSpPr/>
          <p:nvPr/>
        </p:nvSpPr>
        <p:spPr>
          <a:xfrm rot="-5400000" flipH="1">
            <a:off x="302839" y="3804984"/>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4"/>
          <p:cNvSpPr/>
          <p:nvPr/>
        </p:nvSpPr>
        <p:spPr>
          <a:xfrm rot="8584896" flipH="1">
            <a:off x="8435376" y="3502897"/>
            <a:ext cx="1019032" cy="857452"/>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4"/>
          <p:cNvSpPr/>
          <p:nvPr/>
        </p:nvSpPr>
        <p:spPr>
          <a:xfrm rot="-1239319" flipH="1">
            <a:off x="2314915" y="4610694"/>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4"/>
          <p:cNvSpPr/>
          <p:nvPr/>
        </p:nvSpPr>
        <p:spPr>
          <a:xfrm>
            <a:off x="8885124" y="4490975"/>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4"/>
          <p:cNvSpPr/>
          <p:nvPr/>
        </p:nvSpPr>
        <p:spPr>
          <a:xfrm>
            <a:off x="575662" y="335275"/>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4"/>
          <p:cNvSpPr/>
          <p:nvPr/>
        </p:nvSpPr>
        <p:spPr>
          <a:xfrm>
            <a:off x="616147" y="466213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4"/>
          <p:cNvSpPr/>
          <p:nvPr/>
        </p:nvSpPr>
        <p:spPr>
          <a:xfrm>
            <a:off x="8370461" y="46125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4"/>
          <p:cNvSpPr/>
          <p:nvPr/>
        </p:nvSpPr>
        <p:spPr>
          <a:xfrm>
            <a:off x="144300" y="47717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4"/>
          <p:cNvSpPr/>
          <p:nvPr/>
        </p:nvSpPr>
        <p:spPr>
          <a:xfrm>
            <a:off x="4486861" y="4514208"/>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4"/>
          <p:cNvSpPr/>
          <p:nvPr/>
        </p:nvSpPr>
        <p:spPr>
          <a:xfrm>
            <a:off x="4855272" y="335263"/>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4"/>
          <p:cNvSpPr/>
          <p:nvPr/>
        </p:nvSpPr>
        <p:spPr>
          <a:xfrm>
            <a:off x="8885122" y="189538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4"/>
          <p:cNvSpPr/>
          <p:nvPr/>
        </p:nvSpPr>
        <p:spPr>
          <a:xfrm>
            <a:off x="8632511" y="6147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3">
  <p:cSld name="CUSTOM_8_1">
    <p:bg>
      <p:bgPr>
        <a:gradFill>
          <a:gsLst>
            <a:gs pos="0">
              <a:schemeClr val="dk2"/>
            </a:gs>
            <a:gs pos="100000">
              <a:schemeClr val="lt2"/>
            </a:gs>
          </a:gsLst>
          <a:lin ang="5400700" scaled="0"/>
        </a:gradFill>
        <a:effectLst/>
      </p:bgPr>
    </p:bg>
    <p:spTree>
      <p:nvGrpSpPr>
        <p:cNvPr id="1" name="Shape 729"/>
        <p:cNvGrpSpPr/>
        <p:nvPr/>
      </p:nvGrpSpPr>
      <p:grpSpPr>
        <a:xfrm>
          <a:off x="0" y="0"/>
          <a:ext cx="0" cy="0"/>
          <a:chOff x="0" y="0"/>
          <a:chExt cx="0" cy="0"/>
        </a:xfrm>
      </p:grpSpPr>
      <p:sp>
        <p:nvSpPr>
          <p:cNvPr id="730" name="Google Shape;730;p25"/>
          <p:cNvSpPr txBox="1">
            <a:spLocks noGrp="1"/>
          </p:cNvSpPr>
          <p:nvPr>
            <p:ph type="title"/>
          </p:nvPr>
        </p:nvSpPr>
        <p:spPr>
          <a:xfrm>
            <a:off x="774200" y="1762050"/>
            <a:ext cx="3390300" cy="499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solidFill>
                  <a:schemeClr val="dk1"/>
                </a:solidFill>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731" name="Google Shape;731;p25"/>
          <p:cNvSpPr txBox="1">
            <a:spLocks noGrp="1"/>
          </p:cNvSpPr>
          <p:nvPr>
            <p:ph type="subTitle" idx="1"/>
          </p:nvPr>
        </p:nvSpPr>
        <p:spPr>
          <a:xfrm>
            <a:off x="822950" y="2381275"/>
            <a:ext cx="3337200" cy="1001700"/>
          </a:xfrm>
          <a:prstGeom prst="rect">
            <a:avLst/>
          </a:prstGeom>
          <a:noFill/>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sz="1600"/>
            </a:lvl1pPr>
            <a:lvl2pPr lvl="1" algn="r" rtl="0">
              <a:lnSpc>
                <a:spcPct val="100000"/>
              </a:lnSpc>
              <a:spcBef>
                <a:spcPts val="0"/>
              </a:spcBef>
              <a:spcAft>
                <a:spcPts val="0"/>
              </a:spcAft>
              <a:buSzPts val="2800"/>
              <a:buNone/>
              <a:defRPr sz="2800"/>
            </a:lvl2pPr>
            <a:lvl3pPr lvl="2" algn="r" rtl="0">
              <a:lnSpc>
                <a:spcPct val="100000"/>
              </a:lnSpc>
              <a:spcBef>
                <a:spcPts val="0"/>
              </a:spcBef>
              <a:spcAft>
                <a:spcPts val="0"/>
              </a:spcAft>
              <a:buSzPts val="2800"/>
              <a:buNone/>
              <a:defRPr sz="2800"/>
            </a:lvl3pPr>
            <a:lvl4pPr lvl="3" algn="r" rtl="0">
              <a:lnSpc>
                <a:spcPct val="100000"/>
              </a:lnSpc>
              <a:spcBef>
                <a:spcPts val="0"/>
              </a:spcBef>
              <a:spcAft>
                <a:spcPts val="0"/>
              </a:spcAft>
              <a:buSzPts val="2800"/>
              <a:buNone/>
              <a:defRPr sz="2800"/>
            </a:lvl4pPr>
            <a:lvl5pPr lvl="4" algn="r" rtl="0">
              <a:lnSpc>
                <a:spcPct val="100000"/>
              </a:lnSpc>
              <a:spcBef>
                <a:spcPts val="0"/>
              </a:spcBef>
              <a:spcAft>
                <a:spcPts val="0"/>
              </a:spcAft>
              <a:buSzPts val="2800"/>
              <a:buNone/>
              <a:defRPr sz="2800"/>
            </a:lvl5pPr>
            <a:lvl6pPr lvl="5" algn="r" rtl="0">
              <a:lnSpc>
                <a:spcPct val="100000"/>
              </a:lnSpc>
              <a:spcBef>
                <a:spcPts val="0"/>
              </a:spcBef>
              <a:spcAft>
                <a:spcPts val="0"/>
              </a:spcAft>
              <a:buSzPts val="2800"/>
              <a:buNone/>
              <a:defRPr sz="2800"/>
            </a:lvl6pPr>
            <a:lvl7pPr lvl="6" algn="r" rtl="0">
              <a:lnSpc>
                <a:spcPct val="100000"/>
              </a:lnSpc>
              <a:spcBef>
                <a:spcPts val="0"/>
              </a:spcBef>
              <a:spcAft>
                <a:spcPts val="0"/>
              </a:spcAft>
              <a:buSzPts val="2800"/>
              <a:buNone/>
              <a:defRPr sz="2800"/>
            </a:lvl7pPr>
            <a:lvl8pPr lvl="7" algn="r" rtl="0">
              <a:lnSpc>
                <a:spcPct val="100000"/>
              </a:lnSpc>
              <a:spcBef>
                <a:spcPts val="0"/>
              </a:spcBef>
              <a:spcAft>
                <a:spcPts val="0"/>
              </a:spcAft>
              <a:buSzPts val="2800"/>
              <a:buNone/>
              <a:defRPr sz="2800"/>
            </a:lvl8pPr>
            <a:lvl9pPr lvl="8" algn="r" rtl="0">
              <a:lnSpc>
                <a:spcPct val="100000"/>
              </a:lnSpc>
              <a:spcBef>
                <a:spcPts val="0"/>
              </a:spcBef>
              <a:spcAft>
                <a:spcPts val="0"/>
              </a:spcAft>
              <a:buSzPts val="2800"/>
              <a:buNone/>
              <a:defRPr sz="2800"/>
            </a:lvl9pPr>
          </a:lstStyle>
          <a:p>
            <a:endParaRPr/>
          </a:p>
        </p:txBody>
      </p:sp>
      <p:sp>
        <p:nvSpPr>
          <p:cNvPr id="732" name="Google Shape;732;p25"/>
          <p:cNvSpPr/>
          <p:nvPr/>
        </p:nvSpPr>
        <p:spPr>
          <a:xfrm rot="6318939" flipH="1">
            <a:off x="1049705" y="197886"/>
            <a:ext cx="1042639" cy="877340"/>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5"/>
          <p:cNvSpPr/>
          <p:nvPr/>
        </p:nvSpPr>
        <p:spPr>
          <a:xfrm rot="5400000" flipH="1">
            <a:off x="3630386" y="-4152383"/>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5"/>
          <p:cNvSpPr/>
          <p:nvPr/>
        </p:nvSpPr>
        <p:spPr>
          <a:xfrm rot="6329527" flipH="1">
            <a:off x="-215769" y="-297559"/>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5"/>
          <p:cNvSpPr/>
          <p:nvPr/>
        </p:nvSpPr>
        <p:spPr>
          <a:xfrm rot="5400000" flipH="1">
            <a:off x="7977941" y="-558161"/>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5"/>
          <p:cNvSpPr/>
          <p:nvPr/>
        </p:nvSpPr>
        <p:spPr>
          <a:xfrm rot="-2215104" flipH="1">
            <a:off x="-357226" y="760847"/>
            <a:ext cx="1019032" cy="857452"/>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5"/>
          <p:cNvSpPr/>
          <p:nvPr/>
        </p:nvSpPr>
        <p:spPr>
          <a:xfrm rot="9560681" flipH="1">
            <a:off x="5980507" y="-164175"/>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5"/>
          <p:cNvSpPr/>
          <p:nvPr/>
        </p:nvSpPr>
        <p:spPr>
          <a:xfrm rot="10800000">
            <a:off x="575663" y="4641614"/>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5"/>
          <p:cNvSpPr/>
          <p:nvPr/>
        </p:nvSpPr>
        <p:spPr>
          <a:xfrm rot="10800000">
            <a:off x="8421008" y="399066"/>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5"/>
          <p:cNvSpPr/>
          <p:nvPr/>
        </p:nvSpPr>
        <p:spPr>
          <a:xfrm rot="10800000">
            <a:off x="607202" y="34945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5"/>
          <p:cNvSpPr/>
          <p:nvPr/>
        </p:nvSpPr>
        <p:spPr>
          <a:xfrm rot="10800000">
            <a:off x="8762132" y="96746"/>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5"/>
          <p:cNvSpPr/>
          <p:nvPr/>
        </p:nvSpPr>
        <p:spPr>
          <a:xfrm rot="10800000">
            <a:off x="4730627" y="34945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5"/>
          <p:cNvSpPr/>
          <p:nvPr/>
        </p:nvSpPr>
        <p:spPr>
          <a:xfrm rot="10800000">
            <a:off x="4181883" y="4725941"/>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5"/>
          <p:cNvSpPr/>
          <p:nvPr/>
        </p:nvSpPr>
        <p:spPr>
          <a:xfrm rot="10800000">
            <a:off x="450658" y="3860541"/>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5"/>
          <p:cNvSpPr/>
          <p:nvPr/>
        </p:nvSpPr>
        <p:spPr>
          <a:xfrm rot="10800000">
            <a:off x="8762127" y="426805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5"/>
          <p:cNvSpPr/>
          <p:nvPr/>
        </p:nvSpPr>
        <p:spPr>
          <a:xfrm rot="10800000">
            <a:off x="8833352" y="267133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5"/>
          <p:cNvSpPr/>
          <p:nvPr/>
        </p:nvSpPr>
        <p:spPr>
          <a:xfrm rot="10800000">
            <a:off x="8085657" y="470625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5"/>
          <p:cNvSpPr/>
          <p:nvPr/>
        </p:nvSpPr>
        <p:spPr>
          <a:xfrm>
            <a:off x="5072298" y="3960983"/>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4">
  <p:cSld name="TITLE_AND_TWO_COLUMNS_1_1_1">
    <p:bg>
      <p:bgPr>
        <a:gradFill>
          <a:gsLst>
            <a:gs pos="0">
              <a:schemeClr val="lt2"/>
            </a:gs>
            <a:gs pos="100000">
              <a:schemeClr val="dk2"/>
            </a:gs>
          </a:gsLst>
          <a:lin ang="10801400" scaled="0"/>
        </a:gradFill>
        <a:effectLst/>
      </p:bgPr>
    </p:bg>
    <p:spTree>
      <p:nvGrpSpPr>
        <p:cNvPr id="1" name="Shape 750"/>
        <p:cNvGrpSpPr/>
        <p:nvPr/>
      </p:nvGrpSpPr>
      <p:grpSpPr>
        <a:xfrm>
          <a:off x="0" y="0"/>
          <a:ext cx="0" cy="0"/>
          <a:chOff x="0" y="0"/>
          <a:chExt cx="0" cy="0"/>
        </a:xfrm>
      </p:grpSpPr>
      <p:sp>
        <p:nvSpPr>
          <p:cNvPr id="751" name="Google Shape;751;p26"/>
          <p:cNvSpPr txBox="1">
            <a:spLocks noGrp="1"/>
          </p:cNvSpPr>
          <p:nvPr>
            <p:ph type="subTitle" idx="1"/>
          </p:nvPr>
        </p:nvSpPr>
        <p:spPr>
          <a:xfrm>
            <a:off x="721100" y="1182375"/>
            <a:ext cx="5433900" cy="259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752" name="Google Shape;752;p26"/>
          <p:cNvSpPr txBox="1">
            <a:spLocks noGrp="1"/>
          </p:cNvSpPr>
          <p:nvPr>
            <p:ph type="title"/>
          </p:nvPr>
        </p:nvSpPr>
        <p:spPr>
          <a:xfrm>
            <a:off x="716800" y="457225"/>
            <a:ext cx="7710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3" name="Google Shape;753;p26"/>
          <p:cNvSpPr/>
          <p:nvPr/>
        </p:nvSpPr>
        <p:spPr>
          <a:xfrm rot="10800000">
            <a:off x="8889001" y="1883475"/>
            <a:ext cx="279718" cy="1556308"/>
          </a:xfrm>
          <a:custGeom>
            <a:avLst/>
            <a:gdLst/>
            <a:ahLst/>
            <a:cxnLst/>
            <a:rect l="l" t="t" r="r" b="b"/>
            <a:pathLst>
              <a:path w="4801" h="26712" extrusionOk="0">
                <a:moveTo>
                  <a:pt x="118" y="0"/>
                </a:moveTo>
                <a:lnTo>
                  <a:pt x="1" y="26712"/>
                </a:lnTo>
                <a:cubicBezTo>
                  <a:pt x="3220" y="25561"/>
                  <a:pt x="2030" y="21385"/>
                  <a:pt x="1893" y="18966"/>
                </a:cubicBezTo>
                <a:cubicBezTo>
                  <a:pt x="1776" y="16546"/>
                  <a:pt x="1835" y="16429"/>
                  <a:pt x="2810" y="15161"/>
                </a:cubicBezTo>
                <a:cubicBezTo>
                  <a:pt x="3786" y="13893"/>
                  <a:pt x="4800" y="11610"/>
                  <a:pt x="4137" y="9366"/>
                </a:cubicBezTo>
                <a:cubicBezTo>
                  <a:pt x="3474" y="7122"/>
                  <a:pt x="2264" y="4781"/>
                  <a:pt x="2030" y="3024"/>
                </a:cubicBezTo>
                <a:cubicBezTo>
                  <a:pt x="1776" y="1268"/>
                  <a:pt x="118" y="0"/>
                  <a:pt x="118"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6"/>
          <p:cNvSpPr/>
          <p:nvPr/>
        </p:nvSpPr>
        <p:spPr>
          <a:xfrm rot="10800000">
            <a:off x="8285405" y="442018"/>
            <a:ext cx="1315334" cy="3729790"/>
          </a:xfrm>
          <a:custGeom>
            <a:avLst/>
            <a:gdLst/>
            <a:ahLst/>
            <a:cxnLst/>
            <a:rect l="l" t="t" r="r" b="b"/>
            <a:pathLst>
              <a:path w="22576" h="64017" extrusionOk="0">
                <a:moveTo>
                  <a:pt x="3944" y="0"/>
                </a:moveTo>
                <a:cubicBezTo>
                  <a:pt x="3769" y="0"/>
                  <a:pt x="3652" y="68"/>
                  <a:pt x="3610" y="213"/>
                </a:cubicBezTo>
                <a:cubicBezTo>
                  <a:pt x="3356" y="1013"/>
                  <a:pt x="12136" y="8018"/>
                  <a:pt x="11356" y="8603"/>
                </a:cubicBezTo>
                <a:cubicBezTo>
                  <a:pt x="11323" y="8628"/>
                  <a:pt x="11282" y="8639"/>
                  <a:pt x="11235" y="8639"/>
                </a:cubicBezTo>
                <a:cubicBezTo>
                  <a:pt x="10548" y="8639"/>
                  <a:pt x="8480" y="6140"/>
                  <a:pt x="7889" y="6140"/>
                </a:cubicBezTo>
                <a:cubicBezTo>
                  <a:pt x="7856" y="6140"/>
                  <a:pt x="7828" y="6147"/>
                  <a:pt x="7805" y="6164"/>
                </a:cubicBezTo>
                <a:cubicBezTo>
                  <a:pt x="7356" y="6437"/>
                  <a:pt x="8839" y="8057"/>
                  <a:pt x="8839" y="8057"/>
                </a:cubicBezTo>
                <a:cubicBezTo>
                  <a:pt x="8839" y="8057"/>
                  <a:pt x="14927" y="14456"/>
                  <a:pt x="16331" y="20251"/>
                </a:cubicBezTo>
                <a:cubicBezTo>
                  <a:pt x="17756" y="26066"/>
                  <a:pt x="17287" y="26671"/>
                  <a:pt x="18439" y="30788"/>
                </a:cubicBezTo>
                <a:cubicBezTo>
                  <a:pt x="19570" y="34924"/>
                  <a:pt x="16566" y="38749"/>
                  <a:pt x="16214" y="42066"/>
                </a:cubicBezTo>
                <a:cubicBezTo>
                  <a:pt x="15863" y="45383"/>
                  <a:pt x="13112" y="49382"/>
                  <a:pt x="11278" y="50982"/>
                </a:cubicBezTo>
                <a:cubicBezTo>
                  <a:pt x="9463" y="52602"/>
                  <a:pt x="3473" y="55236"/>
                  <a:pt x="0" y="55236"/>
                </a:cubicBezTo>
                <a:lnTo>
                  <a:pt x="0" y="64016"/>
                </a:lnTo>
                <a:cubicBezTo>
                  <a:pt x="0" y="64016"/>
                  <a:pt x="2166" y="63431"/>
                  <a:pt x="7805" y="59743"/>
                </a:cubicBezTo>
                <a:cubicBezTo>
                  <a:pt x="12214" y="56875"/>
                  <a:pt x="11980" y="55431"/>
                  <a:pt x="14790" y="53675"/>
                </a:cubicBezTo>
                <a:cubicBezTo>
                  <a:pt x="17658" y="51919"/>
                  <a:pt x="20741" y="48056"/>
                  <a:pt x="20741" y="45422"/>
                </a:cubicBezTo>
                <a:cubicBezTo>
                  <a:pt x="20741" y="42787"/>
                  <a:pt x="20136" y="39939"/>
                  <a:pt x="21365" y="37188"/>
                </a:cubicBezTo>
                <a:cubicBezTo>
                  <a:pt x="22575" y="34397"/>
                  <a:pt x="21970" y="32797"/>
                  <a:pt x="21365" y="30163"/>
                </a:cubicBezTo>
                <a:cubicBezTo>
                  <a:pt x="20741" y="27529"/>
                  <a:pt x="21365" y="23061"/>
                  <a:pt x="19863" y="19978"/>
                </a:cubicBezTo>
                <a:cubicBezTo>
                  <a:pt x="18380" y="16856"/>
                  <a:pt x="17092" y="15100"/>
                  <a:pt x="16566" y="13481"/>
                </a:cubicBezTo>
                <a:cubicBezTo>
                  <a:pt x="16019" y="11842"/>
                  <a:pt x="12917" y="7940"/>
                  <a:pt x="10283" y="4896"/>
                </a:cubicBezTo>
                <a:cubicBezTo>
                  <a:pt x="8033" y="2313"/>
                  <a:pt x="4972" y="0"/>
                  <a:pt x="39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6"/>
          <p:cNvSpPr/>
          <p:nvPr/>
        </p:nvSpPr>
        <p:spPr>
          <a:xfrm rot="10800000">
            <a:off x="8804054" y="4446818"/>
            <a:ext cx="372763" cy="304888"/>
          </a:xfrm>
          <a:custGeom>
            <a:avLst/>
            <a:gdLst/>
            <a:ahLst/>
            <a:cxnLst/>
            <a:rect l="l" t="t" r="r" b="b"/>
            <a:pathLst>
              <a:path w="6398" h="5233" extrusionOk="0">
                <a:moveTo>
                  <a:pt x="20" y="0"/>
                </a:moveTo>
                <a:cubicBezTo>
                  <a:pt x="7" y="0"/>
                  <a:pt x="1" y="1"/>
                  <a:pt x="1" y="1"/>
                </a:cubicBezTo>
                <a:lnTo>
                  <a:pt x="1" y="1445"/>
                </a:lnTo>
                <a:cubicBezTo>
                  <a:pt x="1" y="1445"/>
                  <a:pt x="2244" y="2401"/>
                  <a:pt x="5035" y="4684"/>
                </a:cubicBezTo>
                <a:cubicBezTo>
                  <a:pt x="5508" y="5069"/>
                  <a:pt x="5796" y="5232"/>
                  <a:pt x="5931" y="5232"/>
                </a:cubicBezTo>
                <a:cubicBezTo>
                  <a:pt x="6397" y="5232"/>
                  <a:pt x="5034" y="3283"/>
                  <a:pt x="3142" y="1816"/>
                </a:cubicBezTo>
                <a:cubicBezTo>
                  <a:pt x="929" y="80"/>
                  <a:pt x="146" y="0"/>
                  <a:pt x="20"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6"/>
          <p:cNvSpPr/>
          <p:nvPr/>
        </p:nvSpPr>
        <p:spPr>
          <a:xfrm rot="10800000">
            <a:off x="7965078" y="1430460"/>
            <a:ext cx="1650460" cy="3321254"/>
          </a:xfrm>
          <a:custGeom>
            <a:avLst/>
            <a:gdLst/>
            <a:ahLst/>
            <a:cxnLst/>
            <a:rect l="l" t="t" r="r" b="b"/>
            <a:pathLst>
              <a:path w="28328" h="57005" extrusionOk="0">
                <a:moveTo>
                  <a:pt x="0" y="0"/>
                </a:moveTo>
                <a:lnTo>
                  <a:pt x="0" y="5405"/>
                </a:lnTo>
                <a:lnTo>
                  <a:pt x="39" y="5405"/>
                </a:lnTo>
                <a:cubicBezTo>
                  <a:pt x="39" y="5405"/>
                  <a:pt x="10029" y="7727"/>
                  <a:pt x="16059" y="17990"/>
                </a:cubicBezTo>
                <a:cubicBezTo>
                  <a:pt x="20819" y="26126"/>
                  <a:pt x="23024" y="29678"/>
                  <a:pt x="23610" y="33151"/>
                </a:cubicBezTo>
                <a:cubicBezTo>
                  <a:pt x="24195" y="36604"/>
                  <a:pt x="24371" y="45502"/>
                  <a:pt x="24722" y="46087"/>
                </a:cubicBezTo>
                <a:cubicBezTo>
                  <a:pt x="24794" y="46218"/>
                  <a:pt x="24864" y="46281"/>
                  <a:pt x="24929" y="46281"/>
                </a:cubicBezTo>
                <a:cubicBezTo>
                  <a:pt x="25510" y="46281"/>
                  <a:pt x="25752" y="41278"/>
                  <a:pt x="25014" y="35785"/>
                </a:cubicBezTo>
                <a:cubicBezTo>
                  <a:pt x="24854" y="34562"/>
                  <a:pt x="24981" y="33771"/>
                  <a:pt x="25240" y="33771"/>
                </a:cubicBezTo>
                <a:cubicBezTo>
                  <a:pt x="25609" y="33771"/>
                  <a:pt x="26245" y="35381"/>
                  <a:pt x="26692" y="39648"/>
                </a:cubicBezTo>
                <a:cubicBezTo>
                  <a:pt x="27453" y="46906"/>
                  <a:pt x="23844" y="56584"/>
                  <a:pt x="24858" y="56994"/>
                </a:cubicBezTo>
                <a:cubicBezTo>
                  <a:pt x="24875" y="57001"/>
                  <a:pt x="24892" y="57004"/>
                  <a:pt x="24910" y="57004"/>
                </a:cubicBezTo>
                <a:cubicBezTo>
                  <a:pt x="25834" y="57004"/>
                  <a:pt x="28328" y="48231"/>
                  <a:pt x="28136" y="40097"/>
                </a:cubicBezTo>
                <a:cubicBezTo>
                  <a:pt x="27941" y="31804"/>
                  <a:pt x="24839" y="29385"/>
                  <a:pt x="23415" y="23785"/>
                </a:cubicBezTo>
                <a:cubicBezTo>
                  <a:pt x="22010" y="18127"/>
                  <a:pt x="17151" y="11532"/>
                  <a:pt x="14595" y="9307"/>
                </a:cubicBezTo>
                <a:cubicBezTo>
                  <a:pt x="12039" y="7103"/>
                  <a:pt x="10205" y="5951"/>
                  <a:pt x="7961" y="3981"/>
                </a:cubicBezTo>
                <a:cubicBezTo>
                  <a:pt x="5717" y="1990"/>
                  <a:pt x="3844" y="527"/>
                  <a:pt x="0"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6"/>
          <p:cNvSpPr/>
          <p:nvPr/>
        </p:nvSpPr>
        <p:spPr>
          <a:xfrm rot="10800000">
            <a:off x="8725160" y="2983755"/>
            <a:ext cx="380512" cy="533626"/>
          </a:xfrm>
          <a:custGeom>
            <a:avLst/>
            <a:gdLst/>
            <a:ahLst/>
            <a:cxnLst/>
            <a:rect l="l" t="t" r="r" b="b"/>
            <a:pathLst>
              <a:path w="6531" h="9159" extrusionOk="0">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6"/>
          <p:cNvSpPr/>
          <p:nvPr/>
        </p:nvSpPr>
        <p:spPr>
          <a:xfrm rot="10800000">
            <a:off x="8902749" y="1242911"/>
            <a:ext cx="361927" cy="546444"/>
          </a:xfrm>
          <a:custGeom>
            <a:avLst/>
            <a:gdLst/>
            <a:ahLst/>
            <a:cxnLst/>
            <a:rect l="l" t="t" r="r" b="b"/>
            <a:pathLst>
              <a:path w="6212" h="9379" extrusionOk="0">
                <a:moveTo>
                  <a:pt x="5824" y="0"/>
                </a:moveTo>
                <a:cubicBezTo>
                  <a:pt x="5720" y="0"/>
                  <a:pt x="5564" y="146"/>
                  <a:pt x="5367" y="467"/>
                </a:cubicBezTo>
                <a:cubicBezTo>
                  <a:pt x="5367" y="467"/>
                  <a:pt x="4294" y="3277"/>
                  <a:pt x="2537" y="5579"/>
                </a:cubicBezTo>
                <a:cubicBezTo>
                  <a:pt x="781" y="7901"/>
                  <a:pt x="1" y="8896"/>
                  <a:pt x="98" y="9325"/>
                </a:cubicBezTo>
                <a:cubicBezTo>
                  <a:pt x="107" y="9361"/>
                  <a:pt x="130" y="9379"/>
                  <a:pt x="166" y="9379"/>
                </a:cubicBezTo>
                <a:cubicBezTo>
                  <a:pt x="540" y="9379"/>
                  <a:pt x="2331" y="7483"/>
                  <a:pt x="4235" y="4564"/>
                </a:cubicBezTo>
                <a:cubicBezTo>
                  <a:pt x="5867" y="2039"/>
                  <a:pt x="6211" y="0"/>
                  <a:pt x="5824"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6"/>
          <p:cNvSpPr/>
          <p:nvPr/>
        </p:nvSpPr>
        <p:spPr>
          <a:xfrm rot="10800000">
            <a:off x="8226268" y="184398"/>
            <a:ext cx="1373364" cy="1019769"/>
          </a:xfrm>
          <a:custGeom>
            <a:avLst/>
            <a:gdLst/>
            <a:ahLst/>
            <a:cxnLst/>
            <a:rect l="l" t="t" r="r" b="b"/>
            <a:pathLst>
              <a:path w="23572" h="17503" extrusionOk="0">
                <a:moveTo>
                  <a:pt x="23429" y="1"/>
                </a:moveTo>
                <a:cubicBezTo>
                  <a:pt x="23104" y="1"/>
                  <a:pt x="22049" y="1258"/>
                  <a:pt x="22049" y="1258"/>
                </a:cubicBezTo>
                <a:cubicBezTo>
                  <a:pt x="22049" y="1258"/>
                  <a:pt x="20098" y="4263"/>
                  <a:pt x="16059" y="6312"/>
                </a:cubicBezTo>
                <a:cubicBezTo>
                  <a:pt x="10147" y="9277"/>
                  <a:pt x="8000" y="13726"/>
                  <a:pt x="1" y="14897"/>
                </a:cubicBezTo>
                <a:lnTo>
                  <a:pt x="1" y="17472"/>
                </a:lnTo>
                <a:cubicBezTo>
                  <a:pt x="1" y="17472"/>
                  <a:pt x="201" y="17503"/>
                  <a:pt x="569" y="17503"/>
                </a:cubicBezTo>
                <a:cubicBezTo>
                  <a:pt x="1819" y="17503"/>
                  <a:pt x="5001" y="17153"/>
                  <a:pt x="8800" y="14077"/>
                </a:cubicBezTo>
                <a:cubicBezTo>
                  <a:pt x="13522" y="10273"/>
                  <a:pt x="11025" y="11307"/>
                  <a:pt x="14751" y="8907"/>
                </a:cubicBezTo>
                <a:cubicBezTo>
                  <a:pt x="19590" y="5824"/>
                  <a:pt x="22693" y="2604"/>
                  <a:pt x="23376" y="712"/>
                </a:cubicBezTo>
                <a:cubicBezTo>
                  <a:pt x="23572" y="189"/>
                  <a:pt x="23555" y="1"/>
                  <a:pt x="23429"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6"/>
          <p:cNvSpPr/>
          <p:nvPr/>
        </p:nvSpPr>
        <p:spPr>
          <a:xfrm rot="10800000">
            <a:off x="8907179" y="1691524"/>
            <a:ext cx="269639" cy="710511"/>
          </a:xfrm>
          <a:custGeom>
            <a:avLst/>
            <a:gdLst/>
            <a:ahLst/>
            <a:cxnLst/>
            <a:rect l="l" t="t" r="r" b="b"/>
            <a:pathLst>
              <a:path w="4628" h="12195" extrusionOk="0">
                <a:moveTo>
                  <a:pt x="3537" y="0"/>
                </a:moveTo>
                <a:cubicBezTo>
                  <a:pt x="3460" y="0"/>
                  <a:pt x="3392" y="109"/>
                  <a:pt x="3339" y="355"/>
                </a:cubicBezTo>
                <a:cubicBezTo>
                  <a:pt x="3047" y="1818"/>
                  <a:pt x="3827" y="4823"/>
                  <a:pt x="3066" y="7008"/>
                </a:cubicBezTo>
                <a:cubicBezTo>
                  <a:pt x="2356" y="9067"/>
                  <a:pt x="879" y="9135"/>
                  <a:pt x="687" y="9135"/>
                </a:cubicBezTo>
                <a:cubicBezTo>
                  <a:pt x="674" y="9135"/>
                  <a:pt x="666" y="9135"/>
                  <a:pt x="666" y="9135"/>
                </a:cubicBezTo>
                <a:lnTo>
                  <a:pt x="666" y="9135"/>
                </a:lnTo>
                <a:cubicBezTo>
                  <a:pt x="666" y="9135"/>
                  <a:pt x="0" y="12195"/>
                  <a:pt x="812" y="12195"/>
                </a:cubicBezTo>
                <a:cubicBezTo>
                  <a:pt x="845" y="12195"/>
                  <a:pt x="881" y="12189"/>
                  <a:pt x="920" y="12179"/>
                </a:cubicBezTo>
                <a:cubicBezTo>
                  <a:pt x="979" y="12179"/>
                  <a:pt x="1037" y="12159"/>
                  <a:pt x="1096" y="12140"/>
                </a:cubicBezTo>
                <a:cubicBezTo>
                  <a:pt x="2052" y="11769"/>
                  <a:pt x="3125" y="10676"/>
                  <a:pt x="3847" y="9525"/>
                </a:cubicBezTo>
                <a:cubicBezTo>
                  <a:pt x="4627" y="8296"/>
                  <a:pt x="3964" y="6345"/>
                  <a:pt x="4237" y="4335"/>
                </a:cubicBezTo>
                <a:cubicBezTo>
                  <a:pt x="4480" y="2647"/>
                  <a:pt x="3914" y="0"/>
                  <a:pt x="3537"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6"/>
          <p:cNvSpPr/>
          <p:nvPr/>
        </p:nvSpPr>
        <p:spPr>
          <a:xfrm rot="10800000">
            <a:off x="8623086" y="1896900"/>
            <a:ext cx="154629" cy="828784"/>
          </a:xfrm>
          <a:custGeom>
            <a:avLst/>
            <a:gdLst/>
            <a:ahLst/>
            <a:cxnLst/>
            <a:rect l="l" t="t" r="r" b="b"/>
            <a:pathLst>
              <a:path w="2654" h="14225" extrusionOk="0">
                <a:moveTo>
                  <a:pt x="550" y="1"/>
                </a:moveTo>
                <a:cubicBezTo>
                  <a:pt x="235" y="1"/>
                  <a:pt x="390" y="2453"/>
                  <a:pt x="937" y="4566"/>
                </a:cubicBezTo>
                <a:cubicBezTo>
                  <a:pt x="1522" y="6829"/>
                  <a:pt x="1366" y="6907"/>
                  <a:pt x="1269" y="8449"/>
                </a:cubicBezTo>
                <a:cubicBezTo>
                  <a:pt x="1190" y="9971"/>
                  <a:pt x="1015" y="10849"/>
                  <a:pt x="605" y="11980"/>
                </a:cubicBezTo>
                <a:cubicBezTo>
                  <a:pt x="195" y="13093"/>
                  <a:pt x="0" y="14224"/>
                  <a:pt x="195" y="14224"/>
                </a:cubicBezTo>
                <a:cubicBezTo>
                  <a:pt x="410" y="14224"/>
                  <a:pt x="917" y="13405"/>
                  <a:pt x="1132" y="12449"/>
                </a:cubicBezTo>
                <a:cubicBezTo>
                  <a:pt x="1366" y="11493"/>
                  <a:pt x="1854" y="10244"/>
                  <a:pt x="2264" y="8683"/>
                </a:cubicBezTo>
                <a:cubicBezTo>
                  <a:pt x="2654" y="7122"/>
                  <a:pt x="2205" y="6576"/>
                  <a:pt x="1971" y="5229"/>
                </a:cubicBezTo>
                <a:cubicBezTo>
                  <a:pt x="1717" y="3903"/>
                  <a:pt x="1288" y="2927"/>
                  <a:pt x="1288" y="1600"/>
                </a:cubicBezTo>
                <a:cubicBezTo>
                  <a:pt x="1288" y="254"/>
                  <a:pt x="625" y="39"/>
                  <a:pt x="625" y="39"/>
                </a:cubicBezTo>
                <a:cubicBezTo>
                  <a:pt x="597" y="13"/>
                  <a:pt x="572" y="1"/>
                  <a:pt x="550"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6"/>
          <p:cNvSpPr/>
          <p:nvPr/>
        </p:nvSpPr>
        <p:spPr>
          <a:xfrm rot="10800000">
            <a:off x="8408212" y="968073"/>
            <a:ext cx="698160" cy="1562600"/>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6"/>
          <p:cNvSpPr/>
          <p:nvPr/>
        </p:nvSpPr>
        <p:spPr>
          <a:xfrm rot="10800000">
            <a:off x="8284930" y="3201217"/>
            <a:ext cx="891882" cy="1104307"/>
          </a:xfrm>
          <a:custGeom>
            <a:avLst/>
            <a:gdLst/>
            <a:ahLst/>
            <a:cxnLst/>
            <a:rect l="l" t="t" r="r" b="b"/>
            <a:pathLst>
              <a:path w="15308" h="18954" extrusionOk="0">
                <a:moveTo>
                  <a:pt x="206" y="1"/>
                </a:moveTo>
                <a:cubicBezTo>
                  <a:pt x="1" y="1"/>
                  <a:pt x="132" y="179"/>
                  <a:pt x="841" y="635"/>
                </a:cubicBezTo>
                <a:cubicBezTo>
                  <a:pt x="1017" y="732"/>
                  <a:pt x="5563" y="3093"/>
                  <a:pt x="8665" y="8615"/>
                </a:cubicBezTo>
                <a:cubicBezTo>
                  <a:pt x="11768" y="14137"/>
                  <a:pt x="13426" y="17942"/>
                  <a:pt x="14558" y="18820"/>
                </a:cubicBezTo>
                <a:cubicBezTo>
                  <a:pt x="14674" y="18912"/>
                  <a:pt x="14759" y="18954"/>
                  <a:pt x="14817" y="18954"/>
                </a:cubicBezTo>
                <a:cubicBezTo>
                  <a:pt x="15307" y="18954"/>
                  <a:pt x="13800" y="15867"/>
                  <a:pt x="12997" y="14312"/>
                </a:cubicBezTo>
                <a:cubicBezTo>
                  <a:pt x="12080" y="12576"/>
                  <a:pt x="10441" y="7932"/>
                  <a:pt x="9290" y="6118"/>
                </a:cubicBezTo>
                <a:cubicBezTo>
                  <a:pt x="8119" y="4322"/>
                  <a:pt x="5602" y="2781"/>
                  <a:pt x="4236" y="1766"/>
                </a:cubicBezTo>
                <a:cubicBezTo>
                  <a:pt x="3264" y="1086"/>
                  <a:pt x="711" y="1"/>
                  <a:pt x="206"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6"/>
          <p:cNvSpPr/>
          <p:nvPr/>
        </p:nvSpPr>
        <p:spPr>
          <a:xfrm rot="-9150749">
            <a:off x="8245280" y="-87053"/>
            <a:ext cx="698189" cy="1562666"/>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6"/>
          <p:cNvSpPr/>
          <p:nvPr/>
        </p:nvSpPr>
        <p:spPr>
          <a:xfrm rot="7554719">
            <a:off x="7928494" y="2668518"/>
            <a:ext cx="1163688" cy="2604532"/>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6"/>
          <p:cNvSpPr/>
          <p:nvPr/>
        </p:nvSpPr>
        <p:spPr>
          <a:xfrm rot="-6722857">
            <a:off x="7762929" y="-63871"/>
            <a:ext cx="663231" cy="930108"/>
          </a:xfrm>
          <a:custGeom>
            <a:avLst/>
            <a:gdLst/>
            <a:ahLst/>
            <a:cxnLst/>
            <a:rect l="l" t="t" r="r" b="b"/>
            <a:pathLst>
              <a:path w="6531" h="9159" extrusionOk="0">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740FA3">
              <a:alpha val="16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6"/>
          <p:cNvSpPr/>
          <p:nvPr/>
        </p:nvSpPr>
        <p:spPr>
          <a:xfrm>
            <a:off x="8711662" y="273438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6"/>
          <p:cNvSpPr/>
          <p:nvPr/>
        </p:nvSpPr>
        <p:spPr>
          <a:xfrm>
            <a:off x="8534623" y="466957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6"/>
          <p:cNvSpPr/>
          <p:nvPr/>
        </p:nvSpPr>
        <p:spPr>
          <a:xfrm>
            <a:off x="8280025" y="723400"/>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6"/>
          <p:cNvSpPr/>
          <p:nvPr/>
        </p:nvSpPr>
        <p:spPr>
          <a:xfrm>
            <a:off x="8727284" y="455001"/>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6"/>
          <p:cNvSpPr/>
          <p:nvPr/>
        </p:nvSpPr>
        <p:spPr>
          <a:xfrm>
            <a:off x="575662" y="4408275"/>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6"/>
          <p:cNvSpPr/>
          <p:nvPr/>
        </p:nvSpPr>
        <p:spPr>
          <a:xfrm>
            <a:off x="3632223" y="479024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26"/>
          <p:cNvSpPr/>
          <p:nvPr/>
        </p:nvSpPr>
        <p:spPr>
          <a:xfrm>
            <a:off x="141384" y="3884001"/>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6"/>
          <p:cNvSpPr/>
          <p:nvPr/>
        </p:nvSpPr>
        <p:spPr>
          <a:xfrm>
            <a:off x="1605862" y="1358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6"/>
          <p:cNvSpPr/>
          <p:nvPr/>
        </p:nvSpPr>
        <p:spPr>
          <a:xfrm>
            <a:off x="456114" y="292699"/>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6"/>
          <p:cNvSpPr/>
          <p:nvPr/>
        </p:nvSpPr>
        <p:spPr>
          <a:xfrm rot="10800000">
            <a:off x="6789426" y="1337935"/>
            <a:ext cx="2218578" cy="4464489"/>
          </a:xfrm>
          <a:custGeom>
            <a:avLst/>
            <a:gdLst/>
            <a:ahLst/>
            <a:cxnLst/>
            <a:rect l="l" t="t" r="r" b="b"/>
            <a:pathLst>
              <a:path w="28328" h="57005" extrusionOk="0">
                <a:moveTo>
                  <a:pt x="0" y="0"/>
                </a:moveTo>
                <a:lnTo>
                  <a:pt x="0" y="5405"/>
                </a:lnTo>
                <a:lnTo>
                  <a:pt x="39" y="5405"/>
                </a:lnTo>
                <a:cubicBezTo>
                  <a:pt x="39" y="5405"/>
                  <a:pt x="10029" y="7727"/>
                  <a:pt x="16059" y="17990"/>
                </a:cubicBezTo>
                <a:cubicBezTo>
                  <a:pt x="20819" y="26126"/>
                  <a:pt x="23024" y="29678"/>
                  <a:pt x="23610" y="33151"/>
                </a:cubicBezTo>
                <a:cubicBezTo>
                  <a:pt x="24195" y="36604"/>
                  <a:pt x="24371" y="45502"/>
                  <a:pt x="24722" y="46087"/>
                </a:cubicBezTo>
                <a:cubicBezTo>
                  <a:pt x="24794" y="46218"/>
                  <a:pt x="24864" y="46281"/>
                  <a:pt x="24929" y="46281"/>
                </a:cubicBezTo>
                <a:cubicBezTo>
                  <a:pt x="25510" y="46281"/>
                  <a:pt x="25752" y="41278"/>
                  <a:pt x="25014" y="35785"/>
                </a:cubicBezTo>
                <a:cubicBezTo>
                  <a:pt x="24854" y="34562"/>
                  <a:pt x="24981" y="33771"/>
                  <a:pt x="25240" y="33771"/>
                </a:cubicBezTo>
                <a:cubicBezTo>
                  <a:pt x="25609" y="33771"/>
                  <a:pt x="26245" y="35381"/>
                  <a:pt x="26692" y="39648"/>
                </a:cubicBezTo>
                <a:cubicBezTo>
                  <a:pt x="27453" y="46906"/>
                  <a:pt x="23844" y="56584"/>
                  <a:pt x="24858" y="56994"/>
                </a:cubicBezTo>
                <a:cubicBezTo>
                  <a:pt x="24875" y="57001"/>
                  <a:pt x="24892" y="57004"/>
                  <a:pt x="24910" y="57004"/>
                </a:cubicBezTo>
                <a:cubicBezTo>
                  <a:pt x="25834" y="57004"/>
                  <a:pt x="28328" y="48231"/>
                  <a:pt x="28136" y="40097"/>
                </a:cubicBezTo>
                <a:cubicBezTo>
                  <a:pt x="27941" y="31804"/>
                  <a:pt x="24839" y="29385"/>
                  <a:pt x="23415" y="23785"/>
                </a:cubicBezTo>
                <a:cubicBezTo>
                  <a:pt x="22010" y="18127"/>
                  <a:pt x="17151" y="11532"/>
                  <a:pt x="14595" y="9307"/>
                </a:cubicBezTo>
                <a:cubicBezTo>
                  <a:pt x="12039" y="7103"/>
                  <a:pt x="10205" y="5951"/>
                  <a:pt x="7961" y="3981"/>
                </a:cubicBezTo>
                <a:cubicBezTo>
                  <a:pt x="5717" y="1990"/>
                  <a:pt x="3844" y="527"/>
                  <a:pt x="0" y="0"/>
                </a:cubicBezTo>
                <a:close/>
              </a:path>
            </a:pathLst>
          </a:custGeom>
          <a:solidFill>
            <a:srgbClr val="740FA3">
              <a:alpha val="16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6"/>
          <p:cNvSpPr/>
          <p:nvPr/>
        </p:nvSpPr>
        <p:spPr>
          <a:xfrm rot="9955178">
            <a:off x="7293915" y="1111551"/>
            <a:ext cx="698196" cy="1562682"/>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00C970">
              <a:alpha val="137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6"/>
          <p:cNvSpPr/>
          <p:nvPr/>
        </p:nvSpPr>
        <p:spPr>
          <a:xfrm rot="-8985401">
            <a:off x="7560787" y="-443476"/>
            <a:ext cx="480053" cy="1264989"/>
          </a:xfrm>
          <a:custGeom>
            <a:avLst/>
            <a:gdLst/>
            <a:ahLst/>
            <a:cxnLst/>
            <a:rect l="l" t="t" r="r" b="b"/>
            <a:pathLst>
              <a:path w="4628" h="12195" extrusionOk="0">
                <a:moveTo>
                  <a:pt x="3537" y="0"/>
                </a:moveTo>
                <a:cubicBezTo>
                  <a:pt x="3460" y="0"/>
                  <a:pt x="3392" y="109"/>
                  <a:pt x="3339" y="355"/>
                </a:cubicBezTo>
                <a:cubicBezTo>
                  <a:pt x="3047" y="1818"/>
                  <a:pt x="3827" y="4823"/>
                  <a:pt x="3066" y="7008"/>
                </a:cubicBezTo>
                <a:cubicBezTo>
                  <a:pt x="2356" y="9067"/>
                  <a:pt x="879" y="9135"/>
                  <a:pt x="687" y="9135"/>
                </a:cubicBezTo>
                <a:cubicBezTo>
                  <a:pt x="674" y="9135"/>
                  <a:pt x="666" y="9135"/>
                  <a:pt x="666" y="9135"/>
                </a:cubicBezTo>
                <a:lnTo>
                  <a:pt x="666" y="9135"/>
                </a:lnTo>
                <a:cubicBezTo>
                  <a:pt x="666" y="9135"/>
                  <a:pt x="0" y="12195"/>
                  <a:pt x="812" y="12195"/>
                </a:cubicBezTo>
                <a:cubicBezTo>
                  <a:pt x="845" y="12195"/>
                  <a:pt x="881" y="12189"/>
                  <a:pt x="920" y="12179"/>
                </a:cubicBezTo>
                <a:cubicBezTo>
                  <a:pt x="979" y="12179"/>
                  <a:pt x="1037" y="12159"/>
                  <a:pt x="1096" y="12140"/>
                </a:cubicBezTo>
                <a:cubicBezTo>
                  <a:pt x="2052" y="11769"/>
                  <a:pt x="3125" y="10676"/>
                  <a:pt x="3847" y="9525"/>
                </a:cubicBezTo>
                <a:cubicBezTo>
                  <a:pt x="4627" y="8296"/>
                  <a:pt x="3964" y="6345"/>
                  <a:pt x="4237" y="4335"/>
                </a:cubicBezTo>
                <a:cubicBezTo>
                  <a:pt x="4480" y="2647"/>
                  <a:pt x="3914" y="0"/>
                  <a:pt x="3537"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bg>
      <p:bgPr>
        <a:gradFill>
          <a:gsLst>
            <a:gs pos="0">
              <a:schemeClr val="dk2"/>
            </a:gs>
            <a:gs pos="100000">
              <a:schemeClr val="lt2"/>
            </a:gs>
          </a:gsLst>
          <a:lin ang="16200038" scaled="0"/>
        </a:gradFill>
        <a:effectLst/>
      </p:bgPr>
    </p:bg>
    <p:spTree>
      <p:nvGrpSpPr>
        <p:cNvPr id="1" name="Shape 780"/>
        <p:cNvGrpSpPr/>
        <p:nvPr/>
      </p:nvGrpSpPr>
      <p:grpSpPr>
        <a:xfrm>
          <a:off x="0" y="0"/>
          <a:ext cx="0" cy="0"/>
          <a:chOff x="0" y="0"/>
          <a:chExt cx="0" cy="0"/>
        </a:xfrm>
      </p:grpSpPr>
      <p:sp>
        <p:nvSpPr>
          <p:cNvPr id="781" name="Google Shape;781;p27"/>
          <p:cNvSpPr txBox="1">
            <a:spLocks noGrp="1"/>
          </p:cNvSpPr>
          <p:nvPr>
            <p:ph type="subTitle" idx="1"/>
          </p:nvPr>
        </p:nvSpPr>
        <p:spPr>
          <a:xfrm>
            <a:off x="1006300" y="3527850"/>
            <a:ext cx="3269700" cy="54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2" name="Google Shape;782;p27"/>
          <p:cNvSpPr txBox="1">
            <a:spLocks noGrp="1"/>
          </p:cNvSpPr>
          <p:nvPr>
            <p:ph type="subTitle" idx="2"/>
          </p:nvPr>
        </p:nvSpPr>
        <p:spPr>
          <a:xfrm>
            <a:off x="1431850" y="3901950"/>
            <a:ext cx="2418600" cy="54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3" name="Google Shape;783;p27"/>
          <p:cNvSpPr txBox="1">
            <a:spLocks noGrp="1"/>
          </p:cNvSpPr>
          <p:nvPr>
            <p:ph type="title"/>
          </p:nvPr>
        </p:nvSpPr>
        <p:spPr>
          <a:xfrm>
            <a:off x="716800" y="457175"/>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84" name="Google Shape;784;p27"/>
          <p:cNvSpPr txBox="1">
            <a:spLocks noGrp="1"/>
          </p:cNvSpPr>
          <p:nvPr>
            <p:ph type="subTitle" idx="3"/>
          </p:nvPr>
        </p:nvSpPr>
        <p:spPr>
          <a:xfrm>
            <a:off x="4867925" y="3527850"/>
            <a:ext cx="3269700" cy="54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5" name="Google Shape;785;p27"/>
          <p:cNvSpPr txBox="1">
            <a:spLocks noGrp="1"/>
          </p:cNvSpPr>
          <p:nvPr>
            <p:ph type="subTitle" idx="4"/>
          </p:nvPr>
        </p:nvSpPr>
        <p:spPr>
          <a:xfrm>
            <a:off x="5293475" y="3901950"/>
            <a:ext cx="2418600" cy="54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6" name="Google Shape;786;p27"/>
          <p:cNvSpPr/>
          <p:nvPr/>
        </p:nvSpPr>
        <p:spPr>
          <a:xfrm rot="10800000">
            <a:off x="-37435" y="2738"/>
            <a:ext cx="743532" cy="5143387"/>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7"/>
          <p:cNvSpPr/>
          <p:nvPr/>
        </p:nvSpPr>
        <p:spPr>
          <a:xfrm rot="9870421">
            <a:off x="89918" y="-98755"/>
            <a:ext cx="581152" cy="650799"/>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7"/>
          <p:cNvSpPr/>
          <p:nvPr/>
        </p:nvSpPr>
        <p:spPr>
          <a:xfrm rot="10800000">
            <a:off x="-49750" y="4167587"/>
            <a:ext cx="451908" cy="1037534"/>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7"/>
          <p:cNvSpPr/>
          <p:nvPr/>
        </p:nvSpPr>
        <p:spPr>
          <a:xfrm flipH="1">
            <a:off x="78863"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7"/>
          <p:cNvSpPr/>
          <p:nvPr/>
        </p:nvSpPr>
        <p:spPr>
          <a:xfrm flipH="1">
            <a:off x="238963" y="1691325"/>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7"/>
          <p:cNvSpPr/>
          <p:nvPr/>
        </p:nvSpPr>
        <p:spPr>
          <a:xfrm flipH="1">
            <a:off x="562260"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7"/>
          <p:cNvSpPr/>
          <p:nvPr/>
        </p:nvSpPr>
        <p:spPr>
          <a:xfrm flipH="1">
            <a:off x="125199"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7"/>
          <p:cNvSpPr/>
          <p:nvPr/>
        </p:nvSpPr>
        <p:spPr>
          <a:xfrm flipH="1">
            <a:off x="791796" y="147033"/>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7"/>
          <p:cNvSpPr/>
          <p:nvPr/>
        </p:nvSpPr>
        <p:spPr>
          <a:xfrm>
            <a:off x="7900006" y="-280963"/>
            <a:ext cx="733868" cy="617521"/>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7"/>
          <p:cNvSpPr/>
          <p:nvPr/>
        </p:nvSpPr>
        <p:spPr>
          <a:xfrm>
            <a:off x="8404450" y="-11350"/>
            <a:ext cx="733891" cy="5143387"/>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7"/>
          <p:cNvSpPr/>
          <p:nvPr/>
        </p:nvSpPr>
        <p:spPr>
          <a:xfrm rot="-929579">
            <a:off x="8429819" y="4582728"/>
            <a:ext cx="581152" cy="650799"/>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7"/>
          <p:cNvSpPr/>
          <p:nvPr/>
        </p:nvSpPr>
        <p:spPr>
          <a:xfrm>
            <a:off x="8698731" y="-70350"/>
            <a:ext cx="451908" cy="1037534"/>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7"/>
          <p:cNvSpPr/>
          <p:nvPr/>
        </p:nvSpPr>
        <p:spPr>
          <a:xfrm rot="10800000" flipH="1">
            <a:off x="8869327" y="1012084"/>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7"/>
          <p:cNvSpPr/>
          <p:nvPr/>
        </p:nvSpPr>
        <p:spPr>
          <a:xfrm rot="10800000" flipH="1">
            <a:off x="8729539" y="3665921"/>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7"/>
          <p:cNvSpPr/>
          <p:nvPr/>
        </p:nvSpPr>
        <p:spPr>
          <a:xfrm rot="10800000" flipH="1">
            <a:off x="8915664" y="4362734"/>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7"/>
          <p:cNvSpPr/>
          <p:nvPr/>
        </p:nvSpPr>
        <p:spPr>
          <a:xfrm rot="10800000" flipH="1">
            <a:off x="8527989" y="196659"/>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7"/>
          <p:cNvSpPr/>
          <p:nvPr/>
        </p:nvSpPr>
        <p:spPr>
          <a:xfrm flipH="1">
            <a:off x="4689649" y="196650"/>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7"/>
          <p:cNvSpPr/>
          <p:nvPr/>
        </p:nvSpPr>
        <p:spPr>
          <a:xfrm rot="10800000" flipH="1">
            <a:off x="4132139" y="4931884"/>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bg>
      <p:bgPr>
        <a:gradFill>
          <a:gsLst>
            <a:gs pos="0">
              <a:schemeClr val="dk2"/>
            </a:gs>
            <a:gs pos="100000">
              <a:schemeClr val="lt2"/>
            </a:gs>
          </a:gsLst>
          <a:lin ang="10801400" scaled="0"/>
        </a:gradFill>
        <a:effectLst/>
      </p:bgPr>
    </p:bg>
    <p:spTree>
      <p:nvGrpSpPr>
        <p:cNvPr id="1" name="Shape 805"/>
        <p:cNvGrpSpPr/>
        <p:nvPr/>
      </p:nvGrpSpPr>
      <p:grpSpPr>
        <a:xfrm>
          <a:off x="0" y="0"/>
          <a:ext cx="0" cy="0"/>
          <a:chOff x="0" y="0"/>
          <a:chExt cx="0" cy="0"/>
        </a:xfrm>
      </p:grpSpPr>
      <p:sp>
        <p:nvSpPr>
          <p:cNvPr id="806" name="Google Shape;806;p28"/>
          <p:cNvSpPr txBox="1">
            <a:spLocks noGrp="1"/>
          </p:cNvSpPr>
          <p:nvPr>
            <p:ph type="subTitle" idx="1"/>
          </p:nvPr>
        </p:nvSpPr>
        <p:spPr>
          <a:xfrm>
            <a:off x="721100" y="1386000"/>
            <a:ext cx="3850800" cy="333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807" name="Google Shape;807;p28"/>
          <p:cNvSpPr txBox="1">
            <a:spLocks noGrp="1"/>
          </p:cNvSpPr>
          <p:nvPr>
            <p:ph type="title"/>
          </p:nvPr>
        </p:nvSpPr>
        <p:spPr>
          <a:xfrm>
            <a:off x="716800" y="460250"/>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08" name="Google Shape;808;p28"/>
          <p:cNvSpPr txBox="1">
            <a:spLocks noGrp="1"/>
          </p:cNvSpPr>
          <p:nvPr>
            <p:ph type="subTitle" idx="2"/>
          </p:nvPr>
        </p:nvSpPr>
        <p:spPr>
          <a:xfrm>
            <a:off x="4572000" y="1386125"/>
            <a:ext cx="3850800" cy="333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809" name="Google Shape;809;p28"/>
          <p:cNvSpPr txBox="1">
            <a:spLocks noGrp="1"/>
          </p:cNvSpPr>
          <p:nvPr>
            <p:ph type="subTitle" idx="3"/>
          </p:nvPr>
        </p:nvSpPr>
        <p:spPr>
          <a:xfrm>
            <a:off x="721100" y="1017725"/>
            <a:ext cx="7706100" cy="44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0" name="Google Shape;810;p28"/>
          <p:cNvSpPr/>
          <p:nvPr/>
        </p:nvSpPr>
        <p:spPr>
          <a:xfrm>
            <a:off x="8588675" y="1562175"/>
            <a:ext cx="747653" cy="2076276"/>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8"/>
          <p:cNvSpPr/>
          <p:nvPr/>
        </p:nvSpPr>
        <p:spPr>
          <a:xfrm>
            <a:off x="7648215" y="4273086"/>
            <a:ext cx="1423780" cy="1198113"/>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8"/>
          <p:cNvSpPr/>
          <p:nvPr/>
        </p:nvSpPr>
        <p:spPr>
          <a:xfrm>
            <a:off x="8065850" y="-184854"/>
            <a:ext cx="1108595" cy="2545312"/>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8"/>
          <p:cNvSpPr/>
          <p:nvPr/>
        </p:nvSpPr>
        <p:spPr>
          <a:xfrm>
            <a:off x="32298" y="-22878"/>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8"/>
          <p:cNvSpPr/>
          <p:nvPr/>
        </p:nvSpPr>
        <p:spPr>
          <a:xfrm>
            <a:off x="-63806" y="3614958"/>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8"/>
          <p:cNvSpPr/>
          <p:nvPr/>
        </p:nvSpPr>
        <p:spPr>
          <a:xfrm>
            <a:off x="-25300" y="446184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8"/>
          <p:cNvSpPr/>
          <p:nvPr/>
        </p:nvSpPr>
        <p:spPr>
          <a:xfrm>
            <a:off x="-18106" y="-22898"/>
            <a:ext cx="702217" cy="2975656"/>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8"/>
          <p:cNvSpPr/>
          <p:nvPr/>
        </p:nvSpPr>
        <p:spPr>
          <a:xfrm flipH="1">
            <a:off x="8300354" y="4402342"/>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8"/>
          <p:cNvSpPr/>
          <p:nvPr/>
        </p:nvSpPr>
        <p:spPr>
          <a:xfrm flipH="1">
            <a:off x="317450" y="14162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8"/>
          <p:cNvSpPr/>
          <p:nvPr/>
        </p:nvSpPr>
        <p:spPr>
          <a:xfrm flipH="1">
            <a:off x="388660"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8"/>
          <p:cNvSpPr/>
          <p:nvPr/>
        </p:nvSpPr>
        <p:spPr>
          <a:xfrm flipH="1">
            <a:off x="125199"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8"/>
          <p:cNvSpPr/>
          <p:nvPr/>
        </p:nvSpPr>
        <p:spPr>
          <a:xfrm flipH="1">
            <a:off x="6846046" y="474134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8"/>
          <p:cNvSpPr/>
          <p:nvPr/>
        </p:nvSpPr>
        <p:spPr>
          <a:xfrm flipH="1">
            <a:off x="8819749" y="41369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8"/>
          <p:cNvSpPr/>
          <p:nvPr/>
        </p:nvSpPr>
        <p:spPr>
          <a:xfrm flipH="1">
            <a:off x="8700221" y="834783"/>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8"/>
          <p:cNvSpPr/>
          <p:nvPr/>
        </p:nvSpPr>
        <p:spPr>
          <a:xfrm flipH="1">
            <a:off x="7948274" y="5840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hree columns">
  <p:cSld name="CUSTOM_6">
    <p:bg>
      <p:bgPr>
        <a:gradFill>
          <a:gsLst>
            <a:gs pos="0">
              <a:schemeClr val="dk2"/>
            </a:gs>
            <a:gs pos="100000">
              <a:schemeClr val="lt2"/>
            </a:gs>
          </a:gsLst>
          <a:lin ang="18900044" scaled="0"/>
        </a:gradFill>
        <a:effectLst/>
      </p:bgPr>
    </p:bg>
    <p:spTree>
      <p:nvGrpSpPr>
        <p:cNvPr id="1" name="Shape 826"/>
        <p:cNvGrpSpPr/>
        <p:nvPr/>
      </p:nvGrpSpPr>
      <p:grpSpPr>
        <a:xfrm>
          <a:off x="0" y="0"/>
          <a:ext cx="0" cy="0"/>
          <a:chOff x="0" y="0"/>
          <a:chExt cx="0" cy="0"/>
        </a:xfrm>
      </p:grpSpPr>
      <p:sp>
        <p:nvSpPr>
          <p:cNvPr id="827" name="Google Shape;827;p29"/>
          <p:cNvSpPr txBox="1">
            <a:spLocks noGrp="1"/>
          </p:cNvSpPr>
          <p:nvPr>
            <p:ph type="title"/>
          </p:nvPr>
        </p:nvSpPr>
        <p:spPr>
          <a:xfrm>
            <a:off x="716800" y="455700"/>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28" name="Google Shape;828;p29"/>
          <p:cNvSpPr txBox="1">
            <a:spLocks noGrp="1"/>
          </p:cNvSpPr>
          <p:nvPr>
            <p:ph type="subTitle" idx="1"/>
          </p:nvPr>
        </p:nvSpPr>
        <p:spPr>
          <a:xfrm>
            <a:off x="564575" y="2639050"/>
            <a:ext cx="2658600" cy="50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9" name="Google Shape;829;p29"/>
          <p:cNvSpPr txBox="1">
            <a:spLocks noGrp="1"/>
          </p:cNvSpPr>
          <p:nvPr>
            <p:ph type="subTitle" idx="2"/>
          </p:nvPr>
        </p:nvSpPr>
        <p:spPr>
          <a:xfrm>
            <a:off x="805475" y="3014800"/>
            <a:ext cx="2176800" cy="81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0" name="Google Shape;830;p29"/>
          <p:cNvSpPr txBox="1">
            <a:spLocks noGrp="1"/>
          </p:cNvSpPr>
          <p:nvPr>
            <p:ph type="subTitle" idx="3"/>
          </p:nvPr>
        </p:nvSpPr>
        <p:spPr>
          <a:xfrm>
            <a:off x="3242661" y="2639050"/>
            <a:ext cx="2658600" cy="50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1" name="Google Shape;831;p29"/>
          <p:cNvSpPr txBox="1">
            <a:spLocks noGrp="1"/>
          </p:cNvSpPr>
          <p:nvPr>
            <p:ph type="subTitle" idx="4"/>
          </p:nvPr>
        </p:nvSpPr>
        <p:spPr>
          <a:xfrm>
            <a:off x="3483562" y="3014800"/>
            <a:ext cx="2176800" cy="81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2" name="Google Shape;832;p29"/>
          <p:cNvSpPr txBox="1">
            <a:spLocks noGrp="1"/>
          </p:cNvSpPr>
          <p:nvPr>
            <p:ph type="subTitle" idx="5"/>
          </p:nvPr>
        </p:nvSpPr>
        <p:spPr>
          <a:xfrm>
            <a:off x="5920721" y="2639050"/>
            <a:ext cx="2658600" cy="50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3" name="Google Shape;833;p29"/>
          <p:cNvSpPr txBox="1">
            <a:spLocks noGrp="1"/>
          </p:cNvSpPr>
          <p:nvPr>
            <p:ph type="subTitle" idx="6"/>
          </p:nvPr>
        </p:nvSpPr>
        <p:spPr>
          <a:xfrm>
            <a:off x="6161634" y="3014800"/>
            <a:ext cx="2176800" cy="81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4" name="Google Shape;834;p29"/>
          <p:cNvSpPr/>
          <p:nvPr/>
        </p:nvSpPr>
        <p:spPr>
          <a:xfrm rot="10800000" flipH="1">
            <a:off x="8381513" y="3429350"/>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9"/>
          <p:cNvSpPr/>
          <p:nvPr/>
        </p:nvSpPr>
        <p:spPr>
          <a:xfrm>
            <a:off x="8705813" y="2358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9"/>
          <p:cNvSpPr/>
          <p:nvPr/>
        </p:nvSpPr>
        <p:spPr>
          <a:xfrm rot="10800000">
            <a:off x="-7861" y="2307661"/>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9"/>
          <p:cNvSpPr/>
          <p:nvPr/>
        </p:nvSpPr>
        <p:spPr>
          <a:xfrm rot="10800000">
            <a:off x="-5637" y="3429350"/>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9"/>
          <p:cNvSpPr/>
          <p:nvPr/>
        </p:nvSpPr>
        <p:spPr>
          <a:xfrm flipH="1">
            <a:off x="774734" y="4593833"/>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9"/>
          <p:cNvSpPr/>
          <p:nvPr/>
        </p:nvSpPr>
        <p:spPr>
          <a:xfrm rot="10800000" flipH="1">
            <a:off x="-18632" y="-2291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9"/>
          <p:cNvSpPr/>
          <p:nvPr/>
        </p:nvSpPr>
        <p:spPr>
          <a:xfrm rot="9829011">
            <a:off x="7737065" y="4612328"/>
            <a:ext cx="880547" cy="740974"/>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9"/>
          <p:cNvSpPr/>
          <p:nvPr/>
        </p:nvSpPr>
        <p:spPr>
          <a:xfrm rot="-9899975" flipH="1">
            <a:off x="8519425" y="-125508"/>
            <a:ext cx="697249" cy="780862"/>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2" name="Google Shape;842;p29"/>
          <p:cNvGrpSpPr/>
          <p:nvPr/>
        </p:nvGrpSpPr>
        <p:grpSpPr>
          <a:xfrm>
            <a:off x="-1134868" y="-1133248"/>
            <a:ext cx="2274300" cy="2274300"/>
            <a:chOff x="-1087568" y="-1126448"/>
            <a:chExt cx="2274300" cy="2274300"/>
          </a:xfrm>
        </p:grpSpPr>
        <p:sp>
          <p:nvSpPr>
            <p:cNvPr id="843" name="Google Shape;843;p29"/>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9"/>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9"/>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9"/>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7" name="Google Shape;847;p29"/>
          <p:cNvSpPr/>
          <p:nvPr/>
        </p:nvSpPr>
        <p:spPr>
          <a:xfrm>
            <a:off x="8880475"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9"/>
          <p:cNvSpPr/>
          <p:nvPr/>
        </p:nvSpPr>
        <p:spPr>
          <a:xfrm>
            <a:off x="8430249"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9"/>
          <p:cNvSpPr/>
          <p:nvPr/>
        </p:nvSpPr>
        <p:spPr>
          <a:xfrm rot="1705102" flipH="1">
            <a:off x="8518361" y="2682192"/>
            <a:ext cx="790824" cy="940802"/>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16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0" name="Google Shape;850;p29"/>
          <p:cNvGrpSpPr/>
          <p:nvPr/>
        </p:nvGrpSpPr>
        <p:grpSpPr>
          <a:xfrm>
            <a:off x="8020382" y="-1133248"/>
            <a:ext cx="2274300" cy="2274300"/>
            <a:chOff x="-1087568" y="-1126448"/>
            <a:chExt cx="2274300" cy="2274300"/>
          </a:xfrm>
        </p:grpSpPr>
        <p:sp>
          <p:nvSpPr>
            <p:cNvPr id="851" name="Google Shape;851;p29"/>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9"/>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9"/>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9"/>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5" name="Google Shape;855;p29"/>
          <p:cNvSpPr/>
          <p:nvPr/>
        </p:nvSpPr>
        <p:spPr>
          <a:xfrm>
            <a:off x="411875" y="4731343"/>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9"/>
          <p:cNvSpPr/>
          <p:nvPr/>
        </p:nvSpPr>
        <p:spPr>
          <a:xfrm>
            <a:off x="483400" y="960875"/>
            <a:ext cx="81175" cy="8114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9"/>
          <p:cNvSpPr/>
          <p:nvPr/>
        </p:nvSpPr>
        <p:spPr>
          <a:xfrm>
            <a:off x="805475" y="139463"/>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9"/>
          <p:cNvSpPr/>
          <p:nvPr/>
        </p:nvSpPr>
        <p:spPr>
          <a:xfrm>
            <a:off x="8614400" y="34465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9"/>
          <p:cNvSpPr/>
          <p:nvPr/>
        </p:nvSpPr>
        <p:spPr>
          <a:xfrm>
            <a:off x="8854011" y="1042033"/>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9"/>
          <p:cNvSpPr/>
          <p:nvPr/>
        </p:nvSpPr>
        <p:spPr>
          <a:xfrm>
            <a:off x="1683050" y="475518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9"/>
          <p:cNvSpPr/>
          <p:nvPr/>
        </p:nvSpPr>
        <p:spPr>
          <a:xfrm>
            <a:off x="302463" y="279448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four columns ">
  <p:cSld name="CUSTOM_6_1">
    <p:bg>
      <p:bgPr>
        <a:gradFill>
          <a:gsLst>
            <a:gs pos="0">
              <a:schemeClr val="dk2"/>
            </a:gs>
            <a:gs pos="100000">
              <a:schemeClr val="lt2"/>
            </a:gs>
          </a:gsLst>
          <a:lin ang="5400700" scaled="0"/>
        </a:gradFill>
        <a:effectLst/>
      </p:bgPr>
    </p:bg>
    <p:spTree>
      <p:nvGrpSpPr>
        <p:cNvPr id="1" name="Shape 863"/>
        <p:cNvGrpSpPr/>
        <p:nvPr/>
      </p:nvGrpSpPr>
      <p:grpSpPr>
        <a:xfrm>
          <a:off x="0" y="0"/>
          <a:ext cx="0" cy="0"/>
          <a:chOff x="0" y="0"/>
          <a:chExt cx="0" cy="0"/>
        </a:xfrm>
      </p:grpSpPr>
      <p:sp>
        <p:nvSpPr>
          <p:cNvPr id="864" name="Google Shape;864;p30"/>
          <p:cNvSpPr txBox="1">
            <a:spLocks noGrp="1"/>
          </p:cNvSpPr>
          <p:nvPr>
            <p:ph type="title"/>
          </p:nvPr>
        </p:nvSpPr>
        <p:spPr>
          <a:xfrm>
            <a:off x="716800" y="469400"/>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65" name="Google Shape;865;p30"/>
          <p:cNvSpPr txBox="1">
            <a:spLocks noGrp="1"/>
          </p:cNvSpPr>
          <p:nvPr>
            <p:ph type="subTitle" idx="1"/>
          </p:nvPr>
        </p:nvSpPr>
        <p:spPr>
          <a:xfrm>
            <a:off x="844150" y="1428950"/>
            <a:ext cx="2610600" cy="454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6" name="Google Shape;866;p30"/>
          <p:cNvSpPr txBox="1">
            <a:spLocks noGrp="1"/>
          </p:cNvSpPr>
          <p:nvPr>
            <p:ph type="subTitle" idx="2"/>
          </p:nvPr>
        </p:nvSpPr>
        <p:spPr>
          <a:xfrm>
            <a:off x="1378325" y="1808950"/>
            <a:ext cx="2073000" cy="579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7" name="Google Shape;867;p30"/>
          <p:cNvSpPr txBox="1">
            <a:spLocks noGrp="1"/>
          </p:cNvSpPr>
          <p:nvPr>
            <p:ph type="subTitle" idx="3"/>
          </p:nvPr>
        </p:nvSpPr>
        <p:spPr>
          <a:xfrm>
            <a:off x="5708875" y="1428950"/>
            <a:ext cx="2610600" cy="45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8" name="Google Shape;868;p30"/>
          <p:cNvSpPr txBox="1">
            <a:spLocks noGrp="1"/>
          </p:cNvSpPr>
          <p:nvPr>
            <p:ph type="subTitle" idx="4"/>
          </p:nvPr>
        </p:nvSpPr>
        <p:spPr>
          <a:xfrm>
            <a:off x="5692575" y="1808950"/>
            <a:ext cx="2073000" cy="579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9" name="Google Shape;869;p30"/>
          <p:cNvSpPr txBox="1">
            <a:spLocks noGrp="1"/>
          </p:cNvSpPr>
          <p:nvPr>
            <p:ph type="subTitle" idx="5"/>
          </p:nvPr>
        </p:nvSpPr>
        <p:spPr>
          <a:xfrm>
            <a:off x="844175" y="3109550"/>
            <a:ext cx="2610600" cy="454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70" name="Google Shape;870;p30"/>
          <p:cNvSpPr txBox="1">
            <a:spLocks noGrp="1"/>
          </p:cNvSpPr>
          <p:nvPr>
            <p:ph type="subTitle" idx="6"/>
          </p:nvPr>
        </p:nvSpPr>
        <p:spPr>
          <a:xfrm>
            <a:off x="1378325" y="3489546"/>
            <a:ext cx="2073000" cy="579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71" name="Google Shape;871;p30"/>
          <p:cNvSpPr txBox="1">
            <a:spLocks noGrp="1"/>
          </p:cNvSpPr>
          <p:nvPr>
            <p:ph type="subTitle" idx="7"/>
          </p:nvPr>
        </p:nvSpPr>
        <p:spPr>
          <a:xfrm>
            <a:off x="5708875" y="3109550"/>
            <a:ext cx="2610600" cy="45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72" name="Google Shape;872;p30"/>
          <p:cNvSpPr txBox="1">
            <a:spLocks noGrp="1"/>
          </p:cNvSpPr>
          <p:nvPr>
            <p:ph type="subTitle" idx="8"/>
          </p:nvPr>
        </p:nvSpPr>
        <p:spPr>
          <a:xfrm>
            <a:off x="5692575" y="3489546"/>
            <a:ext cx="2073000" cy="579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73" name="Google Shape;873;p30"/>
          <p:cNvSpPr/>
          <p:nvPr/>
        </p:nvSpPr>
        <p:spPr>
          <a:xfrm rot="6329527" flipH="1">
            <a:off x="-125891" y="-295336"/>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0"/>
          <p:cNvSpPr/>
          <p:nvPr/>
        </p:nvSpPr>
        <p:spPr>
          <a:xfrm rot="9560678" flipH="1">
            <a:off x="8330034" y="-175035"/>
            <a:ext cx="1111233" cy="935086"/>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0"/>
          <p:cNvSpPr/>
          <p:nvPr/>
        </p:nvSpPr>
        <p:spPr>
          <a:xfrm rot="-4481061" flipH="1">
            <a:off x="7004838" y="4045970"/>
            <a:ext cx="1042639" cy="877340"/>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0"/>
          <p:cNvSpPr/>
          <p:nvPr/>
        </p:nvSpPr>
        <p:spPr>
          <a:xfrm rot="-5400000" flipH="1">
            <a:off x="3868356" y="9718"/>
            <a:ext cx="1356514"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0"/>
          <p:cNvSpPr/>
          <p:nvPr/>
        </p:nvSpPr>
        <p:spPr>
          <a:xfrm rot="-4470473" flipH="1">
            <a:off x="8263034" y="4243067"/>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0"/>
          <p:cNvSpPr/>
          <p:nvPr/>
        </p:nvSpPr>
        <p:spPr>
          <a:xfrm rot="8584896" flipH="1">
            <a:off x="-359812" y="4165109"/>
            <a:ext cx="1019032" cy="857452"/>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0"/>
          <p:cNvSpPr/>
          <p:nvPr/>
        </p:nvSpPr>
        <p:spPr>
          <a:xfrm>
            <a:off x="8711662" y="273438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0"/>
          <p:cNvSpPr/>
          <p:nvPr/>
        </p:nvSpPr>
        <p:spPr>
          <a:xfrm>
            <a:off x="83587" y="1068550"/>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0"/>
          <p:cNvSpPr/>
          <p:nvPr/>
        </p:nvSpPr>
        <p:spPr>
          <a:xfrm>
            <a:off x="8462212"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0"/>
          <p:cNvSpPr/>
          <p:nvPr/>
        </p:nvSpPr>
        <p:spPr>
          <a:xfrm>
            <a:off x="261775" y="408843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0"/>
          <p:cNvSpPr/>
          <p:nvPr/>
        </p:nvSpPr>
        <p:spPr>
          <a:xfrm>
            <a:off x="8592136" y="13947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0"/>
          <p:cNvSpPr/>
          <p:nvPr/>
        </p:nvSpPr>
        <p:spPr>
          <a:xfrm>
            <a:off x="1789372" y="491803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0"/>
          <p:cNvSpPr/>
          <p:nvPr/>
        </p:nvSpPr>
        <p:spPr>
          <a:xfrm>
            <a:off x="624462" y="423313"/>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0"/>
          <p:cNvSpPr/>
          <p:nvPr/>
        </p:nvSpPr>
        <p:spPr>
          <a:xfrm>
            <a:off x="1225547" y="29868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0"/>
          <p:cNvSpPr/>
          <p:nvPr/>
        </p:nvSpPr>
        <p:spPr>
          <a:xfrm>
            <a:off x="167987" y="436088"/>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0"/>
          <p:cNvSpPr/>
          <p:nvPr/>
        </p:nvSpPr>
        <p:spPr>
          <a:xfrm>
            <a:off x="8081311" y="47602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0"/>
          <p:cNvSpPr/>
          <p:nvPr/>
        </p:nvSpPr>
        <p:spPr>
          <a:xfrm>
            <a:off x="8961847" y="43608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five columns ">
  <p:cSld name="CUSTOM_12_1">
    <p:bg>
      <p:bgPr>
        <a:gradFill>
          <a:gsLst>
            <a:gs pos="0">
              <a:schemeClr val="dk2"/>
            </a:gs>
            <a:gs pos="100000">
              <a:schemeClr val="lt2"/>
            </a:gs>
          </a:gsLst>
          <a:lin ang="10801400" scaled="0"/>
        </a:gradFill>
        <a:effectLst/>
      </p:bgPr>
    </p:bg>
    <p:spTree>
      <p:nvGrpSpPr>
        <p:cNvPr id="1" name="Shape 891"/>
        <p:cNvGrpSpPr/>
        <p:nvPr/>
      </p:nvGrpSpPr>
      <p:grpSpPr>
        <a:xfrm>
          <a:off x="0" y="0"/>
          <a:ext cx="0" cy="0"/>
          <a:chOff x="0" y="0"/>
          <a:chExt cx="0" cy="0"/>
        </a:xfrm>
      </p:grpSpPr>
      <p:sp>
        <p:nvSpPr>
          <p:cNvPr id="892" name="Google Shape;892;p31"/>
          <p:cNvSpPr txBox="1">
            <a:spLocks noGrp="1"/>
          </p:cNvSpPr>
          <p:nvPr>
            <p:ph type="subTitle" idx="1"/>
          </p:nvPr>
        </p:nvSpPr>
        <p:spPr>
          <a:xfrm>
            <a:off x="914750" y="1379400"/>
            <a:ext cx="2214900" cy="78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93" name="Google Shape;893;p31"/>
          <p:cNvSpPr txBox="1">
            <a:spLocks noGrp="1"/>
          </p:cNvSpPr>
          <p:nvPr>
            <p:ph type="subTitle" idx="2"/>
          </p:nvPr>
        </p:nvSpPr>
        <p:spPr>
          <a:xfrm>
            <a:off x="985700" y="2087725"/>
            <a:ext cx="2073000" cy="57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94" name="Google Shape;894;p31"/>
          <p:cNvSpPr txBox="1">
            <a:spLocks noGrp="1"/>
          </p:cNvSpPr>
          <p:nvPr>
            <p:ph type="subTitle" idx="3"/>
          </p:nvPr>
        </p:nvSpPr>
        <p:spPr>
          <a:xfrm>
            <a:off x="2189632" y="3224950"/>
            <a:ext cx="2214900" cy="78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95" name="Google Shape;895;p31"/>
          <p:cNvSpPr txBox="1">
            <a:spLocks noGrp="1"/>
          </p:cNvSpPr>
          <p:nvPr>
            <p:ph type="subTitle" idx="4"/>
          </p:nvPr>
        </p:nvSpPr>
        <p:spPr>
          <a:xfrm>
            <a:off x="2260575" y="3953371"/>
            <a:ext cx="2073000" cy="57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96" name="Google Shape;896;p31"/>
          <p:cNvSpPr txBox="1">
            <a:spLocks noGrp="1"/>
          </p:cNvSpPr>
          <p:nvPr>
            <p:ph type="subTitle" idx="5"/>
          </p:nvPr>
        </p:nvSpPr>
        <p:spPr>
          <a:xfrm>
            <a:off x="3464513" y="1379400"/>
            <a:ext cx="2214900" cy="78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97" name="Google Shape;897;p31"/>
          <p:cNvSpPr txBox="1">
            <a:spLocks noGrp="1"/>
          </p:cNvSpPr>
          <p:nvPr>
            <p:ph type="subTitle" idx="6"/>
          </p:nvPr>
        </p:nvSpPr>
        <p:spPr>
          <a:xfrm>
            <a:off x="3535450" y="2087725"/>
            <a:ext cx="2073000" cy="57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98" name="Google Shape;898;p31"/>
          <p:cNvSpPr txBox="1">
            <a:spLocks noGrp="1"/>
          </p:cNvSpPr>
          <p:nvPr>
            <p:ph type="subTitle" idx="7"/>
          </p:nvPr>
        </p:nvSpPr>
        <p:spPr>
          <a:xfrm>
            <a:off x="6014277" y="1379400"/>
            <a:ext cx="2214900" cy="78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99" name="Google Shape;899;p31"/>
          <p:cNvSpPr txBox="1">
            <a:spLocks noGrp="1"/>
          </p:cNvSpPr>
          <p:nvPr>
            <p:ph type="subTitle" idx="8"/>
          </p:nvPr>
        </p:nvSpPr>
        <p:spPr>
          <a:xfrm>
            <a:off x="6085200" y="2087725"/>
            <a:ext cx="2073000" cy="57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900" name="Google Shape;900;p31"/>
          <p:cNvSpPr txBox="1">
            <a:spLocks noGrp="1"/>
          </p:cNvSpPr>
          <p:nvPr>
            <p:ph type="subTitle" idx="9"/>
          </p:nvPr>
        </p:nvSpPr>
        <p:spPr>
          <a:xfrm>
            <a:off x="4739395" y="3224950"/>
            <a:ext cx="2214900" cy="78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901" name="Google Shape;901;p31"/>
          <p:cNvSpPr txBox="1">
            <a:spLocks noGrp="1"/>
          </p:cNvSpPr>
          <p:nvPr>
            <p:ph type="subTitle" idx="13"/>
          </p:nvPr>
        </p:nvSpPr>
        <p:spPr>
          <a:xfrm>
            <a:off x="4810350" y="3953371"/>
            <a:ext cx="2073000" cy="57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902" name="Google Shape;902;p31"/>
          <p:cNvSpPr txBox="1">
            <a:spLocks noGrp="1"/>
          </p:cNvSpPr>
          <p:nvPr>
            <p:ph type="title"/>
          </p:nvPr>
        </p:nvSpPr>
        <p:spPr>
          <a:xfrm>
            <a:off x="716800" y="453087"/>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03" name="Google Shape;903;p31"/>
          <p:cNvSpPr/>
          <p:nvPr/>
        </p:nvSpPr>
        <p:spPr>
          <a:xfrm rot="10800000" flipH="1">
            <a:off x="8381513" y="3429350"/>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1"/>
          <p:cNvSpPr/>
          <p:nvPr/>
        </p:nvSpPr>
        <p:spPr>
          <a:xfrm>
            <a:off x="8705813" y="2358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1"/>
          <p:cNvSpPr/>
          <p:nvPr/>
        </p:nvSpPr>
        <p:spPr>
          <a:xfrm rot="10800000">
            <a:off x="-7861" y="2307661"/>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1"/>
          <p:cNvSpPr/>
          <p:nvPr/>
        </p:nvSpPr>
        <p:spPr>
          <a:xfrm rot="10800000">
            <a:off x="-5637" y="3429350"/>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1"/>
          <p:cNvSpPr/>
          <p:nvPr/>
        </p:nvSpPr>
        <p:spPr>
          <a:xfrm flipH="1">
            <a:off x="774734" y="4593833"/>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1"/>
          <p:cNvSpPr/>
          <p:nvPr/>
        </p:nvSpPr>
        <p:spPr>
          <a:xfrm rot="10800000" flipH="1">
            <a:off x="-18632" y="-2291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1"/>
          <p:cNvSpPr/>
          <p:nvPr/>
        </p:nvSpPr>
        <p:spPr>
          <a:xfrm rot="9829011">
            <a:off x="7737065" y="4612328"/>
            <a:ext cx="880547" cy="740974"/>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1"/>
          <p:cNvSpPr/>
          <p:nvPr/>
        </p:nvSpPr>
        <p:spPr>
          <a:xfrm rot="-9899975" flipH="1">
            <a:off x="8519425" y="-125508"/>
            <a:ext cx="697249" cy="780862"/>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1" name="Google Shape;911;p31"/>
          <p:cNvGrpSpPr/>
          <p:nvPr/>
        </p:nvGrpSpPr>
        <p:grpSpPr>
          <a:xfrm>
            <a:off x="-1134868" y="-1133248"/>
            <a:ext cx="2274300" cy="2274300"/>
            <a:chOff x="-1087568" y="-1126448"/>
            <a:chExt cx="2274300" cy="2274300"/>
          </a:xfrm>
        </p:grpSpPr>
        <p:sp>
          <p:nvSpPr>
            <p:cNvPr id="912" name="Google Shape;912;p31"/>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1"/>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1"/>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1"/>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6" name="Google Shape;916;p31"/>
          <p:cNvSpPr/>
          <p:nvPr/>
        </p:nvSpPr>
        <p:spPr>
          <a:xfrm>
            <a:off x="8880475"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1"/>
          <p:cNvSpPr/>
          <p:nvPr/>
        </p:nvSpPr>
        <p:spPr>
          <a:xfrm>
            <a:off x="8430249"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1"/>
          <p:cNvSpPr/>
          <p:nvPr/>
        </p:nvSpPr>
        <p:spPr>
          <a:xfrm rot="1705102" flipH="1">
            <a:off x="8518361" y="2682192"/>
            <a:ext cx="790824" cy="940802"/>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16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9" name="Google Shape;919;p31"/>
          <p:cNvGrpSpPr/>
          <p:nvPr/>
        </p:nvGrpSpPr>
        <p:grpSpPr>
          <a:xfrm>
            <a:off x="8020382" y="-1133248"/>
            <a:ext cx="2274300" cy="2274300"/>
            <a:chOff x="-1087568" y="-1126448"/>
            <a:chExt cx="2274300" cy="2274300"/>
          </a:xfrm>
        </p:grpSpPr>
        <p:sp>
          <p:nvSpPr>
            <p:cNvPr id="920" name="Google Shape;920;p31"/>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1"/>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1"/>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1"/>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4" name="Google Shape;924;p31"/>
          <p:cNvSpPr/>
          <p:nvPr/>
        </p:nvSpPr>
        <p:spPr>
          <a:xfrm>
            <a:off x="411875" y="4731343"/>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1"/>
          <p:cNvSpPr/>
          <p:nvPr/>
        </p:nvSpPr>
        <p:spPr>
          <a:xfrm>
            <a:off x="483400" y="960875"/>
            <a:ext cx="81175" cy="8114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1"/>
          <p:cNvSpPr/>
          <p:nvPr/>
        </p:nvSpPr>
        <p:spPr>
          <a:xfrm>
            <a:off x="805475" y="139463"/>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1"/>
          <p:cNvSpPr/>
          <p:nvPr/>
        </p:nvSpPr>
        <p:spPr>
          <a:xfrm>
            <a:off x="8614400" y="34465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1"/>
          <p:cNvSpPr/>
          <p:nvPr/>
        </p:nvSpPr>
        <p:spPr>
          <a:xfrm>
            <a:off x="8854011" y="1042033"/>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1"/>
          <p:cNvSpPr/>
          <p:nvPr/>
        </p:nvSpPr>
        <p:spPr>
          <a:xfrm>
            <a:off x="1683050" y="475518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1"/>
          <p:cNvSpPr/>
          <p:nvPr/>
        </p:nvSpPr>
        <p:spPr>
          <a:xfrm>
            <a:off x="302463" y="279448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ix columns ">
  <p:cSld name="CUSTOM_6_1_1">
    <p:bg>
      <p:bgPr>
        <a:gradFill>
          <a:gsLst>
            <a:gs pos="0">
              <a:schemeClr val="dk2"/>
            </a:gs>
            <a:gs pos="100000">
              <a:schemeClr val="lt2"/>
            </a:gs>
          </a:gsLst>
          <a:lin ang="18900044" scaled="0"/>
        </a:gradFill>
        <a:effectLst/>
      </p:bgPr>
    </p:bg>
    <p:spTree>
      <p:nvGrpSpPr>
        <p:cNvPr id="1" name="Shape 932"/>
        <p:cNvGrpSpPr/>
        <p:nvPr/>
      </p:nvGrpSpPr>
      <p:grpSpPr>
        <a:xfrm>
          <a:off x="0" y="0"/>
          <a:ext cx="0" cy="0"/>
          <a:chOff x="0" y="0"/>
          <a:chExt cx="0" cy="0"/>
        </a:xfrm>
      </p:grpSpPr>
      <p:sp>
        <p:nvSpPr>
          <p:cNvPr id="933" name="Google Shape;933;p32"/>
          <p:cNvSpPr txBox="1">
            <a:spLocks noGrp="1"/>
          </p:cNvSpPr>
          <p:nvPr>
            <p:ph type="title"/>
          </p:nvPr>
        </p:nvSpPr>
        <p:spPr>
          <a:xfrm>
            <a:off x="781500" y="460250"/>
            <a:ext cx="7581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34" name="Google Shape;934;p32"/>
          <p:cNvSpPr txBox="1">
            <a:spLocks noGrp="1"/>
          </p:cNvSpPr>
          <p:nvPr>
            <p:ph type="subTitle" idx="1"/>
          </p:nvPr>
        </p:nvSpPr>
        <p:spPr>
          <a:xfrm>
            <a:off x="4007525" y="1373950"/>
            <a:ext cx="19476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5" name="Google Shape;935;p32"/>
          <p:cNvSpPr txBox="1">
            <a:spLocks noGrp="1"/>
          </p:cNvSpPr>
          <p:nvPr>
            <p:ph type="subTitle" idx="2"/>
          </p:nvPr>
        </p:nvSpPr>
        <p:spPr>
          <a:xfrm>
            <a:off x="4011025" y="1758075"/>
            <a:ext cx="1491300" cy="8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6" name="Google Shape;936;p32"/>
          <p:cNvSpPr txBox="1">
            <a:spLocks noGrp="1"/>
          </p:cNvSpPr>
          <p:nvPr>
            <p:ph type="subTitle" idx="3"/>
          </p:nvPr>
        </p:nvSpPr>
        <p:spPr>
          <a:xfrm>
            <a:off x="4007525" y="3017127"/>
            <a:ext cx="1947600" cy="45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7" name="Google Shape;937;p32"/>
          <p:cNvSpPr txBox="1">
            <a:spLocks noGrp="1"/>
          </p:cNvSpPr>
          <p:nvPr>
            <p:ph type="subTitle" idx="4"/>
          </p:nvPr>
        </p:nvSpPr>
        <p:spPr>
          <a:xfrm>
            <a:off x="4011013" y="3393777"/>
            <a:ext cx="1491300" cy="8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8" name="Google Shape;938;p32"/>
          <p:cNvSpPr txBox="1">
            <a:spLocks noGrp="1"/>
          </p:cNvSpPr>
          <p:nvPr>
            <p:ph type="subTitle" idx="5"/>
          </p:nvPr>
        </p:nvSpPr>
        <p:spPr>
          <a:xfrm>
            <a:off x="6656650" y="1374750"/>
            <a:ext cx="19476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9" name="Google Shape;939;p32"/>
          <p:cNvSpPr txBox="1">
            <a:spLocks noGrp="1"/>
          </p:cNvSpPr>
          <p:nvPr>
            <p:ph type="subTitle" idx="6"/>
          </p:nvPr>
        </p:nvSpPr>
        <p:spPr>
          <a:xfrm>
            <a:off x="6652513" y="1758075"/>
            <a:ext cx="1491300" cy="8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40" name="Google Shape;940;p32"/>
          <p:cNvSpPr txBox="1">
            <a:spLocks noGrp="1"/>
          </p:cNvSpPr>
          <p:nvPr>
            <p:ph type="subTitle" idx="7"/>
          </p:nvPr>
        </p:nvSpPr>
        <p:spPr>
          <a:xfrm>
            <a:off x="6656650" y="3016824"/>
            <a:ext cx="1947600" cy="45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41" name="Google Shape;941;p32"/>
          <p:cNvSpPr txBox="1">
            <a:spLocks noGrp="1"/>
          </p:cNvSpPr>
          <p:nvPr>
            <p:ph type="subTitle" idx="8"/>
          </p:nvPr>
        </p:nvSpPr>
        <p:spPr>
          <a:xfrm>
            <a:off x="6652513" y="3393775"/>
            <a:ext cx="1491300" cy="8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42" name="Google Shape;942;p32"/>
          <p:cNvSpPr txBox="1">
            <a:spLocks noGrp="1"/>
          </p:cNvSpPr>
          <p:nvPr>
            <p:ph type="subTitle" idx="9"/>
          </p:nvPr>
        </p:nvSpPr>
        <p:spPr>
          <a:xfrm>
            <a:off x="1419225" y="1373950"/>
            <a:ext cx="19476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43" name="Google Shape;943;p32"/>
          <p:cNvSpPr txBox="1">
            <a:spLocks noGrp="1"/>
          </p:cNvSpPr>
          <p:nvPr>
            <p:ph type="subTitle" idx="13"/>
          </p:nvPr>
        </p:nvSpPr>
        <p:spPr>
          <a:xfrm>
            <a:off x="1419213" y="1758075"/>
            <a:ext cx="1491300" cy="8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44" name="Google Shape;944;p32"/>
          <p:cNvSpPr txBox="1">
            <a:spLocks noGrp="1"/>
          </p:cNvSpPr>
          <p:nvPr>
            <p:ph type="subTitle" idx="14"/>
          </p:nvPr>
        </p:nvSpPr>
        <p:spPr>
          <a:xfrm>
            <a:off x="1419225" y="3011025"/>
            <a:ext cx="1947600" cy="45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45" name="Google Shape;945;p32"/>
          <p:cNvSpPr txBox="1">
            <a:spLocks noGrp="1"/>
          </p:cNvSpPr>
          <p:nvPr>
            <p:ph type="subTitle" idx="15"/>
          </p:nvPr>
        </p:nvSpPr>
        <p:spPr>
          <a:xfrm>
            <a:off x="1419213" y="3393777"/>
            <a:ext cx="1491300" cy="8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46" name="Google Shape;946;p32"/>
          <p:cNvSpPr/>
          <p:nvPr/>
        </p:nvSpPr>
        <p:spPr>
          <a:xfrm>
            <a:off x="8381513" y="-138387"/>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2"/>
          <p:cNvSpPr/>
          <p:nvPr/>
        </p:nvSpPr>
        <p:spPr>
          <a:xfrm flipH="1">
            <a:off x="-7861" y="886905"/>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2"/>
          <p:cNvSpPr/>
          <p:nvPr/>
        </p:nvSpPr>
        <p:spPr>
          <a:xfrm flipH="1">
            <a:off x="-5637" y="-138387"/>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2"/>
          <p:cNvSpPr/>
          <p:nvPr/>
        </p:nvSpPr>
        <p:spPr>
          <a:xfrm rot="10800000">
            <a:off x="774734" y="-129596"/>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2"/>
          <p:cNvSpPr/>
          <p:nvPr/>
        </p:nvSpPr>
        <p:spPr>
          <a:xfrm>
            <a:off x="-18632" y="4449387"/>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2"/>
          <p:cNvSpPr/>
          <p:nvPr/>
        </p:nvSpPr>
        <p:spPr>
          <a:xfrm rot="970989" flipH="1">
            <a:off x="7737065" y="-208594"/>
            <a:ext cx="880547" cy="740974"/>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2"/>
          <p:cNvSpPr/>
          <p:nvPr/>
        </p:nvSpPr>
        <p:spPr>
          <a:xfrm rot="-900025">
            <a:off x="8519425" y="4489354"/>
            <a:ext cx="697249" cy="780862"/>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3" name="Google Shape;953;p32"/>
          <p:cNvGrpSpPr/>
          <p:nvPr/>
        </p:nvGrpSpPr>
        <p:grpSpPr>
          <a:xfrm rot="10800000" flipH="1">
            <a:off x="-1134868" y="4003656"/>
            <a:ext cx="2274300" cy="2274300"/>
            <a:chOff x="-1087568" y="-1126448"/>
            <a:chExt cx="2274300" cy="2274300"/>
          </a:xfrm>
        </p:grpSpPr>
        <p:sp>
          <p:nvSpPr>
            <p:cNvPr id="954" name="Google Shape;954;p32"/>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2"/>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2"/>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2"/>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8" name="Google Shape;958;p32"/>
          <p:cNvSpPr/>
          <p:nvPr/>
        </p:nvSpPr>
        <p:spPr>
          <a:xfrm rot="10800000" flipH="1">
            <a:off x="8880475" y="1022021"/>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2"/>
          <p:cNvSpPr/>
          <p:nvPr/>
        </p:nvSpPr>
        <p:spPr>
          <a:xfrm rot="10800000" flipH="1">
            <a:off x="8430249" y="212831"/>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2"/>
          <p:cNvSpPr/>
          <p:nvPr/>
        </p:nvSpPr>
        <p:spPr>
          <a:xfrm rot="9094898">
            <a:off x="8518361" y="1521714"/>
            <a:ext cx="790824" cy="940802"/>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16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1" name="Google Shape;961;p32"/>
          <p:cNvGrpSpPr/>
          <p:nvPr/>
        </p:nvGrpSpPr>
        <p:grpSpPr>
          <a:xfrm rot="10800000" flipH="1">
            <a:off x="8020382" y="4003656"/>
            <a:ext cx="2274300" cy="2274300"/>
            <a:chOff x="-1087568" y="-1126448"/>
            <a:chExt cx="2274300" cy="2274300"/>
          </a:xfrm>
        </p:grpSpPr>
        <p:sp>
          <p:nvSpPr>
            <p:cNvPr id="962" name="Google Shape;962;p32"/>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2"/>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2"/>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2"/>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6" name="Google Shape;966;p32"/>
          <p:cNvSpPr/>
          <p:nvPr/>
        </p:nvSpPr>
        <p:spPr>
          <a:xfrm rot="10800000" flipH="1">
            <a:off x="411875" y="254144"/>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2"/>
          <p:cNvSpPr/>
          <p:nvPr/>
        </p:nvSpPr>
        <p:spPr>
          <a:xfrm rot="10800000" flipH="1">
            <a:off x="483400" y="4102691"/>
            <a:ext cx="81175" cy="8114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2"/>
          <p:cNvSpPr/>
          <p:nvPr/>
        </p:nvSpPr>
        <p:spPr>
          <a:xfrm rot="10800000" flipH="1">
            <a:off x="805475" y="4752546"/>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2"/>
          <p:cNvSpPr/>
          <p:nvPr/>
        </p:nvSpPr>
        <p:spPr>
          <a:xfrm rot="10800000" flipH="1">
            <a:off x="8705813" y="465620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2"/>
          <p:cNvSpPr/>
          <p:nvPr/>
        </p:nvSpPr>
        <p:spPr>
          <a:xfrm rot="10800000" flipH="1">
            <a:off x="8614400" y="1638146"/>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2"/>
          <p:cNvSpPr/>
          <p:nvPr/>
        </p:nvSpPr>
        <p:spPr>
          <a:xfrm rot="10800000" flipH="1">
            <a:off x="8854011" y="394345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2"/>
          <p:cNvSpPr/>
          <p:nvPr/>
        </p:nvSpPr>
        <p:spPr>
          <a:xfrm rot="10800000" flipH="1">
            <a:off x="1683050" y="136821"/>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2"/>
          <p:cNvSpPr/>
          <p:nvPr/>
        </p:nvSpPr>
        <p:spPr>
          <a:xfrm rot="10800000" flipH="1">
            <a:off x="302463" y="2290221"/>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hanks">
  <p:cSld name="CUSTOM_3">
    <p:bg>
      <p:bgPr>
        <a:gradFill>
          <a:gsLst>
            <a:gs pos="0">
              <a:schemeClr val="lt2"/>
            </a:gs>
            <a:gs pos="100000">
              <a:schemeClr val="dk2"/>
            </a:gs>
          </a:gsLst>
          <a:lin ang="10801400" scaled="0"/>
        </a:gradFill>
        <a:effectLst/>
      </p:bgPr>
    </p:bg>
    <p:spTree>
      <p:nvGrpSpPr>
        <p:cNvPr id="1" name="Shape 975"/>
        <p:cNvGrpSpPr/>
        <p:nvPr/>
      </p:nvGrpSpPr>
      <p:grpSpPr>
        <a:xfrm>
          <a:off x="0" y="0"/>
          <a:ext cx="0" cy="0"/>
          <a:chOff x="0" y="0"/>
          <a:chExt cx="0" cy="0"/>
        </a:xfrm>
      </p:grpSpPr>
      <p:grpSp>
        <p:nvGrpSpPr>
          <p:cNvPr id="976" name="Google Shape;976;p33"/>
          <p:cNvGrpSpPr/>
          <p:nvPr/>
        </p:nvGrpSpPr>
        <p:grpSpPr>
          <a:xfrm flipH="1">
            <a:off x="5565608" y="-1031450"/>
            <a:ext cx="7194900" cy="7194900"/>
            <a:chOff x="-3604212" y="-1031450"/>
            <a:chExt cx="7194900" cy="7194900"/>
          </a:xfrm>
        </p:grpSpPr>
        <p:sp>
          <p:nvSpPr>
            <p:cNvPr id="977" name="Google Shape;977;p33"/>
            <p:cNvSpPr/>
            <p:nvPr/>
          </p:nvSpPr>
          <p:spPr>
            <a:xfrm>
              <a:off x="-1542462" y="1030300"/>
              <a:ext cx="3071400" cy="30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3"/>
            <p:cNvSpPr/>
            <p:nvPr/>
          </p:nvSpPr>
          <p:spPr>
            <a:xfrm>
              <a:off x="-1972812" y="599950"/>
              <a:ext cx="3932100" cy="3932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3"/>
            <p:cNvSpPr/>
            <p:nvPr/>
          </p:nvSpPr>
          <p:spPr>
            <a:xfrm>
              <a:off x="-2270712" y="302050"/>
              <a:ext cx="4527900" cy="4527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3"/>
            <p:cNvSpPr/>
            <p:nvPr/>
          </p:nvSpPr>
          <p:spPr>
            <a:xfrm>
              <a:off x="-2973462" y="-400700"/>
              <a:ext cx="5933400" cy="593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3"/>
            <p:cNvSpPr/>
            <p:nvPr/>
          </p:nvSpPr>
          <p:spPr>
            <a:xfrm>
              <a:off x="-3604212" y="-1031450"/>
              <a:ext cx="7194900" cy="7194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2" name="Google Shape;982;p33"/>
          <p:cNvSpPr/>
          <p:nvPr/>
        </p:nvSpPr>
        <p:spPr>
          <a:xfrm flipH="1">
            <a:off x="7007074" y="-203925"/>
            <a:ext cx="2157228" cy="5550721"/>
          </a:xfrm>
          <a:custGeom>
            <a:avLst/>
            <a:gdLst/>
            <a:ahLst/>
            <a:cxnLst/>
            <a:rect l="l" t="t" r="r" b="b"/>
            <a:pathLst>
              <a:path w="33737" h="86808" extrusionOk="0">
                <a:moveTo>
                  <a:pt x="1" y="0"/>
                </a:moveTo>
                <a:lnTo>
                  <a:pt x="118" y="86808"/>
                </a:lnTo>
                <a:cubicBezTo>
                  <a:pt x="8000" y="86652"/>
                  <a:pt x="13600" y="81715"/>
                  <a:pt x="15649" y="79530"/>
                </a:cubicBezTo>
                <a:cubicBezTo>
                  <a:pt x="17678" y="77364"/>
                  <a:pt x="23415" y="75452"/>
                  <a:pt x="26849" y="70125"/>
                </a:cubicBezTo>
                <a:cubicBezTo>
                  <a:pt x="30283" y="64779"/>
                  <a:pt x="29912" y="62243"/>
                  <a:pt x="31824" y="52565"/>
                </a:cubicBezTo>
                <a:cubicBezTo>
                  <a:pt x="33736" y="42906"/>
                  <a:pt x="32390" y="34185"/>
                  <a:pt x="29698" y="28741"/>
                </a:cubicBezTo>
                <a:cubicBezTo>
                  <a:pt x="27044" y="23278"/>
                  <a:pt x="25795" y="17658"/>
                  <a:pt x="22361" y="14224"/>
                </a:cubicBezTo>
                <a:cubicBezTo>
                  <a:pt x="18927" y="10790"/>
                  <a:pt x="18654" y="11415"/>
                  <a:pt x="13347" y="6439"/>
                </a:cubicBezTo>
                <a:cubicBezTo>
                  <a:pt x="7649" y="1132"/>
                  <a:pt x="508" y="390"/>
                  <a:pt x="1" y="0"/>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3"/>
          <p:cNvSpPr/>
          <p:nvPr/>
        </p:nvSpPr>
        <p:spPr>
          <a:xfrm flipH="1">
            <a:off x="8209576" y="1423928"/>
            <a:ext cx="417608" cy="585649"/>
          </a:xfrm>
          <a:custGeom>
            <a:avLst/>
            <a:gdLst/>
            <a:ahLst/>
            <a:cxnLst/>
            <a:rect l="l" t="t" r="r" b="b"/>
            <a:pathLst>
              <a:path w="6531" h="9159" extrusionOk="0">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3"/>
          <p:cNvSpPr/>
          <p:nvPr/>
        </p:nvSpPr>
        <p:spPr>
          <a:xfrm flipH="1">
            <a:off x="8571235" y="3139831"/>
            <a:ext cx="397211" cy="599717"/>
          </a:xfrm>
          <a:custGeom>
            <a:avLst/>
            <a:gdLst/>
            <a:ahLst/>
            <a:cxnLst/>
            <a:rect l="l" t="t" r="r" b="b"/>
            <a:pathLst>
              <a:path w="6212" h="9379" extrusionOk="0">
                <a:moveTo>
                  <a:pt x="5824" y="0"/>
                </a:moveTo>
                <a:cubicBezTo>
                  <a:pt x="5720" y="0"/>
                  <a:pt x="5564" y="146"/>
                  <a:pt x="5367" y="467"/>
                </a:cubicBezTo>
                <a:cubicBezTo>
                  <a:pt x="5367" y="467"/>
                  <a:pt x="4294" y="3277"/>
                  <a:pt x="2537" y="5579"/>
                </a:cubicBezTo>
                <a:cubicBezTo>
                  <a:pt x="781" y="7901"/>
                  <a:pt x="1" y="8896"/>
                  <a:pt x="98" y="9325"/>
                </a:cubicBezTo>
                <a:cubicBezTo>
                  <a:pt x="107" y="9361"/>
                  <a:pt x="130" y="9379"/>
                  <a:pt x="166" y="9379"/>
                </a:cubicBezTo>
                <a:cubicBezTo>
                  <a:pt x="540" y="9379"/>
                  <a:pt x="2331" y="7483"/>
                  <a:pt x="4235" y="4564"/>
                </a:cubicBezTo>
                <a:cubicBezTo>
                  <a:pt x="5867" y="2039"/>
                  <a:pt x="6211" y="0"/>
                  <a:pt x="5824"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3"/>
          <p:cNvSpPr/>
          <p:nvPr/>
        </p:nvSpPr>
        <p:spPr>
          <a:xfrm flipH="1">
            <a:off x="8234769" y="2404873"/>
            <a:ext cx="169703" cy="909582"/>
          </a:xfrm>
          <a:custGeom>
            <a:avLst/>
            <a:gdLst/>
            <a:ahLst/>
            <a:cxnLst/>
            <a:rect l="l" t="t" r="r" b="b"/>
            <a:pathLst>
              <a:path w="2654" h="14225" extrusionOk="0">
                <a:moveTo>
                  <a:pt x="550" y="1"/>
                </a:moveTo>
                <a:cubicBezTo>
                  <a:pt x="235" y="1"/>
                  <a:pt x="390" y="2453"/>
                  <a:pt x="937" y="4566"/>
                </a:cubicBezTo>
                <a:cubicBezTo>
                  <a:pt x="1522" y="6829"/>
                  <a:pt x="1366" y="6907"/>
                  <a:pt x="1269" y="8449"/>
                </a:cubicBezTo>
                <a:cubicBezTo>
                  <a:pt x="1190" y="9971"/>
                  <a:pt x="1015" y="10849"/>
                  <a:pt x="605" y="11980"/>
                </a:cubicBezTo>
                <a:cubicBezTo>
                  <a:pt x="195" y="13093"/>
                  <a:pt x="0" y="14224"/>
                  <a:pt x="195" y="14224"/>
                </a:cubicBezTo>
                <a:cubicBezTo>
                  <a:pt x="410" y="14224"/>
                  <a:pt x="917" y="13405"/>
                  <a:pt x="1132" y="12449"/>
                </a:cubicBezTo>
                <a:cubicBezTo>
                  <a:pt x="1366" y="11493"/>
                  <a:pt x="1854" y="10244"/>
                  <a:pt x="2264" y="8683"/>
                </a:cubicBezTo>
                <a:cubicBezTo>
                  <a:pt x="2654" y="7122"/>
                  <a:pt x="2205" y="6576"/>
                  <a:pt x="1971" y="5229"/>
                </a:cubicBezTo>
                <a:cubicBezTo>
                  <a:pt x="1717" y="3903"/>
                  <a:pt x="1288" y="2927"/>
                  <a:pt x="1288" y="1600"/>
                </a:cubicBezTo>
                <a:cubicBezTo>
                  <a:pt x="1288" y="254"/>
                  <a:pt x="625" y="39"/>
                  <a:pt x="625" y="39"/>
                </a:cubicBezTo>
                <a:cubicBezTo>
                  <a:pt x="597" y="13"/>
                  <a:pt x="572" y="1"/>
                  <a:pt x="550"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3"/>
          <p:cNvSpPr/>
          <p:nvPr/>
        </p:nvSpPr>
        <p:spPr>
          <a:xfrm flipH="1">
            <a:off x="8644002" y="1268292"/>
            <a:ext cx="515313" cy="1133381"/>
          </a:xfrm>
          <a:custGeom>
            <a:avLst/>
            <a:gdLst/>
            <a:ahLst/>
            <a:cxnLst/>
            <a:rect l="l" t="t" r="r" b="b"/>
            <a:pathLst>
              <a:path w="8059" h="17725" extrusionOk="0">
                <a:moveTo>
                  <a:pt x="1" y="0"/>
                </a:moveTo>
                <a:lnTo>
                  <a:pt x="1" y="5190"/>
                </a:lnTo>
                <a:cubicBezTo>
                  <a:pt x="820" y="5658"/>
                  <a:pt x="1815" y="6615"/>
                  <a:pt x="2166" y="8507"/>
                </a:cubicBezTo>
                <a:cubicBezTo>
                  <a:pt x="2498" y="10419"/>
                  <a:pt x="3220" y="11785"/>
                  <a:pt x="3864" y="13073"/>
                </a:cubicBezTo>
                <a:cubicBezTo>
                  <a:pt x="4508" y="14361"/>
                  <a:pt x="4683" y="17580"/>
                  <a:pt x="5230" y="17717"/>
                </a:cubicBezTo>
                <a:cubicBezTo>
                  <a:pt x="5255" y="17722"/>
                  <a:pt x="5281" y="17725"/>
                  <a:pt x="5305" y="17725"/>
                </a:cubicBezTo>
                <a:cubicBezTo>
                  <a:pt x="5822" y="17725"/>
                  <a:pt x="6079" y="16562"/>
                  <a:pt x="5464" y="14848"/>
                </a:cubicBezTo>
                <a:cubicBezTo>
                  <a:pt x="4820" y="13073"/>
                  <a:pt x="5113" y="12956"/>
                  <a:pt x="5581" y="12117"/>
                </a:cubicBezTo>
                <a:cubicBezTo>
                  <a:pt x="6010" y="11297"/>
                  <a:pt x="3513" y="8312"/>
                  <a:pt x="3962" y="7102"/>
                </a:cubicBezTo>
                <a:cubicBezTo>
                  <a:pt x="4070" y="6817"/>
                  <a:pt x="4249" y="6711"/>
                  <a:pt x="4472" y="6711"/>
                </a:cubicBezTo>
                <a:cubicBezTo>
                  <a:pt x="5106" y="6711"/>
                  <a:pt x="6093" y="7567"/>
                  <a:pt x="6815" y="7567"/>
                </a:cubicBezTo>
                <a:cubicBezTo>
                  <a:pt x="6932" y="7567"/>
                  <a:pt x="7042" y="7545"/>
                  <a:pt x="7142" y="7493"/>
                </a:cubicBezTo>
                <a:cubicBezTo>
                  <a:pt x="8059" y="7005"/>
                  <a:pt x="6400" y="6010"/>
                  <a:pt x="5308" y="5171"/>
                </a:cubicBezTo>
                <a:cubicBezTo>
                  <a:pt x="4215" y="4351"/>
                  <a:pt x="3123" y="2927"/>
                  <a:pt x="2303" y="1620"/>
                </a:cubicBezTo>
                <a:cubicBezTo>
                  <a:pt x="1503" y="293"/>
                  <a:pt x="1" y="0"/>
                  <a:pt x="1"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3"/>
          <p:cNvSpPr/>
          <p:nvPr/>
        </p:nvSpPr>
        <p:spPr>
          <a:xfrm flipH="1">
            <a:off x="7861729" y="2506798"/>
            <a:ext cx="766223" cy="1714938"/>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3"/>
          <p:cNvSpPr/>
          <p:nvPr/>
        </p:nvSpPr>
        <p:spPr>
          <a:xfrm flipH="1">
            <a:off x="7726426" y="558975"/>
            <a:ext cx="978832" cy="1211966"/>
          </a:xfrm>
          <a:custGeom>
            <a:avLst/>
            <a:gdLst/>
            <a:ahLst/>
            <a:cxnLst/>
            <a:rect l="l" t="t" r="r" b="b"/>
            <a:pathLst>
              <a:path w="15308" h="18954" extrusionOk="0">
                <a:moveTo>
                  <a:pt x="206" y="1"/>
                </a:moveTo>
                <a:cubicBezTo>
                  <a:pt x="1" y="1"/>
                  <a:pt x="132" y="179"/>
                  <a:pt x="841" y="635"/>
                </a:cubicBezTo>
                <a:cubicBezTo>
                  <a:pt x="1017" y="732"/>
                  <a:pt x="5563" y="3093"/>
                  <a:pt x="8665" y="8615"/>
                </a:cubicBezTo>
                <a:cubicBezTo>
                  <a:pt x="11768" y="14137"/>
                  <a:pt x="13426" y="17942"/>
                  <a:pt x="14558" y="18820"/>
                </a:cubicBezTo>
                <a:cubicBezTo>
                  <a:pt x="14674" y="18912"/>
                  <a:pt x="14759" y="18954"/>
                  <a:pt x="14817" y="18954"/>
                </a:cubicBezTo>
                <a:cubicBezTo>
                  <a:pt x="15307" y="18954"/>
                  <a:pt x="13800" y="15867"/>
                  <a:pt x="12997" y="14312"/>
                </a:cubicBezTo>
                <a:cubicBezTo>
                  <a:pt x="12080" y="12576"/>
                  <a:pt x="10441" y="7932"/>
                  <a:pt x="9290" y="6118"/>
                </a:cubicBezTo>
                <a:cubicBezTo>
                  <a:pt x="8119" y="4322"/>
                  <a:pt x="5602" y="2781"/>
                  <a:pt x="4236" y="1766"/>
                </a:cubicBezTo>
                <a:cubicBezTo>
                  <a:pt x="3264" y="1086"/>
                  <a:pt x="711" y="1"/>
                  <a:pt x="206"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3"/>
          <p:cNvSpPr/>
          <p:nvPr/>
        </p:nvSpPr>
        <p:spPr>
          <a:xfrm rot="-947843" flipH="1">
            <a:off x="7116754" y="3615148"/>
            <a:ext cx="766224" cy="1714940"/>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3"/>
          <p:cNvSpPr/>
          <p:nvPr/>
        </p:nvSpPr>
        <p:spPr>
          <a:xfrm flipH="1">
            <a:off x="-264362" y="705725"/>
            <a:ext cx="1099639" cy="3053761"/>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3"/>
          <p:cNvSpPr/>
          <p:nvPr/>
        </p:nvSpPr>
        <p:spPr>
          <a:xfrm rot="2876189" flipH="1">
            <a:off x="16261" y="3858967"/>
            <a:ext cx="962943" cy="810279"/>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88D3">
              <a:alpha val="151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3"/>
          <p:cNvSpPr/>
          <p:nvPr/>
        </p:nvSpPr>
        <p:spPr>
          <a:xfrm rot="929600" flipH="1">
            <a:off x="-243561" y="4093335"/>
            <a:ext cx="1145950" cy="1283284"/>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3"/>
          <p:cNvSpPr/>
          <p:nvPr/>
        </p:nvSpPr>
        <p:spPr>
          <a:xfrm flipH="1">
            <a:off x="-43949" y="-128325"/>
            <a:ext cx="879234" cy="2018630"/>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3"/>
          <p:cNvSpPr txBox="1">
            <a:spLocks noGrp="1"/>
          </p:cNvSpPr>
          <p:nvPr>
            <p:ph type="ctrTitle"/>
          </p:nvPr>
        </p:nvSpPr>
        <p:spPr>
          <a:xfrm>
            <a:off x="141850" y="789139"/>
            <a:ext cx="4940100" cy="7338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5200"/>
              <a:buNone/>
              <a:defRPr sz="6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995" name="Google Shape;995;p33"/>
          <p:cNvSpPr txBox="1">
            <a:spLocks noGrp="1"/>
          </p:cNvSpPr>
          <p:nvPr>
            <p:ph type="subTitle" idx="1"/>
          </p:nvPr>
        </p:nvSpPr>
        <p:spPr>
          <a:xfrm>
            <a:off x="871450" y="2320438"/>
            <a:ext cx="3480900" cy="112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96" name="Google Shape;996;p33"/>
          <p:cNvSpPr txBox="1"/>
          <p:nvPr/>
        </p:nvSpPr>
        <p:spPr>
          <a:xfrm>
            <a:off x="678550" y="3390038"/>
            <a:ext cx="3798300" cy="7059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 sz="1200">
                <a:solidFill>
                  <a:schemeClr val="dk1"/>
                </a:solidFill>
                <a:latin typeface="Barlow Light"/>
                <a:ea typeface="Barlow Light"/>
                <a:cs typeface="Barlow Light"/>
                <a:sym typeface="Barlow Light"/>
              </a:rPr>
              <a:t>CREDITS: This presentation template was created by </a:t>
            </a:r>
            <a:r>
              <a:rPr lang="en" sz="1200" b="1">
                <a:solidFill>
                  <a:schemeClr val="dk1"/>
                </a:solidFill>
                <a:uFill>
                  <a:noFill/>
                </a:uFill>
                <a:latin typeface="Barlow"/>
                <a:ea typeface="Barlow"/>
                <a:cs typeface="Barlow"/>
                <a:sym typeface="Barlow"/>
                <a:hlinkClick r:id="rId2">
                  <a:extLst>
                    <a:ext uri="{A12FA001-AC4F-418D-AE19-62706E023703}">
                      <ahyp:hlinkClr xmlns:ahyp="http://schemas.microsoft.com/office/drawing/2018/hyperlinkcolor" val="tx"/>
                    </a:ext>
                  </a:extLst>
                </a:hlinkClick>
              </a:rPr>
              <a:t>Slidesgo</a:t>
            </a:r>
            <a:r>
              <a:rPr lang="en" sz="1200">
                <a:solidFill>
                  <a:schemeClr val="dk1"/>
                </a:solidFill>
                <a:latin typeface="Barlow Light"/>
                <a:ea typeface="Barlow Light"/>
                <a:cs typeface="Barlow Light"/>
                <a:sym typeface="Barlow Light"/>
              </a:rPr>
              <a:t>, including icons by </a:t>
            </a:r>
            <a:r>
              <a:rPr lang="en" sz="1200" b="1">
                <a:solidFill>
                  <a:schemeClr val="dk1"/>
                </a:solidFill>
                <a:uFill>
                  <a:noFill/>
                </a:uFill>
                <a:latin typeface="Barlow"/>
                <a:ea typeface="Barlow"/>
                <a:cs typeface="Barlow"/>
                <a:sym typeface="Barlow"/>
                <a:hlinkClick r:id="rId3">
                  <a:extLst>
                    <a:ext uri="{A12FA001-AC4F-418D-AE19-62706E023703}">
                      <ahyp:hlinkClr xmlns:ahyp="http://schemas.microsoft.com/office/drawing/2018/hyperlinkcolor" val="tx"/>
                    </a:ext>
                  </a:extLst>
                </a:hlinkClick>
              </a:rPr>
              <a:t>Flaticon</a:t>
            </a:r>
            <a:r>
              <a:rPr lang="en" sz="1200">
                <a:solidFill>
                  <a:schemeClr val="dk1"/>
                </a:solidFill>
                <a:latin typeface="Barlow Light"/>
                <a:ea typeface="Barlow Light"/>
                <a:cs typeface="Barlow Light"/>
                <a:sym typeface="Barlow Light"/>
              </a:rPr>
              <a:t>, and infographics &amp; images by </a:t>
            </a:r>
            <a:r>
              <a:rPr lang="en" sz="1200" b="1">
                <a:solidFill>
                  <a:schemeClr val="dk1"/>
                </a:solidFill>
                <a:uFill>
                  <a:noFill/>
                </a:uFill>
                <a:latin typeface="Barlow"/>
                <a:ea typeface="Barlow"/>
                <a:cs typeface="Barlow"/>
                <a:sym typeface="Barlow"/>
                <a:hlinkClick r:id="rId4">
                  <a:extLst>
                    <a:ext uri="{A12FA001-AC4F-418D-AE19-62706E023703}">
                      <ahyp:hlinkClr xmlns:ahyp="http://schemas.microsoft.com/office/drawing/2018/hyperlinkcolor" val="tx"/>
                    </a:ext>
                  </a:extLst>
                </a:hlinkClick>
              </a:rPr>
              <a:t>Freepik</a:t>
            </a:r>
            <a:endParaRPr sz="1200" b="1">
              <a:solidFill>
                <a:schemeClr val="dk1"/>
              </a:solidFill>
              <a:latin typeface="Barlow"/>
              <a:ea typeface="Barlow"/>
              <a:cs typeface="Barlow"/>
              <a:sym typeface="Barlow"/>
            </a:endParaRPr>
          </a:p>
        </p:txBody>
      </p:sp>
      <p:sp>
        <p:nvSpPr>
          <p:cNvPr id="997" name="Google Shape;997;p3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userDrawn="1">
  <p:cSld name="CUSTOM_14">
    <p:bg>
      <p:bgPr>
        <a:solidFill>
          <a:srgbClr val="073763"/>
        </a:solidFill>
        <a:effectLst/>
      </p:bgPr>
    </p:bg>
    <p:spTree>
      <p:nvGrpSpPr>
        <p:cNvPr id="1" name="Shape 998"/>
        <p:cNvGrpSpPr/>
        <p:nvPr/>
      </p:nvGrpSpPr>
      <p:grpSpPr>
        <a:xfrm>
          <a:off x="0" y="0"/>
          <a:ext cx="0" cy="0"/>
          <a:chOff x="0" y="0"/>
          <a:chExt cx="0" cy="0"/>
        </a:xfrm>
      </p:grpSpPr>
      <p:sp>
        <p:nvSpPr>
          <p:cNvPr id="3" name="矩形 2">
            <a:extLst>
              <a:ext uri="{FF2B5EF4-FFF2-40B4-BE49-F238E27FC236}">
                <a16:creationId xmlns:a16="http://schemas.microsoft.com/office/drawing/2014/main" id="{B74AF672-8E09-49BE-9948-06A8F9C731CF}"/>
              </a:ext>
            </a:extLst>
          </p:cNvPr>
          <p:cNvSpPr/>
          <p:nvPr userDrawn="1"/>
        </p:nvSpPr>
        <p:spPr>
          <a:xfrm>
            <a:off x="0" y="953900"/>
            <a:ext cx="9150913" cy="4189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99" name="Google Shape;999;p34"/>
          <p:cNvSpPr/>
          <p:nvPr/>
        </p:nvSpPr>
        <p:spPr>
          <a:xfrm rot="-9899975" flipH="1">
            <a:off x="8519425" y="-125508"/>
            <a:ext cx="697249" cy="780862"/>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4"/>
          <p:cNvSpPr/>
          <p:nvPr/>
        </p:nvSpPr>
        <p:spPr>
          <a:xfrm>
            <a:off x="8807299" y="157538"/>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4"/>
          <p:cNvSpPr/>
          <p:nvPr/>
        </p:nvSpPr>
        <p:spPr>
          <a:xfrm>
            <a:off x="138450" y="614281"/>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4"/>
          <p:cNvSpPr/>
          <p:nvPr/>
        </p:nvSpPr>
        <p:spPr>
          <a:xfrm>
            <a:off x="548975" y="76400"/>
            <a:ext cx="81175" cy="8114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4"/>
          <p:cNvSpPr/>
          <p:nvPr/>
        </p:nvSpPr>
        <p:spPr>
          <a:xfrm>
            <a:off x="8866788" y="73228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4"/>
          <p:cNvSpPr/>
          <p:nvPr/>
        </p:nvSpPr>
        <p:spPr>
          <a:xfrm>
            <a:off x="8300011" y="95308"/>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4"/>
          <p:cNvSpPr/>
          <p:nvPr/>
        </p:nvSpPr>
        <p:spPr>
          <a:xfrm>
            <a:off x="154863" y="234925"/>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4"/>
          <p:cNvSpPr txBox="1">
            <a:spLocks noGrp="1"/>
          </p:cNvSpPr>
          <p:nvPr>
            <p:ph type="title"/>
          </p:nvPr>
        </p:nvSpPr>
        <p:spPr>
          <a:xfrm>
            <a:off x="630138" y="328725"/>
            <a:ext cx="7581000" cy="5811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dirty="0"/>
          </a:p>
        </p:txBody>
      </p:sp>
      <p:sp>
        <p:nvSpPr>
          <p:cNvPr id="1009" name="Google Shape;1009;p34"/>
          <p:cNvSpPr/>
          <p:nvPr/>
        </p:nvSpPr>
        <p:spPr>
          <a:xfrm rot="-8099887">
            <a:off x="1339649" y="-2278568"/>
            <a:ext cx="6464724" cy="6464936"/>
          </a:xfrm>
          <a:prstGeom prst="diagStripe">
            <a:avLst>
              <a:gd name="adj" fmla="val 96319"/>
            </a:avLst>
          </a:prstGeom>
          <a:solidFill>
            <a:srgbClr val="76B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a:ea typeface="Barlow"/>
              <a:cs typeface="Barlow"/>
              <a:sym typeface="Barlow"/>
            </a:endParaRPr>
          </a:p>
        </p:txBody>
      </p:sp>
      <p:sp>
        <p:nvSpPr>
          <p:cNvPr id="1010" name="Google Shape;1010;p34"/>
          <p:cNvSpPr/>
          <p:nvPr/>
        </p:nvSpPr>
        <p:spPr>
          <a:xfrm flipH="1">
            <a:off x="8419513" y="4412100"/>
            <a:ext cx="731400" cy="731400"/>
          </a:xfrm>
          <a:prstGeom prst="rtTriangle">
            <a:avLst/>
          </a:prstGeom>
          <a:solidFill>
            <a:srgbClr val="0088D3">
              <a:alpha val="15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a:ea typeface="Barlow"/>
              <a:cs typeface="Barlow"/>
              <a:sym typeface="Barlow"/>
            </a:endParaRPr>
          </a:p>
        </p:txBody>
      </p:sp>
      <p:sp>
        <p:nvSpPr>
          <p:cNvPr id="1011" name="Google Shape;1011;p34"/>
          <p:cNvSpPr txBox="1">
            <a:spLocks noGrp="1"/>
          </p:cNvSpPr>
          <p:nvPr>
            <p:ph type="sldNum" idx="12"/>
          </p:nvPr>
        </p:nvSpPr>
        <p:spPr>
          <a:xfrm>
            <a:off x="8275225" y="4717125"/>
            <a:ext cx="833400" cy="495900"/>
          </a:xfrm>
          <a:prstGeom prst="rect">
            <a:avLst/>
          </a:prstGeom>
          <a:noFill/>
        </p:spPr>
        <p:txBody>
          <a:bodyPr spcFirstLastPara="1" wrap="square" lIns="91425" tIns="91425" rIns="91425" bIns="91425" anchor="b" anchorCtr="0">
            <a:noAutofit/>
          </a:bodyPr>
          <a:lstStyle>
            <a:lvl1pPr lvl="0">
              <a:buNone/>
              <a:defRPr sz="1800">
                <a:latin typeface="Anton"/>
                <a:ea typeface="Anton"/>
                <a:cs typeface="Anton"/>
                <a:sym typeface="Anton"/>
              </a:defRPr>
            </a:lvl1pPr>
            <a:lvl2pPr lvl="1">
              <a:buNone/>
              <a:defRPr sz="1800">
                <a:latin typeface="Anton"/>
                <a:ea typeface="Anton"/>
                <a:cs typeface="Anton"/>
                <a:sym typeface="Anton"/>
              </a:defRPr>
            </a:lvl2pPr>
            <a:lvl3pPr lvl="2">
              <a:buNone/>
              <a:defRPr sz="1800">
                <a:latin typeface="Anton"/>
                <a:ea typeface="Anton"/>
                <a:cs typeface="Anton"/>
                <a:sym typeface="Anton"/>
              </a:defRPr>
            </a:lvl3pPr>
            <a:lvl4pPr lvl="3">
              <a:buNone/>
              <a:defRPr sz="1800">
                <a:latin typeface="Anton"/>
                <a:ea typeface="Anton"/>
                <a:cs typeface="Anton"/>
                <a:sym typeface="Anton"/>
              </a:defRPr>
            </a:lvl4pPr>
            <a:lvl5pPr lvl="4">
              <a:buNone/>
              <a:defRPr sz="1800">
                <a:latin typeface="Anton"/>
                <a:ea typeface="Anton"/>
                <a:cs typeface="Anton"/>
                <a:sym typeface="Anton"/>
              </a:defRPr>
            </a:lvl5pPr>
            <a:lvl6pPr lvl="5">
              <a:buNone/>
              <a:defRPr sz="1800">
                <a:latin typeface="Anton"/>
                <a:ea typeface="Anton"/>
                <a:cs typeface="Anton"/>
                <a:sym typeface="Anton"/>
              </a:defRPr>
            </a:lvl6pPr>
            <a:lvl7pPr lvl="6">
              <a:buNone/>
              <a:defRPr sz="1800">
                <a:latin typeface="Anton"/>
                <a:ea typeface="Anton"/>
                <a:cs typeface="Anton"/>
                <a:sym typeface="Anton"/>
              </a:defRPr>
            </a:lvl7pPr>
            <a:lvl8pPr lvl="7">
              <a:buNone/>
              <a:defRPr sz="1800">
                <a:latin typeface="Anton"/>
                <a:ea typeface="Anton"/>
                <a:cs typeface="Anton"/>
                <a:sym typeface="Anton"/>
              </a:defRPr>
            </a:lvl8pPr>
            <a:lvl9pPr lvl="8">
              <a:buNone/>
              <a:defRPr sz="1800">
                <a:latin typeface="Anton"/>
                <a:ea typeface="Anton"/>
                <a:cs typeface="Anton"/>
                <a:sym typeface="Anton"/>
              </a:defRPr>
            </a:lvl9pPr>
          </a:lstStyle>
          <a:p>
            <a:pPr marL="0" lvl="0" indent="0" algn="r" rtl="0">
              <a:spcBef>
                <a:spcPts val="0"/>
              </a:spcBef>
              <a:spcAft>
                <a:spcPts val="0"/>
              </a:spcAft>
              <a:buNone/>
            </a:pPr>
            <a:fld id="{00000000-1234-1234-1234-123412341234}" type="slidenum">
              <a:rPr lang="en"/>
              <a:t>‹#›</a:t>
            </a:fld>
            <a:endParaRPr/>
          </a:p>
        </p:txBody>
      </p:sp>
      <p:sp>
        <p:nvSpPr>
          <p:cNvPr id="18" name="Google Shape;7;p1">
            <a:extLst>
              <a:ext uri="{FF2B5EF4-FFF2-40B4-BE49-F238E27FC236}">
                <a16:creationId xmlns:a16="http://schemas.microsoft.com/office/drawing/2014/main" id="{7C013C55-8D31-4DE9-9048-822837A915B3}"/>
              </a:ext>
            </a:extLst>
          </p:cNvPr>
          <p:cNvSpPr txBox="1">
            <a:spLocks noGrp="1"/>
          </p:cNvSpPr>
          <p:nvPr>
            <p:ph idx="1" hasCustomPrompt="1"/>
          </p:nvPr>
        </p:nvSpPr>
        <p:spPr>
          <a:xfrm>
            <a:off x="311700" y="1230200"/>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1pPr>
            <a:lvl2pPr marL="882650" lvl="1" indent="-285750">
              <a:lnSpc>
                <a:spcPct val="115000"/>
              </a:lnSpc>
              <a:spcBef>
                <a:spcPts val="0"/>
              </a:spcBef>
              <a:spcAft>
                <a:spcPts val="0"/>
              </a:spcAft>
              <a:buClr>
                <a:schemeClr val="dk2"/>
              </a:buClr>
              <a:buSzPts val="1400"/>
              <a:buFont typeface="PMingLiU" panose="02020500000000000000" pitchFamily="18" charset="-120"/>
              <a:buChar char="。"/>
              <a:defRPr>
                <a:solidFill>
                  <a:schemeClr val="dk2"/>
                </a:solidFill>
                <a:latin typeface="Barlow"/>
                <a:ea typeface="Barlow"/>
                <a:cs typeface="Barlow"/>
                <a:sym typeface="Barlow"/>
              </a:defRPr>
            </a:lvl2pPr>
            <a:lvl3pPr marL="1339850" lvl="2" indent="-285750">
              <a:lnSpc>
                <a:spcPct val="115000"/>
              </a:lnSpc>
              <a:spcBef>
                <a:spcPts val="0"/>
              </a:spcBef>
              <a:spcAft>
                <a:spcPts val="0"/>
              </a:spcAft>
              <a:buClr>
                <a:schemeClr val="dk2"/>
              </a:buClr>
              <a:buSzPts val="1400"/>
              <a:buFont typeface="Arial" panose="020B0604020202020204" pitchFamily="34" charset="0"/>
              <a:buChar char="•"/>
              <a:defRPr>
                <a:solidFill>
                  <a:schemeClr val="dk2"/>
                </a:solidFill>
                <a:latin typeface="Barlow"/>
                <a:ea typeface="Barlow"/>
                <a:cs typeface="Barlow"/>
                <a:sym typeface="Barlow"/>
              </a:defRPr>
            </a:lvl3pPr>
            <a:lvl4pPr marL="1828800" lvl="3"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4pPr>
            <a:lvl5pPr marL="2286000" lvl="4"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5pPr>
            <a:lvl6pPr marL="2743200" lvl="5"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6pPr>
            <a:lvl7pPr marL="3200400" lvl="6"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7pPr>
            <a:lvl8pPr marL="3657600" lvl="7"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8pPr>
            <a:lvl9pPr marL="4114800" lvl="8"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9pPr>
          </a:lstStyle>
          <a:p>
            <a:r>
              <a:rPr lang="en-US" dirty="0" err="1"/>
              <a:t>Aaaa</a:t>
            </a:r>
            <a:r>
              <a:rPr lang="en-US" dirty="0"/>
              <a:t>	</a:t>
            </a:r>
          </a:p>
          <a:p>
            <a:pPr lvl="1"/>
            <a:r>
              <a:rPr lang="en-US" dirty="0" err="1"/>
              <a:t>Aaa</a:t>
            </a:r>
            <a:endParaRPr lang="en-US" dirty="0"/>
          </a:p>
          <a:p>
            <a:pPr lvl="2"/>
            <a:endParaRPr lang="en-US" dirty="0"/>
          </a:p>
          <a:p>
            <a:endParaRPr lang="en-US" dirty="0"/>
          </a:p>
          <a:p>
            <a:pPr lvl="1"/>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ackground 1">
  <p:cSld name="TITLE_1">
    <p:bg>
      <p:bgPr>
        <a:gradFill>
          <a:gsLst>
            <a:gs pos="0">
              <a:schemeClr val="dk2"/>
            </a:gs>
            <a:gs pos="100000">
              <a:schemeClr val="lt2"/>
            </a:gs>
          </a:gsLst>
          <a:lin ang="5400700" scaled="0"/>
        </a:gradFill>
        <a:effectLst/>
      </p:bgPr>
    </p:bg>
    <p:spTree>
      <p:nvGrpSpPr>
        <p:cNvPr id="1" name="Shape 1012"/>
        <p:cNvGrpSpPr/>
        <p:nvPr/>
      </p:nvGrpSpPr>
      <p:grpSpPr>
        <a:xfrm>
          <a:off x="0" y="0"/>
          <a:ext cx="0" cy="0"/>
          <a:chOff x="0" y="0"/>
          <a:chExt cx="0" cy="0"/>
        </a:xfrm>
      </p:grpSpPr>
      <p:sp>
        <p:nvSpPr>
          <p:cNvPr id="1013" name="Google Shape;1013;p35"/>
          <p:cNvSpPr/>
          <p:nvPr/>
        </p:nvSpPr>
        <p:spPr>
          <a:xfrm>
            <a:off x="8443992" y="840453"/>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5"/>
          <p:cNvSpPr/>
          <p:nvPr/>
        </p:nvSpPr>
        <p:spPr>
          <a:xfrm>
            <a:off x="7583971" y="4501660"/>
            <a:ext cx="880538" cy="74096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5"/>
          <p:cNvSpPr/>
          <p:nvPr/>
        </p:nvSpPr>
        <p:spPr>
          <a:xfrm rot="-929517">
            <a:off x="8446483" y="4481710"/>
            <a:ext cx="697261" cy="780876"/>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5"/>
          <p:cNvSpPr/>
          <p:nvPr/>
        </p:nvSpPr>
        <p:spPr>
          <a:xfrm>
            <a:off x="8336604" y="-184839"/>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5"/>
          <p:cNvSpPr/>
          <p:nvPr/>
        </p:nvSpPr>
        <p:spPr>
          <a:xfrm>
            <a:off x="26223" y="-22878"/>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5"/>
          <p:cNvSpPr/>
          <p:nvPr/>
        </p:nvSpPr>
        <p:spPr>
          <a:xfrm>
            <a:off x="-69881" y="3614958"/>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5"/>
          <p:cNvSpPr/>
          <p:nvPr/>
        </p:nvSpPr>
        <p:spPr>
          <a:xfrm>
            <a:off x="-31375" y="446184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5"/>
          <p:cNvSpPr/>
          <p:nvPr/>
        </p:nvSpPr>
        <p:spPr>
          <a:xfrm>
            <a:off x="-24181" y="-22898"/>
            <a:ext cx="702217" cy="2975656"/>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1" name="Google Shape;1021;p35"/>
          <p:cNvGrpSpPr/>
          <p:nvPr/>
        </p:nvGrpSpPr>
        <p:grpSpPr>
          <a:xfrm>
            <a:off x="-1087568" y="-1126448"/>
            <a:ext cx="2274300" cy="2274300"/>
            <a:chOff x="-1087568" y="-1126448"/>
            <a:chExt cx="2274300" cy="2274300"/>
          </a:xfrm>
        </p:grpSpPr>
        <p:sp>
          <p:nvSpPr>
            <p:cNvPr id="1022" name="Google Shape;1022;p35"/>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5"/>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5"/>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5"/>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6" name="Google Shape;1026;p35"/>
          <p:cNvGrpSpPr/>
          <p:nvPr/>
        </p:nvGrpSpPr>
        <p:grpSpPr>
          <a:xfrm>
            <a:off x="8000382" y="4004977"/>
            <a:ext cx="2274300" cy="2274300"/>
            <a:chOff x="-1087568" y="-1126448"/>
            <a:chExt cx="2274300" cy="2274300"/>
          </a:xfrm>
        </p:grpSpPr>
        <p:sp>
          <p:nvSpPr>
            <p:cNvPr id="1027" name="Google Shape;1027;p35"/>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5"/>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5"/>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5"/>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1" name="Google Shape;1031;p35"/>
          <p:cNvSpPr/>
          <p:nvPr/>
        </p:nvSpPr>
        <p:spPr>
          <a:xfrm>
            <a:off x="855300" y="1465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5"/>
          <p:cNvSpPr/>
          <p:nvPr/>
        </p:nvSpPr>
        <p:spPr>
          <a:xfrm>
            <a:off x="8874400"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5"/>
          <p:cNvSpPr/>
          <p:nvPr/>
        </p:nvSpPr>
        <p:spPr>
          <a:xfrm>
            <a:off x="327950" y="4402825"/>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5"/>
          <p:cNvSpPr/>
          <p:nvPr/>
        </p:nvSpPr>
        <p:spPr>
          <a:xfrm>
            <a:off x="442100"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5"/>
          <p:cNvSpPr/>
          <p:nvPr/>
        </p:nvSpPr>
        <p:spPr>
          <a:xfrm>
            <a:off x="8699738" y="2358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5"/>
          <p:cNvSpPr/>
          <p:nvPr/>
        </p:nvSpPr>
        <p:spPr>
          <a:xfrm>
            <a:off x="125200" y="17581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5"/>
          <p:cNvSpPr/>
          <p:nvPr/>
        </p:nvSpPr>
        <p:spPr>
          <a:xfrm>
            <a:off x="8424174"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5"/>
          <p:cNvSpPr/>
          <p:nvPr/>
        </p:nvSpPr>
        <p:spPr>
          <a:xfrm>
            <a:off x="8608325" y="34465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5"/>
          <p:cNvSpPr/>
          <p:nvPr/>
        </p:nvSpPr>
        <p:spPr>
          <a:xfrm>
            <a:off x="8920738"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5"/>
          <p:cNvSpPr/>
          <p:nvPr/>
        </p:nvSpPr>
        <p:spPr>
          <a:xfrm>
            <a:off x="78863" y="380153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5"/>
          <p:cNvSpPr/>
          <p:nvPr/>
        </p:nvSpPr>
        <p:spPr>
          <a:xfrm>
            <a:off x="2553123" y="48146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5"/>
          <p:cNvSpPr/>
          <p:nvPr/>
        </p:nvSpPr>
        <p:spPr>
          <a:xfrm>
            <a:off x="7357023"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ackground 2">
  <p:cSld name="CUSTOM_8_1_1">
    <p:bg>
      <p:bgPr>
        <a:gradFill>
          <a:gsLst>
            <a:gs pos="0">
              <a:schemeClr val="dk2"/>
            </a:gs>
            <a:gs pos="100000">
              <a:schemeClr val="lt2"/>
            </a:gs>
          </a:gsLst>
          <a:lin ang="18900732" scaled="0"/>
        </a:gradFill>
        <a:effectLst/>
      </p:bgPr>
    </p:bg>
    <p:spTree>
      <p:nvGrpSpPr>
        <p:cNvPr id="1" name="Shape 1044"/>
        <p:cNvGrpSpPr/>
        <p:nvPr/>
      </p:nvGrpSpPr>
      <p:grpSpPr>
        <a:xfrm>
          <a:off x="0" y="0"/>
          <a:ext cx="0" cy="0"/>
          <a:chOff x="0" y="0"/>
          <a:chExt cx="0" cy="0"/>
        </a:xfrm>
      </p:grpSpPr>
      <p:sp>
        <p:nvSpPr>
          <p:cNvPr id="1045" name="Google Shape;1045;p36"/>
          <p:cNvSpPr/>
          <p:nvPr/>
        </p:nvSpPr>
        <p:spPr>
          <a:xfrm>
            <a:off x="6707050" y="2554322"/>
            <a:ext cx="26641" cy="29978"/>
          </a:xfrm>
          <a:custGeom>
            <a:avLst/>
            <a:gdLst/>
            <a:ahLst/>
            <a:cxnLst/>
            <a:rect l="l" t="t" r="r" b="b"/>
            <a:pathLst>
              <a:path w="423" h="476" extrusionOk="0">
                <a:moveTo>
                  <a:pt x="1" y="1"/>
                </a:moveTo>
                <a:lnTo>
                  <a:pt x="1" y="475"/>
                </a:lnTo>
                <a:lnTo>
                  <a:pt x="277" y="475"/>
                </a:lnTo>
                <a:cubicBezTo>
                  <a:pt x="354" y="475"/>
                  <a:pt x="422" y="407"/>
                  <a:pt x="422" y="330"/>
                </a:cubicBezTo>
                <a:lnTo>
                  <a:pt x="422" y="1"/>
                </a:lnTo>
                <a:close/>
              </a:path>
            </a:pathLst>
          </a:custGeom>
          <a:solidFill>
            <a:srgbClr val="132B5F">
              <a:alpha val="28000"/>
            </a:srgbClr>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6" name="Google Shape;1046;p36"/>
          <p:cNvSpPr/>
          <p:nvPr/>
        </p:nvSpPr>
        <p:spPr>
          <a:xfrm flipH="1">
            <a:off x="71330" y="488492"/>
            <a:ext cx="5223" cy="36560"/>
          </a:xfrm>
          <a:custGeom>
            <a:avLst/>
            <a:gdLst/>
            <a:ahLst/>
            <a:cxnLst/>
            <a:rect l="l" t="t" r="r" b="b"/>
            <a:pathLst>
              <a:path w="32" h="224" extrusionOk="0">
                <a:moveTo>
                  <a:pt x="32" y="0"/>
                </a:moveTo>
                <a:cubicBezTo>
                  <a:pt x="9" y="45"/>
                  <a:pt x="0" y="90"/>
                  <a:pt x="0" y="121"/>
                </a:cubicBezTo>
                <a:cubicBezTo>
                  <a:pt x="0" y="161"/>
                  <a:pt x="9" y="192"/>
                  <a:pt x="32" y="224"/>
                </a:cubicBezTo>
                <a:lnTo>
                  <a:pt x="32" y="0"/>
                </a:lnTo>
                <a:close/>
              </a:path>
            </a:pathLst>
          </a:custGeom>
          <a:solidFill>
            <a:srgbClr val="0606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47" name="Google Shape;1047;p36"/>
          <p:cNvSpPr/>
          <p:nvPr/>
        </p:nvSpPr>
        <p:spPr>
          <a:xfrm flipH="1">
            <a:off x="-7861" y="840453"/>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36"/>
          <p:cNvSpPr/>
          <p:nvPr/>
        </p:nvSpPr>
        <p:spPr>
          <a:xfrm flipH="1">
            <a:off x="673855" y="4501660"/>
            <a:ext cx="880538" cy="74096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6"/>
          <p:cNvSpPr/>
          <p:nvPr/>
        </p:nvSpPr>
        <p:spPr>
          <a:xfrm rot="929517" flipH="1">
            <a:off x="-5379" y="4481710"/>
            <a:ext cx="697261" cy="780876"/>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6"/>
          <p:cNvSpPr/>
          <p:nvPr/>
        </p:nvSpPr>
        <p:spPr>
          <a:xfrm flipH="1">
            <a:off x="-5637" y="-184839"/>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6"/>
          <p:cNvSpPr/>
          <p:nvPr/>
        </p:nvSpPr>
        <p:spPr>
          <a:xfrm flipH="1">
            <a:off x="8438476" y="-22878"/>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6"/>
          <p:cNvSpPr/>
          <p:nvPr/>
        </p:nvSpPr>
        <p:spPr>
          <a:xfrm flipH="1">
            <a:off x="8636234" y="3614958"/>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36"/>
          <p:cNvSpPr/>
          <p:nvPr/>
        </p:nvSpPr>
        <p:spPr>
          <a:xfrm flipH="1">
            <a:off x="8467543" y="446184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36"/>
          <p:cNvSpPr/>
          <p:nvPr/>
        </p:nvSpPr>
        <p:spPr>
          <a:xfrm flipH="1">
            <a:off x="8460328" y="-22898"/>
            <a:ext cx="702217" cy="2975656"/>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5" name="Google Shape;1055;p36"/>
          <p:cNvGrpSpPr/>
          <p:nvPr/>
        </p:nvGrpSpPr>
        <p:grpSpPr>
          <a:xfrm flipH="1">
            <a:off x="7951632" y="-1126448"/>
            <a:ext cx="2274300" cy="2274300"/>
            <a:chOff x="-1087568" y="-1126448"/>
            <a:chExt cx="2274300" cy="2274300"/>
          </a:xfrm>
        </p:grpSpPr>
        <p:sp>
          <p:nvSpPr>
            <p:cNvPr id="1056" name="Google Shape;1056;p36"/>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6"/>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36"/>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6"/>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0" name="Google Shape;1060;p36"/>
          <p:cNvGrpSpPr/>
          <p:nvPr/>
        </p:nvGrpSpPr>
        <p:grpSpPr>
          <a:xfrm flipH="1">
            <a:off x="-1136318" y="4004977"/>
            <a:ext cx="2274300" cy="2274300"/>
            <a:chOff x="-1087568" y="-1126448"/>
            <a:chExt cx="2274300" cy="2274300"/>
          </a:xfrm>
        </p:grpSpPr>
        <p:sp>
          <p:nvSpPr>
            <p:cNvPr id="1061" name="Google Shape;1061;p36"/>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6"/>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36"/>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36"/>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5" name="Google Shape;1065;p36"/>
          <p:cNvSpPr/>
          <p:nvPr/>
        </p:nvSpPr>
        <p:spPr>
          <a:xfrm flipH="1">
            <a:off x="8092314" y="1465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6"/>
          <p:cNvSpPr/>
          <p:nvPr/>
        </p:nvSpPr>
        <p:spPr>
          <a:xfrm flipH="1">
            <a:off x="111264"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6"/>
          <p:cNvSpPr/>
          <p:nvPr/>
        </p:nvSpPr>
        <p:spPr>
          <a:xfrm flipH="1">
            <a:off x="470014" y="158261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6"/>
          <p:cNvSpPr/>
          <p:nvPr/>
        </p:nvSpPr>
        <p:spPr>
          <a:xfrm flipH="1">
            <a:off x="8781413" y="2107750"/>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6"/>
          <p:cNvSpPr/>
          <p:nvPr/>
        </p:nvSpPr>
        <p:spPr>
          <a:xfrm flipH="1">
            <a:off x="8636238"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6"/>
          <p:cNvSpPr/>
          <p:nvPr/>
        </p:nvSpPr>
        <p:spPr>
          <a:xfrm flipH="1">
            <a:off x="247877" y="2358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6"/>
          <p:cNvSpPr/>
          <p:nvPr/>
        </p:nvSpPr>
        <p:spPr>
          <a:xfrm flipH="1">
            <a:off x="8953138" y="17581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6"/>
          <p:cNvSpPr/>
          <p:nvPr/>
        </p:nvSpPr>
        <p:spPr>
          <a:xfrm flipH="1">
            <a:off x="594661"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6"/>
          <p:cNvSpPr/>
          <p:nvPr/>
        </p:nvSpPr>
        <p:spPr>
          <a:xfrm flipH="1">
            <a:off x="470013" y="34465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6"/>
          <p:cNvSpPr/>
          <p:nvPr/>
        </p:nvSpPr>
        <p:spPr>
          <a:xfrm flipH="1">
            <a:off x="157601"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6"/>
          <p:cNvSpPr/>
          <p:nvPr/>
        </p:nvSpPr>
        <p:spPr>
          <a:xfrm flipH="1">
            <a:off x="8906802" y="380153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6"/>
          <p:cNvSpPr/>
          <p:nvPr/>
        </p:nvSpPr>
        <p:spPr>
          <a:xfrm flipH="1">
            <a:off x="7251873" y="4792508"/>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36"/>
          <p:cNvSpPr/>
          <p:nvPr/>
        </p:nvSpPr>
        <p:spPr>
          <a:xfrm flipH="1">
            <a:off x="1661823"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ackground 3">
  <p:cSld name="CUSTOM_8_2">
    <p:bg>
      <p:bgPr>
        <a:gradFill>
          <a:gsLst>
            <a:gs pos="0">
              <a:schemeClr val="dk2"/>
            </a:gs>
            <a:gs pos="100000">
              <a:schemeClr val="lt2"/>
            </a:gs>
          </a:gsLst>
          <a:lin ang="5400700" scaled="0"/>
        </a:gradFill>
        <a:effectLst/>
      </p:bgPr>
    </p:bg>
    <p:spTree>
      <p:nvGrpSpPr>
        <p:cNvPr id="1" name="Shape 1079"/>
        <p:cNvGrpSpPr/>
        <p:nvPr/>
      </p:nvGrpSpPr>
      <p:grpSpPr>
        <a:xfrm>
          <a:off x="0" y="0"/>
          <a:ext cx="0" cy="0"/>
          <a:chOff x="0" y="0"/>
          <a:chExt cx="0" cy="0"/>
        </a:xfrm>
      </p:grpSpPr>
      <p:sp>
        <p:nvSpPr>
          <p:cNvPr id="1080" name="Google Shape;1080;p37"/>
          <p:cNvSpPr/>
          <p:nvPr/>
        </p:nvSpPr>
        <p:spPr>
          <a:xfrm rot="-5400000">
            <a:off x="7775776" y="779191"/>
            <a:ext cx="1042631" cy="877333"/>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7"/>
          <p:cNvSpPr/>
          <p:nvPr/>
        </p:nvSpPr>
        <p:spPr>
          <a:xfrm rot="-5400000">
            <a:off x="3583353" y="-4150160"/>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7"/>
          <p:cNvSpPr/>
          <p:nvPr/>
        </p:nvSpPr>
        <p:spPr>
          <a:xfrm rot="-6329527">
            <a:off x="8219975" y="-295336"/>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7"/>
          <p:cNvSpPr/>
          <p:nvPr/>
        </p:nvSpPr>
        <p:spPr>
          <a:xfrm rot="-5400000">
            <a:off x="259780" y="-555938"/>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7"/>
          <p:cNvSpPr/>
          <p:nvPr/>
        </p:nvSpPr>
        <p:spPr>
          <a:xfrm rot="-538079">
            <a:off x="8437704" y="1391351"/>
            <a:ext cx="1019033" cy="857448"/>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7"/>
          <p:cNvSpPr/>
          <p:nvPr/>
        </p:nvSpPr>
        <p:spPr>
          <a:xfrm rot="-9560681">
            <a:off x="2271856" y="-161951"/>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7"/>
          <p:cNvSpPr/>
          <p:nvPr/>
        </p:nvSpPr>
        <p:spPr>
          <a:xfrm rot="5400000">
            <a:off x="282534" y="3466895"/>
            <a:ext cx="1042631" cy="877333"/>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7"/>
          <p:cNvSpPr/>
          <p:nvPr/>
        </p:nvSpPr>
        <p:spPr>
          <a:xfrm rot="5400000">
            <a:off x="3677205" y="-18397"/>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7"/>
          <p:cNvSpPr/>
          <p:nvPr/>
        </p:nvSpPr>
        <p:spPr>
          <a:xfrm rot="4470473">
            <a:off x="-168950" y="4243067"/>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7"/>
          <p:cNvSpPr/>
          <p:nvPr/>
        </p:nvSpPr>
        <p:spPr>
          <a:xfrm rot="5400000">
            <a:off x="8024759" y="3804984"/>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7"/>
          <p:cNvSpPr/>
          <p:nvPr/>
        </p:nvSpPr>
        <p:spPr>
          <a:xfrm rot="10261921">
            <a:off x="-355796" y="2874620"/>
            <a:ext cx="1019033" cy="857448"/>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7"/>
          <p:cNvSpPr/>
          <p:nvPr/>
        </p:nvSpPr>
        <p:spPr>
          <a:xfrm rot="1239319">
            <a:off x="6027326" y="4610694"/>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2" name="Google Shape;1092;p37"/>
          <p:cNvGrpSpPr/>
          <p:nvPr/>
        </p:nvGrpSpPr>
        <p:grpSpPr>
          <a:xfrm>
            <a:off x="-1074487" y="-989812"/>
            <a:ext cx="11292974" cy="7049036"/>
            <a:chOff x="-1074487" y="-989812"/>
            <a:chExt cx="11292974" cy="7049036"/>
          </a:xfrm>
        </p:grpSpPr>
        <p:grpSp>
          <p:nvGrpSpPr>
            <p:cNvPr id="1093" name="Google Shape;1093;p37"/>
            <p:cNvGrpSpPr/>
            <p:nvPr/>
          </p:nvGrpSpPr>
          <p:grpSpPr>
            <a:xfrm>
              <a:off x="7476363" y="3317101"/>
              <a:ext cx="2742124" cy="2742124"/>
              <a:chOff x="-1087568" y="-1126448"/>
              <a:chExt cx="2274300" cy="2274300"/>
            </a:xfrm>
          </p:grpSpPr>
          <p:sp>
            <p:nvSpPr>
              <p:cNvPr id="1094" name="Google Shape;1094;p37"/>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7"/>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7"/>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7"/>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8" name="Google Shape;1098;p37"/>
            <p:cNvGrpSpPr/>
            <p:nvPr/>
          </p:nvGrpSpPr>
          <p:grpSpPr>
            <a:xfrm>
              <a:off x="-1074487" y="-989812"/>
              <a:ext cx="2742124" cy="2742124"/>
              <a:chOff x="-1087568" y="-1126448"/>
              <a:chExt cx="2274300" cy="2274300"/>
            </a:xfrm>
          </p:grpSpPr>
          <p:sp>
            <p:nvSpPr>
              <p:cNvPr id="1099" name="Google Shape;1099;p37"/>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7"/>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7"/>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7"/>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03" name="Google Shape;1103;p37"/>
          <p:cNvSpPr/>
          <p:nvPr/>
        </p:nvSpPr>
        <p:spPr>
          <a:xfrm flipH="1">
            <a:off x="7667675" y="371643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7"/>
          <p:cNvSpPr/>
          <p:nvPr/>
        </p:nvSpPr>
        <p:spPr>
          <a:xfrm flipH="1">
            <a:off x="279638" y="273438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7"/>
          <p:cNvSpPr/>
          <p:nvPr/>
        </p:nvSpPr>
        <p:spPr>
          <a:xfrm flipH="1">
            <a:off x="575669" y="358675"/>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7"/>
          <p:cNvSpPr/>
          <p:nvPr/>
        </p:nvSpPr>
        <p:spPr>
          <a:xfrm flipH="1">
            <a:off x="624450" y="15980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7"/>
          <p:cNvSpPr/>
          <p:nvPr/>
        </p:nvSpPr>
        <p:spPr>
          <a:xfrm flipH="1">
            <a:off x="562260"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7"/>
          <p:cNvSpPr/>
          <p:nvPr/>
        </p:nvSpPr>
        <p:spPr>
          <a:xfrm flipH="1">
            <a:off x="125199"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7"/>
          <p:cNvSpPr/>
          <p:nvPr/>
        </p:nvSpPr>
        <p:spPr>
          <a:xfrm flipH="1">
            <a:off x="8668575" y="37410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7"/>
          <p:cNvSpPr/>
          <p:nvPr/>
        </p:nvSpPr>
        <p:spPr>
          <a:xfrm flipH="1">
            <a:off x="2410371" y="34327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7"/>
          <p:cNvSpPr/>
          <p:nvPr/>
        </p:nvSpPr>
        <p:spPr>
          <a:xfrm flipH="1">
            <a:off x="7294602" y="491803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7"/>
          <p:cNvSpPr/>
          <p:nvPr/>
        </p:nvSpPr>
        <p:spPr>
          <a:xfrm flipH="1">
            <a:off x="8288794" y="4402838"/>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7"/>
          <p:cNvSpPr/>
          <p:nvPr/>
        </p:nvSpPr>
        <p:spPr>
          <a:xfrm flipH="1">
            <a:off x="8337588" y="74063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7"/>
          <p:cNvSpPr/>
          <p:nvPr/>
        </p:nvSpPr>
        <p:spPr>
          <a:xfrm flipH="1">
            <a:off x="7858427" y="29868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7"/>
          <p:cNvSpPr/>
          <p:nvPr/>
        </p:nvSpPr>
        <p:spPr>
          <a:xfrm flipH="1">
            <a:off x="8856485" y="436088"/>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7376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230200"/>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1pPr>
            <a:lvl2pPr marL="914400" lvl="1"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2pPr>
            <a:lvl3pPr marL="1371600" lvl="2"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3pPr>
            <a:lvl4pPr marL="1828800" lvl="3"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4pPr>
            <a:lvl5pPr marL="2286000" lvl="4"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5pPr>
            <a:lvl6pPr marL="2743200" lvl="5"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6pPr>
            <a:lvl7pPr marL="3200400" lvl="6"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7pPr>
            <a:lvl8pPr marL="3657600" lvl="7"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8pPr>
            <a:lvl9pPr marL="4114800" lvl="8"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9pPr>
          </a:lstStyle>
          <a:p>
            <a:r>
              <a:rPr lang="en-US" dirty="0" err="1"/>
              <a:t>Aaaa</a:t>
            </a:r>
            <a:endParaRPr lang="en-US" dirty="0"/>
          </a:p>
          <a:p>
            <a:pPr lvl="1"/>
            <a:endParaRPr lang="en-US" dirty="0"/>
          </a:p>
          <a:p>
            <a:pPr lvl="1"/>
            <a:endParaRPr dirty="0"/>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2"/>
                </a:solidFill>
                <a:latin typeface="Barlow"/>
                <a:ea typeface="Barlow"/>
                <a:cs typeface="Barlow"/>
                <a:sym typeface="Barlow"/>
              </a:defRPr>
            </a:lvl1pPr>
            <a:lvl2pPr lvl="1" algn="r">
              <a:buNone/>
              <a:defRPr sz="1300">
                <a:solidFill>
                  <a:schemeClr val="dk2"/>
                </a:solidFill>
                <a:latin typeface="Barlow"/>
                <a:ea typeface="Barlow"/>
                <a:cs typeface="Barlow"/>
                <a:sym typeface="Barlow"/>
              </a:defRPr>
            </a:lvl2pPr>
            <a:lvl3pPr lvl="2" algn="r">
              <a:buNone/>
              <a:defRPr sz="1300">
                <a:solidFill>
                  <a:schemeClr val="dk2"/>
                </a:solidFill>
                <a:latin typeface="Barlow"/>
                <a:ea typeface="Barlow"/>
                <a:cs typeface="Barlow"/>
                <a:sym typeface="Barlow"/>
              </a:defRPr>
            </a:lvl3pPr>
            <a:lvl4pPr lvl="3" algn="r">
              <a:buNone/>
              <a:defRPr sz="1300">
                <a:solidFill>
                  <a:schemeClr val="dk2"/>
                </a:solidFill>
                <a:latin typeface="Barlow"/>
                <a:ea typeface="Barlow"/>
                <a:cs typeface="Barlow"/>
                <a:sym typeface="Barlow"/>
              </a:defRPr>
            </a:lvl4pPr>
            <a:lvl5pPr lvl="4" algn="r">
              <a:buNone/>
              <a:defRPr sz="1300">
                <a:solidFill>
                  <a:schemeClr val="dk2"/>
                </a:solidFill>
                <a:latin typeface="Barlow"/>
                <a:ea typeface="Barlow"/>
                <a:cs typeface="Barlow"/>
                <a:sym typeface="Barlow"/>
              </a:defRPr>
            </a:lvl5pPr>
            <a:lvl6pPr lvl="5" algn="r">
              <a:buNone/>
              <a:defRPr sz="1300">
                <a:solidFill>
                  <a:schemeClr val="dk2"/>
                </a:solidFill>
                <a:latin typeface="Barlow"/>
                <a:ea typeface="Barlow"/>
                <a:cs typeface="Barlow"/>
                <a:sym typeface="Barlow"/>
              </a:defRPr>
            </a:lvl6pPr>
            <a:lvl7pPr lvl="6" algn="r">
              <a:buNone/>
              <a:defRPr sz="1300">
                <a:solidFill>
                  <a:schemeClr val="dk2"/>
                </a:solidFill>
                <a:latin typeface="Barlow"/>
                <a:ea typeface="Barlow"/>
                <a:cs typeface="Barlow"/>
                <a:sym typeface="Barlow"/>
              </a:defRPr>
            </a:lvl7pPr>
            <a:lvl8pPr lvl="7" algn="r">
              <a:buNone/>
              <a:defRPr sz="1300">
                <a:solidFill>
                  <a:schemeClr val="dk2"/>
                </a:solidFill>
                <a:latin typeface="Barlow"/>
                <a:ea typeface="Barlow"/>
                <a:cs typeface="Barlow"/>
                <a:sym typeface="Barlow"/>
              </a:defRPr>
            </a:lvl8pPr>
            <a:lvl9pPr lvl="8" algn="r">
              <a:buNone/>
              <a:defRPr sz="1300">
                <a:solidFill>
                  <a:schemeClr val="dk2"/>
                </a:solidFill>
                <a:latin typeface="Barlow"/>
                <a:ea typeface="Barlow"/>
                <a:cs typeface="Barlow"/>
                <a:sym typeface="Barlow"/>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3.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33.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33.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3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33.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33.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33.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3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3.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33.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33.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3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3.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33.xml"/><Relationship Id="rId4" Type="http://schemas.openxmlformats.org/officeDocument/2006/relationships/image" Target="../media/image18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3.xml"/></Relationships>
</file>

<file path=ppt/slides/_rels/slide38.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38.xml"/><Relationship Id="rId1" Type="http://schemas.openxmlformats.org/officeDocument/2006/relationships/slideLayout" Target="../slideLayouts/slideLayout33.xml"/></Relationships>
</file>

<file path=ppt/slides/_rels/slide39.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39.xml"/><Relationship Id="rId1" Type="http://schemas.openxmlformats.org/officeDocument/2006/relationships/slideLayout" Target="../slideLayouts/slideLayout33.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33.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33.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33.xml"/><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33.xml"/><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3.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33.xml"/><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33.xml"/><Relationship Id="rId4" Type="http://schemas.openxmlformats.org/officeDocument/2006/relationships/image" Target="../media/image30.png"/></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3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3.xml"/></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0.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p38"/>
          <p:cNvSpPr txBox="1">
            <a:spLocks noGrp="1"/>
          </p:cNvSpPr>
          <p:nvPr>
            <p:ph type="ctrTitle"/>
          </p:nvPr>
        </p:nvSpPr>
        <p:spPr>
          <a:xfrm>
            <a:off x="2009275" y="665066"/>
            <a:ext cx="6229849" cy="2405400"/>
          </a:xfrm>
          <a:prstGeom prst="rect">
            <a:avLst/>
          </a:prstGeom>
        </p:spPr>
        <p:txBody>
          <a:bodyPr spcFirstLastPara="1" wrap="square" lIns="91425" tIns="91425" rIns="91425" bIns="91425" anchor="ctr" anchorCtr="0">
            <a:noAutofit/>
          </a:bodyPr>
          <a:lstStyle/>
          <a:p>
            <a:pPr lvl="0">
              <a:lnSpc>
                <a:spcPct val="115000"/>
              </a:lnSpc>
            </a:pPr>
            <a:r>
              <a:rPr lang="vi-VN" sz="3200" b="1" dirty="0">
                <a:latin typeface="+mj-lt"/>
              </a:rPr>
              <a:t>EPFD-Aware Beam Reassociation for Service Recovery in Multi-Beam LEO Satellite Systems under NGSO–GSO Coexistence</a:t>
            </a:r>
            <a:endParaRPr sz="3100" b="1" dirty="0">
              <a:latin typeface="+mj-lt"/>
              <a:ea typeface="Times New Roman"/>
              <a:cs typeface="Times New Roman" panose="02020603050405020304" pitchFamily="18" charset="0"/>
              <a:sym typeface="Times New Roman"/>
            </a:endParaRPr>
          </a:p>
        </p:txBody>
      </p:sp>
      <p:sp>
        <p:nvSpPr>
          <p:cNvPr id="1122" name="Google Shape;1122;p38"/>
          <p:cNvSpPr/>
          <p:nvPr/>
        </p:nvSpPr>
        <p:spPr>
          <a:xfrm>
            <a:off x="2768875" y="2501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8"/>
          <p:cNvSpPr/>
          <p:nvPr/>
        </p:nvSpPr>
        <p:spPr>
          <a:xfrm>
            <a:off x="6991300" y="449211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8"/>
          <p:cNvSpPr/>
          <p:nvPr/>
        </p:nvSpPr>
        <p:spPr>
          <a:xfrm>
            <a:off x="1226650" y="377850"/>
            <a:ext cx="84425" cy="844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8"/>
          <p:cNvSpPr/>
          <p:nvPr/>
        </p:nvSpPr>
        <p:spPr>
          <a:xfrm>
            <a:off x="8355400" y="358688"/>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8"/>
          <p:cNvSpPr/>
          <p:nvPr/>
        </p:nvSpPr>
        <p:spPr>
          <a:xfrm>
            <a:off x="2085475" y="1832325"/>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8"/>
          <p:cNvSpPr/>
          <p:nvPr/>
        </p:nvSpPr>
        <p:spPr>
          <a:xfrm>
            <a:off x="250075" y="22508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8"/>
          <p:cNvSpPr/>
          <p:nvPr/>
        </p:nvSpPr>
        <p:spPr>
          <a:xfrm>
            <a:off x="3073325" y="1675050"/>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8"/>
          <p:cNvSpPr/>
          <p:nvPr/>
        </p:nvSpPr>
        <p:spPr>
          <a:xfrm>
            <a:off x="1007400" y="3966475"/>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8"/>
          <p:cNvSpPr/>
          <p:nvPr/>
        </p:nvSpPr>
        <p:spPr>
          <a:xfrm>
            <a:off x="1653300" y="4695750"/>
            <a:ext cx="84425" cy="844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8"/>
          <p:cNvSpPr/>
          <p:nvPr/>
        </p:nvSpPr>
        <p:spPr>
          <a:xfrm>
            <a:off x="561413" y="4530988"/>
            <a:ext cx="316817" cy="419709"/>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8"/>
          <p:cNvSpPr/>
          <p:nvPr/>
        </p:nvSpPr>
        <p:spPr>
          <a:xfrm>
            <a:off x="4785800" y="28298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8"/>
          <p:cNvSpPr/>
          <p:nvPr/>
        </p:nvSpPr>
        <p:spPr>
          <a:xfrm>
            <a:off x="8483525" y="4887850"/>
            <a:ext cx="84425" cy="844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8"/>
          <p:cNvSpPr/>
          <p:nvPr/>
        </p:nvSpPr>
        <p:spPr>
          <a:xfrm>
            <a:off x="8825650" y="3773355"/>
            <a:ext cx="84428" cy="112474"/>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8"/>
          <p:cNvSpPr/>
          <p:nvPr/>
        </p:nvSpPr>
        <p:spPr>
          <a:xfrm>
            <a:off x="5181325" y="320267"/>
            <a:ext cx="84428" cy="112474"/>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8"/>
          <p:cNvSpPr txBox="1"/>
          <p:nvPr/>
        </p:nvSpPr>
        <p:spPr>
          <a:xfrm>
            <a:off x="5126400" y="3314000"/>
            <a:ext cx="3228000" cy="1496700"/>
          </a:xfrm>
          <a:prstGeom prst="rect">
            <a:avLst/>
          </a:prstGeom>
          <a:noFill/>
          <a:ln>
            <a:noFill/>
          </a:ln>
        </p:spPr>
        <p:txBody>
          <a:bodyPr spcFirstLastPara="1" wrap="square" lIns="68575" tIns="34275" rIns="68575" bIns="34275" anchor="ctr" anchorCtr="0">
            <a:normAutofit/>
          </a:bodyPr>
          <a:lstStyle/>
          <a:p>
            <a:pPr marL="0" marR="0" lvl="0" indent="0" algn="l" rtl="0">
              <a:lnSpc>
                <a:spcPct val="90000"/>
              </a:lnSpc>
              <a:spcBef>
                <a:spcPts val="0"/>
              </a:spcBef>
              <a:spcAft>
                <a:spcPts val="0"/>
              </a:spcAft>
              <a:buClr>
                <a:srgbClr val="000000"/>
              </a:buClr>
              <a:buSzPts val="1800"/>
              <a:buFont typeface="Arial"/>
              <a:buNone/>
            </a:pPr>
            <a:r>
              <a:rPr lang="en" sz="2000" b="0" i="0" u="none" strike="noStrike" cap="none" dirty="0">
                <a:solidFill>
                  <a:srgbClr val="000000"/>
                </a:solidFill>
                <a:latin typeface="Times New Roman"/>
                <a:ea typeface="Times New Roman"/>
                <a:cs typeface="Times New Roman"/>
                <a:sym typeface="Times New Roman"/>
              </a:rPr>
              <a:t>Advisor   : </a:t>
            </a:r>
            <a:r>
              <a:rPr lang="en" sz="2000" b="1" i="0" u="none" strike="noStrike" cap="none" dirty="0">
                <a:solidFill>
                  <a:srgbClr val="000000"/>
                </a:solidFill>
                <a:latin typeface="Times New Roman"/>
                <a:ea typeface="Times New Roman"/>
                <a:cs typeface="Times New Roman"/>
                <a:sym typeface="Times New Roman"/>
              </a:rPr>
              <a:t>Guey-Yun </a:t>
            </a:r>
            <a:r>
              <a:rPr lang="vi-VN" sz="2000" b="1" i="0" u="none" strike="noStrike" cap="none" dirty="0">
                <a:solidFill>
                  <a:srgbClr val="000000"/>
                </a:solidFill>
                <a:latin typeface="Times New Roman"/>
                <a:ea typeface="Times New Roman"/>
                <a:cs typeface="Times New Roman"/>
                <a:sym typeface="Times New Roman"/>
              </a:rPr>
              <a:t>Chang</a:t>
            </a:r>
            <a:endParaRPr lang="vi-VN" dirty="0"/>
          </a:p>
          <a:p>
            <a:pPr marL="0" marR="0" lvl="0" indent="0" algn="l" rtl="0">
              <a:lnSpc>
                <a:spcPct val="90000"/>
              </a:lnSpc>
              <a:spcBef>
                <a:spcPts val="0"/>
              </a:spcBef>
              <a:spcAft>
                <a:spcPts val="0"/>
              </a:spcAft>
              <a:buClr>
                <a:srgbClr val="888888"/>
              </a:buClr>
              <a:buSzPts val="2000"/>
              <a:buFont typeface="Arial"/>
              <a:buNone/>
            </a:pPr>
            <a:endParaRPr lang="vi-VN" sz="2000" b="1" i="0" u="none" strike="noStrike" cap="none" dirty="0">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000"/>
              <a:buFont typeface="Arial"/>
              <a:buNone/>
            </a:pPr>
            <a:r>
              <a:rPr lang="en" sz="2000" b="0" i="0" u="none" strike="noStrike" cap="none" dirty="0">
                <a:solidFill>
                  <a:srgbClr val="000000"/>
                </a:solidFill>
                <a:latin typeface="Times New Roman"/>
                <a:ea typeface="Times New Roman"/>
                <a:cs typeface="Times New Roman"/>
                <a:sym typeface="Times New Roman"/>
              </a:rPr>
              <a:t>Presenter :</a:t>
            </a:r>
            <a:r>
              <a:rPr lang="zh-TW" altLang="en-US" sz="2000" b="0" i="0" u="none" strike="noStrike" cap="none" dirty="0">
                <a:solidFill>
                  <a:srgbClr val="000000"/>
                </a:solidFill>
                <a:latin typeface="Times New Roman"/>
                <a:ea typeface="Times New Roman"/>
                <a:cs typeface="Times New Roman"/>
                <a:sym typeface="Times New Roman"/>
              </a:rPr>
              <a:t> </a:t>
            </a:r>
            <a:r>
              <a:rPr lang="en-US" altLang="zh-TW" sz="2000" b="1" i="0" u="none" strike="noStrike" cap="none" dirty="0">
                <a:solidFill>
                  <a:srgbClr val="000000"/>
                </a:solidFill>
                <a:latin typeface="Times New Roman"/>
                <a:ea typeface="Times New Roman"/>
                <a:cs typeface="Times New Roman"/>
                <a:sym typeface="Times New Roman"/>
              </a:rPr>
              <a:t>Chia</a:t>
            </a:r>
            <a:r>
              <a:rPr lang="en-US" altLang="zh-TW" sz="2000" b="1" dirty="0">
                <a:latin typeface="Times New Roman"/>
                <a:ea typeface="Times New Roman"/>
                <a:cs typeface="Times New Roman"/>
                <a:sym typeface="Times New Roman"/>
              </a:rPr>
              <a:t>-Yu Hu</a:t>
            </a:r>
            <a:endParaRPr sz="2000" b="1"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sp>
        <p:nvSpPr>
          <p:cNvPr id="1141" name="Google Shape;1141;p39"/>
          <p:cNvSpPr txBox="1">
            <a:spLocks noGrp="1"/>
          </p:cNvSpPr>
          <p:nvPr>
            <p:ph type="title"/>
          </p:nvPr>
        </p:nvSpPr>
        <p:spPr>
          <a:xfrm>
            <a:off x="630138" y="328725"/>
            <a:ext cx="7581000" cy="58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Times New Roman"/>
                <a:ea typeface="Times New Roman"/>
                <a:cs typeface="Times New Roman"/>
                <a:sym typeface="Times New Roman"/>
              </a:rPr>
              <a:t>Outline</a:t>
            </a:r>
            <a:endParaRPr b="1">
              <a:latin typeface="Times New Roman"/>
              <a:ea typeface="Times New Roman"/>
              <a:cs typeface="Times New Roman"/>
              <a:sym typeface="Times New Roman"/>
            </a:endParaRPr>
          </a:p>
        </p:txBody>
      </p:sp>
      <p:sp>
        <p:nvSpPr>
          <p:cNvPr id="1142" name="Google Shape;1142;p39"/>
          <p:cNvSpPr txBox="1"/>
          <p:nvPr/>
        </p:nvSpPr>
        <p:spPr>
          <a:xfrm>
            <a:off x="457200" y="1343775"/>
            <a:ext cx="8229600" cy="3584700"/>
          </a:xfrm>
          <a:prstGeom prst="rect">
            <a:avLst/>
          </a:prstGeom>
          <a:noFill/>
          <a:ln>
            <a:noFill/>
          </a:ln>
        </p:spPr>
        <p:txBody>
          <a:bodyPr spcFirstLastPara="1" wrap="square" lIns="91425" tIns="45700" rIns="91425" bIns="45700" anchor="t" anchorCtr="0">
            <a:normAutofit/>
          </a:bodyPr>
          <a:lstStyle/>
          <a:p>
            <a:pPr marL="914400" lvl="0" indent="-457200" algn="l" rtl="0">
              <a:lnSpc>
                <a:spcPct val="115000"/>
              </a:lnSpc>
              <a:spcBef>
                <a:spcPts val="0"/>
              </a:spcBef>
              <a:spcAft>
                <a:spcPts val="0"/>
              </a:spcAft>
              <a:buClr>
                <a:srgbClr val="000000"/>
              </a:buClr>
              <a:buSzPts val="2400"/>
              <a:buFont typeface="Times New Roman"/>
              <a:buAutoNum type="arabicPeriod"/>
            </a:pPr>
            <a:r>
              <a:rPr lang="en" sz="2400" b="1" dirty="0">
                <a:solidFill>
                  <a:srgbClr val="000000"/>
                </a:solidFill>
                <a:latin typeface="Times New Roman"/>
                <a:ea typeface="Times New Roman"/>
                <a:cs typeface="Times New Roman"/>
                <a:sym typeface="Times New Roman"/>
              </a:rPr>
              <a:t>Introduction</a:t>
            </a:r>
            <a:endParaRPr sz="2400" dirty="0">
              <a:solidFill>
                <a:srgbClr val="000000"/>
              </a:solidFill>
              <a:latin typeface="Times New Roman"/>
              <a:ea typeface="Times New Roman"/>
              <a:cs typeface="Times New Roman"/>
              <a:sym typeface="Times New Roman"/>
            </a:endParaRPr>
          </a:p>
          <a:p>
            <a:pPr marL="914400" lvl="0" indent="-457200" algn="l" rtl="0">
              <a:lnSpc>
                <a:spcPct val="115000"/>
              </a:lnSpc>
              <a:spcBef>
                <a:spcPts val="480"/>
              </a:spcBef>
              <a:spcAft>
                <a:spcPts val="0"/>
              </a:spcAft>
              <a:buClr>
                <a:schemeClr val="dk2"/>
              </a:buClr>
              <a:buSzPts val="2400"/>
              <a:buFont typeface="Times New Roman"/>
              <a:buAutoNum type="arabicPeriod"/>
            </a:pPr>
            <a:r>
              <a:rPr lang="en-US" sz="2400" b="1" dirty="0">
                <a:solidFill>
                  <a:schemeClr val="dk2"/>
                </a:solidFill>
                <a:latin typeface="Times New Roman"/>
                <a:ea typeface="Times New Roman"/>
                <a:cs typeface="Times New Roman"/>
                <a:sym typeface="Times New Roman"/>
              </a:rPr>
              <a:t>Related Work</a:t>
            </a:r>
          </a:p>
          <a:p>
            <a:pPr marL="914400" lvl="0" indent="-457200" algn="l" rtl="0">
              <a:lnSpc>
                <a:spcPct val="115000"/>
              </a:lnSpc>
              <a:spcBef>
                <a:spcPts val="480"/>
              </a:spcBef>
              <a:spcAft>
                <a:spcPts val="0"/>
              </a:spcAft>
              <a:buClr>
                <a:schemeClr val="dk2"/>
              </a:buClr>
              <a:buSzPts val="2400"/>
              <a:buFont typeface="Times New Roman"/>
              <a:buAutoNum type="arabicPeriod"/>
            </a:pPr>
            <a:r>
              <a:rPr lang="en-US" sz="2400" b="1" dirty="0">
                <a:solidFill>
                  <a:schemeClr val="dk2"/>
                </a:solidFill>
                <a:latin typeface="Times New Roman"/>
                <a:ea typeface="Times New Roman"/>
                <a:cs typeface="Times New Roman"/>
                <a:sym typeface="Times New Roman"/>
              </a:rPr>
              <a:t>System Model and Problem Formulation</a:t>
            </a:r>
            <a:endParaRPr lang="en-US" sz="2400" dirty="0">
              <a:solidFill>
                <a:schemeClr val="dk2"/>
              </a:solidFill>
              <a:latin typeface="Times New Roman"/>
              <a:ea typeface="Times New Roman"/>
              <a:cs typeface="Times New Roman"/>
              <a:sym typeface="Times New Roman"/>
            </a:endParaRPr>
          </a:p>
          <a:p>
            <a:pPr marL="914400" lvl="0" indent="-457200" algn="l" rtl="0">
              <a:lnSpc>
                <a:spcPct val="115000"/>
              </a:lnSpc>
              <a:spcBef>
                <a:spcPts val="480"/>
              </a:spcBef>
              <a:spcAft>
                <a:spcPts val="0"/>
              </a:spcAft>
              <a:buClr>
                <a:schemeClr val="dk2"/>
              </a:buClr>
              <a:buSzPts val="2400"/>
              <a:buFont typeface="Times New Roman"/>
              <a:buAutoNum type="arabicPeriod"/>
            </a:pPr>
            <a:r>
              <a:rPr lang="en-US" sz="2400" b="1" dirty="0">
                <a:solidFill>
                  <a:schemeClr val="dk2"/>
                </a:solidFill>
                <a:latin typeface="Times New Roman"/>
                <a:ea typeface="Times New Roman"/>
                <a:cs typeface="Times New Roman"/>
                <a:sym typeface="Times New Roman"/>
              </a:rPr>
              <a:t>Method</a:t>
            </a:r>
            <a:endParaRPr lang="en-US" sz="2400" dirty="0">
              <a:solidFill>
                <a:schemeClr val="dk2"/>
              </a:solidFill>
              <a:latin typeface="Times New Roman"/>
              <a:ea typeface="Times New Roman"/>
              <a:cs typeface="Times New Roman"/>
              <a:sym typeface="Times New Roman"/>
            </a:endParaRPr>
          </a:p>
          <a:p>
            <a:pPr marL="914400" lvl="0" indent="-457200" algn="l" rtl="0">
              <a:lnSpc>
                <a:spcPct val="115000"/>
              </a:lnSpc>
              <a:spcBef>
                <a:spcPts val="480"/>
              </a:spcBef>
              <a:spcAft>
                <a:spcPts val="0"/>
              </a:spcAft>
              <a:buClr>
                <a:schemeClr val="dk2"/>
              </a:buClr>
              <a:buSzPts val="2400"/>
              <a:buFont typeface="Times New Roman"/>
              <a:buAutoNum type="arabicPeriod"/>
            </a:pPr>
            <a:r>
              <a:rPr lang="en" sz="2400" b="1" dirty="0">
                <a:solidFill>
                  <a:schemeClr val="dk2"/>
                </a:solidFill>
                <a:latin typeface="Times New Roman"/>
                <a:ea typeface="Times New Roman"/>
                <a:cs typeface="Times New Roman"/>
                <a:sym typeface="Times New Roman"/>
              </a:rPr>
              <a:t>Evaluation</a:t>
            </a:r>
            <a:endParaRPr sz="2400" dirty="0">
              <a:solidFill>
                <a:schemeClr val="dk2"/>
              </a:solidFill>
              <a:latin typeface="Times New Roman"/>
              <a:ea typeface="Times New Roman"/>
              <a:cs typeface="Times New Roman"/>
              <a:sym typeface="Times New Roman"/>
            </a:endParaRPr>
          </a:p>
          <a:p>
            <a:pPr marL="914400" lvl="0" indent="-457200" algn="l" rtl="0">
              <a:lnSpc>
                <a:spcPct val="115000"/>
              </a:lnSpc>
              <a:spcBef>
                <a:spcPts val="480"/>
              </a:spcBef>
              <a:spcAft>
                <a:spcPts val="0"/>
              </a:spcAft>
              <a:buClr>
                <a:schemeClr val="dk2"/>
              </a:buClr>
              <a:buSzPts val="2400"/>
              <a:buFont typeface="Times New Roman"/>
              <a:buAutoNum type="arabicPeriod"/>
            </a:pPr>
            <a:r>
              <a:rPr lang="en" sz="2400" b="1" dirty="0">
                <a:solidFill>
                  <a:schemeClr val="dk2"/>
                </a:solidFill>
                <a:latin typeface="Times New Roman"/>
                <a:ea typeface="Times New Roman"/>
                <a:cs typeface="Times New Roman"/>
                <a:sym typeface="Times New Roman"/>
              </a:rPr>
              <a:t>Conclusion</a:t>
            </a:r>
            <a:endParaRPr sz="2400" dirty="0">
              <a:solidFill>
                <a:schemeClr val="dk2"/>
              </a:solidFill>
              <a:latin typeface="Times New Roman"/>
              <a:ea typeface="Times New Roman"/>
              <a:cs typeface="Times New Roman"/>
              <a:sym typeface="Times New Roman"/>
            </a:endParaRPr>
          </a:p>
        </p:txBody>
      </p:sp>
      <p:sp>
        <p:nvSpPr>
          <p:cNvPr id="1143" name="Google Shape;1143;p39"/>
          <p:cNvSpPr txBox="1">
            <a:spLocks noGrp="1"/>
          </p:cNvSpPr>
          <p:nvPr>
            <p:ph type="sldNum" idx="12"/>
          </p:nvPr>
        </p:nvSpPr>
        <p:spPr>
          <a:xfrm>
            <a:off x="8275225" y="4717125"/>
            <a:ext cx="833400" cy="4959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a16="http://schemas.microsoft.com/office/drawing/2014/main" id="{4E6E0A5B-0FC3-4193-B41B-A16C232E374A}"/>
                  </a:ext>
                </a:extLst>
              </p:cNvPr>
              <p:cNvSpPr>
                <a:spLocks noGrp="1"/>
              </p:cNvSpPr>
              <p:nvPr>
                <p:ph type="title"/>
              </p:nvPr>
            </p:nvSpPr>
            <p:spPr/>
            <p:txBody>
              <a:bodyPr/>
              <a:lstStyle/>
              <a:p>
                <a:r>
                  <a:rPr lang="en" altLang="zh-TW" b="1" dirty="0">
                    <a:latin typeface="Times New Roman"/>
                    <a:ea typeface="Times New Roman"/>
                    <a:cs typeface="Times New Roman"/>
                    <a:sym typeface="Times New Roman"/>
                  </a:rPr>
                  <a:t>Introduction </a:t>
                </a:r>
                <a14:m>
                  <m:oMath xmlns:m="http://schemas.openxmlformats.org/officeDocument/2006/math">
                    <m:r>
                      <a:rPr lang="en" altLang="zh-TW" b="1" i="1" smtClean="0">
                        <a:latin typeface="Cambria Math" panose="02040503050406030204" pitchFamily="18" charset="0"/>
                        <a:ea typeface="Cambria Math" panose="02040503050406030204" pitchFamily="18" charset="0"/>
                        <a:cs typeface="Times New Roman"/>
                        <a:sym typeface="Times New Roman"/>
                      </a:rPr>
                      <m:t>−</m:t>
                    </m:r>
                  </m:oMath>
                </a14:m>
                <a:r>
                  <a:rPr lang="zh-TW" altLang="en-US" dirty="0"/>
                  <a:t> </a:t>
                </a:r>
                <a:r>
                  <a:rPr lang="en-US" altLang="zh-TW" sz="1800" dirty="0">
                    <a:latin typeface="Times New Roman" panose="02020603050405020304" pitchFamily="18" charset="0"/>
                    <a:cs typeface="Times New Roman" panose="02020603050405020304" pitchFamily="18" charset="0"/>
                  </a:rPr>
                  <a:t>Motivation</a:t>
                </a:r>
                <a:endParaRPr lang="zh-TW" altLang="en-US" sz="1800" dirty="0">
                  <a:latin typeface="Times New Roman" panose="02020603050405020304" pitchFamily="18" charset="0"/>
                  <a:cs typeface="Times New Roman" panose="02020603050405020304" pitchFamily="18" charset="0"/>
                </a:endParaRPr>
              </a:p>
            </p:txBody>
          </p:sp>
        </mc:Choice>
        <mc:Fallback xmlns="">
          <p:sp>
            <p:nvSpPr>
              <p:cNvPr id="2" name="標題 1">
                <a:extLst>
                  <a:ext uri="{FF2B5EF4-FFF2-40B4-BE49-F238E27FC236}">
                    <a16:creationId xmlns:a16="http://schemas.microsoft.com/office/drawing/2014/main" id="{4E6E0A5B-0FC3-4193-B41B-A16C232E374A}"/>
                  </a:ext>
                </a:extLst>
              </p:cNvPr>
              <p:cNvSpPr>
                <a:spLocks noGrp="1" noRot="1" noChangeAspect="1" noMove="1" noResize="1" noEditPoints="1" noAdjustHandles="1" noChangeArrowheads="1" noChangeShapeType="1" noTextEdit="1"/>
              </p:cNvSpPr>
              <p:nvPr>
                <p:ph type="title"/>
              </p:nvPr>
            </p:nvSpPr>
            <p:spPr>
              <a:blipFill>
                <a:blip r:embed="rId3"/>
                <a:stretch>
                  <a:fillRect l="-1849" t="-7368" b="-33684"/>
                </a:stretch>
              </a:blipFill>
            </p:spPr>
            <p:txBody>
              <a:bodyPr/>
              <a:lstStyle/>
              <a:p>
                <a:r>
                  <a:rPr lang="vi-VN">
                    <a:noFill/>
                  </a:rPr>
                  <a:t> </a:t>
                </a:r>
              </a:p>
            </p:txBody>
          </p:sp>
        </mc:Fallback>
      </mc:AlternateContent>
      <p:sp>
        <p:nvSpPr>
          <p:cNvPr id="3" name="投影片編號版面配置區 2">
            <a:extLst>
              <a:ext uri="{FF2B5EF4-FFF2-40B4-BE49-F238E27FC236}">
                <a16:creationId xmlns:a16="http://schemas.microsoft.com/office/drawing/2014/main" id="{540D018F-6E4F-4BC2-95B1-3A70726D997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
        <p:nvSpPr>
          <p:cNvPr id="4" name="內容版面配置區 3">
            <a:extLst>
              <a:ext uri="{FF2B5EF4-FFF2-40B4-BE49-F238E27FC236}">
                <a16:creationId xmlns:a16="http://schemas.microsoft.com/office/drawing/2014/main" id="{C9BBA36F-13A0-45F8-AF21-1683CB5A38B3}"/>
              </a:ext>
            </a:extLst>
          </p:cNvPr>
          <p:cNvSpPr>
            <a:spLocks noGrp="1"/>
          </p:cNvSpPr>
          <p:nvPr>
            <p:ph idx="1"/>
          </p:nvPr>
        </p:nvSpPr>
        <p:spPr>
          <a:xfrm>
            <a:off x="311700" y="1230200"/>
            <a:ext cx="8378538" cy="3416400"/>
          </a:xfrm>
        </p:spPr>
        <p:txBody>
          <a:bodyPr/>
          <a:lstStyle/>
          <a:p>
            <a:pPr>
              <a:spcAft>
                <a:spcPts val="600"/>
              </a:spcAft>
            </a:pPr>
            <a:r>
              <a:rPr lang="en-US" altLang="zh-TW" sz="1800" dirty="0">
                <a:latin typeface="Times New Roman" panose="02020603050405020304" pitchFamily="18" charset="0"/>
                <a:cs typeface="Times New Roman" panose="02020603050405020304" pitchFamily="18" charset="0"/>
              </a:rPr>
              <a:t>LEO</a:t>
            </a:r>
            <a:r>
              <a:rPr lang="zh-TW" altLang="en-US" sz="1800" b="1" dirty="0">
                <a:latin typeface="Times New Roman" panose="02020603050405020304" pitchFamily="18" charset="0"/>
                <a:cs typeface="Times New Roman" panose="02020603050405020304" pitchFamily="18" charset="0"/>
              </a:rPr>
              <a:t> </a:t>
            </a:r>
            <a:r>
              <a:rPr lang="en-US" sz="1800" dirty="0"/>
              <a:t>(</a:t>
            </a:r>
            <a:r>
              <a:rPr lang="en-US" sz="1800" dirty="0">
                <a:latin typeface="Times New Roman" panose="02020603050405020304" pitchFamily="18" charset="0"/>
                <a:cs typeface="Times New Roman" panose="02020603050405020304" pitchFamily="18" charset="0"/>
              </a:rPr>
              <a:t>NGS</a:t>
            </a:r>
            <a:r>
              <a:rPr lang="en-US" altLang="zh-TW" sz="1800" dirty="0">
                <a:latin typeface="Times New Roman" panose="02020603050405020304" pitchFamily="18" charset="0"/>
                <a:cs typeface="Times New Roman" panose="02020603050405020304" pitchFamily="18" charset="0"/>
              </a:rPr>
              <a:t>O</a:t>
            </a:r>
            <a:r>
              <a:rPr lang="en-US" sz="1800" dirty="0"/>
              <a:t>)</a:t>
            </a:r>
            <a:r>
              <a:rPr lang="en-US" altLang="zh-TW" sz="1800" dirty="0">
                <a:latin typeface="Times New Roman" panose="02020603050405020304" pitchFamily="18" charset="0"/>
                <a:cs typeface="Times New Roman" panose="02020603050405020304" pitchFamily="18" charset="0"/>
              </a:rPr>
              <a:t> </a:t>
            </a:r>
            <a:r>
              <a:rPr lang="en-US" altLang="zh-TW" sz="1800" dirty="0">
                <a:latin typeface="Times New Roman"/>
                <a:cs typeface="Times New Roman"/>
                <a:sym typeface="Times New Roman"/>
              </a:rPr>
              <a:t>satellite constellations are being widely deployed to provide</a:t>
            </a:r>
            <a:r>
              <a:rPr lang="zh-TW" altLang="en-US" sz="1800" dirty="0">
                <a:latin typeface="Times New Roman"/>
                <a:cs typeface="Times New Roman"/>
                <a:sym typeface="Times New Roman"/>
              </a:rPr>
              <a:t> </a:t>
            </a:r>
            <a:r>
              <a:rPr lang="en-US" altLang="zh-TW" sz="1800" dirty="0">
                <a:latin typeface="Times New Roman"/>
                <a:cs typeface="Times New Roman"/>
                <a:sym typeface="Times New Roman"/>
              </a:rPr>
              <a:t>stable and fast global internet services.</a:t>
            </a:r>
          </a:p>
          <a:p>
            <a:pPr>
              <a:spcAft>
                <a:spcPts val="600"/>
              </a:spcAft>
            </a:pPr>
            <a:r>
              <a:rPr lang="en-US" sz="1800" dirty="0">
                <a:latin typeface="Times New Roman" panose="02020603050405020304" pitchFamily="18" charset="0"/>
                <a:cs typeface="Times New Roman" panose="02020603050405020304" pitchFamily="18" charset="0"/>
              </a:rPr>
              <a:t>LEO satellites provide lower latency and more flexible coverage than traditional GSO satellites. </a:t>
            </a:r>
          </a:p>
          <a:p>
            <a:pPr>
              <a:spcAft>
                <a:spcPts val="600"/>
              </a:spcAft>
            </a:pPr>
            <a:r>
              <a:rPr lang="en-US" sz="1800" dirty="0">
                <a:latin typeface="Times New Roman" panose="02020603050405020304" pitchFamily="18" charset="0"/>
                <a:cs typeface="Times New Roman" panose="02020603050405020304" pitchFamily="18" charset="0"/>
              </a:rPr>
              <a:t>The increasing number of LEO satellites leads to denser use of orbital and spectrum resources. </a:t>
            </a:r>
          </a:p>
          <a:p>
            <a:pPr>
              <a:spcAft>
                <a:spcPts val="600"/>
              </a:spcAft>
            </a:pPr>
            <a:r>
              <a:rPr lang="en-US" sz="1800" dirty="0">
                <a:latin typeface="Times New Roman" panose="02020603050405020304" pitchFamily="18" charset="0"/>
                <a:cs typeface="Times New Roman" panose="02020603050405020304" pitchFamily="18" charset="0"/>
              </a:rPr>
              <a:t>Spectrum sharing becomes an important issue in NGSO–GSO coexistence.</a:t>
            </a:r>
            <a:endParaRPr lang="zh-TW" alt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3049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2ED54-99A1-7E13-4DF5-D1134B1D5E2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a16="http://schemas.microsoft.com/office/drawing/2014/main" id="{05F8CED3-C88B-64C0-C1B6-F7C7BB5A52E5}"/>
                  </a:ext>
                </a:extLst>
              </p:cNvPr>
              <p:cNvSpPr>
                <a:spLocks noGrp="1"/>
              </p:cNvSpPr>
              <p:nvPr>
                <p:ph type="title"/>
              </p:nvPr>
            </p:nvSpPr>
            <p:spPr/>
            <p:txBody>
              <a:bodyPr/>
              <a:lstStyle/>
              <a:p>
                <a:r>
                  <a:rPr lang="en" altLang="zh-TW" b="1" dirty="0">
                    <a:latin typeface="Times New Roman"/>
                    <a:ea typeface="Times New Roman"/>
                    <a:cs typeface="Times New Roman"/>
                    <a:sym typeface="Times New Roman"/>
                  </a:rPr>
                  <a:t>Introduction </a:t>
                </a:r>
                <a14:m>
                  <m:oMath xmlns:m="http://schemas.openxmlformats.org/officeDocument/2006/math">
                    <m:r>
                      <a:rPr lang="en" altLang="zh-TW" b="1" i="1" smtClean="0">
                        <a:latin typeface="Cambria Math" panose="02040503050406030204" pitchFamily="18" charset="0"/>
                        <a:ea typeface="Cambria Math" panose="02040503050406030204" pitchFamily="18" charset="0"/>
                        <a:cs typeface="Times New Roman"/>
                        <a:sym typeface="Times New Roman"/>
                      </a:rPr>
                      <m:t>−</m:t>
                    </m:r>
                  </m:oMath>
                </a14:m>
                <a:r>
                  <a:rPr lang="zh-TW" altLang="en-US" dirty="0"/>
                  <a:t> </a:t>
                </a:r>
                <a:r>
                  <a:rPr lang="vi-VN" sz="1800" dirty="0">
                    <a:latin typeface="+mj-lt"/>
                  </a:rPr>
                  <a:t>NGSO–GSO Coexistence</a:t>
                </a:r>
                <a:endParaRPr lang="zh-TW" altLang="en-US" sz="1800" dirty="0">
                  <a:latin typeface="+mj-lt"/>
                  <a:cs typeface="Times New Roman" panose="02020603050405020304" pitchFamily="18" charset="0"/>
                </a:endParaRPr>
              </a:p>
            </p:txBody>
          </p:sp>
        </mc:Choice>
        <mc:Fallback xmlns="">
          <p:sp>
            <p:nvSpPr>
              <p:cNvPr id="2" name="標題 1">
                <a:extLst>
                  <a:ext uri="{FF2B5EF4-FFF2-40B4-BE49-F238E27FC236}">
                    <a16:creationId xmlns:a16="http://schemas.microsoft.com/office/drawing/2014/main" id="{05F8CED3-C88B-64C0-C1B6-F7C7BB5A52E5}"/>
                  </a:ext>
                </a:extLst>
              </p:cNvPr>
              <p:cNvSpPr>
                <a:spLocks noGrp="1" noRot="1" noChangeAspect="1" noMove="1" noResize="1" noEditPoints="1" noAdjustHandles="1" noChangeArrowheads="1" noChangeShapeType="1" noTextEdit="1"/>
              </p:cNvSpPr>
              <p:nvPr>
                <p:ph type="title"/>
              </p:nvPr>
            </p:nvSpPr>
            <p:spPr>
              <a:blipFill>
                <a:blip r:embed="rId3"/>
                <a:stretch>
                  <a:fillRect l="-1849" t="-7368" b="-33684"/>
                </a:stretch>
              </a:blipFill>
            </p:spPr>
            <p:txBody>
              <a:bodyPr/>
              <a:lstStyle/>
              <a:p>
                <a:r>
                  <a:rPr lang="vi-VN">
                    <a:noFill/>
                  </a:rPr>
                  <a:t> </a:t>
                </a:r>
              </a:p>
            </p:txBody>
          </p:sp>
        </mc:Fallback>
      </mc:AlternateContent>
      <p:sp>
        <p:nvSpPr>
          <p:cNvPr id="3" name="投影片編號版面配置區 2">
            <a:extLst>
              <a:ext uri="{FF2B5EF4-FFF2-40B4-BE49-F238E27FC236}">
                <a16:creationId xmlns:a16="http://schemas.microsoft.com/office/drawing/2014/main" id="{0A266FC7-CE82-60F7-3365-E9E9ADBBCDB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
        <p:nvSpPr>
          <p:cNvPr id="4" name="內容版面配置區 3">
            <a:extLst>
              <a:ext uri="{FF2B5EF4-FFF2-40B4-BE49-F238E27FC236}">
                <a16:creationId xmlns:a16="http://schemas.microsoft.com/office/drawing/2014/main" id="{8873A034-FE44-6FBE-B361-72ED0DD58E92}"/>
              </a:ext>
            </a:extLst>
          </p:cNvPr>
          <p:cNvSpPr>
            <a:spLocks noGrp="1"/>
          </p:cNvSpPr>
          <p:nvPr>
            <p:ph idx="1"/>
          </p:nvPr>
        </p:nvSpPr>
        <p:spPr>
          <a:xfrm>
            <a:off x="311701" y="1230200"/>
            <a:ext cx="4956574" cy="3416400"/>
          </a:xfrm>
        </p:spPr>
        <p:txBody>
          <a:bodyPr/>
          <a:lstStyle/>
          <a:p>
            <a:pPr>
              <a:spcAft>
                <a:spcPts val="600"/>
              </a:spcAft>
            </a:pPr>
            <a:r>
              <a:rPr lang="vi-VN" sz="1800" b="1" dirty="0">
                <a:latin typeface="+mj-lt"/>
              </a:rPr>
              <a:t>NGSO–GSO Co-Channel Interference</a:t>
            </a:r>
            <a:r>
              <a:rPr lang="en-US" sz="1800" b="1" dirty="0">
                <a:latin typeface="+mj-lt"/>
              </a:rPr>
              <a:t>:</a:t>
            </a: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NGSO and GSO systems may share the same frequency bands.</a:t>
            </a: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NGSO downlink transmissions can create co-channel interference toward GSO earth stations. </a:t>
            </a: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Interference becomes critical when an NGSO satellite is close to the GSO direction observed by the GS. </a:t>
            </a: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ITU Radio Regulations Article 22 defines EPFD limits to protect GSO systems from non-GSO interference.</a:t>
            </a:r>
            <a:endParaRPr lang="zh-TW" altLang="en-US" sz="18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3F7D5B30-E331-119D-9AB7-BCFE95D274F7}"/>
              </a:ext>
            </a:extLst>
          </p:cNvPr>
          <p:cNvPicPr>
            <a:picLocks noChangeAspect="1"/>
          </p:cNvPicPr>
          <p:nvPr/>
        </p:nvPicPr>
        <p:blipFill>
          <a:blip r:embed="rId4"/>
          <a:stretch>
            <a:fillRect/>
          </a:stretch>
        </p:blipFill>
        <p:spPr>
          <a:xfrm>
            <a:off x="5268274" y="1285763"/>
            <a:ext cx="3875726" cy="3305273"/>
          </a:xfrm>
          <a:prstGeom prst="rect">
            <a:avLst/>
          </a:prstGeom>
        </p:spPr>
      </p:pic>
    </p:spTree>
    <p:extLst>
      <p:ext uri="{BB962C8B-B14F-4D97-AF65-F5344CB8AC3E}">
        <p14:creationId xmlns:p14="http://schemas.microsoft.com/office/powerpoint/2010/main" val="2290041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6B57C9-51AC-43BD-82AE-69B7142BA982}"/>
              </a:ext>
            </a:extLst>
          </p:cNvPr>
          <p:cNvSpPr>
            <a:spLocks noGrp="1"/>
          </p:cNvSpPr>
          <p:nvPr>
            <p:ph type="title"/>
          </p:nvPr>
        </p:nvSpPr>
        <p:spPr/>
        <p:txBody>
          <a:bodyPr/>
          <a:lstStyle/>
          <a:p>
            <a:r>
              <a:rPr lang="en-US" altLang="zh-TW" b="1" dirty="0">
                <a:latin typeface="Times New Roman"/>
                <a:ea typeface="Times New Roman"/>
                <a:cs typeface="Times New Roman"/>
                <a:sym typeface="Times New Roman"/>
              </a:rPr>
              <a:t>Related Work</a:t>
            </a:r>
            <a:endParaRPr lang="zh-TW" altLang="en-US" dirty="0"/>
          </a:p>
        </p:txBody>
      </p:sp>
      <p:sp>
        <p:nvSpPr>
          <p:cNvPr id="3" name="投影片編號版面配置區 2">
            <a:extLst>
              <a:ext uri="{FF2B5EF4-FFF2-40B4-BE49-F238E27FC236}">
                <a16:creationId xmlns:a16="http://schemas.microsoft.com/office/drawing/2014/main" id="{A5551F21-CEEB-4AAB-B00D-B0DB021DB93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
        <p:nvSpPr>
          <p:cNvPr id="5" name="文字方塊 4">
            <a:extLst>
              <a:ext uri="{FF2B5EF4-FFF2-40B4-BE49-F238E27FC236}">
                <a16:creationId xmlns:a16="http://schemas.microsoft.com/office/drawing/2014/main" id="{4DB2C6E3-A07F-959E-575C-6351313FFE3F}"/>
              </a:ext>
            </a:extLst>
          </p:cNvPr>
          <p:cNvSpPr txBox="1"/>
          <p:nvPr/>
        </p:nvSpPr>
        <p:spPr>
          <a:xfrm>
            <a:off x="0" y="3839669"/>
            <a:ext cx="6317755" cy="430887"/>
          </a:xfrm>
          <a:prstGeom prst="rect">
            <a:avLst/>
          </a:prstGeom>
          <a:noFill/>
        </p:spPr>
        <p:txBody>
          <a:bodyPr wrap="none" rtlCol="0">
            <a:spAutoFit/>
          </a:bodyPr>
          <a:lstStyle/>
          <a:p>
            <a:r>
              <a:rPr lang="en-US" altLang="zh-TW" sz="1100" i="1" dirty="0">
                <a:latin typeface="Times New Roman" panose="02020603050405020304" pitchFamily="18" charset="0"/>
                <a:cs typeface="Times New Roman" panose="02020603050405020304" pitchFamily="18" charset="0"/>
              </a:rPr>
              <a:t> </a:t>
            </a:r>
            <a:r>
              <a:rPr lang="en-US" altLang="zh-TW" sz="1100" dirty="0">
                <a:latin typeface="Times New Roman" panose="02020603050405020304" pitchFamily="18" charset="0"/>
                <a:cs typeface="Times New Roman" panose="02020603050405020304" pitchFamily="18" charset="0"/>
              </a:rPr>
              <a:t>[1]</a:t>
            </a:r>
            <a:r>
              <a:rPr lang="en-US" sz="1100" i="1" dirty="0">
                <a:latin typeface="Times New Roman" panose="02020603050405020304" pitchFamily="18" charset="0"/>
                <a:cs typeface="Times New Roman" panose="02020603050405020304" pitchFamily="18" charset="0"/>
              </a:rPr>
              <a:t>Research on interference avoidance effect of OneWeb satellite constellation's progressive pitch strategy</a:t>
            </a:r>
            <a:r>
              <a:rPr lang="en-US" altLang="zh-TW" sz="1100" i="1" dirty="0">
                <a:latin typeface="Times New Roman" panose="02020603050405020304" pitchFamily="18" charset="0"/>
                <a:cs typeface="Times New Roman" panose="02020603050405020304" pitchFamily="18" charset="0"/>
              </a:rPr>
              <a:t>, </a:t>
            </a:r>
          </a:p>
          <a:p>
            <a:r>
              <a:rPr lang="en-US" altLang="zh-TW" sz="1100" i="1" dirty="0">
                <a:latin typeface="Times New Roman" panose="02020603050405020304" pitchFamily="18" charset="0"/>
                <a:cs typeface="Times New Roman" panose="02020603050405020304" pitchFamily="18" charset="0"/>
              </a:rPr>
              <a:t>(2021, </a:t>
            </a:r>
            <a:r>
              <a:rPr lang="en-US" sz="1100" i="1" dirty="0">
                <a:latin typeface="Times New Roman" panose="02020603050405020304" pitchFamily="18" charset="0"/>
                <a:cs typeface="Times New Roman" panose="02020603050405020304" pitchFamily="18" charset="0"/>
              </a:rPr>
              <a:t>International Journal of Satellite Communications and Networking</a:t>
            </a:r>
            <a:r>
              <a:rPr lang="en-US" altLang="zh-TW" sz="1100" i="1" dirty="0">
                <a:latin typeface="Times New Roman" panose="02020603050405020304" pitchFamily="18" charset="0"/>
                <a:cs typeface="Times New Roman" panose="02020603050405020304" pitchFamily="18" charset="0"/>
              </a:rPr>
              <a:t>)</a:t>
            </a:r>
          </a:p>
        </p:txBody>
      </p:sp>
      <p:sp>
        <p:nvSpPr>
          <p:cNvPr id="6" name="文字方塊 5">
            <a:extLst>
              <a:ext uri="{FF2B5EF4-FFF2-40B4-BE49-F238E27FC236}">
                <a16:creationId xmlns:a16="http://schemas.microsoft.com/office/drawing/2014/main" id="{3DB33068-7C2C-402D-7BF6-DF0423056977}"/>
              </a:ext>
            </a:extLst>
          </p:cNvPr>
          <p:cNvSpPr txBox="1"/>
          <p:nvPr/>
        </p:nvSpPr>
        <p:spPr>
          <a:xfrm>
            <a:off x="0" y="4286238"/>
            <a:ext cx="5827236" cy="430887"/>
          </a:xfrm>
          <a:prstGeom prst="rect">
            <a:avLst/>
          </a:prstGeom>
          <a:noFill/>
        </p:spPr>
        <p:txBody>
          <a:bodyPr wrap="none" rtlCol="0">
            <a:spAutoFit/>
          </a:bodyPr>
          <a:lstStyle/>
          <a:p>
            <a:r>
              <a:rPr lang="en-US" altLang="zh-TW" sz="1100" i="1" dirty="0">
                <a:latin typeface="Times New Roman" panose="02020603050405020304" pitchFamily="18" charset="0"/>
                <a:cs typeface="Times New Roman" panose="02020603050405020304" pitchFamily="18" charset="0"/>
              </a:rPr>
              <a:t> </a:t>
            </a:r>
            <a:r>
              <a:rPr lang="en-US" altLang="zh-TW" sz="1100" dirty="0">
                <a:latin typeface="Times New Roman" panose="02020603050405020304" pitchFamily="18" charset="0"/>
                <a:cs typeface="Times New Roman" panose="02020603050405020304" pitchFamily="18" charset="0"/>
              </a:rPr>
              <a:t>[2] </a:t>
            </a:r>
            <a:r>
              <a:rPr lang="en-US" sz="1100" i="1" dirty="0">
                <a:latin typeface="Times New Roman" panose="02020603050405020304" pitchFamily="18" charset="0"/>
                <a:cs typeface="Times New Roman" panose="02020603050405020304" pitchFamily="18" charset="0"/>
              </a:rPr>
              <a:t>Joint Power and Tilt Control in Satellite Constellation for NGSO-GSO Interference Mitigation</a:t>
            </a:r>
            <a:r>
              <a:rPr lang="en-US" altLang="zh-TW" sz="1100" i="1" dirty="0">
                <a:latin typeface="Times New Roman" panose="02020603050405020304" pitchFamily="18" charset="0"/>
                <a:cs typeface="Times New Roman" panose="02020603050405020304" pitchFamily="18" charset="0"/>
              </a:rPr>
              <a:t>, </a:t>
            </a:r>
          </a:p>
          <a:p>
            <a:r>
              <a:rPr lang="en-US" altLang="zh-TW" sz="1100" i="1" dirty="0">
                <a:latin typeface="Times New Roman" panose="02020603050405020304" pitchFamily="18" charset="0"/>
                <a:cs typeface="Times New Roman" panose="02020603050405020304" pitchFamily="18" charset="0"/>
              </a:rPr>
              <a:t>(2023, </a:t>
            </a:r>
            <a:r>
              <a:rPr lang="en-US" sz="1100" i="1" dirty="0">
                <a:latin typeface="Times New Roman" panose="02020603050405020304" pitchFamily="18" charset="0"/>
                <a:cs typeface="Times New Roman" panose="02020603050405020304" pitchFamily="18" charset="0"/>
              </a:rPr>
              <a:t>IEEE </a:t>
            </a:r>
            <a:r>
              <a:rPr lang="en-US" altLang="zh-TW" sz="1100" i="1" dirty="0">
                <a:latin typeface="Times New Roman" panose="02020603050405020304" pitchFamily="18" charset="0"/>
                <a:cs typeface="Times New Roman" panose="02020603050405020304" pitchFamily="18" charset="0"/>
              </a:rPr>
              <a:t>Communications)</a:t>
            </a:r>
          </a:p>
        </p:txBody>
      </p:sp>
      <p:sp>
        <p:nvSpPr>
          <p:cNvPr id="7" name="文字方塊 6">
            <a:extLst>
              <a:ext uri="{FF2B5EF4-FFF2-40B4-BE49-F238E27FC236}">
                <a16:creationId xmlns:a16="http://schemas.microsoft.com/office/drawing/2014/main" id="{48149CD6-6B50-BE4F-33D4-BFE9FF30B8E0}"/>
              </a:ext>
            </a:extLst>
          </p:cNvPr>
          <p:cNvSpPr txBox="1"/>
          <p:nvPr/>
        </p:nvSpPr>
        <p:spPr>
          <a:xfrm>
            <a:off x="0" y="4712613"/>
            <a:ext cx="7896714" cy="430887"/>
          </a:xfrm>
          <a:prstGeom prst="rect">
            <a:avLst/>
          </a:prstGeom>
          <a:noFill/>
        </p:spPr>
        <p:txBody>
          <a:bodyPr wrap="none" rtlCol="0">
            <a:spAutoFit/>
          </a:bodyPr>
          <a:lstStyle/>
          <a:p>
            <a:r>
              <a:rPr lang="en-US" altLang="zh-TW" sz="1100" i="1" dirty="0">
                <a:latin typeface="Times New Roman" panose="02020603050405020304" pitchFamily="18" charset="0"/>
                <a:cs typeface="Times New Roman" panose="02020603050405020304" pitchFamily="18" charset="0"/>
              </a:rPr>
              <a:t> </a:t>
            </a:r>
            <a:r>
              <a:rPr lang="en-US" altLang="zh-TW" sz="1100" dirty="0">
                <a:latin typeface="Times New Roman" panose="02020603050405020304" pitchFamily="18" charset="0"/>
                <a:cs typeface="Times New Roman" panose="02020603050405020304" pitchFamily="18" charset="0"/>
              </a:rPr>
              <a:t>[3] </a:t>
            </a:r>
            <a:r>
              <a:rPr lang="en-US" sz="1100" i="1" dirty="0">
                <a:latin typeface="Times New Roman" panose="02020603050405020304" pitchFamily="18" charset="0"/>
                <a:cs typeface="Times New Roman" panose="02020603050405020304" pitchFamily="18" charset="0"/>
              </a:rPr>
              <a:t>NGSO Satellites Beam Hopping Strategy Based on Load Balancing and Interference Avoidance for Coexistence With GSO Systems</a:t>
            </a:r>
            <a:r>
              <a:rPr lang="en-US" altLang="zh-TW" sz="1100" i="1" dirty="0">
                <a:latin typeface="Times New Roman" panose="02020603050405020304" pitchFamily="18" charset="0"/>
                <a:cs typeface="Times New Roman" panose="02020603050405020304" pitchFamily="18" charset="0"/>
              </a:rPr>
              <a:t>, </a:t>
            </a:r>
          </a:p>
          <a:p>
            <a:r>
              <a:rPr lang="en-US" altLang="zh-TW" sz="1100" i="1" dirty="0">
                <a:latin typeface="Times New Roman" panose="02020603050405020304" pitchFamily="18" charset="0"/>
                <a:cs typeface="Times New Roman" panose="02020603050405020304" pitchFamily="18" charset="0"/>
              </a:rPr>
              <a:t>(2023, </a:t>
            </a:r>
            <a:r>
              <a:rPr lang="en-US" sz="1100" i="1" dirty="0">
                <a:latin typeface="Times New Roman" panose="02020603050405020304" pitchFamily="18" charset="0"/>
                <a:cs typeface="Times New Roman" panose="02020603050405020304" pitchFamily="18" charset="0"/>
              </a:rPr>
              <a:t>International Journal of Satellite Communications and Networking</a:t>
            </a:r>
            <a:r>
              <a:rPr lang="en-US" altLang="zh-TW" sz="1100" i="1" dirty="0">
                <a:latin typeface="Times New Roman" panose="02020603050405020304" pitchFamily="18" charset="0"/>
                <a:cs typeface="Times New Roman" panose="02020603050405020304" pitchFamily="18" charset="0"/>
              </a:rPr>
              <a:t>)</a:t>
            </a:r>
            <a:r>
              <a:rPr lang="vi-VN" sz="1100" dirty="0"/>
              <a:t> Interference Mitigation</a:t>
            </a:r>
            <a:endParaRPr lang="en-US" altLang="zh-TW" sz="1100" i="1" dirty="0">
              <a:latin typeface="Times New Roman" panose="02020603050405020304" pitchFamily="18" charset="0"/>
              <a:cs typeface="Times New Roman" panose="02020603050405020304" pitchFamily="18" charset="0"/>
            </a:endParaRPr>
          </a:p>
        </p:txBody>
      </p:sp>
      <p:graphicFrame>
        <p:nvGraphicFramePr>
          <p:cNvPr id="14" name="表格 5">
            <a:extLst>
              <a:ext uri="{FF2B5EF4-FFF2-40B4-BE49-F238E27FC236}">
                <a16:creationId xmlns:a16="http://schemas.microsoft.com/office/drawing/2014/main" id="{8FD270DA-0F5D-0DA4-C608-D8EBF42A54CC}"/>
              </a:ext>
            </a:extLst>
          </p:cNvPr>
          <p:cNvGraphicFramePr>
            <a:graphicFrameLocks/>
          </p:cNvGraphicFramePr>
          <p:nvPr>
            <p:extLst>
              <p:ext uri="{D42A27DB-BD31-4B8C-83A1-F6EECF244321}">
                <p14:modId xmlns:p14="http://schemas.microsoft.com/office/powerpoint/2010/main" val="2701225879"/>
              </p:ext>
            </p:extLst>
          </p:nvPr>
        </p:nvGraphicFramePr>
        <p:xfrm>
          <a:off x="203731" y="1156119"/>
          <a:ext cx="8770586" cy="2667867"/>
        </p:xfrm>
        <a:graphic>
          <a:graphicData uri="http://schemas.openxmlformats.org/drawingml/2006/table">
            <a:tbl>
              <a:tblPr firstRow="1" bandRow="1">
                <a:tableStyleId>{284E427A-3D55-4303-BF80-6455036E1DE7}</a:tableStyleId>
              </a:tblPr>
              <a:tblGrid>
                <a:gridCol w="2292270">
                  <a:extLst>
                    <a:ext uri="{9D8B030D-6E8A-4147-A177-3AD203B41FA5}">
                      <a16:colId xmlns:a16="http://schemas.microsoft.com/office/drawing/2014/main" val="272968978"/>
                    </a:ext>
                  </a:extLst>
                </a:gridCol>
                <a:gridCol w="1619579">
                  <a:extLst>
                    <a:ext uri="{9D8B030D-6E8A-4147-A177-3AD203B41FA5}">
                      <a16:colId xmlns:a16="http://schemas.microsoft.com/office/drawing/2014/main" val="1760466968"/>
                    </a:ext>
                  </a:extLst>
                </a:gridCol>
                <a:gridCol w="1619579">
                  <a:extLst>
                    <a:ext uri="{9D8B030D-6E8A-4147-A177-3AD203B41FA5}">
                      <a16:colId xmlns:a16="http://schemas.microsoft.com/office/drawing/2014/main" val="3927685833"/>
                    </a:ext>
                  </a:extLst>
                </a:gridCol>
                <a:gridCol w="1619579">
                  <a:extLst>
                    <a:ext uri="{9D8B030D-6E8A-4147-A177-3AD203B41FA5}">
                      <a16:colId xmlns:a16="http://schemas.microsoft.com/office/drawing/2014/main" val="1338657158"/>
                    </a:ext>
                  </a:extLst>
                </a:gridCol>
                <a:gridCol w="1619579">
                  <a:extLst>
                    <a:ext uri="{9D8B030D-6E8A-4147-A177-3AD203B41FA5}">
                      <a16:colId xmlns:a16="http://schemas.microsoft.com/office/drawing/2014/main" val="1888171619"/>
                    </a:ext>
                  </a:extLst>
                </a:gridCol>
              </a:tblGrid>
              <a:tr h="513864">
                <a:tc>
                  <a:txBody>
                    <a:bodyPr/>
                    <a:lstStyle/>
                    <a:p>
                      <a:endParaRPr lang="zh-TW" altLang="en-US" sz="1600" dirty="0">
                        <a:solidFill>
                          <a:schemeClr val="tx1"/>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pPr algn="ctr"/>
                      <a:r>
                        <a:rPr lang="en-US" altLang="zh-TW" sz="1600" dirty="0">
                          <a:solidFill>
                            <a:schemeClr val="tx1"/>
                          </a:solidFill>
                          <a:latin typeface="Times New Roman" panose="02020603050405020304" pitchFamily="18" charset="0"/>
                          <a:cs typeface="Times New Roman" panose="02020603050405020304" pitchFamily="18" charset="0"/>
                        </a:rPr>
                        <a:t>Beam shot down</a:t>
                      </a:r>
                      <a:endParaRPr lang="zh-TW" altLang="en-US" sz="1600" dirty="0">
                        <a:solidFill>
                          <a:schemeClr val="tx1"/>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pPr algn="ctr"/>
                      <a:r>
                        <a:rPr lang="en-US" altLang="zh-TW" sz="1600" dirty="0">
                          <a:solidFill>
                            <a:schemeClr val="tx1"/>
                          </a:solidFill>
                          <a:latin typeface="Times New Roman" panose="02020603050405020304" pitchFamily="18" charset="0"/>
                          <a:cs typeface="Times New Roman" panose="02020603050405020304" pitchFamily="18" charset="0"/>
                        </a:rPr>
                        <a:t>Power control</a:t>
                      </a:r>
                      <a:endParaRPr lang="zh-TW" altLang="en-US" sz="1600" dirty="0">
                        <a:solidFill>
                          <a:schemeClr val="tx1"/>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pPr algn="ctr"/>
                      <a:r>
                        <a:rPr lang="en-US" altLang="zh-TW" sz="1600" b="1" i="0" u="none" strike="noStrike" cap="none" dirty="0">
                          <a:solidFill>
                            <a:schemeClr val="tx1"/>
                          </a:solidFill>
                          <a:latin typeface="+mn-lt"/>
                          <a:ea typeface="+mn-ea"/>
                          <a:cs typeface="+mn-cs"/>
                          <a:sym typeface="Arial"/>
                        </a:rPr>
                        <a:t>T</a:t>
                      </a:r>
                      <a:r>
                        <a:rPr lang="vi-VN" sz="1600" b="1" i="0" u="none" strike="noStrike" cap="none" dirty="0">
                          <a:solidFill>
                            <a:schemeClr val="tx1"/>
                          </a:solidFill>
                          <a:latin typeface="+mn-lt"/>
                          <a:ea typeface="+mn-ea"/>
                          <a:cs typeface="+mn-cs"/>
                          <a:sym typeface="Arial"/>
                        </a:rPr>
                        <a:t>ilt angle</a:t>
                      </a:r>
                      <a:endParaRPr lang="zh-TW" altLang="en-US" sz="1600" dirty="0">
                        <a:solidFill>
                          <a:schemeClr val="tx1"/>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pPr algn="ctr"/>
                      <a:r>
                        <a:rPr lang="en-US" altLang="zh-TW" sz="1600" dirty="0">
                          <a:solidFill>
                            <a:schemeClr val="tx1"/>
                          </a:solidFill>
                          <a:latin typeface="Times New Roman" panose="02020603050405020304" pitchFamily="18" charset="0"/>
                          <a:cs typeface="Times New Roman" panose="02020603050405020304" pitchFamily="18" charset="0"/>
                        </a:rPr>
                        <a:t>Beamforming</a:t>
                      </a:r>
                      <a:endParaRPr lang="zh-TW" altLang="en-US" sz="1600" dirty="0">
                        <a:solidFill>
                          <a:schemeClr val="tx1"/>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90000"/>
                        <a:lumOff val="10000"/>
                      </a:schemeClr>
                    </a:solidFill>
                  </a:tcPr>
                </a:tc>
                <a:extLst>
                  <a:ext uri="{0D108BD9-81ED-4DB2-BD59-A6C34878D82A}">
                    <a16:rowId xmlns:a16="http://schemas.microsoft.com/office/drawing/2014/main" val="3764392348"/>
                  </a:ext>
                </a:extLst>
              </a:tr>
              <a:tr h="71800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vi-VN" sz="1600" b="1" i="0" u="none" strike="noStrike" cap="none" dirty="0">
                          <a:solidFill>
                            <a:schemeClr val="bg2"/>
                          </a:solidFill>
                          <a:latin typeface="+mj-lt"/>
                          <a:ea typeface="+mn-ea"/>
                          <a:cs typeface="+mn-cs"/>
                          <a:sym typeface="Arial"/>
                        </a:rPr>
                        <a:t>Progressive Pitch Strategy</a:t>
                      </a:r>
                      <a:r>
                        <a:rPr lang="en-US" sz="1600" b="0" i="0" u="none" strike="noStrike" cap="none" dirty="0">
                          <a:solidFill>
                            <a:schemeClr val="bg2"/>
                          </a:solidFill>
                          <a:latin typeface="+mj-lt"/>
                          <a:ea typeface="+mn-ea"/>
                          <a:cs typeface="Times New Roman" panose="02020603050405020304" pitchFamily="18" charset="0"/>
                          <a:sym typeface="Arial"/>
                        </a:rPr>
                        <a:t> </a:t>
                      </a:r>
                      <a:r>
                        <a:rPr lang="en-US" altLang="zh-TW" sz="1200" b="1" i="1" dirty="0">
                          <a:solidFill>
                            <a:schemeClr val="bg2"/>
                          </a:solidFill>
                          <a:latin typeface="Times New Roman" panose="02020603050405020304" pitchFamily="18" charset="0"/>
                          <a:cs typeface="Times New Roman" panose="02020603050405020304" pitchFamily="18" charset="0"/>
                        </a:rPr>
                        <a:t>Li et al.</a:t>
                      </a:r>
                      <a:r>
                        <a:rPr lang="en-US" altLang="zh-TW" sz="1200" b="1" i="1" baseline="-25000" dirty="0">
                          <a:solidFill>
                            <a:schemeClr val="bg2"/>
                          </a:solidFill>
                          <a:latin typeface="Times New Roman" panose="02020603050405020304" pitchFamily="18" charset="0"/>
                          <a:cs typeface="Times New Roman" panose="02020603050405020304" pitchFamily="18" charset="0"/>
                        </a:rPr>
                        <a:t>[1]</a:t>
                      </a:r>
                      <a:endParaRPr lang="zh-TW" altLang="en-US" sz="1200" b="1" i="1" baseline="-25000"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extLst>
                  <a:ext uri="{0D108BD9-81ED-4DB2-BD59-A6C34878D82A}">
                    <a16:rowId xmlns:a16="http://schemas.microsoft.com/office/drawing/2014/main" val="1743110902"/>
                  </a:ext>
                </a:extLst>
              </a:tr>
              <a:tr h="718001">
                <a:tc>
                  <a:txBody>
                    <a:bodyPr/>
                    <a:lstStyle/>
                    <a:p>
                      <a:r>
                        <a:rPr lang="en-US" sz="1600" b="1" dirty="0">
                          <a:solidFill>
                            <a:schemeClr val="bg2"/>
                          </a:solidFill>
                          <a:latin typeface="Times New Roman" panose="02020603050405020304" pitchFamily="18" charset="0"/>
                          <a:cs typeface="Times New Roman" panose="02020603050405020304" pitchFamily="18" charset="0"/>
                        </a:rPr>
                        <a:t>Power and Tilt Control </a:t>
                      </a:r>
                      <a:r>
                        <a:rPr lang="en-US" altLang="zh-TW" sz="1200" b="1" dirty="0">
                          <a:solidFill>
                            <a:schemeClr val="bg2"/>
                          </a:solidFill>
                          <a:latin typeface="Times New Roman" panose="02020603050405020304" pitchFamily="18" charset="0"/>
                          <a:cs typeface="Times New Roman" panose="02020603050405020304" pitchFamily="18" charset="0"/>
                        </a:rPr>
                        <a:t>Jalali et al.</a:t>
                      </a:r>
                      <a:r>
                        <a:rPr lang="en-US" altLang="zh-TW" sz="1200" b="1" baseline="-25000" dirty="0">
                          <a:solidFill>
                            <a:schemeClr val="bg2"/>
                          </a:solidFill>
                          <a:latin typeface="Times New Roman" panose="02020603050405020304" pitchFamily="18" charset="0"/>
                          <a:cs typeface="Times New Roman" panose="02020603050405020304" pitchFamily="18" charset="0"/>
                        </a:rPr>
                        <a:t>[2] </a:t>
                      </a:r>
                      <a:endParaRPr lang="zh-TW" altLang="en-US" sz="1600" b="1" baseline="-25000"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extLst>
                  <a:ext uri="{0D108BD9-81ED-4DB2-BD59-A6C34878D82A}">
                    <a16:rowId xmlns:a16="http://schemas.microsoft.com/office/drawing/2014/main" val="3705892696"/>
                  </a:ext>
                </a:extLst>
              </a:tr>
              <a:tr h="718001">
                <a:tc>
                  <a:txBody>
                    <a:bodyPr/>
                    <a:lstStyle/>
                    <a:p>
                      <a:r>
                        <a:rPr lang="en-US" altLang="zh-TW" sz="1600" b="1" dirty="0">
                          <a:solidFill>
                            <a:schemeClr val="bg2"/>
                          </a:solidFill>
                          <a:latin typeface="Times New Roman" panose="02020603050405020304" pitchFamily="18" charset="0"/>
                          <a:cs typeface="Times New Roman" panose="02020603050405020304" pitchFamily="18" charset="0"/>
                        </a:rPr>
                        <a:t>Beamforming </a:t>
                      </a:r>
                    </a:p>
                    <a:p>
                      <a:r>
                        <a:rPr lang="en-US" altLang="zh-TW" sz="1200" b="1" dirty="0">
                          <a:solidFill>
                            <a:schemeClr val="bg2"/>
                          </a:solidFill>
                          <a:latin typeface="Times New Roman" panose="02020603050405020304" pitchFamily="18" charset="0"/>
                          <a:cs typeface="Times New Roman" panose="02020603050405020304" pitchFamily="18" charset="0"/>
                        </a:rPr>
                        <a:t>Jalali et al. </a:t>
                      </a:r>
                      <a:r>
                        <a:rPr lang="en-US" altLang="zh-TW" sz="1200" b="1" baseline="-25000" dirty="0">
                          <a:solidFill>
                            <a:schemeClr val="bg2"/>
                          </a:solidFill>
                          <a:latin typeface="Times New Roman" panose="02020603050405020304" pitchFamily="18" charset="0"/>
                          <a:cs typeface="Times New Roman" panose="02020603050405020304" pitchFamily="18" charset="0"/>
                        </a:rPr>
                        <a:t>[3]</a:t>
                      </a:r>
                      <a:endParaRPr lang="zh-TW" altLang="en-US" b="1" baseline="-25000"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extLst>
                  <a:ext uri="{0D108BD9-81ED-4DB2-BD59-A6C34878D82A}">
                    <a16:rowId xmlns:a16="http://schemas.microsoft.com/office/drawing/2014/main" val="3997254213"/>
                  </a:ext>
                </a:extLst>
              </a:tr>
            </a:tbl>
          </a:graphicData>
        </a:graphic>
      </p:graphicFrame>
      <p:sp>
        <p:nvSpPr>
          <p:cNvPr id="22" name="橢圓 21">
            <a:extLst>
              <a:ext uri="{FF2B5EF4-FFF2-40B4-BE49-F238E27FC236}">
                <a16:creationId xmlns:a16="http://schemas.microsoft.com/office/drawing/2014/main" id="{78B8E92B-9992-F941-BA90-C565091BE48A}"/>
              </a:ext>
            </a:extLst>
          </p:cNvPr>
          <p:cNvSpPr/>
          <p:nvPr/>
        </p:nvSpPr>
        <p:spPr>
          <a:xfrm>
            <a:off x="8087996" y="3333735"/>
            <a:ext cx="257119" cy="255555"/>
          </a:xfrm>
          <a:prstGeom prst="ellipse">
            <a:avLst/>
          </a:prstGeom>
          <a:no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a:extLst>
              <a:ext uri="{FF2B5EF4-FFF2-40B4-BE49-F238E27FC236}">
                <a16:creationId xmlns:a16="http://schemas.microsoft.com/office/drawing/2014/main" id="{937E964A-CCA9-7B97-EA19-313E27CDC1C2}"/>
              </a:ext>
            </a:extLst>
          </p:cNvPr>
          <p:cNvSpPr/>
          <p:nvPr/>
        </p:nvSpPr>
        <p:spPr>
          <a:xfrm>
            <a:off x="6421023" y="2616562"/>
            <a:ext cx="257119" cy="255555"/>
          </a:xfrm>
          <a:prstGeom prst="ellipse">
            <a:avLst/>
          </a:prstGeom>
          <a:no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橢圓 23">
            <a:extLst>
              <a:ext uri="{FF2B5EF4-FFF2-40B4-BE49-F238E27FC236}">
                <a16:creationId xmlns:a16="http://schemas.microsoft.com/office/drawing/2014/main" id="{E7B3D517-9CA1-73F1-91E3-32344561BBC9}"/>
              </a:ext>
            </a:extLst>
          </p:cNvPr>
          <p:cNvSpPr/>
          <p:nvPr/>
        </p:nvSpPr>
        <p:spPr>
          <a:xfrm>
            <a:off x="6421022" y="1918950"/>
            <a:ext cx="257119" cy="255555"/>
          </a:xfrm>
          <a:prstGeom prst="ellipse">
            <a:avLst/>
          </a:prstGeom>
          <a:no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a:extLst>
              <a:ext uri="{FF2B5EF4-FFF2-40B4-BE49-F238E27FC236}">
                <a16:creationId xmlns:a16="http://schemas.microsoft.com/office/drawing/2014/main" id="{1E17512D-EF36-857D-97BA-32F5397A4627}"/>
              </a:ext>
            </a:extLst>
          </p:cNvPr>
          <p:cNvSpPr/>
          <p:nvPr/>
        </p:nvSpPr>
        <p:spPr>
          <a:xfrm>
            <a:off x="3158877" y="1918949"/>
            <a:ext cx="257119" cy="255555"/>
          </a:xfrm>
          <a:prstGeom prst="ellipse">
            <a:avLst/>
          </a:prstGeom>
          <a:no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a:extLst>
              <a:ext uri="{FF2B5EF4-FFF2-40B4-BE49-F238E27FC236}">
                <a16:creationId xmlns:a16="http://schemas.microsoft.com/office/drawing/2014/main" id="{112338EE-4578-68DA-FCF5-CF24F9B228C5}"/>
              </a:ext>
            </a:extLst>
          </p:cNvPr>
          <p:cNvSpPr/>
          <p:nvPr/>
        </p:nvSpPr>
        <p:spPr>
          <a:xfrm>
            <a:off x="4837320" y="2616561"/>
            <a:ext cx="257119" cy="255555"/>
          </a:xfrm>
          <a:prstGeom prst="ellipse">
            <a:avLst/>
          </a:prstGeom>
          <a:no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712641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175E02-F79A-4A7E-A68F-B5841480176D}"/>
              </a:ext>
            </a:extLst>
          </p:cNvPr>
          <p:cNvSpPr>
            <a:spLocks noGrp="1"/>
          </p:cNvSpPr>
          <p:nvPr>
            <p:ph type="title"/>
          </p:nvPr>
        </p:nvSpPr>
        <p:spPr/>
        <p:txBody>
          <a:bodyPr/>
          <a:lstStyle/>
          <a:p>
            <a:r>
              <a:rPr lang="en-US" altLang="zh-TW" b="1" dirty="0">
                <a:latin typeface="Times New Roman"/>
                <a:ea typeface="Times New Roman"/>
                <a:cs typeface="Times New Roman"/>
                <a:sym typeface="Times New Roman"/>
              </a:rPr>
              <a:t>Related Work - </a:t>
            </a:r>
            <a:r>
              <a:rPr lang="en-US" altLang="zh-TW" sz="1800" b="1" dirty="0">
                <a:latin typeface="Times New Roman"/>
                <a:ea typeface="Times New Roman"/>
                <a:cs typeface="Times New Roman"/>
                <a:sym typeface="Times New Roman"/>
              </a:rPr>
              <a:t>Research Gap</a:t>
            </a:r>
            <a:endParaRPr lang="zh-TW" altLang="en-US" sz="3200" dirty="0"/>
          </a:p>
        </p:txBody>
      </p:sp>
      <p:sp>
        <p:nvSpPr>
          <p:cNvPr id="3" name="投影片編號版面配置區 2">
            <a:extLst>
              <a:ext uri="{FF2B5EF4-FFF2-40B4-BE49-F238E27FC236}">
                <a16:creationId xmlns:a16="http://schemas.microsoft.com/office/drawing/2014/main" id="{5DD286FA-AF22-4EBE-A64F-AA0453B57D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
        <p:nvSpPr>
          <p:cNvPr id="4" name="內容版面配置區 3">
            <a:extLst>
              <a:ext uri="{FF2B5EF4-FFF2-40B4-BE49-F238E27FC236}">
                <a16:creationId xmlns:a16="http://schemas.microsoft.com/office/drawing/2014/main" id="{45AB7399-5BD1-4530-9D0D-BC287FA878B8}"/>
              </a:ext>
            </a:extLst>
          </p:cNvPr>
          <p:cNvSpPr>
            <a:spLocks noGrp="1"/>
          </p:cNvSpPr>
          <p:nvPr>
            <p:ph idx="1"/>
          </p:nvPr>
        </p:nvSpPr>
        <p:spPr/>
        <p:txBody>
          <a:bodyPr/>
          <a:lstStyle/>
          <a:p>
            <a:pPr>
              <a:spcAft>
                <a:spcPts val="600"/>
              </a:spcAft>
              <a:buSzPct val="60000"/>
              <a:buFont typeface="Wingdings" panose="05000000000000000000" pitchFamily="2" charset="2"/>
              <a:buChar char="l"/>
            </a:pPr>
            <a:r>
              <a:rPr lang="en-US" altLang="zh-TW" sz="1800" b="1" dirty="0">
                <a:latin typeface="Times New Roman"/>
                <a:ea typeface="Times New Roman"/>
                <a:cs typeface="Times New Roman"/>
                <a:sym typeface="Times New Roman"/>
              </a:rPr>
              <a:t>Research Gap</a:t>
            </a:r>
            <a:r>
              <a:rPr lang="en-US" altLang="zh-TW" sz="1800" dirty="0">
                <a:latin typeface="Times New Roman" panose="02020603050405020304" pitchFamily="18" charset="0"/>
                <a:cs typeface="Times New Roman" panose="02020603050405020304" pitchFamily="18" charset="0"/>
              </a:rPr>
              <a:t> </a:t>
            </a:r>
          </a:p>
          <a:p>
            <a:pPr lvl="1">
              <a:spcAft>
                <a:spcPts val="600"/>
              </a:spcAft>
              <a:buSzPct val="60000"/>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T</a:t>
            </a:r>
            <a:r>
              <a:rPr lang="en-US" sz="1800" dirty="0">
                <a:latin typeface="Times New Roman" panose="02020603050405020304" pitchFamily="18" charset="0"/>
                <a:cs typeface="Times New Roman" panose="02020603050405020304" pitchFamily="18" charset="0"/>
              </a:rPr>
              <a:t>hese mitigation actions may reduce the available resources for LEO users served by the affected beams. </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Continuous power control, attitude adjustment, or beamforming may require frequent updates under fast LEO satellite motion.</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EPFD-Aware Beam Reassociation(EABR) for Service uses overlapping beam footprints among neighboring LEO satellites to recover affected users while satisfying the EPFD constraint.</a:t>
            </a:r>
          </a:p>
        </p:txBody>
      </p:sp>
    </p:spTree>
    <p:extLst>
      <p:ext uri="{BB962C8B-B14F-4D97-AF65-F5344CB8AC3E}">
        <p14:creationId xmlns:p14="http://schemas.microsoft.com/office/powerpoint/2010/main" val="131812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25F701-0F8B-49CA-800B-4B877FF3A005}"/>
              </a:ext>
            </a:extLst>
          </p:cNvPr>
          <p:cNvSpPr>
            <a:spLocks noGrp="1"/>
          </p:cNvSpPr>
          <p:nvPr>
            <p:ph type="title"/>
          </p:nvPr>
        </p:nvSpPr>
        <p:spPr/>
        <p:txBody>
          <a:bodyPr/>
          <a:lstStyle/>
          <a:p>
            <a:r>
              <a:rPr lang="en-US" altLang="zh-TW" b="1" dirty="0">
                <a:latin typeface="Times New Roman"/>
                <a:cs typeface="Times New Roman"/>
              </a:rPr>
              <a:t>System Model – </a:t>
            </a:r>
            <a:r>
              <a:rPr lang="en-US" altLang="zh-TW" sz="1800" b="1" dirty="0">
                <a:latin typeface="Times New Roman"/>
                <a:cs typeface="Times New Roman"/>
              </a:rPr>
              <a:t>Network Scenario</a:t>
            </a:r>
            <a:endParaRPr lang="zh-TW" altLang="en-US" dirty="0"/>
          </a:p>
        </p:txBody>
      </p:sp>
      <p:sp>
        <p:nvSpPr>
          <p:cNvPr id="3" name="投影片編號版面配置區 2">
            <a:extLst>
              <a:ext uri="{FF2B5EF4-FFF2-40B4-BE49-F238E27FC236}">
                <a16:creationId xmlns:a16="http://schemas.microsoft.com/office/drawing/2014/main" id="{4352F8EA-5282-449B-B4BB-9DE8FBCD402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
        <p:nvSpPr>
          <p:cNvPr id="6" name="內容版面配置區 3">
            <a:extLst>
              <a:ext uri="{FF2B5EF4-FFF2-40B4-BE49-F238E27FC236}">
                <a16:creationId xmlns:a16="http://schemas.microsoft.com/office/drawing/2014/main" id="{C09010C1-9377-AB12-2F92-2A8E882FC545}"/>
              </a:ext>
            </a:extLst>
          </p:cNvPr>
          <p:cNvSpPr>
            <a:spLocks noGrp="1"/>
          </p:cNvSpPr>
          <p:nvPr>
            <p:ph idx="1"/>
          </p:nvPr>
        </p:nvSpPr>
        <p:spPr>
          <a:xfrm>
            <a:off x="311699" y="1230200"/>
            <a:ext cx="8493633" cy="3416400"/>
          </a:xfrm>
        </p:spPr>
        <p:txBody>
          <a:bodyPr/>
          <a:lstStyle/>
          <a:p>
            <a:pPr>
              <a:spcAft>
                <a:spcPts val="600"/>
              </a:spcAft>
              <a:buSzPct val="60000"/>
              <a:buFont typeface="Wingdings" panose="05000000000000000000" pitchFamily="2" charset="2"/>
              <a:buChar char="l"/>
            </a:pPr>
            <a:r>
              <a:rPr lang="vi-VN" sz="1800" dirty="0">
                <a:latin typeface="+mj-lt"/>
              </a:rPr>
              <a:t>A</a:t>
            </a:r>
            <a:r>
              <a:rPr lang="en-US" sz="1800" dirty="0">
                <a:latin typeface="+mj-lt"/>
              </a:rPr>
              <a:t> </a:t>
            </a:r>
            <a:r>
              <a:rPr lang="vi-VN" sz="1800" dirty="0">
                <a:latin typeface="+mj-lt"/>
              </a:rPr>
              <a:t>multi-beam LEO satellite system is considered under NGSO–GSO coexistence.</a:t>
            </a:r>
            <a:endParaRPr lang="en-US" sz="1800" dirty="0">
              <a:latin typeface="+mj-lt"/>
            </a:endParaRP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The GS communicates with its target GSO satellite, and the GSO–GS direction is used as the reference direction for EPFD evaluation.</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The aggregate EPFD is the total interference contribution received at the GS from all beams of visible LEO satellites.</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When a visible LEO satellite covers the GS region and passes close to the GSO–GS direction, the aggregate EPFD may exceed the required limit.</a:t>
            </a:r>
          </a:p>
        </p:txBody>
      </p:sp>
    </p:spTree>
    <p:extLst>
      <p:ext uri="{BB962C8B-B14F-4D97-AF65-F5344CB8AC3E}">
        <p14:creationId xmlns:p14="http://schemas.microsoft.com/office/powerpoint/2010/main" val="1963156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CB5B4-B5CF-12C6-5665-293A75C3AB0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3068286-076A-A18F-B7BA-43C6898707A6}"/>
              </a:ext>
            </a:extLst>
          </p:cNvPr>
          <p:cNvSpPr>
            <a:spLocks noGrp="1"/>
          </p:cNvSpPr>
          <p:nvPr>
            <p:ph type="title"/>
          </p:nvPr>
        </p:nvSpPr>
        <p:spPr/>
        <p:txBody>
          <a:bodyPr/>
          <a:lstStyle/>
          <a:p>
            <a:r>
              <a:rPr lang="en-US" altLang="zh-TW" b="1" dirty="0">
                <a:latin typeface="Times New Roman"/>
                <a:cs typeface="Times New Roman"/>
              </a:rPr>
              <a:t>System Model – </a:t>
            </a:r>
            <a:r>
              <a:rPr lang="vi-VN" sz="1800" dirty="0">
                <a:latin typeface="+mj-lt"/>
              </a:rPr>
              <a:t>Beam Power </a:t>
            </a:r>
            <a:r>
              <a:rPr lang="en-US" sz="1800" dirty="0">
                <a:latin typeface="Times New Roman" panose="02020603050405020304" pitchFamily="18" charset="0"/>
                <a:cs typeface="Times New Roman" panose="02020603050405020304" pitchFamily="18" charset="0"/>
              </a:rPr>
              <a:t>Model</a:t>
            </a:r>
            <a:endParaRPr lang="zh-TW" altLang="en-US" sz="1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926F9329-02B2-F6E8-251D-72622DA11C8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
        <p:nvSpPr>
          <p:cNvPr id="6" name="內容版面配置區 3">
            <a:extLst>
              <a:ext uri="{FF2B5EF4-FFF2-40B4-BE49-F238E27FC236}">
                <a16:creationId xmlns:a16="http://schemas.microsoft.com/office/drawing/2014/main" id="{759D6037-DE4C-A407-FDDA-ABE45F669D28}"/>
              </a:ext>
            </a:extLst>
          </p:cNvPr>
          <p:cNvSpPr>
            <a:spLocks noGrp="1"/>
          </p:cNvSpPr>
          <p:nvPr>
            <p:ph idx="1"/>
          </p:nvPr>
        </p:nvSpPr>
        <p:spPr>
          <a:xfrm>
            <a:off x="311699" y="1230200"/>
            <a:ext cx="8587203" cy="3416400"/>
          </a:xfrm>
        </p:spPr>
        <p:txBody>
          <a:bodyPr/>
          <a:lstStyle/>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Under normal operation, each</a:t>
            </a:r>
            <a:r>
              <a:rPr lang="zh-TW" alt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beam on a LEO satellite uses a preconfigured default transmit power.</a:t>
            </a:r>
          </a:p>
          <a:p>
            <a:pPr>
              <a:spcAft>
                <a:spcPts val="600"/>
              </a:spcAft>
              <a:buSzPct val="60000"/>
              <a:buFont typeface="Wingdings" panose="05000000000000000000" pitchFamily="2" charset="2"/>
              <a:buChar char="l"/>
            </a:pPr>
            <a:r>
              <a:rPr lang="vi-VN" sz="1800" dirty="0">
                <a:latin typeface="+mj-lt"/>
              </a:rPr>
              <a:t>The default beam-power</a:t>
            </a:r>
            <a:r>
              <a:rPr lang="en-US" sz="1800" dirty="0">
                <a:latin typeface="+mj-lt"/>
              </a:rPr>
              <a:t> </a:t>
            </a:r>
            <a:r>
              <a:rPr lang="en-US" sz="1800" dirty="0">
                <a:latin typeface="Times New Roman" panose="02020603050405020304" pitchFamily="18" charset="0"/>
                <a:cs typeface="Times New Roman" panose="02020603050405020304" pitchFamily="18" charset="0"/>
              </a:rPr>
              <a:t>purpose is to provide ground users in different beam footprints with similar received downlink power.</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Each beam has a maximum transmit power limit.</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Each satellite has a total transmit power budget.</a:t>
            </a:r>
          </a:p>
          <a:p>
            <a:pPr>
              <a:spcAft>
                <a:spcPts val="600"/>
              </a:spcAft>
              <a:buSzPct val="60000"/>
              <a:buFont typeface="Wingdings" panose="05000000000000000000" pitchFamily="2" charset="2"/>
              <a:buChar char="l"/>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7516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365FD-D980-2847-EF9B-95DDEDA0D23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4DEF8F1-F6E8-AD93-126B-3A4F9D672F20}"/>
              </a:ext>
            </a:extLst>
          </p:cNvPr>
          <p:cNvSpPr>
            <a:spLocks noGrp="1"/>
          </p:cNvSpPr>
          <p:nvPr>
            <p:ph type="title"/>
          </p:nvPr>
        </p:nvSpPr>
        <p:spPr/>
        <p:txBody>
          <a:bodyPr/>
          <a:lstStyle/>
          <a:p>
            <a:r>
              <a:rPr lang="en-US" altLang="zh-TW" b="1" dirty="0">
                <a:latin typeface="Times New Roman"/>
                <a:cs typeface="Times New Roman"/>
              </a:rPr>
              <a:t>System Model – </a:t>
            </a:r>
            <a:r>
              <a:rPr lang="en-US" altLang="zh-TW" sz="1800" b="1" dirty="0">
                <a:latin typeface="Times New Roman" panose="02020603050405020304" pitchFamily="18" charset="0"/>
                <a:cs typeface="Times New Roman" panose="02020603050405020304" pitchFamily="18" charset="0"/>
              </a:rPr>
              <a:t>User </a:t>
            </a:r>
            <a:r>
              <a:rPr lang="vi-VN" sz="1800" dirty="0">
                <a:latin typeface="+mj-lt"/>
              </a:rPr>
              <a:t>Reassociation Setting</a:t>
            </a:r>
            <a:endParaRPr lang="zh-TW" altLang="en-US" sz="1800" dirty="0">
              <a:latin typeface="+mj-lt"/>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446AF68F-FAD6-2F5A-5152-0F807A3C15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
        <p:nvSpPr>
          <p:cNvPr id="6" name="內容版面配置區 3">
            <a:extLst>
              <a:ext uri="{FF2B5EF4-FFF2-40B4-BE49-F238E27FC236}">
                <a16:creationId xmlns:a16="http://schemas.microsoft.com/office/drawing/2014/main" id="{E16C7371-BCD6-D334-EEE0-08BD2D7DE808}"/>
              </a:ext>
            </a:extLst>
          </p:cNvPr>
          <p:cNvSpPr>
            <a:spLocks noGrp="1"/>
          </p:cNvSpPr>
          <p:nvPr>
            <p:ph idx="1"/>
          </p:nvPr>
        </p:nvSpPr>
        <p:spPr>
          <a:xfrm>
            <a:off x="311699" y="1230200"/>
            <a:ext cx="8587203" cy="3416400"/>
          </a:xfrm>
        </p:spPr>
        <p:txBody>
          <a:bodyPr/>
          <a:lstStyle/>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Each user has only one serving beam in each time slot. </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A beam can serve a user only if its footprint covers that user.</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When multiple beams from visible LEO satellites cover the same user, one of them can be selected as the serving beam. </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The feasible beams are assumed to use compatible downlink frequency and polarization settings.</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Therefore, user reassociation means changing the serving beam to another feasible beam.</a:t>
            </a:r>
          </a:p>
        </p:txBody>
      </p:sp>
    </p:spTree>
    <p:extLst>
      <p:ext uri="{BB962C8B-B14F-4D97-AF65-F5344CB8AC3E}">
        <p14:creationId xmlns:p14="http://schemas.microsoft.com/office/powerpoint/2010/main" val="634544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AAE3B-7F1A-7358-CF19-8F5F9DDAFB7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749E1AD-02A8-13F0-5A76-A6C543BEE4FF}"/>
              </a:ext>
            </a:extLst>
          </p:cNvPr>
          <p:cNvSpPr>
            <a:spLocks noGrp="1"/>
          </p:cNvSpPr>
          <p:nvPr>
            <p:ph type="title"/>
          </p:nvPr>
        </p:nvSpPr>
        <p:spPr/>
        <p:txBody>
          <a:bodyPr/>
          <a:lstStyle/>
          <a:p>
            <a:r>
              <a:rPr lang="en-US" altLang="zh-TW" b="1" dirty="0">
                <a:latin typeface="Times New Roman"/>
                <a:cs typeface="Times New Roman"/>
              </a:rPr>
              <a:t>System Model – </a:t>
            </a:r>
            <a:r>
              <a:rPr lang="vi-VN" sz="1800" dirty="0">
                <a:latin typeface="+mj-lt"/>
              </a:rPr>
              <a:t>Satisfaction Model</a:t>
            </a:r>
            <a:endParaRPr lang="zh-TW" altLang="en-US" sz="1800" dirty="0">
              <a:latin typeface="+mj-lt"/>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25FCFBBF-2989-7312-780D-A6626CC26D6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
        <p:nvSpPr>
          <p:cNvPr id="6" name="內容版面配置區 3">
            <a:extLst>
              <a:ext uri="{FF2B5EF4-FFF2-40B4-BE49-F238E27FC236}">
                <a16:creationId xmlns:a16="http://schemas.microsoft.com/office/drawing/2014/main" id="{A31D75DF-5734-14EF-3EA2-3BB2EF792BAB}"/>
              </a:ext>
            </a:extLst>
          </p:cNvPr>
          <p:cNvSpPr>
            <a:spLocks noGrp="1"/>
          </p:cNvSpPr>
          <p:nvPr>
            <p:ph idx="1"/>
          </p:nvPr>
        </p:nvSpPr>
        <p:spPr>
          <a:xfrm>
            <a:off x="311699" y="1230200"/>
            <a:ext cx="8587203" cy="3416400"/>
          </a:xfrm>
        </p:spPr>
        <p:txBody>
          <a:bodyPr/>
          <a:lstStyle/>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Users served by the same beam share the available downlink resource. </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The service rate of each user is determined by the achievable capacity and beam loading.</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User satisfaction measures how much of the user demand is satisfied.</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Each user is assigned a service priority weight</a:t>
            </a:r>
            <a:r>
              <a:rPr lang="zh-TW" alt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based on the 3GPP QoS priority concept.</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Higher-priority users are given larger weights in service recovery decisions.</a:t>
            </a:r>
          </a:p>
        </p:txBody>
      </p:sp>
    </p:spTree>
    <p:extLst>
      <p:ext uri="{BB962C8B-B14F-4D97-AF65-F5344CB8AC3E}">
        <p14:creationId xmlns:p14="http://schemas.microsoft.com/office/powerpoint/2010/main" val="1878017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3A791-EAA8-0CB8-81E1-986956B1BDB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0E228B4-8D4E-66EE-71F5-9E42BB8D46C2}"/>
              </a:ext>
            </a:extLst>
          </p:cNvPr>
          <p:cNvSpPr>
            <a:spLocks noGrp="1"/>
          </p:cNvSpPr>
          <p:nvPr>
            <p:ph type="title"/>
          </p:nvPr>
        </p:nvSpPr>
        <p:spPr/>
        <p:txBody>
          <a:bodyPr/>
          <a:lstStyle/>
          <a:p>
            <a:r>
              <a:rPr lang="en-US" altLang="zh-TW" b="1" dirty="0">
                <a:latin typeface="Times New Roman"/>
                <a:cs typeface="Times New Roman"/>
              </a:rPr>
              <a:t>Method – </a:t>
            </a:r>
            <a:r>
              <a:rPr lang="en-US" altLang="zh-TW" sz="1800" b="1" dirty="0">
                <a:latin typeface="Times New Roman"/>
                <a:cs typeface="Times New Roman"/>
              </a:rPr>
              <a:t>Design Motivation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123D5C05-95CF-7B93-A41A-0BDBF8C0385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
        <p:nvSpPr>
          <p:cNvPr id="4" name="內容版面配置區 3">
            <a:extLst>
              <a:ext uri="{FF2B5EF4-FFF2-40B4-BE49-F238E27FC236}">
                <a16:creationId xmlns:a16="http://schemas.microsoft.com/office/drawing/2014/main" id="{2A9E030B-93FD-CABF-B510-FB782EB4A804}"/>
              </a:ext>
            </a:extLst>
          </p:cNvPr>
          <p:cNvSpPr>
            <a:spLocks noGrp="1"/>
          </p:cNvSpPr>
          <p:nvPr>
            <p:ph idx="1"/>
          </p:nvPr>
        </p:nvSpPr>
        <p:spPr>
          <a:xfrm>
            <a:off x="311700" y="1241630"/>
            <a:ext cx="8520600"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Goal: improve overall user satisfaction under the EPFD limit.</a:t>
            </a:r>
          </a:p>
          <a:p>
            <a:pPr>
              <a:spcAft>
                <a:spcPts val="600"/>
              </a:spcAft>
            </a:pPr>
            <a:r>
              <a:rPr lang="en-US" sz="1800" dirty="0">
                <a:latin typeface="Times New Roman" panose="02020603050405020304" pitchFamily="18" charset="0"/>
                <a:cs typeface="Times New Roman" panose="02020603050405020304" pitchFamily="18" charset="0"/>
              </a:rPr>
              <a:t>Key idea: use overlapping beam footprints among neighboring LEO satellites to reassociate affected users to feasible serving beams.</a:t>
            </a: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488159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A2CA7-E6C9-D192-A553-2CC63FBF790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A2BAE2B-11DE-8768-F155-8B10C19AA5D6}"/>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Time-Slot Beam Role Record</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125E455C-BF39-9A07-FDA6-B1592C0D81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
        <p:nvSpPr>
          <p:cNvPr id="4" name="內容版面配置區 3">
            <a:extLst>
              <a:ext uri="{FF2B5EF4-FFF2-40B4-BE49-F238E27FC236}">
                <a16:creationId xmlns:a16="http://schemas.microsoft.com/office/drawing/2014/main" id="{4DCCB818-D4F9-991E-FD83-2FFF1013010C}"/>
              </a:ext>
            </a:extLst>
          </p:cNvPr>
          <p:cNvSpPr>
            <a:spLocks noGrp="1"/>
          </p:cNvSpPr>
          <p:nvPr>
            <p:ph idx="1"/>
          </p:nvPr>
        </p:nvSpPr>
        <p:spPr>
          <a:xfrm>
            <a:off x="311700" y="1241630"/>
            <a:ext cx="8520600"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Build a beam role record for each time slot using predictable satellite motion and beam footprints.</a:t>
            </a:r>
          </a:p>
          <a:p>
            <a:pPr>
              <a:spcAft>
                <a:spcPts val="600"/>
              </a:spcAft>
            </a:pPr>
            <a:r>
              <a:rPr lang="en-US" sz="1800" dirty="0">
                <a:latin typeface="Times New Roman" panose="02020603050405020304" pitchFamily="18" charset="0"/>
                <a:cs typeface="Times New Roman" panose="02020603050405020304" pitchFamily="18" charset="0"/>
              </a:rPr>
              <a:t>If aggregate EPFD exceeds the limit, beams with higher beam-level EPFD contributions are shut down first.</a:t>
            </a:r>
          </a:p>
          <a:p>
            <a:pPr>
              <a:spcAft>
                <a:spcPts val="600"/>
              </a:spcAft>
            </a:pPr>
            <a:r>
              <a:rPr lang="en-US" sz="1800" dirty="0">
                <a:latin typeface="Times New Roman" panose="02020603050405020304" pitchFamily="18" charset="0"/>
                <a:cs typeface="Times New Roman" panose="02020603050405020304" pitchFamily="18" charset="0"/>
              </a:rPr>
              <a:t>Critical satellite: a satellite with at least one shut-down beam.</a:t>
            </a:r>
          </a:p>
          <a:p>
            <a:pPr>
              <a:spcAft>
                <a:spcPts val="600"/>
              </a:spcAft>
            </a:pPr>
            <a:r>
              <a:rPr lang="en-US" sz="1800" dirty="0">
                <a:latin typeface="Times New Roman" panose="02020603050405020304" pitchFamily="18" charset="0"/>
                <a:cs typeface="Times New Roman" panose="02020603050405020304" pitchFamily="18" charset="0"/>
              </a:rPr>
              <a:t>Helper satellite: a neighboring visible LEO satellite whose beam footprints overlap with critical beams.</a:t>
            </a: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368299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5F503-A7F8-5B4D-5B23-CE738A3D7FB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9B57DAB-F99F-BE24-DB8B-9DF0750A42AD}"/>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Time-Slot Beam Role Record</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2D2F0937-2AD0-420A-62B9-C5446696E0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
        <p:nvSpPr>
          <p:cNvPr id="4" name="內容版面配置區 3">
            <a:extLst>
              <a:ext uri="{FF2B5EF4-FFF2-40B4-BE49-F238E27FC236}">
                <a16:creationId xmlns:a16="http://schemas.microsoft.com/office/drawing/2014/main" id="{8194B688-4654-4E9D-114D-531C1DC0306E}"/>
              </a:ext>
            </a:extLst>
          </p:cNvPr>
          <p:cNvSpPr>
            <a:spLocks noGrp="1"/>
          </p:cNvSpPr>
          <p:nvPr>
            <p:ph idx="1"/>
          </p:nvPr>
        </p:nvSpPr>
        <p:spPr>
          <a:xfrm>
            <a:off x="311700" y="1241630"/>
            <a:ext cx="8520600" cy="3416400"/>
          </a:xfrm>
        </p:spPr>
        <p:txBody>
          <a:bodyPr/>
          <a:lstStyle/>
          <a:p>
            <a:r>
              <a:rPr lang="en-US" sz="1800" dirty="0">
                <a:latin typeface="Times New Roman" panose="02020603050405020304" pitchFamily="18" charset="0"/>
                <a:cs typeface="Times New Roman" panose="02020603050405020304" pitchFamily="18" charset="0"/>
              </a:rPr>
              <a:t>Critical-side beam roles:</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Closed beams: shut down for EPFD compliance</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Critical safe beams: remain active</a:t>
            </a:r>
          </a:p>
          <a:p>
            <a:pPr lvl="2">
              <a:buFont typeface="Wingdings" panose="05000000000000000000" pitchFamily="2" charset="2"/>
              <a:buChar char="§"/>
            </a:pPr>
            <a:r>
              <a:rPr lang="vi-VN" sz="1800" dirty="0">
                <a:latin typeface="+mj-lt"/>
              </a:rPr>
              <a:t>support helper-user reassociation</a:t>
            </a:r>
            <a:endParaRPr lang="en-US" sz="1800" dirty="0">
              <a:latin typeface="+mj-lt"/>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Helper-side beam roles:</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Helper recovery beam candidates: overlap with critical closed beams</a:t>
            </a:r>
          </a:p>
          <a:p>
            <a:pPr lvl="2">
              <a:buFont typeface="Wingdings" panose="05000000000000000000" pitchFamily="2" charset="2"/>
              <a:buChar char="§"/>
            </a:pPr>
            <a:r>
              <a:rPr lang="vi-VN" sz="1800" dirty="0">
                <a:latin typeface="+mj-lt"/>
              </a:rPr>
              <a:t>recover closed-beam users</a:t>
            </a:r>
            <a:endParaRPr lang="en-US" sz="1800" dirty="0">
              <a:latin typeface="+mj-lt"/>
              <a:cs typeface="Times New Roman" panose="02020603050405020304" pitchFamily="18" charset="0"/>
            </a:endParaRP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Helper release beam candidates: overlap with critical safe beams</a:t>
            </a:r>
          </a:p>
          <a:p>
            <a:pPr lvl="2">
              <a:buFont typeface="Wingdings" panose="05000000000000000000" pitchFamily="2" charset="2"/>
              <a:buChar char="§"/>
            </a:pPr>
            <a:r>
              <a:rPr lang="vi-VN" sz="1800" dirty="0">
                <a:latin typeface="+mj-lt"/>
              </a:rPr>
              <a:t>release helper satellite power</a:t>
            </a:r>
            <a:endParaRPr lang="en-US" sz="1800" dirty="0">
              <a:latin typeface="+mj-lt"/>
              <a:cs typeface="Times New Roman" panose="02020603050405020304" pitchFamily="18" charset="0"/>
            </a:endParaRPr>
          </a:p>
        </p:txBody>
      </p:sp>
    </p:spTree>
    <p:extLst>
      <p:ext uri="{BB962C8B-B14F-4D97-AF65-F5344CB8AC3E}">
        <p14:creationId xmlns:p14="http://schemas.microsoft.com/office/powerpoint/2010/main" val="2439365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2A995-C03B-E603-BF58-17F68C6AA28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7E4749A-807D-1DDF-919F-A87D5325634C}"/>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Time-Slot Beam Role Record</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926A10D5-5F2B-F421-2688-063F8651E6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pic>
        <p:nvPicPr>
          <p:cNvPr id="6" name="圖片 5">
            <a:extLst>
              <a:ext uri="{FF2B5EF4-FFF2-40B4-BE49-F238E27FC236}">
                <a16:creationId xmlns:a16="http://schemas.microsoft.com/office/drawing/2014/main" id="{D2655FD4-E985-AB10-0556-21F5D0F891F3}"/>
              </a:ext>
            </a:extLst>
          </p:cNvPr>
          <p:cNvPicPr>
            <a:picLocks noChangeAspect="1"/>
          </p:cNvPicPr>
          <p:nvPr/>
        </p:nvPicPr>
        <p:blipFill>
          <a:blip r:embed="rId3"/>
          <a:stretch>
            <a:fillRect/>
          </a:stretch>
        </p:blipFill>
        <p:spPr>
          <a:xfrm>
            <a:off x="536383" y="1139588"/>
            <a:ext cx="3884255" cy="4003912"/>
          </a:xfrm>
          <a:prstGeom prst="rect">
            <a:avLst/>
          </a:prstGeom>
        </p:spPr>
      </p:pic>
      <p:pic>
        <p:nvPicPr>
          <p:cNvPr id="7" name="圖片 6">
            <a:extLst>
              <a:ext uri="{FF2B5EF4-FFF2-40B4-BE49-F238E27FC236}">
                <a16:creationId xmlns:a16="http://schemas.microsoft.com/office/drawing/2014/main" id="{1EE5DB32-55C3-8CCB-0887-AB1B046B810C}"/>
              </a:ext>
            </a:extLst>
          </p:cNvPr>
          <p:cNvPicPr>
            <a:picLocks noChangeAspect="1"/>
          </p:cNvPicPr>
          <p:nvPr/>
        </p:nvPicPr>
        <p:blipFill>
          <a:blip r:embed="rId4"/>
          <a:stretch>
            <a:fillRect/>
          </a:stretch>
        </p:blipFill>
        <p:spPr>
          <a:xfrm>
            <a:off x="4763919" y="1165217"/>
            <a:ext cx="3843698" cy="3952653"/>
          </a:xfrm>
          <a:prstGeom prst="rect">
            <a:avLst/>
          </a:prstGeom>
        </p:spPr>
      </p:pic>
    </p:spTree>
    <p:extLst>
      <p:ext uri="{BB962C8B-B14F-4D97-AF65-F5344CB8AC3E}">
        <p14:creationId xmlns:p14="http://schemas.microsoft.com/office/powerpoint/2010/main" val="3763132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8DDD6-8A48-C616-2A09-5AFEAE1D03B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9FA4177-76F3-63A8-34FB-0E2E922A4F7F}"/>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Safe-Beam Reassociation for Helper Users (SBR)</a:t>
            </a: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3AAD58BE-E9DB-3496-37A7-7F28F971C9E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
        <p:nvSpPr>
          <p:cNvPr id="7" name="內容版面配置區 6">
            <a:extLst>
              <a:ext uri="{FF2B5EF4-FFF2-40B4-BE49-F238E27FC236}">
                <a16:creationId xmlns:a16="http://schemas.microsoft.com/office/drawing/2014/main" id="{69E461B7-1FFF-89F6-B08E-A036826F9BB0}"/>
              </a:ext>
            </a:extLst>
          </p:cNvPr>
          <p:cNvSpPr>
            <a:spLocks noGrp="1"/>
          </p:cNvSpPr>
          <p:nvPr>
            <p:ph idx="1"/>
          </p:nvPr>
        </p:nvSpPr>
        <p:spPr>
          <a:xfrm>
            <a:off x="311700" y="1230200"/>
            <a:ext cx="6019229" cy="3416400"/>
          </a:xfrm>
        </p:spPr>
        <p:txBody>
          <a:bodyPr/>
          <a:lstStyle/>
          <a:p>
            <a:r>
              <a:rPr lang="en-US" sz="1800" dirty="0">
                <a:latin typeface="Times New Roman" panose="02020603050405020304" pitchFamily="18" charset="0"/>
                <a:cs typeface="Times New Roman" panose="02020603050405020304" pitchFamily="18" charset="0"/>
              </a:rPr>
              <a:t>Goal: uses critical safe beams to serve helper users, releasing helper satellite transmit power for later recovery.</a:t>
            </a:r>
          </a:p>
          <a:p>
            <a:r>
              <a:rPr lang="en-US" sz="1800" dirty="0">
                <a:latin typeface="Times New Roman" panose="02020603050405020304" pitchFamily="18" charset="0"/>
                <a:cs typeface="Times New Roman" panose="02020603050405020304" pitchFamily="18" charset="0"/>
              </a:rPr>
              <a:t>Release Score</a:t>
            </a:r>
          </a:p>
          <a:p>
            <a:pPr marL="565150" lvl="1" indent="0">
              <a:buNone/>
            </a:pPr>
            <a:r>
              <a:rPr lang="en-US" sz="1800" dirty="0">
                <a:latin typeface="Times New Roman" panose="02020603050405020304" pitchFamily="18" charset="0"/>
                <a:cs typeface="Times New Roman" panose="02020603050405020304" pitchFamily="18" charset="0"/>
              </a:rPr>
              <a:t>• For each safe-release edge, identify helper users in the overlap region.</a:t>
            </a:r>
          </a:p>
          <a:p>
            <a:pPr marL="565150" lvl="1" indent="0">
              <a:buNone/>
            </a:pPr>
            <a:r>
              <a:rPr lang="en-US" sz="1800" dirty="0">
                <a:latin typeface="Times New Roman" panose="02020603050405020304" pitchFamily="18" charset="0"/>
                <a:cs typeface="Times New Roman" panose="02020603050405020304" pitchFamily="18" charset="0"/>
              </a:rPr>
              <a:t>• Release score = maximum helper user load that can be reassociated under safe beam residual capacity.</a:t>
            </a:r>
          </a:p>
          <a:p>
            <a:pPr marL="565150" lvl="1" indent="0">
              <a:buNone/>
            </a:pPr>
            <a:r>
              <a:rPr lang="en-US" sz="1800" dirty="0">
                <a:latin typeface="Times New Roman" panose="02020603050405020304" pitchFamily="18" charset="0"/>
                <a:cs typeface="Times New Roman" panose="02020603050405020304" pitchFamily="18" charset="0"/>
              </a:rPr>
              <a:t>• Higher score means larger power-release benefit.</a:t>
            </a:r>
          </a:p>
          <a:p>
            <a:endParaRPr lang="vi-VN" sz="1800" dirty="0"/>
          </a:p>
        </p:txBody>
      </p:sp>
      <p:pic>
        <p:nvPicPr>
          <p:cNvPr id="8" name="圖片 7">
            <a:extLst>
              <a:ext uri="{FF2B5EF4-FFF2-40B4-BE49-F238E27FC236}">
                <a16:creationId xmlns:a16="http://schemas.microsoft.com/office/drawing/2014/main" id="{7340BC76-63AB-82A4-82A7-EEF74F9DDE0C}"/>
              </a:ext>
            </a:extLst>
          </p:cNvPr>
          <p:cNvPicPr>
            <a:picLocks noChangeAspect="1"/>
          </p:cNvPicPr>
          <p:nvPr/>
        </p:nvPicPr>
        <p:blipFill>
          <a:blip r:embed="rId3"/>
          <a:stretch>
            <a:fillRect/>
          </a:stretch>
        </p:blipFill>
        <p:spPr>
          <a:xfrm>
            <a:off x="6330929" y="1488535"/>
            <a:ext cx="2813071" cy="2899729"/>
          </a:xfrm>
          <a:prstGeom prst="rect">
            <a:avLst/>
          </a:prstGeom>
        </p:spPr>
      </p:pic>
    </p:spTree>
    <p:extLst>
      <p:ext uri="{BB962C8B-B14F-4D97-AF65-F5344CB8AC3E}">
        <p14:creationId xmlns:p14="http://schemas.microsoft.com/office/powerpoint/2010/main" val="3535959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05A12-B6F1-D4E2-F42E-2EAFF08C25F9}"/>
            </a:ext>
          </a:extLst>
        </p:cNvPr>
        <p:cNvGrpSpPr/>
        <p:nvPr/>
      </p:nvGrpSpPr>
      <p:grpSpPr>
        <a:xfrm>
          <a:off x="0" y="0"/>
          <a:ext cx="0" cy="0"/>
          <a:chOff x="0" y="0"/>
          <a:chExt cx="0" cy="0"/>
        </a:xfrm>
      </p:grpSpPr>
      <p:pic>
        <p:nvPicPr>
          <p:cNvPr id="9" name="圖片 8">
            <a:extLst>
              <a:ext uri="{FF2B5EF4-FFF2-40B4-BE49-F238E27FC236}">
                <a16:creationId xmlns:a16="http://schemas.microsoft.com/office/drawing/2014/main" id="{0C75CCA2-2706-DBAD-3982-E1A522FC0ABF}"/>
              </a:ext>
            </a:extLst>
          </p:cNvPr>
          <p:cNvPicPr>
            <a:picLocks noChangeAspect="1"/>
          </p:cNvPicPr>
          <p:nvPr/>
        </p:nvPicPr>
        <p:blipFill>
          <a:blip r:embed="rId3"/>
          <a:stretch>
            <a:fillRect/>
          </a:stretch>
        </p:blipFill>
        <p:spPr>
          <a:xfrm>
            <a:off x="5628510" y="1157289"/>
            <a:ext cx="3165131" cy="3657486"/>
          </a:xfrm>
          <a:prstGeom prst="rect">
            <a:avLst/>
          </a:prstGeom>
        </p:spPr>
      </p:pic>
      <p:sp>
        <p:nvSpPr>
          <p:cNvPr id="2" name="標題 1">
            <a:extLst>
              <a:ext uri="{FF2B5EF4-FFF2-40B4-BE49-F238E27FC236}">
                <a16:creationId xmlns:a16="http://schemas.microsoft.com/office/drawing/2014/main" id="{3D652AB0-BE1B-D5D6-7210-3C9F2554A465}"/>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Safe-Beam Reassociation for Helper Users (SBR)</a:t>
            </a: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761B24DC-05F2-DB58-429E-15962DDCEC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
        <p:nvSpPr>
          <p:cNvPr id="4" name="箭號: 五邊形 3">
            <a:extLst>
              <a:ext uri="{FF2B5EF4-FFF2-40B4-BE49-F238E27FC236}">
                <a16:creationId xmlns:a16="http://schemas.microsoft.com/office/drawing/2014/main" id="{AFB08988-1B64-84A6-5663-8C5FE011FD6C}"/>
              </a:ext>
            </a:extLst>
          </p:cNvPr>
          <p:cNvSpPr/>
          <p:nvPr/>
        </p:nvSpPr>
        <p:spPr>
          <a:xfrm>
            <a:off x="350359" y="4384871"/>
            <a:ext cx="1742430" cy="429904"/>
          </a:xfrm>
          <a:prstGeom prst="homePlate">
            <a:avLst/>
          </a:prstGeom>
          <a:solidFill>
            <a:srgbClr val="8ECFEB"/>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1800" dirty="0">
                <a:solidFill>
                  <a:schemeClr val="bg2"/>
                </a:solidFill>
                <a:latin typeface="Times New Roman" panose="02020603050405020304" pitchFamily="18" charset="0"/>
                <a:cs typeface="Times New Roman" panose="02020603050405020304" pitchFamily="18" charset="0"/>
              </a:rPr>
              <a:t>Score</a:t>
            </a:r>
            <a:endParaRPr lang="vi-VN" dirty="0">
              <a:solidFill>
                <a:schemeClr val="bg2"/>
              </a:solidFill>
              <a:latin typeface="Times New Roman" panose="02020603050405020304" pitchFamily="18" charset="0"/>
              <a:cs typeface="Times New Roman" panose="02020603050405020304" pitchFamily="18" charset="0"/>
            </a:endParaRPr>
          </a:p>
        </p:txBody>
      </p:sp>
      <p:sp>
        <p:nvSpPr>
          <p:cNvPr id="5" name="箭號: ＞形 4">
            <a:extLst>
              <a:ext uri="{FF2B5EF4-FFF2-40B4-BE49-F238E27FC236}">
                <a16:creationId xmlns:a16="http://schemas.microsoft.com/office/drawing/2014/main" id="{B179C8DD-77B6-3FEA-001A-DEC36D81EDAB}"/>
              </a:ext>
            </a:extLst>
          </p:cNvPr>
          <p:cNvSpPr/>
          <p:nvPr/>
        </p:nvSpPr>
        <p:spPr>
          <a:xfrm>
            <a:off x="2092789" y="4384871"/>
            <a:ext cx="1742430" cy="429904"/>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Select Edge</a:t>
            </a:r>
          </a:p>
        </p:txBody>
      </p:sp>
      <p:sp>
        <p:nvSpPr>
          <p:cNvPr id="6" name="箭號: ＞形 5">
            <a:extLst>
              <a:ext uri="{FF2B5EF4-FFF2-40B4-BE49-F238E27FC236}">
                <a16:creationId xmlns:a16="http://schemas.microsoft.com/office/drawing/2014/main" id="{4E93BAD2-AD97-F571-7654-D761AF85A1A4}"/>
              </a:ext>
            </a:extLst>
          </p:cNvPr>
          <p:cNvSpPr/>
          <p:nvPr/>
        </p:nvSpPr>
        <p:spPr>
          <a:xfrm>
            <a:off x="3833982" y="4384871"/>
            <a:ext cx="1742430" cy="429904"/>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Update</a:t>
            </a:r>
            <a:endParaRPr lang="vi-VN" dirty="0">
              <a:solidFill>
                <a:schemeClr val="bg2"/>
              </a:solidFill>
              <a:latin typeface="+mj-lt"/>
            </a:endParaRPr>
          </a:p>
        </p:txBody>
      </p:sp>
      <p:sp>
        <p:nvSpPr>
          <p:cNvPr id="10" name="內容版面配置區 6">
            <a:extLst>
              <a:ext uri="{FF2B5EF4-FFF2-40B4-BE49-F238E27FC236}">
                <a16:creationId xmlns:a16="http://schemas.microsoft.com/office/drawing/2014/main" id="{140EFAC6-7838-8987-F709-D1990B7A7E3F}"/>
              </a:ext>
            </a:extLst>
          </p:cNvPr>
          <p:cNvSpPr>
            <a:spLocks noGrp="1"/>
          </p:cNvSpPr>
          <p:nvPr>
            <p:ph idx="1"/>
          </p:nvPr>
        </p:nvSpPr>
        <p:spPr>
          <a:xfrm>
            <a:off x="311700" y="1230200"/>
            <a:ext cx="5133757" cy="3062021"/>
          </a:xfrm>
        </p:spPr>
        <p:txBody>
          <a:bodyPr/>
          <a:lstStyle/>
          <a:p>
            <a:r>
              <a:rPr lang="en-US" sz="1800" dirty="0">
                <a:latin typeface="Times New Roman" panose="02020603050405020304" pitchFamily="18" charset="0"/>
                <a:ea typeface="Tahoma" panose="020B0604030504040204" pitchFamily="34" charset="0"/>
                <a:cs typeface="Times New Roman" panose="02020603050405020304" pitchFamily="18" charset="0"/>
              </a:rPr>
              <a:t>Compute the release score for each safe-release edge.</a:t>
            </a:r>
          </a:p>
          <a:p>
            <a:r>
              <a:rPr lang="en-US" sz="1800" dirty="0">
                <a:latin typeface="Times New Roman" panose="02020603050405020304" pitchFamily="18" charset="0"/>
                <a:cs typeface="Times New Roman" panose="02020603050405020304" pitchFamily="18" charset="0"/>
              </a:rPr>
              <a:t>The score reflects how much helper user can be reassociated to a critical safe beam.</a:t>
            </a:r>
            <a:endParaRPr lang="vi-V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2161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7981D-93AC-73DD-0202-9EC6A90A985A}"/>
            </a:ext>
          </a:extLst>
        </p:cNvPr>
        <p:cNvGrpSpPr/>
        <p:nvPr/>
      </p:nvGrpSpPr>
      <p:grpSpPr>
        <a:xfrm>
          <a:off x="0" y="0"/>
          <a:ext cx="0" cy="0"/>
          <a:chOff x="0" y="0"/>
          <a:chExt cx="0" cy="0"/>
        </a:xfrm>
      </p:grpSpPr>
      <p:pic>
        <p:nvPicPr>
          <p:cNvPr id="8" name="圖片 7">
            <a:extLst>
              <a:ext uri="{FF2B5EF4-FFF2-40B4-BE49-F238E27FC236}">
                <a16:creationId xmlns:a16="http://schemas.microsoft.com/office/drawing/2014/main" id="{48271BDE-DA10-A642-28EE-586221CBA1F6}"/>
              </a:ext>
            </a:extLst>
          </p:cNvPr>
          <p:cNvPicPr>
            <a:picLocks noChangeAspect="1"/>
          </p:cNvPicPr>
          <p:nvPr/>
        </p:nvPicPr>
        <p:blipFill>
          <a:blip r:embed="rId3"/>
          <a:stretch>
            <a:fillRect/>
          </a:stretch>
        </p:blipFill>
        <p:spPr>
          <a:xfrm>
            <a:off x="5718412" y="1132836"/>
            <a:ext cx="3075229" cy="3681939"/>
          </a:xfrm>
          <a:prstGeom prst="rect">
            <a:avLst/>
          </a:prstGeom>
        </p:spPr>
      </p:pic>
      <p:sp>
        <p:nvSpPr>
          <p:cNvPr id="2" name="標題 1">
            <a:extLst>
              <a:ext uri="{FF2B5EF4-FFF2-40B4-BE49-F238E27FC236}">
                <a16:creationId xmlns:a16="http://schemas.microsoft.com/office/drawing/2014/main" id="{6615EED4-715F-A2E1-73F5-3226935836A9}"/>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Safe-Beam Reassociation for Helper Users (SBR)</a:t>
            </a: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0DFE9B19-C6B1-2DF1-5AF2-E93DEF9BA7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
        <p:nvSpPr>
          <p:cNvPr id="4" name="箭號: 五邊形 3">
            <a:extLst>
              <a:ext uri="{FF2B5EF4-FFF2-40B4-BE49-F238E27FC236}">
                <a16:creationId xmlns:a16="http://schemas.microsoft.com/office/drawing/2014/main" id="{49320D28-0BB8-3A1E-2F1C-EA9C45380085}"/>
              </a:ext>
            </a:extLst>
          </p:cNvPr>
          <p:cNvSpPr/>
          <p:nvPr/>
        </p:nvSpPr>
        <p:spPr>
          <a:xfrm>
            <a:off x="350359" y="4384871"/>
            <a:ext cx="1742430" cy="429904"/>
          </a:xfrm>
          <a:prstGeom prst="homePlate">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1800" dirty="0">
                <a:solidFill>
                  <a:schemeClr val="bg2"/>
                </a:solidFill>
                <a:latin typeface="Times New Roman" panose="02020603050405020304" pitchFamily="18" charset="0"/>
                <a:cs typeface="Times New Roman" panose="02020603050405020304" pitchFamily="18" charset="0"/>
              </a:rPr>
              <a:t>Score</a:t>
            </a:r>
            <a:endParaRPr lang="vi-VN" dirty="0">
              <a:solidFill>
                <a:schemeClr val="bg2"/>
              </a:solidFill>
              <a:latin typeface="Times New Roman" panose="02020603050405020304" pitchFamily="18" charset="0"/>
              <a:cs typeface="Times New Roman" panose="02020603050405020304" pitchFamily="18" charset="0"/>
            </a:endParaRPr>
          </a:p>
        </p:txBody>
      </p:sp>
      <p:sp>
        <p:nvSpPr>
          <p:cNvPr id="5" name="箭號: ＞形 4">
            <a:extLst>
              <a:ext uri="{FF2B5EF4-FFF2-40B4-BE49-F238E27FC236}">
                <a16:creationId xmlns:a16="http://schemas.microsoft.com/office/drawing/2014/main" id="{0C26A665-A80D-FF1A-E494-4539043239D6}"/>
              </a:ext>
            </a:extLst>
          </p:cNvPr>
          <p:cNvSpPr/>
          <p:nvPr/>
        </p:nvSpPr>
        <p:spPr>
          <a:xfrm>
            <a:off x="2092789" y="4384871"/>
            <a:ext cx="1742430" cy="429904"/>
          </a:xfrm>
          <a:prstGeom prst="chevron">
            <a:avLst/>
          </a:prstGeom>
          <a:solidFill>
            <a:srgbClr val="8ECFEB"/>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Select Edge</a:t>
            </a:r>
          </a:p>
        </p:txBody>
      </p:sp>
      <p:sp>
        <p:nvSpPr>
          <p:cNvPr id="6" name="箭號: ＞形 5">
            <a:extLst>
              <a:ext uri="{FF2B5EF4-FFF2-40B4-BE49-F238E27FC236}">
                <a16:creationId xmlns:a16="http://schemas.microsoft.com/office/drawing/2014/main" id="{504EBA62-C528-87DD-28AB-2139F8E3F128}"/>
              </a:ext>
            </a:extLst>
          </p:cNvPr>
          <p:cNvSpPr/>
          <p:nvPr/>
        </p:nvSpPr>
        <p:spPr>
          <a:xfrm>
            <a:off x="3833982" y="4384871"/>
            <a:ext cx="1742430" cy="429904"/>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Update</a:t>
            </a:r>
            <a:endParaRPr lang="vi-VN" dirty="0">
              <a:solidFill>
                <a:schemeClr val="bg2"/>
              </a:solidFill>
              <a:latin typeface="+mj-lt"/>
            </a:endParaRPr>
          </a:p>
        </p:txBody>
      </p:sp>
      <p:sp>
        <p:nvSpPr>
          <p:cNvPr id="7" name="內容版面配置區 6">
            <a:extLst>
              <a:ext uri="{FF2B5EF4-FFF2-40B4-BE49-F238E27FC236}">
                <a16:creationId xmlns:a16="http://schemas.microsoft.com/office/drawing/2014/main" id="{B6A9AD06-5D75-4CBC-226C-DF620CFF4D90}"/>
              </a:ext>
            </a:extLst>
          </p:cNvPr>
          <p:cNvSpPr>
            <a:spLocks noGrp="1"/>
          </p:cNvSpPr>
          <p:nvPr>
            <p:ph idx="1"/>
          </p:nvPr>
        </p:nvSpPr>
        <p:spPr>
          <a:xfrm>
            <a:off x="311700" y="1230200"/>
            <a:ext cx="5133757" cy="3062021"/>
          </a:xfrm>
        </p:spPr>
        <p:txBody>
          <a:bodyPr/>
          <a:lstStyle/>
          <a:p>
            <a:r>
              <a:rPr lang="en-US" sz="1800" dirty="0">
                <a:latin typeface="Times New Roman" panose="02020603050405020304" pitchFamily="18" charset="0"/>
                <a:cs typeface="Times New Roman" panose="02020603050405020304" pitchFamily="18" charset="0"/>
              </a:rPr>
              <a:t>Divide the graph into connected components.</a:t>
            </a:r>
          </a:p>
          <a:p>
            <a:r>
              <a:rPr lang="en-US" sz="1800" dirty="0">
                <a:latin typeface="Times New Roman" panose="02020603050405020304" pitchFamily="18" charset="0"/>
                <a:cs typeface="Times New Roman" panose="02020603050405020304" pitchFamily="18" charset="0"/>
              </a:rPr>
              <a:t>Select the highest-score edge in each component.</a:t>
            </a:r>
          </a:p>
          <a:p>
            <a:r>
              <a:rPr lang="en-US" sz="1800" dirty="0">
                <a:latin typeface="Times New Roman" panose="02020603050405020304" pitchFamily="18" charset="0"/>
                <a:cs typeface="Times New Roman" panose="02020603050405020304" pitchFamily="18" charset="0"/>
              </a:rPr>
              <a:t>Reassociate the selected helper users to the corresponding critical safe beam.</a:t>
            </a:r>
            <a:endParaRPr lang="vi-V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6033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4D41-DD3B-4BCD-D2BB-3D990489E0E9}"/>
            </a:ext>
          </a:extLst>
        </p:cNvPr>
        <p:cNvGrpSpPr/>
        <p:nvPr/>
      </p:nvGrpSpPr>
      <p:grpSpPr>
        <a:xfrm>
          <a:off x="0" y="0"/>
          <a:ext cx="0" cy="0"/>
          <a:chOff x="0" y="0"/>
          <a:chExt cx="0" cy="0"/>
        </a:xfrm>
      </p:grpSpPr>
      <p:pic>
        <p:nvPicPr>
          <p:cNvPr id="10" name="圖片 9">
            <a:extLst>
              <a:ext uri="{FF2B5EF4-FFF2-40B4-BE49-F238E27FC236}">
                <a16:creationId xmlns:a16="http://schemas.microsoft.com/office/drawing/2014/main" id="{8BA290EA-25B7-6203-C0D8-9B3C738A6AD6}"/>
              </a:ext>
            </a:extLst>
          </p:cNvPr>
          <p:cNvPicPr>
            <a:picLocks noChangeAspect="1"/>
          </p:cNvPicPr>
          <p:nvPr/>
        </p:nvPicPr>
        <p:blipFill>
          <a:blip r:embed="rId3"/>
          <a:stretch>
            <a:fillRect/>
          </a:stretch>
        </p:blipFill>
        <p:spPr>
          <a:xfrm>
            <a:off x="5358865" y="1150197"/>
            <a:ext cx="2913297" cy="3180007"/>
          </a:xfrm>
          <a:prstGeom prst="rect">
            <a:avLst/>
          </a:prstGeom>
        </p:spPr>
      </p:pic>
      <p:sp>
        <p:nvSpPr>
          <p:cNvPr id="2" name="標題 1">
            <a:extLst>
              <a:ext uri="{FF2B5EF4-FFF2-40B4-BE49-F238E27FC236}">
                <a16:creationId xmlns:a16="http://schemas.microsoft.com/office/drawing/2014/main" id="{F37D2371-AC5E-9A82-9F12-1C2125A2C5CA}"/>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Safe-Beam Reassociation for Helper Users (SBR)</a:t>
            </a: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4772A198-C92B-78CB-FD65-71B86E4A7CC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
        <p:nvSpPr>
          <p:cNvPr id="4" name="箭號: 五邊形 3">
            <a:extLst>
              <a:ext uri="{FF2B5EF4-FFF2-40B4-BE49-F238E27FC236}">
                <a16:creationId xmlns:a16="http://schemas.microsoft.com/office/drawing/2014/main" id="{0A1E72BE-5AB8-EA3A-9344-656D5199582F}"/>
              </a:ext>
            </a:extLst>
          </p:cNvPr>
          <p:cNvSpPr/>
          <p:nvPr/>
        </p:nvSpPr>
        <p:spPr>
          <a:xfrm>
            <a:off x="350359" y="4384871"/>
            <a:ext cx="1742430" cy="429904"/>
          </a:xfrm>
          <a:prstGeom prst="homePlate">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1800" dirty="0">
                <a:solidFill>
                  <a:schemeClr val="bg2"/>
                </a:solidFill>
                <a:latin typeface="Times New Roman" panose="02020603050405020304" pitchFamily="18" charset="0"/>
                <a:cs typeface="Times New Roman" panose="02020603050405020304" pitchFamily="18" charset="0"/>
              </a:rPr>
              <a:t>Score</a:t>
            </a:r>
            <a:endParaRPr lang="vi-VN" dirty="0">
              <a:solidFill>
                <a:schemeClr val="bg2"/>
              </a:solidFill>
              <a:latin typeface="Times New Roman" panose="02020603050405020304" pitchFamily="18" charset="0"/>
              <a:cs typeface="Times New Roman" panose="02020603050405020304" pitchFamily="18" charset="0"/>
            </a:endParaRPr>
          </a:p>
        </p:txBody>
      </p:sp>
      <p:sp>
        <p:nvSpPr>
          <p:cNvPr id="5" name="箭號: ＞形 4">
            <a:extLst>
              <a:ext uri="{FF2B5EF4-FFF2-40B4-BE49-F238E27FC236}">
                <a16:creationId xmlns:a16="http://schemas.microsoft.com/office/drawing/2014/main" id="{3FD5D5EA-FADF-C7B0-5A24-24015CECBC57}"/>
              </a:ext>
            </a:extLst>
          </p:cNvPr>
          <p:cNvSpPr/>
          <p:nvPr/>
        </p:nvSpPr>
        <p:spPr>
          <a:xfrm>
            <a:off x="2092789" y="4384871"/>
            <a:ext cx="1742430" cy="429904"/>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Select Edge</a:t>
            </a:r>
          </a:p>
        </p:txBody>
      </p:sp>
      <p:sp>
        <p:nvSpPr>
          <p:cNvPr id="6" name="箭號: ＞形 5">
            <a:extLst>
              <a:ext uri="{FF2B5EF4-FFF2-40B4-BE49-F238E27FC236}">
                <a16:creationId xmlns:a16="http://schemas.microsoft.com/office/drawing/2014/main" id="{42DB6070-BFB8-1059-8B8A-56C9AC5A4EC6}"/>
              </a:ext>
            </a:extLst>
          </p:cNvPr>
          <p:cNvSpPr/>
          <p:nvPr/>
        </p:nvSpPr>
        <p:spPr>
          <a:xfrm>
            <a:off x="3833982" y="4384871"/>
            <a:ext cx="1742430" cy="429904"/>
          </a:xfrm>
          <a:prstGeom prst="chevron">
            <a:avLst/>
          </a:prstGeom>
          <a:solidFill>
            <a:srgbClr val="8ECFEB"/>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Update</a:t>
            </a:r>
          </a:p>
        </p:txBody>
      </p:sp>
      <p:pic>
        <p:nvPicPr>
          <p:cNvPr id="7" name="圖片 6">
            <a:extLst>
              <a:ext uri="{FF2B5EF4-FFF2-40B4-BE49-F238E27FC236}">
                <a16:creationId xmlns:a16="http://schemas.microsoft.com/office/drawing/2014/main" id="{CEC8FBEE-4782-0EAA-9A02-F5638693B222}"/>
              </a:ext>
            </a:extLst>
          </p:cNvPr>
          <p:cNvPicPr>
            <a:picLocks noChangeAspect="1"/>
          </p:cNvPicPr>
          <p:nvPr/>
        </p:nvPicPr>
        <p:blipFill>
          <a:blip r:embed="rId4"/>
          <a:stretch>
            <a:fillRect/>
          </a:stretch>
        </p:blipFill>
        <p:spPr>
          <a:xfrm>
            <a:off x="1170596" y="1143548"/>
            <a:ext cx="2661558" cy="3186656"/>
          </a:xfrm>
          <a:prstGeom prst="rect">
            <a:avLst/>
          </a:prstGeom>
        </p:spPr>
      </p:pic>
      <p:sp>
        <p:nvSpPr>
          <p:cNvPr id="8" name="箭號: 向右 7">
            <a:extLst>
              <a:ext uri="{FF2B5EF4-FFF2-40B4-BE49-F238E27FC236}">
                <a16:creationId xmlns:a16="http://schemas.microsoft.com/office/drawing/2014/main" id="{992A30BE-D303-D92F-7E1B-D787CE6BB134}"/>
              </a:ext>
            </a:extLst>
          </p:cNvPr>
          <p:cNvSpPr/>
          <p:nvPr/>
        </p:nvSpPr>
        <p:spPr>
          <a:xfrm>
            <a:off x="4311052" y="2571750"/>
            <a:ext cx="521896" cy="239689"/>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37538893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E58C2-4993-08A3-702F-7274739FB05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5A32462-E98C-71BD-12A4-BF88577E592E}"/>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Released Power Allocation</a:t>
            </a: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A2E248FE-C9F7-E4A0-2998-1C45231D5B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
        <p:nvSpPr>
          <p:cNvPr id="4" name="內容版面配置區 3">
            <a:extLst>
              <a:ext uri="{FF2B5EF4-FFF2-40B4-BE49-F238E27FC236}">
                <a16:creationId xmlns:a16="http://schemas.microsoft.com/office/drawing/2014/main" id="{1D43F3C9-60B0-A4E5-7F07-0416856FC05D}"/>
              </a:ext>
            </a:extLst>
          </p:cNvPr>
          <p:cNvSpPr>
            <a:spLocks noGrp="1"/>
          </p:cNvSpPr>
          <p:nvPr>
            <p:ph idx="1"/>
          </p:nvPr>
        </p:nvSpPr>
        <p:spPr>
          <a:xfrm>
            <a:off x="311699" y="1241630"/>
            <a:ext cx="5689101"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SBR releases helper satellite transmit power.</a:t>
            </a:r>
          </a:p>
          <a:p>
            <a:pPr>
              <a:spcAft>
                <a:spcPts val="600"/>
              </a:spcAft>
            </a:pPr>
            <a:r>
              <a:rPr lang="en-US" sz="1800" dirty="0">
                <a:latin typeface="Times New Roman" panose="02020603050405020304" pitchFamily="18" charset="0"/>
                <a:cs typeface="Times New Roman" panose="02020603050405020304" pitchFamily="18" charset="0"/>
              </a:rPr>
              <a:t>Released power is added back to the helper satellite’s available power budget.</a:t>
            </a:r>
          </a:p>
          <a:p>
            <a:pPr>
              <a:spcAft>
                <a:spcPts val="600"/>
              </a:spcAft>
            </a:pPr>
            <a:r>
              <a:rPr lang="en-US" sz="1800" dirty="0">
                <a:latin typeface="Times New Roman" panose="02020603050405020304" pitchFamily="18" charset="0"/>
                <a:cs typeface="Times New Roman" panose="02020603050405020304" pitchFamily="18" charset="0"/>
              </a:rPr>
              <a:t>Helper recovery beams are ranked by priority-weighted recovery demand.</a:t>
            </a:r>
          </a:p>
          <a:p>
            <a:pPr>
              <a:spcAft>
                <a:spcPts val="600"/>
              </a:spcAft>
            </a:pPr>
            <a:r>
              <a:rPr lang="en-US" sz="1800" dirty="0">
                <a:latin typeface="Times New Roman" panose="02020603050405020304" pitchFamily="18" charset="0"/>
                <a:cs typeface="Times New Roman" panose="02020603050405020304" pitchFamily="18" charset="0"/>
              </a:rPr>
              <a:t>Released power is allocated in this order, boosting each helper recovery beam up to its transmit power limit.</a:t>
            </a: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2DEFD4A2-4A65-8BB7-8CAE-0B735D0BB4AE}"/>
              </a:ext>
            </a:extLst>
          </p:cNvPr>
          <p:cNvPicPr>
            <a:picLocks noChangeAspect="1"/>
          </p:cNvPicPr>
          <p:nvPr/>
        </p:nvPicPr>
        <p:blipFill>
          <a:blip r:embed="rId3"/>
          <a:stretch>
            <a:fillRect/>
          </a:stretch>
        </p:blipFill>
        <p:spPr>
          <a:xfrm>
            <a:off x="6000801" y="1333681"/>
            <a:ext cx="3143199" cy="3232297"/>
          </a:xfrm>
          <a:prstGeom prst="rect">
            <a:avLst/>
          </a:prstGeom>
        </p:spPr>
      </p:pic>
    </p:spTree>
    <p:extLst>
      <p:ext uri="{BB962C8B-B14F-4D97-AF65-F5344CB8AC3E}">
        <p14:creationId xmlns:p14="http://schemas.microsoft.com/office/powerpoint/2010/main" val="6652597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85A5F-130A-E0AC-9A0B-EA5D0B741B8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5ED128A-63D4-E9AA-4507-01F0B2CAA78F}"/>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Safe-Beam Reassociation for Helper Users (SBR)</a:t>
            </a: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16592C9A-EA5A-E3EB-01E2-BD4B8884ED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
        <p:nvSpPr>
          <p:cNvPr id="7" name="內容版面配置區 6">
            <a:extLst>
              <a:ext uri="{FF2B5EF4-FFF2-40B4-BE49-F238E27FC236}">
                <a16:creationId xmlns:a16="http://schemas.microsoft.com/office/drawing/2014/main" id="{25FB045B-661C-A8C9-CABA-26CDE509F4B7}"/>
              </a:ext>
            </a:extLst>
          </p:cNvPr>
          <p:cNvSpPr>
            <a:spLocks noGrp="1"/>
          </p:cNvSpPr>
          <p:nvPr>
            <p:ph idx="1"/>
          </p:nvPr>
        </p:nvSpPr>
        <p:spPr>
          <a:xfrm>
            <a:off x="311700" y="1230199"/>
            <a:ext cx="6056443" cy="3584575"/>
          </a:xfrm>
        </p:spPr>
        <p:txBody>
          <a:bodyPr/>
          <a:lstStyle/>
          <a:p>
            <a:r>
              <a:rPr lang="en-US" sz="1800" dirty="0">
                <a:latin typeface="Times New Roman" panose="02020603050405020304" pitchFamily="18" charset="0"/>
                <a:cs typeface="Times New Roman" panose="02020603050405020304" pitchFamily="18" charset="0"/>
              </a:rPr>
              <a:t>Goal: recover users affected by critical closed beams</a:t>
            </a:r>
          </a:p>
          <a:p>
            <a:r>
              <a:rPr lang="en-US" sz="1800" dirty="0">
                <a:latin typeface="Times New Roman" panose="02020603050405020304" pitchFamily="18" charset="0"/>
                <a:cs typeface="Times New Roman" panose="02020603050405020304" pitchFamily="18" charset="0"/>
              </a:rPr>
              <a:t>Recovery Score:</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For each closed-recovery edge, sort candidate users by:</a:t>
            </a:r>
          </a:p>
          <a:p>
            <a:pPr lvl="2"/>
            <a:r>
              <a:rPr lang="en-US" sz="1800" dirty="0">
                <a:latin typeface="Times New Roman" panose="02020603050405020304" pitchFamily="18" charset="0"/>
                <a:cs typeface="Times New Roman" panose="02020603050405020304" pitchFamily="18" charset="0"/>
              </a:rPr>
              <a:t>Service priority: high to low</a:t>
            </a:r>
          </a:p>
          <a:p>
            <a:pPr lvl="2"/>
            <a:r>
              <a:rPr lang="en-US" sz="1800" dirty="0">
                <a:latin typeface="Times New Roman" panose="02020603050405020304" pitchFamily="18" charset="0"/>
                <a:cs typeface="Times New Roman" panose="02020603050405020304" pitchFamily="18" charset="0"/>
              </a:rPr>
              <a:t>Required capacity: low to high within the same priority</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Estimate the recoverable user subset under the remaining capacity of the helper recovery beam.</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Recovery score = sum of each estimated user's priority weight × its satisfaction.</a:t>
            </a:r>
          </a:p>
        </p:txBody>
      </p:sp>
      <p:pic>
        <p:nvPicPr>
          <p:cNvPr id="4" name="圖片 3">
            <a:extLst>
              <a:ext uri="{FF2B5EF4-FFF2-40B4-BE49-F238E27FC236}">
                <a16:creationId xmlns:a16="http://schemas.microsoft.com/office/drawing/2014/main" id="{A5BC522C-0813-D194-C3C4-FEB85E5D7B6D}"/>
              </a:ext>
            </a:extLst>
          </p:cNvPr>
          <p:cNvPicPr>
            <a:picLocks noChangeAspect="1"/>
          </p:cNvPicPr>
          <p:nvPr/>
        </p:nvPicPr>
        <p:blipFill>
          <a:blip r:embed="rId3"/>
          <a:stretch>
            <a:fillRect/>
          </a:stretch>
        </p:blipFill>
        <p:spPr>
          <a:xfrm>
            <a:off x="6368143" y="1623549"/>
            <a:ext cx="2775857" cy="2854542"/>
          </a:xfrm>
          <a:prstGeom prst="rect">
            <a:avLst/>
          </a:prstGeom>
        </p:spPr>
      </p:pic>
    </p:spTree>
    <p:extLst>
      <p:ext uri="{BB962C8B-B14F-4D97-AF65-F5344CB8AC3E}">
        <p14:creationId xmlns:p14="http://schemas.microsoft.com/office/powerpoint/2010/main" val="1607376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4BD06-CE86-F480-0A60-A3334D36B49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D8D2316-9678-614E-6BB8-214E71ADFB1A}"/>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Helper-Beam Reassociation for Closed-Beam Users (HBR)</a:t>
            </a:r>
            <a:br>
              <a:rPr lang="en-US" sz="1800" dirty="0"/>
            </a:b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2DA44525-8529-3CDC-3077-46D631974CE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
        <p:nvSpPr>
          <p:cNvPr id="7" name="內容版面配置區 6">
            <a:extLst>
              <a:ext uri="{FF2B5EF4-FFF2-40B4-BE49-F238E27FC236}">
                <a16:creationId xmlns:a16="http://schemas.microsoft.com/office/drawing/2014/main" id="{C41BC831-06AE-81D4-F424-B1EFD02EA304}"/>
              </a:ext>
            </a:extLst>
          </p:cNvPr>
          <p:cNvSpPr>
            <a:spLocks noGrp="1"/>
          </p:cNvSpPr>
          <p:nvPr>
            <p:ph idx="1"/>
          </p:nvPr>
        </p:nvSpPr>
        <p:spPr>
          <a:xfrm>
            <a:off x="311701" y="1230200"/>
            <a:ext cx="5993738" cy="3416400"/>
          </a:xfrm>
        </p:spPr>
        <p:txBody>
          <a:bodyPr/>
          <a:lstStyle/>
          <a:p>
            <a:r>
              <a:rPr lang="en-US" sz="1800" dirty="0">
                <a:latin typeface="Times New Roman" panose="02020603050405020304" pitchFamily="18" charset="0"/>
                <a:ea typeface="Tahoma" panose="020B0604030504040204" pitchFamily="34" charset="0"/>
                <a:cs typeface="Times New Roman" panose="02020603050405020304" pitchFamily="18" charset="0"/>
              </a:rPr>
              <a:t>Compute the recovery score for each recovery-off edge.</a:t>
            </a:r>
          </a:p>
          <a:p>
            <a:r>
              <a:rPr lang="en-US" sz="1800" dirty="0">
                <a:latin typeface="Times New Roman" panose="02020603050405020304" pitchFamily="18" charset="0"/>
                <a:cs typeface="Times New Roman" panose="02020603050405020304" pitchFamily="18" charset="0"/>
              </a:rPr>
              <a:t>The score reflects how much closed beam user can be reassociated to a helper recovery beam.</a:t>
            </a:r>
            <a:endParaRPr lang="vi-VN" sz="1800" dirty="0">
              <a:latin typeface="Times New Roman" panose="02020603050405020304" pitchFamily="18" charset="0"/>
              <a:cs typeface="Times New Roman" panose="02020603050405020304" pitchFamily="18" charset="0"/>
            </a:endParaRPr>
          </a:p>
          <a:p>
            <a:pPr lvl="1"/>
            <a:endParaRPr lang="vi-VN" sz="1800" dirty="0">
              <a:latin typeface="Times New Roman" panose="02020603050405020304" pitchFamily="18" charset="0"/>
              <a:cs typeface="Times New Roman" panose="02020603050405020304" pitchFamily="18" charset="0"/>
            </a:endParaRPr>
          </a:p>
        </p:txBody>
      </p:sp>
      <p:sp>
        <p:nvSpPr>
          <p:cNvPr id="5" name="箭號: 五邊形 4">
            <a:extLst>
              <a:ext uri="{FF2B5EF4-FFF2-40B4-BE49-F238E27FC236}">
                <a16:creationId xmlns:a16="http://schemas.microsoft.com/office/drawing/2014/main" id="{649AB259-C8B9-F1AA-1D36-17F7F8592A28}"/>
              </a:ext>
            </a:extLst>
          </p:cNvPr>
          <p:cNvSpPr/>
          <p:nvPr/>
        </p:nvSpPr>
        <p:spPr>
          <a:xfrm>
            <a:off x="350359" y="4384871"/>
            <a:ext cx="1742430" cy="429904"/>
          </a:xfrm>
          <a:prstGeom prst="homePlate">
            <a:avLst/>
          </a:prstGeom>
          <a:solidFill>
            <a:srgbClr val="8ECFEB"/>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1800" dirty="0">
                <a:solidFill>
                  <a:schemeClr val="bg2"/>
                </a:solidFill>
                <a:latin typeface="Times New Roman" panose="02020603050405020304" pitchFamily="18" charset="0"/>
                <a:cs typeface="Times New Roman" panose="02020603050405020304" pitchFamily="18" charset="0"/>
              </a:rPr>
              <a:t>Score</a:t>
            </a:r>
            <a:endParaRPr lang="vi-VN" dirty="0">
              <a:solidFill>
                <a:schemeClr val="bg2"/>
              </a:solidFill>
              <a:latin typeface="Times New Roman" panose="02020603050405020304" pitchFamily="18" charset="0"/>
              <a:cs typeface="Times New Roman" panose="02020603050405020304" pitchFamily="18" charset="0"/>
            </a:endParaRPr>
          </a:p>
        </p:txBody>
      </p:sp>
      <p:sp>
        <p:nvSpPr>
          <p:cNvPr id="6" name="箭號: ＞形 5">
            <a:extLst>
              <a:ext uri="{FF2B5EF4-FFF2-40B4-BE49-F238E27FC236}">
                <a16:creationId xmlns:a16="http://schemas.microsoft.com/office/drawing/2014/main" id="{DDE40D9A-7354-D14F-1920-24BA77586210}"/>
              </a:ext>
            </a:extLst>
          </p:cNvPr>
          <p:cNvSpPr/>
          <p:nvPr/>
        </p:nvSpPr>
        <p:spPr>
          <a:xfrm>
            <a:off x="2092789" y="4384871"/>
            <a:ext cx="1742430" cy="429904"/>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Select Edge</a:t>
            </a:r>
          </a:p>
        </p:txBody>
      </p:sp>
      <p:sp>
        <p:nvSpPr>
          <p:cNvPr id="9" name="箭號: ＞形 8">
            <a:extLst>
              <a:ext uri="{FF2B5EF4-FFF2-40B4-BE49-F238E27FC236}">
                <a16:creationId xmlns:a16="http://schemas.microsoft.com/office/drawing/2014/main" id="{B24583E1-118E-A0D1-D182-10EA5E0AF590}"/>
              </a:ext>
            </a:extLst>
          </p:cNvPr>
          <p:cNvSpPr/>
          <p:nvPr/>
        </p:nvSpPr>
        <p:spPr>
          <a:xfrm>
            <a:off x="3833982" y="4384871"/>
            <a:ext cx="1742430" cy="429904"/>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Update</a:t>
            </a:r>
            <a:endParaRPr lang="vi-VN" dirty="0">
              <a:solidFill>
                <a:schemeClr val="bg2"/>
              </a:solidFill>
              <a:latin typeface="+mj-lt"/>
            </a:endParaRPr>
          </a:p>
        </p:txBody>
      </p:sp>
      <p:pic>
        <p:nvPicPr>
          <p:cNvPr id="13" name="圖片 12">
            <a:extLst>
              <a:ext uri="{FF2B5EF4-FFF2-40B4-BE49-F238E27FC236}">
                <a16:creationId xmlns:a16="http://schemas.microsoft.com/office/drawing/2014/main" id="{574BD69E-7963-E7E2-D1F4-52A3C59490EE}"/>
              </a:ext>
            </a:extLst>
          </p:cNvPr>
          <p:cNvPicPr>
            <a:picLocks noChangeAspect="1"/>
          </p:cNvPicPr>
          <p:nvPr/>
        </p:nvPicPr>
        <p:blipFill>
          <a:blip r:embed="rId3"/>
          <a:stretch>
            <a:fillRect/>
          </a:stretch>
        </p:blipFill>
        <p:spPr>
          <a:xfrm>
            <a:off x="6305439" y="1199015"/>
            <a:ext cx="2838561" cy="3287925"/>
          </a:xfrm>
          <a:prstGeom prst="rect">
            <a:avLst/>
          </a:prstGeom>
        </p:spPr>
      </p:pic>
    </p:spTree>
    <p:extLst>
      <p:ext uri="{BB962C8B-B14F-4D97-AF65-F5344CB8AC3E}">
        <p14:creationId xmlns:p14="http://schemas.microsoft.com/office/powerpoint/2010/main" val="3706598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9186E-7F8A-95C7-B3C2-7E012550759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DFAC242-4627-19F0-858F-E468209794C6}"/>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Helper-Beam Reassociation for Closed-Beam Users (HBR)</a:t>
            </a:r>
            <a:br>
              <a:rPr lang="en-US" dirty="0"/>
            </a:b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6F7A6C0B-5A9B-EF8D-AC22-3E5D176C2B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
        <p:nvSpPr>
          <p:cNvPr id="5" name="箭號: 五邊形 4">
            <a:extLst>
              <a:ext uri="{FF2B5EF4-FFF2-40B4-BE49-F238E27FC236}">
                <a16:creationId xmlns:a16="http://schemas.microsoft.com/office/drawing/2014/main" id="{58EC4D11-FDD3-0368-7066-689709126F49}"/>
              </a:ext>
            </a:extLst>
          </p:cNvPr>
          <p:cNvSpPr/>
          <p:nvPr/>
        </p:nvSpPr>
        <p:spPr>
          <a:xfrm>
            <a:off x="350359" y="4384871"/>
            <a:ext cx="1742430" cy="429904"/>
          </a:xfrm>
          <a:prstGeom prst="homePlate">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1800" dirty="0">
                <a:solidFill>
                  <a:schemeClr val="bg2"/>
                </a:solidFill>
                <a:latin typeface="Times New Roman" panose="02020603050405020304" pitchFamily="18" charset="0"/>
                <a:cs typeface="Times New Roman" panose="02020603050405020304" pitchFamily="18" charset="0"/>
              </a:rPr>
              <a:t>Score</a:t>
            </a:r>
            <a:endParaRPr lang="vi-VN" dirty="0">
              <a:solidFill>
                <a:schemeClr val="bg2"/>
              </a:solidFill>
              <a:latin typeface="Times New Roman" panose="02020603050405020304" pitchFamily="18" charset="0"/>
              <a:cs typeface="Times New Roman" panose="02020603050405020304" pitchFamily="18" charset="0"/>
            </a:endParaRPr>
          </a:p>
        </p:txBody>
      </p:sp>
      <p:sp>
        <p:nvSpPr>
          <p:cNvPr id="6" name="箭號: ＞形 5">
            <a:extLst>
              <a:ext uri="{FF2B5EF4-FFF2-40B4-BE49-F238E27FC236}">
                <a16:creationId xmlns:a16="http://schemas.microsoft.com/office/drawing/2014/main" id="{276EF13C-C1C5-53A0-0CC2-BB0EDC4691E9}"/>
              </a:ext>
            </a:extLst>
          </p:cNvPr>
          <p:cNvSpPr/>
          <p:nvPr/>
        </p:nvSpPr>
        <p:spPr>
          <a:xfrm>
            <a:off x="2092789" y="4384871"/>
            <a:ext cx="1742430" cy="429904"/>
          </a:xfrm>
          <a:prstGeom prst="chevron">
            <a:avLst/>
          </a:prstGeom>
          <a:solidFill>
            <a:schemeClr val="accent2">
              <a:lumMod val="20000"/>
              <a:lumOff val="8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Select Edge</a:t>
            </a:r>
          </a:p>
        </p:txBody>
      </p:sp>
      <p:sp>
        <p:nvSpPr>
          <p:cNvPr id="7" name="箭號: ＞形 6">
            <a:extLst>
              <a:ext uri="{FF2B5EF4-FFF2-40B4-BE49-F238E27FC236}">
                <a16:creationId xmlns:a16="http://schemas.microsoft.com/office/drawing/2014/main" id="{9A7D6145-94C2-D70D-9D4E-DBE47B83C02B}"/>
              </a:ext>
            </a:extLst>
          </p:cNvPr>
          <p:cNvSpPr/>
          <p:nvPr/>
        </p:nvSpPr>
        <p:spPr>
          <a:xfrm>
            <a:off x="3833982" y="4384871"/>
            <a:ext cx="1742430" cy="429904"/>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Update</a:t>
            </a:r>
            <a:endParaRPr lang="vi-VN" dirty="0">
              <a:solidFill>
                <a:schemeClr val="bg2"/>
              </a:solidFill>
              <a:latin typeface="+mj-lt"/>
            </a:endParaRPr>
          </a:p>
        </p:txBody>
      </p:sp>
      <p:sp>
        <p:nvSpPr>
          <p:cNvPr id="10" name="內容版面配置區 6">
            <a:extLst>
              <a:ext uri="{FF2B5EF4-FFF2-40B4-BE49-F238E27FC236}">
                <a16:creationId xmlns:a16="http://schemas.microsoft.com/office/drawing/2014/main" id="{4CE6B123-9796-2FBD-A7D3-56289A279F87}"/>
              </a:ext>
            </a:extLst>
          </p:cNvPr>
          <p:cNvSpPr>
            <a:spLocks noGrp="1"/>
          </p:cNvSpPr>
          <p:nvPr>
            <p:ph idx="1"/>
          </p:nvPr>
        </p:nvSpPr>
        <p:spPr>
          <a:xfrm>
            <a:off x="311701" y="1230200"/>
            <a:ext cx="5993428" cy="3416400"/>
          </a:xfrm>
        </p:spPr>
        <p:txBody>
          <a:bodyPr/>
          <a:lstStyle/>
          <a:p>
            <a:r>
              <a:rPr lang="en-US" sz="1800" dirty="0">
                <a:latin typeface="Times New Roman" panose="02020603050405020304" pitchFamily="18" charset="0"/>
                <a:cs typeface="Times New Roman" panose="02020603050405020304" pitchFamily="18" charset="0"/>
              </a:rPr>
              <a:t>Divide the graph into connected components.</a:t>
            </a:r>
          </a:p>
          <a:p>
            <a:r>
              <a:rPr lang="en-US" sz="1800" dirty="0">
                <a:latin typeface="Times New Roman" panose="02020603050405020304" pitchFamily="18" charset="0"/>
                <a:cs typeface="Times New Roman" panose="02020603050405020304" pitchFamily="18" charset="0"/>
              </a:rPr>
              <a:t>Select the highest-score edge in each component.</a:t>
            </a:r>
          </a:p>
          <a:p>
            <a:r>
              <a:rPr lang="en-US" sz="1800" dirty="0">
                <a:latin typeface="Times New Roman" panose="02020603050405020304" pitchFamily="18" charset="0"/>
                <a:cs typeface="Times New Roman" panose="02020603050405020304" pitchFamily="18" charset="0"/>
              </a:rPr>
              <a:t>Reassociate the selected critical users to the corresponding helper recovery beam.</a:t>
            </a:r>
            <a:endParaRPr lang="vi-VN" sz="1800" dirty="0">
              <a:latin typeface="Times New Roman" panose="02020603050405020304" pitchFamily="18" charset="0"/>
              <a:cs typeface="Times New Roman" panose="02020603050405020304" pitchFamily="18" charset="0"/>
            </a:endParaRPr>
          </a:p>
          <a:p>
            <a:endParaRPr lang="vi-VN" sz="1800" dirty="0">
              <a:latin typeface="Times New Roman" panose="02020603050405020304" pitchFamily="18" charset="0"/>
              <a:cs typeface="Times New Roman" panose="02020603050405020304" pitchFamily="18" charset="0"/>
            </a:endParaRPr>
          </a:p>
        </p:txBody>
      </p:sp>
      <p:pic>
        <p:nvPicPr>
          <p:cNvPr id="12" name="圖片 11">
            <a:extLst>
              <a:ext uri="{FF2B5EF4-FFF2-40B4-BE49-F238E27FC236}">
                <a16:creationId xmlns:a16="http://schemas.microsoft.com/office/drawing/2014/main" id="{5E9D7E2A-7203-4268-B867-2E243EF289E5}"/>
              </a:ext>
            </a:extLst>
          </p:cNvPr>
          <p:cNvPicPr>
            <a:picLocks noChangeAspect="1"/>
          </p:cNvPicPr>
          <p:nvPr/>
        </p:nvPicPr>
        <p:blipFill>
          <a:blip r:embed="rId3"/>
          <a:stretch>
            <a:fillRect/>
          </a:stretch>
        </p:blipFill>
        <p:spPr>
          <a:xfrm>
            <a:off x="6305129" y="1230200"/>
            <a:ext cx="2862221" cy="3278705"/>
          </a:xfrm>
          <a:prstGeom prst="rect">
            <a:avLst/>
          </a:prstGeom>
        </p:spPr>
      </p:pic>
    </p:spTree>
    <p:extLst>
      <p:ext uri="{BB962C8B-B14F-4D97-AF65-F5344CB8AC3E}">
        <p14:creationId xmlns:p14="http://schemas.microsoft.com/office/powerpoint/2010/main" val="224102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5EF7F-0909-0962-DCC2-A51C469D20E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813747F-72CF-2E5F-5A60-5D0FAFE7B03D}"/>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Helper-Beam Reassociation for Closed-Beam Users (HBR)</a:t>
            </a: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D23ED231-454E-A4E0-5D47-DD43A82D99B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
        <p:nvSpPr>
          <p:cNvPr id="4" name="箭號: 五邊形 3">
            <a:extLst>
              <a:ext uri="{FF2B5EF4-FFF2-40B4-BE49-F238E27FC236}">
                <a16:creationId xmlns:a16="http://schemas.microsoft.com/office/drawing/2014/main" id="{53AE750C-0177-9742-42AF-EDC2E6F03F22}"/>
              </a:ext>
            </a:extLst>
          </p:cNvPr>
          <p:cNvSpPr/>
          <p:nvPr/>
        </p:nvSpPr>
        <p:spPr>
          <a:xfrm>
            <a:off x="350359" y="4384871"/>
            <a:ext cx="1742430" cy="429904"/>
          </a:xfrm>
          <a:prstGeom prst="homePlate">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1800" dirty="0">
                <a:solidFill>
                  <a:schemeClr val="bg2"/>
                </a:solidFill>
                <a:latin typeface="Times New Roman" panose="02020603050405020304" pitchFamily="18" charset="0"/>
                <a:cs typeface="Times New Roman" panose="02020603050405020304" pitchFamily="18" charset="0"/>
              </a:rPr>
              <a:t>Score</a:t>
            </a:r>
            <a:endParaRPr lang="vi-VN" dirty="0">
              <a:solidFill>
                <a:schemeClr val="bg2"/>
              </a:solidFill>
              <a:latin typeface="Times New Roman" panose="02020603050405020304" pitchFamily="18" charset="0"/>
              <a:cs typeface="Times New Roman" panose="02020603050405020304" pitchFamily="18" charset="0"/>
            </a:endParaRPr>
          </a:p>
        </p:txBody>
      </p:sp>
      <p:sp>
        <p:nvSpPr>
          <p:cNvPr id="5" name="箭號: ＞形 4">
            <a:extLst>
              <a:ext uri="{FF2B5EF4-FFF2-40B4-BE49-F238E27FC236}">
                <a16:creationId xmlns:a16="http://schemas.microsoft.com/office/drawing/2014/main" id="{C8001B31-C946-C5FF-5CB6-DBB5A9D26718}"/>
              </a:ext>
            </a:extLst>
          </p:cNvPr>
          <p:cNvSpPr/>
          <p:nvPr/>
        </p:nvSpPr>
        <p:spPr>
          <a:xfrm>
            <a:off x="2092789" y="4384871"/>
            <a:ext cx="1742430" cy="429904"/>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Select Edge</a:t>
            </a:r>
          </a:p>
        </p:txBody>
      </p:sp>
      <p:sp>
        <p:nvSpPr>
          <p:cNvPr id="6" name="箭號: ＞形 5">
            <a:extLst>
              <a:ext uri="{FF2B5EF4-FFF2-40B4-BE49-F238E27FC236}">
                <a16:creationId xmlns:a16="http://schemas.microsoft.com/office/drawing/2014/main" id="{574B086E-A37A-EEDD-F977-3EEA1410F7DE}"/>
              </a:ext>
            </a:extLst>
          </p:cNvPr>
          <p:cNvSpPr/>
          <p:nvPr/>
        </p:nvSpPr>
        <p:spPr>
          <a:xfrm>
            <a:off x="3833982" y="4384871"/>
            <a:ext cx="1742430" cy="429904"/>
          </a:xfrm>
          <a:prstGeom prst="chevron">
            <a:avLst/>
          </a:prstGeom>
          <a:solidFill>
            <a:srgbClr val="8ECFEB"/>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Update</a:t>
            </a:r>
          </a:p>
        </p:txBody>
      </p:sp>
      <p:sp>
        <p:nvSpPr>
          <p:cNvPr id="8" name="箭號: 向右 7">
            <a:extLst>
              <a:ext uri="{FF2B5EF4-FFF2-40B4-BE49-F238E27FC236}">
                <a16:creationId xmlns:a16="http://schemas.microsoft.com/office/drawing/2014/main" id="{DB2491B9-0648-B5FA-EC2E-90BF1073C41B}"/>
              </a:ext>
            </a:extLst>
          </p:cNvPr>
          <p:cNvSpPr/>
          <p:nvPr/>
        </p:nvSpPr>
        <p:spPr>
          <a:xfrm>
            <a:off x="4311052" y="2571750"/>
            <a:ext cx="521896" cy="239689"/>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9" name="圖片 8">
            <a:extLst>
              <a:ext uri="{FF2B5EF4-FFF2-40B4-BE49-F238E27FC236}">
                <a16:creationId xmlns:a16="http://schemas.microsoft.com/office/drawing/2014/main" id="{E7ECB33B-1A7A-5957-E713-65D94E8E6346}"/>
              </a:ext>
            </a:extLst>
          </p:cNvPr>
          <p:cNvPicPr>
            <a:picLocks noChangeAspect="1"/>
          </p:cNvPicPr>
          <p:nvPr/>
        </p:nvPicPr>
        <p:blipFill>
          <a:blip r:embed="rId3"/>
          <a:stretch>
            <a:fillRect/>
          </a:stretch>
        </p:blipFill>
        <p:spPr>
          <a:xfrm>
            <a:off x="1121642" y="1257931"/>
            <a:ext cx="2712340" cy="3107015"/>
          </a:xfrm>
          <a:prstGeom prst="rect">
            <a:avLst/>
          </a:prstGeom>
        </p:spPr>
      </p:pic>
      <p:pic>
        <p:nvPicPr>
          <p:cNvPr id="12" name="圖片 11">
            <a:extLst>
              <a:ext uri="{FF2B5EF4-FFF2-40B4-BE49-F238E27FC236}">
                <a16:creationId xmlns:a16="http://schemas.microsoft.com/office/drawing/2014/main" id="{D568196C-FBD1-2DAD-FDDB-E750168129D4}"/>
              </a:ext>
            </a:extLst>
          </p:cNvPr>
          <p:cNvPicPr>
            <a:picLocks noChangeAspect="1"/>
          </p:cNvPicPr>
          <p:nvPr/>
        </p:nvPicPr>
        <p:blipFill>
          <a:blip r:embed="rId4"/>
          <a:stretch>
            <a:fillRect/>
          </a:stretch>
        </p:blipFill>
        <p:spPr>
          <a:xfrm>
            <a:off x="5465995" y="1257931"/>
            <a:ext cx="2801271" cy="3107015"/>
          </a:xfrm>
          <a:prstGeom prst="rect">
            <a:avLst/>
          </a:prstGeom>
        </p:spPr>
      </p:pic>
    </p:spTree>
    <p:extLst>
      <p:ext uri="{BB962C8B-B14F-4D97-AF65-F5344CB8AC3E}">
        <p14:creationId xmlns:p14="http://schemas.microsoft.com/office/powerpoint/2010/main" val="39404693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84293E-A132-45CA-A2D0-2D7113592A6A}"/>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Evaluation – </a:t>
            </a:r>
            <a:r>
              <a:rPr lang="en-US" altLang="zh-TW" sz="1800" b="1" dirty="0">
                <a:latin typeface="Times New Roman" panose="02020603050405020304" pitchFamily="18" charset="0"/>
                <a:cs typeface="Times New Roman" panose="02020603050405020304" pitchFamily="18" charset="0"/>
              </a:rPr>
              <a:t>Simulation Setup</a:t>
            </a:r>
            <a:endParaRPr lang="zh-TW" altLang="en-US"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0C8A664-2C37-460F-9F40-776DC59938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sp>
        <p:nvSpPr>
          <p:cNvPr id="4" name="內容版面配置區 3">
            <a:extLst>
              <a:ext uri="{FF2B5EF4-FFF2-40B4-BE49-F238E27FC236}">
                <a16:creationId xmlns:a16="http://schemas.microsoft.com/office/drawing/2014/main" id="{0355C63F-B3C8-44BF-A2BF-1E83105C4D0A}"/>
              </a:ext>
            </a:extLst>
          </p:cNvPr>
          <p:cNvSpPr>
            <a:spLocks noGrp="1"/>
          </p:cNvSpPr>
          <p:nvPr>
            <p:ph idx="1"/>
          </p:nvPr>
        </p:nvSpPr>
        <p:spPr>
          <a:xfrm>
            <a:off x="311700" y="1081849"/>
            <a:ext cx="8520600" cy="1234821"/>
          </a:xfrm>
        </p:spPr>
        <p:txBody>
          <a:bodyPr/>
          <a:lstStyle/>
          <a:p>
            <a:pPr>
              <a:spcAft>
                <a:spcPts val="600"/>
              </a:spcAft>
            </a:pPr>
            <a:r>
              <a:rPr lang="en-US" altLang="zh-TW" sz="1800" dirty="0">
                <a:latin typeface="Times New Roman" panose="02020603050405020304" pitchFamily="18" charset="0"/>
                <a:cs typeface="Times New Roman" panose="02020603050405020304" pitchFamily="18" charset="0"/>
              </a:rPr>
              <a:t>Tool Used</a:t>
            </a:r>
            <a:r>
              <a:rPr lang="zh-TW" alt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a:t>
            </a:r>
            <a:r>
              <a:rPr lang="zh-TW" alt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STK (Satellite Tool Kit) and </a:t>
            </a:r>
            <a:r>
              <a:rPr lang="en-US" altLang="zh-TW" sz="1800" dirty="0" err="1">
                <a:latin typeface="Times New Roman" panose="02020603050405020304" pitchFamily="18" charset="0"/>
                <a:cs typeface="Times New Roman" panose="02020603050405020304" pitchFamily="18" charset="0"/>
              </a:rPr>
              <a:t>Matlab</a:t>
            </a:r>
            <a:endParaRPr lang="zh-TW" altLang="en-US" sz="1800" dirty="0">
              <a:latin typeface="Times New Roman" panose="02020603050405020304" pitchFamily="18" charset="0"/>
              <a:cs typeface="Times New Roman" panose="02020603050405020304" pitchFamily="18" charset="0"/>
            </a:endParaRPr>
          </a:p>
        </p:txBody>
      </p:sp>
      <p:pic>
        <p:nvPicPr>
          <p:cNvPr id="11" name="圖片 10">
            <a:extLst>
              <a:ext uri="{FF2B5EF4-FFF2-40B4-BE49-F238E27FC236}">
                <a16:creationId xmlns:a16="http://schemas.microsoft.com/office/drawing/2014/main" id="{8B9A6247-34D0-C7C9-34E1-9D8AC497A8C4}"/>
              </a:ext>
            </a:extLst>
          </p:cNvPr>
          <p:cNvPicPr>
            <a:picLocks noChangeAspect="1"/>
          </p:cNvPicPr>
          <p:nvPr/>
        </p:nvPicPr>
        <p:blipFill>
          <a:blip r:embed="rId3"/>
          <a:stretch>
            <a:fillRect/>
          </a:stretch>
        </p:blipFill>
        <p:spPr>
          <a:xfrm>
            <a:off x="-2725" y="1600200"/>
            <a:ext cx="9144000" cy="3543300"/>
          </a:xfrm>
          <a:prstGeom prst="rect">
            <a:avLst/>
          </a:prstGeom>
        </p:spPr>
      </p:pic>
    </p:spTree>
    <p:extLst>
      <p:ext uri="{BB962C8B-B14F-4D97-AF65-F5344CB8AC3E}">
        <p14:creationId xmlns:p14="http://schemas.microsoft.com/office/powerpoint/2010/main" val="2133257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84293E-A132-45CA-A2D0-2D7113592A6A}"/>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Evaluation – </a:t>
            </a:r>
            <a:r>
              <a:rPr lang="en-US" altLang="zh-TW" sz="1800" b="1" dirty="0">
                <a:latin typeface="Times New Roman" panose="02020603050405020304" pitchFamily="18" charset="0"/>
                <a:ea typeface="Tahoma" panose="020B0604030504040204" pitchFamily="34" charset="0"/>
                <a:cs typeface="Times New Roman" panose="02020603050405020304" pitchFamily="18" charset="0"/>
              </a:rPr>
              <a:t>Four</a:t>
            </a:r>
            <a:r>
              <a:rPr lang="en-US" altLang="zh-TW" sz="1800" b="1" dirty="0">
                <a:latin typeface="Times New Roman" panose="02020603050405020304" pitchFamily="18" charset="0"/>
                <a:cs typeface="Times New Roman" panose="02020603050405020304" pitchFamily="18" charset="0"/>
              </a:rPr>
              <a:t> Strategy</a:t>
            </a:r>
            <a:endParaRPr lang="zh-TW" altLang="en-US"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0C8A664-2C37-460F-9F40-776DC59938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graphicFrame>
        <p:nvGraphicFramePr>
          <p:cNvPr id="6" name="表格 5">
            <a:extLst>
              <a:ext uri="{FF2B5EF4-FFF2-40B4-BE49-F238E27FC236}">
                <a16:creationId xmlns:a16="http://schemas.microsoft.com/office/drawing/2014/main" id="{A419A9B9-1950-4CBA-BFFF-6D400532053A}"/>
              </a:ext>
            </a:extLst>
          </p:cNvPr>
          <p:cNvGraphicFramePr>
            <a:graphicFrameLocks noGrp="1"/>
          </p:cNvGraphicFramePr>
          <p:nvPr>
            <p:extLst>
              <p:ext uri="{D42A27DB-BD31-4B8C-83A1-F6EECF244321}">
                <p14:modId xmlns:p14="http://schemas.microsoft.com/office/powerpoint/2010/main" val="433104655"/>
              </p:ext>
            </p:extLst>
          </p:nvPr>
        </p:nvGraphicFramePr>
        <p:xfrm>
          <a:off x="1106614" y="1109728"/>
          <a:ext cx="6930772" cy="4033772"/>
        </p:xfrm>
        <a:graphic>
          <a:graphicData uri="http://schemas.openxmlformats.org/drawingml/2006/table">
            <a:tbl>
              <a:tblPr firstRow="1" bandRow="1">
                <a:tableStyleId>{21E4AEA4-8DFA-4A89-87EB-49C32662AFE0}</a:tableStyleId>
              </a:tblPr>
              <a:tblGrid>
                <a:gridCol w="3465386">
                  <a:extLst>
                    <a:ext uri="{9D8B030D-6E8A-4147-A177-3AD203B41FA5}">
                      <a16:colId xmlns:a16="http://schemas.microsoft.com/office/drawing/2014/main" val="942870149"/>
                    </a:ext>
                  </a:extLst>
                </a:gridCol>
                <a:gridCol w="3465386">
                  <a:extLst>
                    <a:ext uri="{9D8B030D-6E8A-4147-A177-3AD203B41FA5}">
                      <a16:colId xmlns:a16="http://schemas.microsoft.com/office/drawing/2014/main" val="1338863016"/>
                    </a:ext>
                  </a:extLst>
                </a:gridCol>
              </a:tblGrid>
              <a:tr h="684163">
                <a:tc>
                  <a:txBody>
                    <a:bodyPr/>
                    <a:lstStyle/>
                    <a:p>
                      <a:pPr algn="ctr"/>
                      <a:r>
                        <a:rPr lang="en-US" sz="1800" b="1" dirty="0">
                          <a:solidFill>
                            <a:schemeClr val="tx1"/>
                          </a:solidFill>
                          <a:latin typeface="Times New Roman" panose="02020603050405020304" pitchFamily="18" charset="0"/>
                          <a:cs typeface="Times New Roman" panose="02020603050405020304" pitchFamily="18" charset="0"/>
                        </a:rPr>
                        <a:t>Strategy</a:t>
                      </a:r>
                      <a:endParaRPr lang="en-US" sz="1800" dirty="0">
                        <a:solidFill>
                          <a:schemeClr val="tx1"/>
                        </a:solidFill>
                        <a:latin typeface="Times New Roman" panose="02020603050405020304" pitchFamily="18" charset="0"/>
                        <a:cs typeface="Times New Roman" panose="02020603050405020304" pitchFamily="18" charset="0"/>
                      </a:endParaRPr>
                    </a:p>
                  </a:txBody>
                  <a:tcPr marL="85347" marR="85347" marT="42674" marB="42674" anchor="ctr"/>
                </a:tc>
                <a:tc>
                  <a:txBody>
                    <a:bodyPr/>
                    <a:lstStyle/>
                    <a:p>
                      <a:pPr algn="ctr"/>
                      <a:r>
                        <a:rPr lang="en-US" sz="1800" b="1" dirty="0">
                          <a:solidFill>
                            <a:schemeClr val="tx1"/>
                          </a:solidFill>
                          <a:latin typeface="Times New Roman" panose="02020603050405020304" pitchFamily="18" charset="0"/>
                          <a:cs typeface="Times New Roman" panose="02020603050405020304" pitchFamily="18" charset="0"/>
                        </a:rPr>
                        <a:t>Method Description</a:t>
                      </a:r>
                      <a:endParaRPr lang="en-US" sz="1800" dirty="0">
                        <a:solidFill>
                          <a:schemeClr val="tx1"/>
                        </a:solidFill>
                        <a:latin typeface="Times New Roman" panose="02020603050405020304" pitchFamily="18" charset="0"/>
                        <a:cs typeface="Times New Roman" panose="02020603050405020304" pitchFamily="18" charset="0"/>
                      </a:endParaRPr>
                    </a:p>
                  </a:txBody>
                  <a:tcPr marL="85347" marR="85347" marT="42674" marB="42674" anchor="ctr"/>
                </a:tc>
                <a:extLst>
                  <a:ext uri="{0D108BD9-81ED-4DB2-BD59-A6C34878D82A}">
                    <a16:rowId xmlns:a16="http://schemas.microsoft.com/office/drawing/2014/main" val="4230396642"/>
                  </a:ext>
                </a:extLst>
              </a:tr>
              <a:tr h="888482">
                <a:tc>
                  <a:txBody>
                    <a:bodyPr/>
                    <a:lstStyle/>
                    <a:p>
                      <a:r>
                        <a:rPr lang="en-US" altLang="zh-TW" sz="1800" b="1" dirty="0">
                          <a:solidFill>
                            <a:schemeClr val="bg2"/>
                          </a:solidFill>
                          <a:latin typeface="Times New Roman" panose="02020603050405020304" pitchFamily="18" charset="0"/>
                          <a:cs typeface="Times New Roman" panose="02020603050405020304" pitchFamily="18" charset="0"/>
                        </a:rPr>
                        <a:t>Beam shutdown only</a:t>
                      </a:r>
                      <a:endParaRPr lang="en-US" sz="1800" b="1" dirty="0">
                        <a:solidFill>
                          <a:schemeClr val="bg2"/>
                        </a:solidFill>
                        <a:latin typeface="Times New Roman" panose="02020603050405020304" pitchFamily="18" charset="0"/>
                        <a:cs typeface="Times New Roman" panose="02020603050405020304" pitchFamily="18" charset="0"/>
                      </a:endParaRPr>
                    </a:p>
                  </a:txBody>
                  <a:tcPr marL="85347" marR="85347" marT="42674" marB="42674" anchor="ctr"/>
                </a:tc>
                <a:tc>
                  <a:txBody>
                    <a:bodyPr/>
                    <a:lstStyle/>
                    <a:p>
                      <a:r>
                        <a:rPr lang="en-US" sz="1400" dirty="0">
                          <a:solidFill>
                            <a:schemeClr val="bg2"/>
                          </a:solidFill>
                          <a:latin typeface="Times New Roman" panose="02020603050405020304" pitchFamily="18" charset="0"/>
                          <a:cs typeface="Times New Roman" panose="02020603050405020304" pitchFamily="18" charset="0"/>
                        </a:rPr>
                        <a:t>Shuts down high-interference beams on the critical satellite to satisfy the EPFD limit</a:t>
                      </a:r>
                    </a:p>
                  </a:txBody>
                  <a:tcPr marL="85347" marR="85347" marT="42674" marB="42674" anchor="ctr"/>
                </a:tc>
                <a:extLst>
                  <a:ext uri="{0D108BD9-81ED-4DB2-BD59-A6C34878D82A}">
                    <a16:rowId xmlns:a16="http://schemas.microsoft.com/office/drawing/2014/main" val="3293267796"/>
                  </a:ext>
                </a:extLst>
              </a:tr>
              <a:tr h="684163">
                <a:tc>
                  <a:txBody>
                    <a:bodyPr/>
                    <a:lstStyle/>
                    <a:p>
                      <a:r>
                        <a:rPr lang="en-US" sz="1800" b="1" dirty="0">
                          <a:solidFill>
                            <a:schemeClr val="bg2"/>
                          </a:solidFill>
                          <a:latin typeface="Times New Roman" panose="02020603050405020304" pitchFamily="18" charset="0"/>
                          <a:cs typeface="Times New Roman" panose="02020603050405020304" pitchFamily="18" charset="0"/>
                        </a:rPr>
                        <a:t>PC</a:t>
                      </a:r>
                      <a:r>
                        <a:rPr lang="zh-TW" altLang="en-US" sz="1800" b="1" dirty="0">
                          <a:solidFill>
                            <a:schemeClr val="bg2"/>
                          </a:solidFill>
                          <a:latin typeface="Times New Roman" panose="02020603050405020304" pitchFamily="18" charset="0"/>
                          <a:cs typeface="Times New Roman" panose="02020603050405020304" pitchFamily="18" charset="0"/>
                        </a:rPr>
                        <a:t> </a:t>
                      </a:r>
                      <a:r>
                        <a:rPr lang="en-US" sz="1800" b="1" dirty="0">
                          <a:solidFill>
                            <a:schemeClr val="bg2"/>
                          </a:solidFill>
                          <a:latin typeface="Times New Roman" panose="02020603050405020304" pitchFamily="18" charset="0"/>
                          <a:cs typeface="Times New Roman" panose="02020603050405020304" pitchFamily="18" charset="0"/>
                        </a:rPr>
                        <a:t>+</a:t>
                      </a:r>
                      <a:r>
                        <a:rPr lang="zh-TW" altLang="en-US" sz="1800" b="1" dirty="0">
                          <a:solidFill>
                            <a:schemeClr val="bg2"/>
                          </a:solidFill>
                          <a:latin typeface="Times New Roman" panose="02020603050405020304" pitchFamily="18" charset="0"/>
                          <a:cs typeface="Times New Roman" panose="02020603050405020304" pitchFamily="18" charset="0"/>
                        </a:rPr>
                        <a:t> </a:t>
                      </a:r>
                      <a:r>
                        <a:rPr lang="en-US" sz="1800" b="1" dirty="0">
                          <a:solidFill>
                            <a:schemeClr val="bg2"/>
                          </a:solidFill>
                          <a:latin typeface="Times New Roman" panose="02020603050405020304" pitchFamily="18" charset="0"/>
                          <a:cs typeface="Times New Roman" panose="02020603050405020304" pitchFamily="18" charset="0"/>
                        </a:rPr>
                        <a:t>Tilt</a:t>
                      </a:r>
                    </a:p>
                  </a:txBody>
                  <a:tcPr marL="85347" marR="85347" marT="42674" marB="42674" anchor="ctr"/>
                </a:tc>
                <a:tc>
                  <a:txBody>
                    <a:bodyPr/>
                    <a:lstStyle/>
                    <a:p>
                      <a:r>
                        <a:rPr lang="en-US" sz="1400" dirty="0">
                          <a:solidFill>
                            <a:schemeClr val="bg2"/>
                          </a:solidFill>
                          <a:latin typeface="Times New Roman" panose="02020603050405020304" pitchFamily="18" charset="0"/>
                          <a:cs typeface="Times New Roman" panose="02020603050405020304" pitchFamily="18" charset="0"/>
                        </a:rPr>
                        <a:t>Reduces interference by adjusting transmit power and satellite tilt angle</a:t>
                      </a:r>
                    </a:p>
                  </a:txBody>
                  <a:tcPr marL="85347" marR="85347" marT="42674" marB="42674" anchor="ctr"/>
                </a:tc>
                <a:extLst>
                  <a:ext uri="{0D108BD9-81ED-4DB2-BD59-A6C34878D82A}">
                    <a16:rowId xmlns:a16="http://schemas.microsoft.com/office/drawing/2014/main" val="4209757236"/>
                  </a:ext>
                </a:extLst>
              </a:tr>
              <a:tr h="888482">
                <a:tc>
                  <a:txBody>
                    <a:bodyPr/>
                    <a:lstStyle/>
                    <a:p>
                      <a:r>
                        <a:rPr lang="en-US" sz="1800" b="1" dirty="0">
                          <a:solidFill>
                            <a:schemeClr val="bg2"/>
                          </a:solidFill>
                          <a:latin typeface="Times New Roman" panose="02020603050405020304" pitchFamily="18" charset="0"/>
                          <a:cs typeface="Times New Roman" panose="02020603050405020304" pitchFamily="18" charset="0"/>
                        </a:rPr>
                        <a:t>Only HBR</a:t>
                      </a:r>
                    </a:p>
                  </a:txBody>
                  <a:tcPr marL="85347" marR="85347" marT="42674" marB="42674" anchor="ctr"/>
                </a:tc>
                <a:tc>
                  <a:txBody>
                    <a:bodyPr/>
                    <a:lstStyle/>
                    <a:p>
                      <a:r>
                        <a:rPr lang="en-US" sz="1400" dirty="0">
                          <a:solidFill>
                            <a:schemeClr val="bg2"/>
                          </a:solidFill>
                          <a:latin typeface="Times New Roman" panose="02020603050405020304" pitchFamily="18" charset="0"/>
                          <a:cs typeface="Times New Roman" panose="02020603050405020304" pitchFamily="18" charset="0"/>
                        </a:rPr>
                        <a:t>Uses helper recovery beams to serve users under closed beams with default helper-satellite power</a:t>
                      </a:r>
                    </a:p>
                  </a:txBody>
                  <a:tcPr marL="85347" marR="85347" marT="42674" marB="42674" anchor="ctr"/>
                </a:tc>
                <a:extLst>
                  <a:ext uri="{0D108BD9-81ED-4DB2-BD59-A6C34878D82A}">
                    <a16:rowId xmlns:a16="http://schemas.microsoft.com/office/drawing/2014/main" val="2926657646"/>
                  </a:ext>
                </a:extLst>
              </a:tr>
              <a:tr h="888482">
                <a:tc>
                  <a:txBody>
                    <a:bodyPr/>
                    <a:lstStyle/>
                    <a:p>
                      <a:r>
                        <a:rPr lang="en-US" sz="1800" b="1" dirty="0">
                          <a:solidFill>
                            <a:schemeClr val="bg2"/>
                          </a:solidFill>
                          <a:latin typeface="Times New Roman" panose="02020603050405020304" pitchFamily="18" charset="0"/>
                          <a:cs typeface="Times New Roman" panose="02020603050405020304" pitchFamily="18" charset="0"/>
                        </a:rPr>
                        <a:t>EABR</a:t>
                      </a:r>
                    </a:p>
                  </a:txBody>
                  <a:tcPr marL="85347" marR="85347" marT="42674" marB="42674" anchor="ctr"/>
                </a:tc>
                <a:tc>
                  <a:txBody>
                    <a:bodyPr/>
                    <a:lstStyle/>
                    <a:p>
                      <a:r>
                        <a:rPr lang="en-US" altLang="zh-TW" sz="1400" dirty="0">
                          <a:solidFill>
                            <a:schemeClr val="bg2"/>
                          </a:solidFill>
                          <a:latin typeface="Times New Roman" panose="02020603050405020304" pitchFamily="18" charset="0"/>
                          <a:cs typeface="Times New Roman" panose="02020603050405020304" pitchFamily="18" charset="0"/>
                        </a:rPr>
                        <a:t>The proposed method</a:t>
                      </a:r>
                      <a:endParaRPr lang="en-US" sz="1400" dirty="0">
                        <a:solidFill>
                          <a:schemeClr val="bg2"/>
                        </a:solidFill>
                        <a:latin typeface="Times New Roman" panose="02020603050405020304" pitchFamily="18" charset="0"/>
                        <a:cs typeface="Times New Roman" panose="02020603050405020304" pitchFamily="18" charset="0"/>
                      </a:endParaRPr>
                    </a:p>
                  </a:txBody>
                  <a:tcPr marL="85347" marR="85347" marT="42674" marB="42674" anchor="ctr"/>
                </a:tc>
                <a:extLst>
                  <a:ext uri="{0D108BD9-81ED-4DB2-BD59-A6C34878D82A}">
                    <a16:rowId xmlns:a16="http://schemas.microsoft.com/office/drawing/2014/main" val="77732369"/>
                  </a:ext>
                </a:extLst>
              </a:tr>
            </a:tbl>
          </a:graphicData>
        </a:graphic>
      </p:graphicFrame>
    </p:spTree>
    <p:extLst>
      <p:ext uri="{BB962C8B-B14F-4D97-AF65-F5344CB8AC3E}">
        <p14:creationId xmlns:p14="http://schemas.microsoft.com/office/powerpoint/2010/main" val="5490220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84293E-A132-45CA-A2D0-2D7113592A6A}"/>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Evaluation – </a:t>
            </a:r>
            <a:r>
              <a:rPr lang="en-US" altLang="zh-TW" sz="1800" b="1" dirty="0">
                <a:latin typeface="Times New Roman" panose="02020603050405020304" pitchFamily="18" charset="0"/>
                <a:cs typeface="Times New Roman" panose="02020603050405020304" pitchFamily="18" charset="0"/>
              </a:rPr>
              <a:t>Agg EPFD and number of closed beams</a:t>
            </a:r>
            <a:endParaRPr lang="zh-TW" altLang="en-US" sz="1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0C8A664-2C37-460F-9F40-776DC59938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pic>
        <p:nvPicPr>
          <p:cNvPr id="9" name="圖片 8">
            <a:extLst>
              <a:ext uri="{FF2B5EF4-FFF2-40B4-BE49-F238E27FC236}">
                <a16:creationId xmlns:a16="http://schemas.microsoft.com/office/drawing/2014/main" id="{486EA03A-B2FD-06E9-7191-24492D0AE53D}"/>
              </a:ext>
            </a:extLst>
          </p:cNvPr>
          <p:cNvPicPr>
            <a:picLocks noChangeAspect="1"/>
          </p:cNvPicPr>
          <p:nvPr/>
        </p:nvPicPr>
        <p:blipFill>
          <a:blip r:embed="rId3"/>
          <a:stretch>
            <a:fillRect/>
          </a:stretch>
        </p:blipFill>
        <p:spPr>
          <a:xfrm>
            <a:off x="-34748" y="1266403"/>
            <a:ext cx="4233157" cy="3612052"/>
          </a:xfrm>
          <a:prstGeom prst="rect">
            <a:avLst/>
          </a:prstGeom>
        </p:spPr>
      </p:pic>
      <p:pic>
        <p:nvPicPr>
          <p:cNvPr id="11" name="圖片 10">
            <a:extLst>
              <a:ext uri="{FF2B5EF4-FFF2-40B4-BE49-F238E27FC236}">
                <a16:creationId xmlns:a16="http://schemas.microsoft.com/office/drawing/2014/main" id="{8D8A4A73-49A8-6EA8-F1B2-7F5F80EBBD73}"/>
              </a:ext>
            </a:extLst>
          </p:cNvPr>
          <p:cNvPicPr>
            <a:picLocks noChangeAspect="1"/>
          </p:cNvPicPr>
          <p:nvPr/>
        </p:nvPicPr>
        <p:blipFill>
          <a:blip r:embed="rId4"/>
          <a:stretch>
            <a:fillRect/>
          </a:stretch>
        </p:blipFill>
        <p:spPr>
          <a:xfrm>
            <a:off x="4330978" y="1266403"/>
            <a:ext cx="4451039" cy="3612053"/>
          </a:xfrm>
          <a:prstGeom prst="rect">
            <a:avLst/>
          </a:prstGeom>
        </p:spPr>
      </p:pic>
    </p:spTree>
    <p:extLst>
      <p:ext uri="{BB962C8B-B14F-4D97-AF65-F5344CB8AC3E}">
        <p14:creationId xmlns:p14="http://schemas.microsoft.com/office/powerpoint/2010/main" val="23316040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84293E-A132-45CA-A2D0-2D7113592A6A}"/>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Evaluation – </a:t>
            </a:r>
            <a:r>
              <a:rPr lang="en-US" altLang="zh-TW" sz="1800" b="1" dirty="0">
                <a:latin typeface="Times New Roman" panose="02020603050405020304" pitchFamily="18" charset="0"/>
                <a:cs typeface="Times New Roman" panose="02020603050405020304" pitchFamily="18" charset="0"/>
              </a:rPr>
              <a:t>Average user satisfaction</a:t>
            </a:r>
            <a:endParaRPr lang="zh-TW" altLang="en-US" sz="1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0C8A664-2C37-460F-9F40-776DC59938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pic>
        <p:nvPicPr>
          <p:cNvPr id="5" name="圖片 4">
            <a:extLst>
              <a:ext uri="{FF2B5EF4-FFF2-40B4-BE49-F238E27FC236}">
                <a16:creationId xmlns:a16="http://schemas.microsoft.com/office/drawing/2014/main" id="{C4645667-B8DE-5302-54F3-49E7AE54E1E0}"/>
              </a:ext>
            </a:extLst>
          </p:cNvPr>
          <p:cNvPicPr>
            <a:picLocks noChangeAspect="1"/>
          </p:cNvPicPr>
          <p:nvPr/>
        </p:nvPicPr>
        <p:blipFill>
          <a:blip r:embed="rId3"/>
          <a:stretch>
            <a:fillRect/>
          </a:stretch>
        </p:blipFill>
        <p:spPr>
          <a:xfrm>
            <a:off x="0" y="1339703"/>
            <a:ext cx="9154269" cy="3040912"/>
          </a:xfrm>
          <a:prstGeom prst="rect">
            <a:avLst/>
          </a:prstGeom>
        </p:spPr>
      </p:pic>
    </p:spTree>
    <p:extLst>
      <p:ext uri="{BB962C8B-B14F-4D97-AF65-F5344CB8AC3E}">
        <p14:creationId xmlns:p14="http://schemas.microsoft.com/office/powerpoint/2010/main" val="41460977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84293E-A132-45CA-A2D0-2D7113592A6A}"/>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Evaluation – </a:t>
            </a:r>
            <a:r>
              <a:rPr lang="en-US" altLang="zh-TW" sz="1800" b="1" dirty="0">
                <a:latin typeface="Times New Roman" panose="02020603050405020304" pitchFamily="18" charset="0"/>
                <a:cs typeface="Times New Roman" panose="02020603050405020304" pitchFamily="18" charset="0"/>
              </a:rPr>
              <a:t>Number of relayed critical users</a:t>
            </a:r>
            <a:endParaRPr lang="zh-TW" altLang="en-US" sz="1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0C8A664-2C37-460F-9F40-776DC59938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pic>
        <p:nvPicPr>
          <p:cNvPr id="5" name="圖片 4">
            <a:extLst>
              <a:ext uri="{FF2B5EF4-FFF2-40B4-BE49-F238E27FC236}">
                <a16:creationId xmlns:a16="http://schemas.microsoft.com/office/drawing/2014/main" id="{E2267DDA-CAD4-1088-52C7-3A03E2B4656C}"/>
              </a:ext>
            </a:extLst>
          </p:cNvPr>
          <p:cNvPicPr>
            <a:picLocks noChangeAspect="1"/>
          </p:cNvPicPr>
          <p:nvPr/>
        </p:nvPicPr>
        <p:blipFill>
          <a:blip r:embed="rId3"/>
          <a:stretch>
            <a:fillRect/>
          </a:stretch>
        </p:blipFill>
        <p:spPr>
          <a:xfrm>
            <a:off x="113380" y="1163542"/>
            <a:ext cx="8917239" cy="3651234"/>
          </a:xfrm>
          <a:prstGeom prst="rect">
            <a:avLst/>
          </a:prstGeom>
        </p:spPr>
      </p:pic>
    </p:spTree>
    <p:extLst>
      <p:ext uri="{BB962C8B-B14F-4D97-AF65-F5344CB8AC3E}">
        <p14:creationId xmlns:p14="http://schemas.microsoft.com/office/powerpoint/2010/main" val="1293335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84293E-A132-45CA-A2D0-2D7113592A6A}"/>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Evaluation – </a:t>
            </a:r>
            <a:r>
              <a:rPr lang="en-US" altLang="zh-TW" sz="1800" b="1" dirty="0">
                <a:latin typeface="Times New Roman" panose="02020603050405020304" pitchFamily="18" charset="0"/>
                <a:cs typeface="Times New Roman" panose="02020603050405020304" pitchFamily="18" charset="0"/>
              </a:rPr>
              <a:t>Satisfaction CDF</a:t>
            </a:r>
            <a:endParaRPr lang="zh-TW" altLang="en-US" sz="1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0C8A664-2C37-460F-9F40-776DC59938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pic>
        <p:nvPicPr>
          <p:cNvPr id="5" name="圖片 4">
            <a:extLst>
              <a:ext uri="{FF2B5EF4-FFF2-40B4-BE49-F238E27FC236}">
                <a16:creationId xmlns:a16="http://schemas.microsoft.com/office/drawing/2014/main" id="{D5AB70F8-F56A-C860-0038-C6E0C70063FF}"/>
              </a:ext>
            </a:extLst>
          </p:cNvPr>
          <p:cNvPicPr>
            <a:picLocks noChangeAspect="1"/>
          </p:cNvPicPr>
          <p:nvPr/>
        </p:nvPicPr>
        <p:blipFill>
          <a:blip r:embed="rId3"/>
          <a:stretch>
            <a:fillRect/>
          </a:stretch>
        </p:blipFill>
        <p:spPr>
          <a:xfrm>
            <a:off x="173665" y="1166535"/>
            <a:ext cx="8796670" cy="3648240"/>
          </a:xfrm>
          <a:prstGeom prst="rect">
            <a:avLst/>
          </a:prstGeom>
        </p:spPr>
      </p:pic>
    </p:spTree>
    <p:extLst>
      <p:ext uri="{BB962C8B-B14F-4D97-AF65-F5344CB8AC3E}">
        <p14:creationId xmlns:p14="http://schemas.microsoft.com/office/powerpoint/2010/main" val="12969574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84293E-A132-45CA-A2D0-2D7113592A6A}"/>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Evaluation – </a:t>
            </a:r>
            <a:r>
              <a:rPr lang="en-US" altLang="zh-TW" sz="1800" b="1" dirty="0">
                <a:latin typeface="Times New Roman" panose="02020603050405020304" pitchFamily="18" charset="0"/>
                <a:cs typeface="Times New Roman" panose="02020603050405020304" pitchFamily="18" charset="0"/>
              </a:rPr>
              <a:t>Different EPFD limit</a:t>
            </a:r>
            <a:endParaRPr lang="zh-TW" altLang="en-US" sz="1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0C8A664-2C37-460F-9F40-776DC59938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pic>
        <p:nvPicPr>
          <p:cNvPr id="5" name="圖片 4">
            <a:extLst>
              <a:ext uri="{FF2B5EF4-FFF2-40B4-BE49-F238E27FC236}">
                <a16:creationId xmlns:a16="http://schemas.microsoft.com/office/drawing/2014/main" id="{CB4515BD-CA8A-1469-4428-8EE732EA38BD}"/>
              </a:ext>
            </a:extLst>
          </p:cNvPr>
          <p:cNvPicPr>
            <a:picLocks noChangeAspect="1"/>
          </p:cNvPicPr>
          <p:nvPr/>
        </p:nvPicPr>
        <p:blipFill>
          <a:blip r:embed="rId3"/>
          <a:stretch>
            <a:fillRect/>
          </a:stretch>
        </p:blipFill>
        <p:spPr>
          <a:xfrm>
            <a:off x="2185563" y="1156613"/>
            <a:ext cx="4772873" cy="3986887"/>
          </a:xfrm>
          <a:prstGeom prst="rect">
            <a:avLst/>
          </a:prstGeom>
        </p:spPr>
      </p:pic>
    </p:spTree>
    <p:extLst>
      <p:ext uri="{BB962C8B-B14F-4D97-AF65-F5344CB8AC3E}">
        <p14:creationId xmlns:p14="http://schemas.microsoft.com/office/powerpoint/2010/main" val="5825364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8B2867-9247-4ABA-9EEB-05198CDD9377}"/>
              </a:ext>
            </a:extLst>
          </p:cNvPr>
          <p:cNvSpPr>
            <a:spLocks noGrp="1"/>
          </p:cNvSpPr>
          <p:nvPr>
            <p:ph type="title"/>
          </p:nvPr>
        </p:nvSpPr>
        <p:spPr/>
        <p:txBody>
          <a:bodyPr/>
          <a:lstStyle/>
          <a:p>
            <a:r>
              <a:rPr lang="en" altLang="zh-TW" sz="2800" b="1" dirty="0">
                <a:latin typeface="Times New Roman"/>
                <a:ea typeface="Times New Roman"/>
                <a:cs typeface="Times New Roman"/>
                <a:sym typeface="Times New Roman"/>
              </a:rPr>
              <a:t>Conclusion</a:t>
            </a:r>
            <a:endParaRPr lang="zh-TW" altLang="en-US" dirty="0"/>
          </a:p>
        </p:txBody>
      </p:sp>
      <p:sp>
        <p:nvSpPr>
          <p:cNvPr id="3" name="投影片編號版面配置區 2">
            <a:extLst>
              <a:ext uri="{FF2B5EF4-FFF2-40B4-BE49-F238E27FC236}">
                <a16:creationId xmlns:a16="http://schemas.microsoft.com/office/drawing/2014/main" id="{E1C0AA47-1530-492D-AA94-A9B64B2E81A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sp>
        <p:nvSpPr>
          <p:cNvPr id="4" name="內容版面配置區 3">
            <a:extLst>
              <a:ext uri="{FF2B5EF4-FFF2-40B4-BE49-F238E27FC236}">
                <a16:creationId xmlns:a16="http://schemas.microsoft.com/office/drawing/2014/main" id="{77187FA4-9CC1-47F6-894A-E9B984973A1B}"/>
              </a:ext>
            </a:extLst>
          </p:cNvPr>
          <p:cNvSpPr>
            <a:spLocks noGrp="1"/>
          </p:cNvSpPr>
          <p:nvPr>
            <p:ph idx="1"/>
          </p:nvPr>
        </p:nvSpPr>
        <p:spPr/>
        <p:txBody>
          <a:bodyPr/>
          <a:lstStyle/>
          <a:p>
            <a:pPr>
              <a:lnSpc>
                <a:spcPts val="2500"/>
              </a:lnSpc>
              <a:spcAft>
                <a:spcPts val="600"/>
              </a:spcAft>
            </a:pPr>
            <a:r>
              <a:rPr lang="en-US" sz="1800" dirty="0">
                <a:latin typeface="Times New Roman" panose="02020603050405020304" pitchFamily="18" charset="0"/>
                <a:cs typeface="Times New Roman" panose="02020603050405020304" pitchFamily="18" charset="0"/>
              </a:rPr>
              <a:t>This thesis proposed EPFD-Aware Beam Reassociation</a:t>
            </a:r>
            <a:r>
              <a:rPr lang="en-US" altLang="zh-TW" sz="1800" dirty="0">
                <a:latin typeface="Times New Roman" panose="02020603050405020304" pitchFamily="18" charset="0"/>
                <a:cs typeface="Times New Roman" panose="02020603050405020304" pitchFamily="18" charset="0"/>
              </a:rPr>
              <a:t>(EABR)</a:t>
            </a:r>
            <a:r>
              <a:rPr lang="en-US" sz="1800" dirty="0">
                <a:latin typeface="Times New Roman" panose="02020603050405020304" pitchFamily="18" charset="0"/>
                <a:cs typeface="Times New Roman" panose="02020603050405020304" pitchFamily="18" charset="0"/>
              </a:rPr>
              <a:t> for Service Recovery, a service recovery framework for multi-beam LEO satellite systems under NGSO–GSO coexistence. </a:t>
            </a:r>
          </a:p>
          <a:p>
            <a:pPr>
              <a:lnSpc>
                <a:spcPts val="2500"/>
              </a:lnSpc>
              <a:spcAft>
                <a:spcPts val="600"/>
              </a:spcAft>
            </a:pPr>
            <a:r>
              <a:rPr lang="en-US" sz="1800" dirty="0">
                <a:latin typeface="Times New Roman" panose="02020603050405020304" pitchFamily="18" charset="0"/>
                <a:cs typeface="Times New Roman" panose="02020603050405020304" pitchFamily="18" charset="0"/>
              </a:rPr>
              <a:t>The proposed framework uses time-slot beam role records, safe-beam reassociation, released power allocation</a:t>
            </a:r>
            <a:r>
              <a:rPr lang="en-US" altLang="zh-TW" sz="1800" dirty="0">
                <a:latin typeface="Times New Roman" panose="02020603050405020304" pitchFamily="18" charset="0"/>
                <a:cs typeface="Times New Roman" panose="02020603050405020304" pitchFamily="18" charset="0"/>
              </a:rPr>
              <a:t>(SBA)</a:t>
            </a:r>
            <a:r>
              <a:rPr lang="zh-TW" alt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and helper-beam reassociation</a:t>
            </a:r>
            <a:r>
              <a:rPr lang="en-US" altLang="zh-TW" sz="1800" dirty="0">
                <a:latin typeface="Times New Roman" panose="02020603050405020304" pitchFamily="18" charset="0"/>
                <a:cs typeface="Times New Roman" panose="02020603050405020304" pitchFamily="18" charset="0"/>
              </a:rPr>
              <a:t>(HBA)</a:t>
            </a:r>
            <a:r>
              <a:rPr lang="en-US" sz="1800" dirty="0">
                <a:latin typeface="Times New Roman" panose="02020603050405020304" pitchFamily="18" charset="0"/>
                <a:cs typeface="Times New Roman" panose="02020603050405020304" pitchFamily="18" charset="0"/>
              </a:rPr>
              <a:t> to recover users affected by beam shutdown.</a:t>
            </a:r>
          </a:p>
          <a:p>
            <a:pPr>
              <a:lnSpc>
                <a:spcPts val="2500"/>
              </a:lnSpc>
              <a:spcAft>
                <a:spcPts val="600"/>
              </a:spcAft>
            </a:pPr>
            <a:r>
              <a:rPr lang="en-US" sz="1800" dirty="0">
                <a:latin typeface="Times New Roman" panose="02020603050405020304" pitchFamily="18" charset="0"/>
                <a:cs typeface="Times New Roman" panose="02020603050405020304" pitchFamily="18" charset="0"/>
              </a:rPr>
              <a:t>Simulation results show that the proposed framework keeps the aggregate EPFD below the required limit and achieves higher user satisfaction than baseline methods.</a:t>
            </a:r>
          </a:p>
        </p:txBody>
      </p:sp>
    </p:spTree>
    <p:extLst>
      <p:ext uri="{BB962C8B-B14F-4D97-AF65-F5344CB8AC3E}">
        <p14:creationId xmlns:p14="http://schemas.microsoft.com/office/powerpoint/2010/main" val="652052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945"/>
        <p:cNvGrpSpPr/>
        <p:nvPr/>
      </p:nvGrpSpPr>
      <p:grpSpPr>
        <a:xfrm>
          <a:off x="0" y="0"/>
          <a:ext cx="0" cy="0"/>
          <a:chOff x="0" y="0"/>
          <a:chExt cx="0" cy="0"/>
        </a:xfrm>
      </p:grpSpPr>
      <p:sp>
        <p:nvSpPr>
          <p:cNvPr id="1946" name="Google Shape;1946;p82"/>
          <p:cNvSpPr txBox="1"/>
          <p:nvPr/>
        </p:nvSpPr>
        <p:spPr>
          <a:xfrm>
            <a:off x="457200" y="909825"/>
            <a:ext cx="8229600" cy="3584700"/>
          </a:xfrm>
          <a:prstGeom prst="rect">
            <a:avLst/>
          </a:prstGeom>
          <a:noFill/>
          <a:ln>
            <a:noFill/>
          </a:ln>
        </p:spPr>
        <p:txBody>
          <a:bodyPr spcFirstLastPara="1" wrap="square" lIns="91425" tIns="45700" rIns="91425" bIns="45700" anchor="ctr" anchorCtr="0">
            <a:normAutofit/>
          </a:bodyPr>
          <a:lstStyle/>
          <a:p>
            <a:pPr marL="0" lvl="0" indent="0" algn="ctr" rtl="0">
              <a:lnSpc>
                <a:spcPct val="115000"/>
              </a:lnSpc>
              <a:spcBef>
                <a:spcPts val="480"/>
              </a:spcBef>
              <a:spcAft>
                <a:spcPts val="0"/>
              </a:spcAft>
              <a:buNone/>
            </a:pPr>
            <a:r>
              <a:rPr lang="en" sz="3000" b="1">
                <a:solidFill>
                  <a:schemeClr val="dk1"/>
                </a:solidFill>
                <a:latin typeface="Times New Roman"/>
                <a:ea typeface="Times New Roman"/>
                <a:cs typeface="Times New Roman"/>
                <a:sym typeface="Times New Roman"/>
              </a:rPr>
              <a:t>Thank you for listening.</a:t>
            </a:r>
            <a:endParaRPr sz="3000" b="1">
              <a:solidFill>
                <a:schemeClr val="dk1"/>
              </a:solidFill>
              <a:latin typeface="Times New Roman"/>
              <a:ea typeface="Times New Roman"/>
              <a:cs typeface="Times New Roman"/>
              <a:sym typeface="Times New Roman"/>
            </a:endParaRPr>
          </a:p>
        </p:txBody>
      </p:sp>
      <p:sp>
        <p:nvSpPr>
          <p:cNvPr id="1947" name="Google Shape;1947;p8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300">
                <a:latin typeface="Barlow"/>
                <a:ea typeface="Barlow"/>
                <a:cs typeface="Barlow"/>
                <a:sym typeface="Barlow"/>
              </a:rPr>
              <a:t>32</a:t>
            </a:fld>
            <a:endParaRPr sz="1300">
              <a:latin typeface="Barlow"/>
              <a:ea typeface="Barlow"/>
              <a:cs typeface="Barlow"/>
              <a:sym typeface="Barlow"/>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6B57C9-51AC-43BD-82AE-69B7142BA982}"/>
              </a:ext>
            </a:extLst>
          </p:cNvPr>
          <p:cNvSpPr>
            <a:spLocks noGrp="1"/>
          </p:cNvSpPr>
          <p:nvPr>
            <p:ph type="title"/>
          </p:nvPr>
        </p:nvSpPr>
        <p:spPr/>
        <p:txBody>
          <a:bodyPr/>
          <a:lstStyle/>
          <a:p>
            <a:r>
              <a:rPr lang="en-US" altLang="zh-TW" b="1" dirty="0">
                <a:latin typeface="Times New Roman"/>
                <a:ea typeface="Times New Roman"/>
                <a:cs typeface="Times New Roman"/>
                <a:sym typeface="Times New Roman"/>
              </a:rPr>
              <a:t>Related Work</a:t>
            </a:r>
            <a:r>
              <a:rPr lang="en-US" altLang="zh-TW" sz="3200" b="1" dirty="0">
                <a:latin typeface="Times New Roman"/>
                <a:cs typeface="Times New Roman"/>
              </a:rPr>
              <a:t> – </a:t>
            </a:r>
            <a:r>
              <a:rPr lang="vi-VN" sz="1800" dirty="0">
                <a:latin typeface="+mj-lt"/>
              </a:rPr>
              <a:t>Progressive Pitch Strategy</a:t>
            </a:r>
            <a:endParaRPr lang="zh-TW" altLang="en-US" dirty="0">
              <a:latin typeface="+mj-lt"/>
            </a:endParaRPr>
          </a:p>
        </p:txBody>
      </p:sp>
      <p:sp>
        <p:nvSpPr>
          <p:cNvPr id="3" name="投影片編號版面配置區 2">
            <a:extLst>
              <a:ext uri="{FF2B5EF4-FFF2-40B4-BE49-F238E27FC236}">
                <a16:creationId xmlns:a16="http://schemas.microsoft.com/office/drawing/2014/main" id="{A5551F21-CEEB-4AAB-B00D-B0DB021DB93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
        <p:nvSpPr>
          <p:cNvPr id="4" name="內容版面配置區 3">
            <a:extLst>
              <a:ext uri="{FF2B5EF4-FFF2-40B4-BE49-F238E27FC236}">
                <a16:creationId xmlns:a16="http://schemas.microsoft.com/office/drawing/2014/main" id="{F7857F25-D8DE-48EA-8035-97DB2E875552}"/>
              </a:ext>
            </a:extLst>
          </p:cNvPr>
          <p:cNvSpPr>
            <a:spLocks noGrp="1"/>
          </p:cNvSpPr>
          <p:nvPr>
            <p:ph idx="1"/>
          </p:nvPr>
        </p:nvSpPr>
        <p:spPr>
          <a:xfrm>
            <a:off x="311700" y="1398375"/>
            <a:ext cx="8520600" cy="3416400"/>
          </a:xfrm>
        </p:spPr>
        <p:txBody>
          <a:bodyPr/>
          <a:lstStyle/>
          <a:p>
            <a:pPr>
              <a:spcAft>
                <a:spcPts val="600"/>
              </a:spcAft>
              <a:buSzPct val="60000"/>
              <a:buFont typeface="Wingdings" panose="05000000000000000000" pitchFamily="2" charset="2"/>
              <a:buChar char="l"/>
            </a:pPr>
            <a:r>
              <a:rPr lang="vi-VN" sz="1800" b="1" dirty="0">
                <a:latin typeface="+mj-lt"/>
              </a:rPr>
              <a:t>Progressive Pitch Strategy</a:t>
            </a:r>
            <a:endParaRPr lang="en-US" sz="1800" dirty="0">
              <a:latin typeface="+mj-lt"/>
              <a:cs typeface="Times New Roman" panose="02020603050405020304" pitchFamily="18" charset="0"/>
            </a:endParaRPr>
          </a:p>
          <a:p>
            <a:pPr lvl="1">
              <a:spcAft>
                <a:spcPts val="600"/>
              </a:spcAft>
              <a:buSzPct val="6000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Adjusts satellite attitude to increase angular separation from GSO links.</a:t>
            </a:r>
          </a:p>
          <a:p>
            <a:pPr lvl="1">
              <a:spcAft>
                <a:spcPts val="600"/>
              </a:spcAft>
              <a:buSzPct val="6000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Combine attitude tilting with partial beam shutdown for interference avoidance.</a:t>
            </a:r>
          </a:p>
          <a:p>
            <a:pPr lvl="1">
              <a:spcAft>
                <a:spcPts val="600"/>
              </a:spcAft>
              <a:buSzPct val="6000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However, blind service areas may appear when beams are shut down or adjacent coverage becomes insufficient.</a:t>
            </a:r>
            <a:endParaRPr lang="en-US" altLang="zh-TW" sz="18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E2719EE0-FA75-41AD-A872-0F597693591D}"/>
              </a:ext>
            </a:extLst>
          </p:cNvPr>
          <p:cNvSpPr txBox="1"/>
          <p:nvPr/>
        </p:nvSpPr>
        <p:spPr>
          <a:xfrm>
            <a:off x="-62381" y="4717125"/>
            <a:ext cx="6117380" cy="430887"/>
          </a:xfrm>
          <a:prstGeom prst="rect">
            <a:avLst/>
          </a:prstGeom>
          <a:noFill/>
        </p:spPr>
        <p:txBody>
          <a:bodyPr wrap="none" rtlCol="0">
            <a:spAutoFit/>
          </a:bodyPr>
          <a:lstStyle/>
          <a:p>
            <a:r>
              <a:rPr lang="en-US" altLang="zh-TW" sz="1100" i="1" dirty="0">
                <a:latin typeface="Times New Roman" panose="02020603050405020304" pitchFamily="18" charset="0"/>
                <a:cs typeface="Times New Roman" panose="02020603050405020304" pitchFamily="18" charset="0"/>
              </a:rPr>
              <a:t> </a:t>
            </a:r>
            <a:r>
              <a:rPr lang="en-US" sz="1100" i="1" dirty="0">
                <a:latin typeface="Times New Roman" panose="02020603050405020304" pitchFamily="18" charset="0"/>
                <a:cs typeface="Times New Roman" panose="02020603050405020304" pitchFamily="18" charset="0"/>
              </a:rPr>
              <a:t>Research on interference avoidance effect of OneWeb satellite constellation's progressive pitch strategy</a:t>
            </a:r>
            <a:r>
              <a:rPr lang="en-US" altLang="zh-TW" sz="1100" i="1" dirty="0">
                <a:latin typeface="Times New Roman" panose="02020603050405020304" pitchFamily="18" charset="0"/>
                <a:cs typeface="Times New Roman" panose="02020603050405020304" pitchFamily="18" charset="0"/>
              </a:rPr>
              <a:t>, </a:t>
            </a:r>
          </a:p>
          <a:p>
            <a:r>
              <a:rPr lang="en-US" altLang="zh-TW" sz="1100" i="1" dirty="0">
                <a:latin typeface="Times New Roman" panose="02020603050405020304" pitchFamily="18" charset="0"/>
                <a:cs typeface="Times New Roman" panose="02020603050405020304" pitchFamily="18" charset="0"/>
              </a:rPr>
              <a:t>(2021, </a:t>
            </a:r>
            <a:r>
              <a:rPr lang="en-US" sz="1100" i="1" dirty="0">
                <a:latin typeface="Times New Roman" panose="02020603050405020304" pitchFamily="18" charset="0"/>
                <a:cs typeface="Times New Roman" panose="02020603050405020304" pitchFamily="18" charset="0"/>
              </a:rPr>
              <a:t>International Journal of Satellite Communications and Networking</a:t>
            </a:r>
            <a:r>
              <a:rPr lang="en-US" altLang="zh-TW" sz="1100" i="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25303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4EB9D07-EA6C-1AEF-3B0A-E7334263297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97BC8D0-88A9-3EA5-597D-0CCC33B4CD35}"/>
              </a:ext>
            </a:extLst>
          </p:cNvPr>
          <p:cNvSpPr>
            <a:spLocks noGrp="1"/>
          </p:cNvSpPr>
          <p:nvPr>
            <p:ph type="title"/>
          </p:nvPr>
        </p:nvSpPr>
        <p:spPr/>
        <p:txBody>
          <a:bodyPr/>
          <a:lstStyle/>
          <a:p>
            <a:r>
              <a:rPr lang="en-US" altLang="zh-TW" b="1" dirty="0">
                <a:latin typeface="Times New Roman"/>
                <a:ea typeface="Times New Roman"/>
                <a:cs typeface="Times New Roman"/>
                <a:sym typeface="Times New Roman"/>
              </a:rPr>
              <a:t>Related Work</a:t>
            </a:r>
            <a:r>
              <a:rPr lang="en-US" altLang="zh-TW" sz="3200" b="1" dirty="0">
                <a:latin typeface="Times New Roman"/>
                <a:cs typeface="Times New Roman"/>
              </a:rPr>
              <a:t> – </a:t>
            </a:r>
            <a:r>
              <a:rPr lang="en-US" altLang="zh-TW" sz="1800" dirty="0">
                <a:latin typeface="+mj-lt"/>
              </a:rPr>
              <a:t>Joint Power and Tilt Control</a:t>
            </a:r>
            <a:endParaRPr lang="zh-TW" altLang="en-US" dirty="0">
              <a:latin typeface="+mj-lt"/>
            </a:endParaRPr>
          </a:p>
        </p:txBody>
      </p:sp>
      <p:sp>
        <p:nvSpPr>
          <p:cNvPr id="3" name="投影片編號版面配置區 2">
            <a:extLst>
              <a:ext uri="{FF2B5EF4-FFF2-40B4-BE49-F238E27FC236}">
                <a16:creationId xmlns:a16="http://schemas.microsoft.com/office/drawing/2014/main" id="{894459C1-44F5-5910-3B7B-E0A71BA1AF6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sp>
        <p:nvSpPr>
          <p:cNvPr id="4" name="內容版面配置區 3">
            <a:extLst>
              <a:ext uri="{FF2B5EF4-FFF2-40B4-BE49-F238E27FC236}">
                <a16:creationId xmlns:a16="http://schemas.microsoft.com/office/drawing/2014/main" id="{BA634AE2-D637-3216-0DFA-BC6E89219E21}"/>
              </a:ext>
            </a:extLst>
          </p:cNvPr>
          <p:cNvSpPr>
            <a:spLocks noGrp="1"/>
          </p:cNvSpPr>
          <p:nvPr>
            <p:ph idx="1"/>
          </p:nvPr>
        </p:nvSpPr>
        <p:spPr>
          <a:xfrm>
            <a:off x="311700" y="1398375"/>
            <a:ext cx="8520600" cy="3416400"/>
          </a:xfrm>
        </p:spPr>
        <p:txBody>
          <a:bodyPr/>
          <a:lstStyle/>
          <a:p>
            <a:pPr>
              <a:spcAft>
                <a:spcPts val="600"/>
              </a:spcAft>
              <a:buSzPct val="60000"/>
              <a:buFont typeface="Wingdings" panose="05000000000000000000" pitchFamily="2" charset="2"/>
              <a:buChar char="l"/>
            </a:pPr>
            <a:r>
              <a:rPr lang="en-US" sz="1800" b="1" dirty="0">
                <a:latin typeface="Times New Roman" panose="02020603050405020304" pitchFamily="18" charset="0"/>
                <a:cs typeface="Times New Roman" panose="02020603050405020304" pitchFamily="18" charset="0"/>
              </a:rPr>
              <a:t>Joint Power and Tilt Control</a:t>
            </a:r>
          </a:p>
          <a:p>
            <a:pPr lvl="1">
              <a:spcAft>
                <a:spcPts val="600"/>
              </a:spcAft>
              <a:buSzPct val="60000"/>
              <a:buFont typeface="Wingdings" panose="05000000000000000000" pitchFamily="2" charset="2"/>
              <a:buChar char="§"/>
            </a:pPr>
            <a:r>
              <a:rPr lang="vi-VN" sz="1800" dirty="0">
                <a:latin typeface="+mj-lt"/>
              </a:rPr>
              <a:t>Optimizes NGSO transmit power and satellite tilt angle.</a:t>
            </a:r>
            <a:endParaRPr lang="en-US" sz="1800" dirty="0">
              <a:latin typeface="+mj-lt"/>
            </a:endParaRPr>
          </a:p>
          <a:p>
            <a:pPr lvl="1">
              <a:spcAft>
                <a:spcPts val="600"/>
              </a:spcAft>
              <a:buSzPct val="6000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Satisfy EPFD limits while improving user demand satisfaction. </a:t>
            </a:r>
          </a:p>
          <a:p>
            <a:pPr lvl="1">
              <a:spcAft>
                <a:spcPts val="600"/>
              </a:spcAft>
              <a:buSzPct val="60000"/>
              <a:buFont typeface="Wingdings" panose="05000000000000000000" pitchFamily="2" charset="2"/>
              <a:buChar char="§"/>
            </a:pPr>
            <a:r>
              <a:rPr lang="vi-VN" sz="1800" dirty="0">
                <a:latin typeface="+mj-lt"/>
              </a:rPr>
              <a:t>Avoids direct beam shutdown, </a:t>
            </a:r>
            <a:r>
              <a:rPr lang="en-US" sz="1800" dirty="0">
                <a:latin typeface="Times New Roman" panose="02020603050405020304" pitchFamily="18" charset="0"/>
                <a:cs typeface="Times New Roman" panose="02020603050405020304" pitchFamily="18" charset="0"/>
              </a:rPr>
              <a:t>but reduced transmit power may still limit LEO user satisfaction.</a:t>
            </a:r>
            <a:endParaRPr lang="en-US" altLang="zh-TW" sz="18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20C4A60D-F73B-837A-FCCC-CF414C56B70A}"/>
              </a:ext>
            </a:extLst>
          </p:cNvPr>
          <p:cNvSpPr txBox="1"/>
          <p:nvPr/>
        </p:nvSpPr>
        <p:spPr>
          <a:xfrm>
            <a:off x="-62381" y="4717125"/>
            <a:ext cx="5612434" cy="430887"/>
          </a:xfrm>
          <a:prstGeom prst="rect">
            <a:avLst/>
          </a:prstGeom>
          <a:noFill/>
        </p:spPr>
        <p:txBody>
          <a:bodyPr wrap="none" rtlCol="0">
            <a:spAutoFit/>
          </a:bodyPr>
          <a:lstStyle/>
          <a:p>
            <a:r>
              <a:rPr lang="en-US" altLang="zh-TW" sz="1100" i="1" dirty="0">
                <a:latin typeface="Times New Roman" panose="02020603050405020304" pitchFamily="18" charset="0"/>
                <a:cs typeface="Times New Roman" panose="02020603050405020304" pitchFamily="18" charset="0"/>
              </a:rPr>
              <a:t> </a:t>
            </a:r>
            <a:r>
              <a:rPr lang="en-US" sz="1100" i="1" dirty="0">
                <a:latin typeface="Times New Roman" panose="02020603050405020304" pitchFamily="18" charset="0"/>
                <a:cs typeface="Times New Roman" panose="02020603050405020304" pitchFamily="18" charset="0"/>
              </a:rPr>
              <a:t>Joint Power and Tilt Control in Satellite Constellation for NGSO-GSO Interference Mitigation</a:t>
            </a:r>
            <a:r>
              <a:rPr lang="en-US" altLang="zh-TW" sz="1100" i="1" dirty="0">
                <a:latin typeface="Times New Roman" panose="02020603050405020304" pitchFamily="18" charset="0"/>
                <a:cs typeface="Times New Roman" panose="02020603050405020304" pitchFamily="18" charset="0"/>
              </a:rPr>
              <a:t>, </a:t>
            </a:r>
          </a:p>
          <a:p>
            <a:r>
              <a:rPr lang="en-US" altLang="zh-TW" sz="1100" i="1" dirty="0">
                <a:latin typeface="Times New Roman" panose="02020603050405020304" pitchFamily="18" charset="0"/>
                <a:cs typeface="Times New Roman" panose="02020603050405020304" pitchFamily="18" charset="0"/>
              </a:rPr>
              <a:t>(2023, </a:t>
            </a:r>
            <a:r>
              <a:rPr lang="en-US" sz="1100" i="1" dirty="0">
                <a:latin typeface="Times New Roman" panose="02020603050405020304" pitchFamily="18" charset="0"/>
                <a:cs typeface="Times New Roman" panose="02020603050405020304" pitchFamily="18" charset="0"/>
              </a:rPr>
              <a:t>IEEE </a:t>
            </a:r>
            <a:r>
              <a:rPr lang="en-US" altLang="zh-TW" sz="1100" i="1" dirty="0">
                <a:latin typeface="Times New Roman" panose="02020603050405020304" pitchFamily="18" charset="0"/>
                <a:cs typeface="Times New Roman" panose="02020603050405020304" pitchFamily="18" charset="0"/>
              </a:rPr>
              <a:t>Communications)</a:t>
            </a:r>
          </a:p>
        </p:txBody>
      </p:sp>
    </p:spTree>
    <p:extLst>
      <p:ext uri="{BB962C8B-B14F-4D97-AF65-F5344CB8AC3E}">
        <p14:creationId xmlns:p14="http://schemas.microsoft.com/office/powerpoint/2010/main" val="35707506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4A5BE38-D0E2-3A83-3DEF-0397ECAF323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19DC05F-B00C-0D87-1004-B0553DBC02BD}"/>
              </a:ext>
            </a:extLst>
          </p:cNvPr>
          <p:cNvSpPr>
            <a:spLocks noGrp="1"/>
          </p:cNvSpPr>
          <p:nvPr>
            <p:ph type="title"/>
          </p:nvPr>
        </p:nvSpPr>
        <p:spPr/>
        <p:txBody>
          <a:bodyPr/>
          <a:lstStyle/>
          <a:p>
            <a:r>
              <a:rPr lang="en-US" altLang="zh-TW" b="1" dirty="0">
                <a:latin typeface="Times New Roman"/>
                <a:ea typeface="Times New Roman"/>
                <a:cs typeface="Times New Roman"/>
                <a:sym typeface="Times New Roman"/>
              </a:rPr>
              <a:t>Related Work</a:t>
            </a:r>
            <a:r>
              <a:rPr lang="en-US" altLang="zh-TW" sz="3200" b="1" dirty="0">
                <a:latin typeface="Times New Roman"/>
                <a:cs typeface="Times New Roman"/>
              </a:rPr>
              <a:t> – </a:t>
            </a:r>
            <a:r>
              <a:rPr lang="en-US" altLang="zh-TW" sz="1800" dirty="0">
                <a:latin typeface="+mj-lt"/>
              </a:rPr>
              <a:t>Beamforming</a:t>
            </a:r>
            <a:endParaRPr lang="zh-TW" altLang="en-US" dirty="0">
              <a:latin typeface="+mj-lt"/>
            </a:endParaRPr>
          </a:p>
        </p:txBody>
      </p:sp>
      <p:sp>
        <p:nvSpPr>
          <p:cNvPr id="3" name="投影片編號版面配置區 2">
            <a:extLst>
              <a:ext uri="{FF2B5EF4-FFF2-40B4-BE49-F238E27FC236}">
                <a16:creationId xmlns:a16="http://schemas.microsoft.com/office/drawing/2014/main" id="{AA90233D-5641-FEDB-94A7-71A1E27EC5B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35</a:t>
            </a:fld>
            <a:endParaRPr lang="en"/>
          </a:p>
        </p:txBody>
      </p:sp>
      <p:sp>
        <p:nvSpPr>
          <p:cNvPr id="4" name="內容版面配置區 3">
            <a:extLst>
              <a:ext uri="{FF2B5EF4-FFF2-40B4-BE49-F238E27FC236}">
                <a16:creationId xmlns:a16="http://schemas.microsoft.com/office/drawing/2014/main" id="{78BDC04F-5696-37E1-5930-099E96F8E3AF}"/>
              </a:ext>
            </a:extLst>
          </p:cNvPr>
          <p:cNvSpPr>
            <a:spLocks noGrp="1"/>
          </p:cNvSpPr>
          <p:nvPr>
            <p:ph idx="1"/>
          </p:nvPr>
        </p:nvSpPr>
        <p:spPr>
          <a:xfrm>
            <a:off x="311700" y="1398375"/>
            <a:ext cx="8520600" cy="3416400"/>
          </a:xfrm>
        </p:spPr>
        <p:txBody>
          <a:bodyPr/>
          <a:lstStyle/>
          <a:p>
            <a:pPr>
              <a:spcAft>
                <a:spcPts val="600"/>
              </a:spcAft>
              <a:buSzPct val="60000"/>
              <a:buFont typeface="Wingdings" panose="05000000000000000000" pitchFamily="2" charset="2"/>
              <a:buChar char="l"/>
            </a:pPr>
            <a:r>
              <a:rPr lang="en-US" altLang="zh-TW" sz="1800" b="1" dirty="0">
                <a:latin typeface="Times New Roman" panose="02020603050405020304" pitchFamily="18" charset="0"/>
                <a:cs typeface="Times New Roman" panose="02020603050405020304" pitchFamily="18" charset="0"/>
              </a:rPr>
              <a:t>Beamforming</a:t>
            </a:r>
            <a:r>
              <a:rPr lang="en-US" altLang="zh-TW" sz="1800" dirty="0">
                <a:latin typeface="Times New Roman" panose="02020603050405020304" pitchFamily="18" charset="0"/>
                <a:cs typeface="Times New Roman" panose="02020603050405020304" pitchFamily="18" charset="0"/>
              </a:rPr>
              <a:t> </a:t>
            </a:r>
          </a:p>
          <a:p>
            <a:pPr lvl="1">
              <a:spcAft>
                <a:spcPts val="600"/>
              </a:spcAft>
              <a:buSzPct val="6000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Shape or redirect beams to reduce interference toward GSO systems.</a:t>
            </a:r>
          </a:p>
          <a:p>
            <a:pPr lvl="1">
              <a:spcAft>
                <a:spcPts val="600"/>
              </a:spcAft>
              <a:buSzPct val="6000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Can suppress interference without directly shutting down beams.</a:t>
            </a:r>
          </a:p>
          <a:p>
            <a:pPr lvl="1">
              <a:spcAft>
                <a:spcPts val="600"/>
              </a:spcAft>
              <a:buSzPct val="6000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Requires adaptive antenna or beamforming capability.</a:t>
            </a:r>
          </a:p>
          <a:p>
            <a:pPr lvl="1">
              <a:spcAft>
                <a:spcPts val="600"/>
              </a:spcAft>
              <a:buSzPct val="6000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Less aligned with fixed multi-beam footprint scenarios.</a:t>
            </a:r>
            <a:endParaRPr lang="en-US" altLang="zh-TW" sz="18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A923639A-28BB-4540-401D-D56057BF975E}"/>
              </a:ext>
            </a:extLst>
          </p:cNvPr>
          <p:cNvSpPr txBox="1"/>
          <p:nvPr/>
        </p:nvSpPr>
        <p:spPr>
          <a:xfrm>
            <a:off x="-62381" y="4717125"/>
            <a:ext cx="7697941" cy="430887"/>
          </a:xfrm>
          <a:prstGeom prst="rect">
            <a:avLst/>
          </a:prstGeom>
          <a:noFill/>
        </p:spPr>
        <p:txBody>
          <a:bodyPr wrap="none" rtlCol="0">
            <a:spAutoFit/>
          </a:bodyPr>
          <a:lstStyle/>
          <a:p>
            <a:r>
              <a:rPr lang="en-US" altLang="zh-TW" sz="1100" i="1" dirty="0">
                <a:latin typeface="Times New Roman" panose="02020603050405020304" pitchFamily="18" charset="0"/>
                <a:cs typeface="Times New Roman" panose="02020603050405020304" pitchFamily="18" charset="0"/>
              </a:rPr>
              <a:t> </a:t>
            </a:r>
            <a:r>
              <a:rPr lang="en-US" sz="1100" i="1" dirty="0">
                <a:latin typeface="Times New Roman" panose="02020603050405020304" pitchFamily="18" charset="0"/>
                <a:cs typeface="Times New Roman" panose="02020603050405020304" pitchFamily="18" charset="0"/>
              </a:rPr>
              <a:t>NGSO Satellites Beam Hopping Strategy Based on Load Balancing and Interference Avoidance for Coexistence With GSO Systems</a:t>
            </a:r>
            <a:r>
              <a:rPr lang="en-US" altLang="zh-TW" sz="1100" i="1" dirty="0">
                <a:latin typeface="Times New Roman" panose="02020603050405020304" pitchFamily="18" charset="0"/>
                <a:cs typeface="Times New Roman" panose="02020603050405020304" pitchFamily="18" charset="0"/>
              </a:rPr>
              <a:t>, </a:t>
            </a:r>
          </a:p>
          <a:p>
            <a:r>
              <a:rPr lang="en-US" altLang="zh-TW" sz="1100" i="1" dirty="0">
                <a:latin typeface="Times New Roman" panose="02020603050405020304" pitchFamily="18" charset="0"/>
                <a:cs typeface="Times New Roman" panose="02020603050405020304" pitchFamily="18" charset="0"/>
              </a:rPr>
              <a:t>(2023, </a:t>
            </a:r>
            <a:r>
              <a:rPr lang="en-US" sz="1100" i="1" dirty="0">
                <a:latin typeface="Times New Roman" panose="02020603050405020304" pitchFamily="18" charset="0"/>
                <a:cs typeface="Times New Roman" panose="02020603050405020304" pitchFamily="18" charset="0"/>
              </a:rPr>
              <a:t>International Journal of Satellite Communications and Networking</a:t>
            </a:r>
            <a:r>
              <a:rPr lang="en-US" altLang="zh-TW" sz="1100" i="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266005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5747451-2DC3-D614-ED1E-A995D0493FB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28F9EED-F5F9-59F4-50F6-87E4B97B46D4}"/>
              </a:ext>
            </a:extLst>
          </p:cNvPr>
          <p:cNvSpPr>
            <a:spLocks noGrp="1"/>
          </p:cNvSpPr>
          <p:nvPr>
            <p:ph type="title"/>
          </p:nvPr>
        </p:nvSpPr>
        <p:spPr/>
        <p:txBody>
          <a:bodyPr/>
          <a:lstStyle/>
          <a:p>
            <a:r>
              <a:rPr lang="en-US" altLang="zh-TW" b="1" dirty="0">
                <a:latin typeface="Times New Roman"/>
                <a:cs typeface="Times New Roman"/>
              </a:rPr>
              <a:t>System Model – </a:t>
            </a:r>
            <a:r>
              <a:rPr lang="en-US" altLang="zh-TW" sz="1800" b="1" dirty="0">
                <a:latin typeface="Times New Roman"/>
                <a:cs typeface="Times New Roman"/>
              </a:rPr>
              <a:t>Critical / Helper Satellites</a:t>
            </a:r>
            <a:endParaRPr lang="zh-TW" altLang="en-US" dirty="0"/>
          </a:p>
        </p:txBody>
      </p:sp>
      <p:sp>
        <p:nvSpPr>
          <p:cNvPr id="3" name="投影片編號版面配置區 2">
            <a:extLst>
              <a:ext uri="{FF2B5EF4-FFF2-40B4-BE49-F238E27FC236}">
                <a16:creationId xmlns:a16="http://schemas.microsoft.com/office/drawing/2014/main" id="{1843B2D9-1662-CA46-2EC4-208D897D786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pic>
        <p:nvPicPr>
          <p:cNvPr id="5" name="圖片 4">
            <a:extLst>
              <a:ext uri="{FF2B5EF4-FFF2-40B4-BE49-F238E27FC236}">
                <a16:creationId xmlns:a16="http://schemas.microsoft.com/office/drawing/2014/main" id="{B5E0B4C2-A881-C360-8ABA-77E00E084889}"/>
              </a:ext>
            </a:extLst>
          </p:cNvPr>
          <p:cNvPicPr>
            <a:picLocks noChangeAspect="1"/>
          </p:cNvPicPr>
          <p:nvPr/>
        </p:nvPicPr>
        <p:blipFill>
          <a:blip r:embed="rId3"/>
          <a:stretch>
            <a:fillRect/>
          </a:stretch>
        </p:blipFill>
        <p:spPr>
          <a:xfrm>
            <a:off x="6091416" y="1127485"/>
            <a:ext cx="2751763" cy="3589640"/>
          </a:xfrm>
          <a:prstGeom prst="rect">
            <a:avLst/>
          </a:prstGeom>
        </p:spPr>
      </p:pic>
      <mc:AlternateContent xmlns:mc="http://schemas.openxmlformats.org/markup-compatibility/2006" xmlns:a14="http://schemas.microsoft.com/office/drawing/2010/main">
        <mc:Choice Requires="a14">
          <p:sp>
            <p:nvSpPr>
              <p:cNvPr id="6" name="內容版面配置區 3">
                <a:extLst>
                  <a:ext uri="{FF2B5EF4-FFF2-40B4-BE49-F238E27FC236}">
                    <a16:creationId xmlns:a16="http://schemas.microsoft.com/office/drawing/2014/main" id="{32AD87FD-0F0F-91F2-4AAE-99197014E3A5}"/>
                  </a:ext>
                </a:extLst>
              </p:cNvPr>
              <p:cNvSpPr>
                <a:spLocks noGrp="1"/>
              </p:cNvSpPr>
              <p:nvPr>
                <p:ph idx="1"/>
              </p:nvPr>
            </p:nvSpPr>
            <p:spPr>
              <a:xfrm>
                <a:off x="311700" y="1230200"/>
                <a:ext cx="5779716" cy="3416400"/>
              </a:xfrm>
            </p:spPr>
            <p:txBody>
              <a:bodyPr/>
              <a:lstStyle/>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Critical satellite </a:t>
                </a:r>
                <a14:m>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𝑠</m:t>
                        </m:r>
                      </m:e>
                      <m:sup>
                        <m:r>
                          <m:rPr>
                            <m:sty m:val="p"/>
                          </m:rPr>
                          <a:rPr lang="en-US" sz="1800" b="0" i="1" smtClean="0">
                            <a:latin typeface="Cambria Math" panose="02040503050406030204" pitchFamily="18" charset="0"/>
                          </a:rPr>
                          <m:t>C</m:t>
                        </m:r>
                      </m:sup>
                    </m:sSup>
                    <m:r>
                      <a:rPr lang="en-US" sz="1800" b="0" i="1" smtClean="0">
                        <a:latin typeface="Cambria Math" panose="02040503050406030204" pitchFamily="18" charset="0"/>
                      </a:rPr>
                      <m:t>(</m:t>
                    </m:r>
                    <m:r>
                      <m:rPr>
                        <m:sty m:val="p"/>
                      </m:rPr>
                      <a:rPr lang="en-US" sz="1800" b="0" i="1" smtClean="0">
                        <a:latin typeface="Cambria Math" panose="02040503050406030204" pitchFamily="18" charset="0"/>
                      </a:rPr>
                      <m:t>t</m:t>
                    </m:r>
                    <m:r>
                      <a:rPr lang="en-US" sz="1800" b="0" i="1" smtClean="0">
                        <a:latin typeface="Cambria Math" panose="02040503050406030204" pitchFamily="18" charset="0"/>
                      </a:rPr>
                      <m:t>)</m:t>
                    </m:r>
                  </m:oMath>
                </a14:m>
                <a:r>
                  <a:rPr lang="en-US" sz="1800" dirty="0"/>
                  <a:t> : </a:t>
                </a:r>
                <a:r>
                  <a:rPr lang="en-US" sz="1800" dirty="0">
                    <a:latin typeface="Times New Roman" panose="02020603050405020304" pitchFamily="18" charset="0"/>
                    <a:cs typeface="Times New Roman" panose="02020603050405020304" pitchFamily="18" charset="0"/>
                  </a:rPr>
                  <a:t>LEO satellite with the largest EPFD risk at the GS</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Helper satellites </a:t>
                </a:r>
                <a14:m>
                  <m:oMath xmlns:m="http://schemas.openxmlformats.org/officeDocument/2006/math">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m:rPr>
                            <m:sty m:val="p"/>
                          </m:rPr>
                          <a:rPr lang="en-US" altLang="zh-TW" sz="1800" i="1" smtClean="0">
                            <a:latin typeface="Cambria Math" panose="02040503050406030204" pitchFamily="18" charset="0"/>
                          </a:rPr>
                          <m:t>N</m:t>
                        </m:r>
                      </m:sup>
                    </m:sSup>
                    <m:r>
                      <a:rPr lang="en-US" sz="1800" i="1">
                        <a:latin typeface="Cambria Math" panose="02040503050406030204" pitchFamily="18" charset="0"/>
                      </a:rPr>
                      <m:t>(</m:t>
                    </m:r>
                    <m:r>
                      <m:rPr>
                        <m:sty m:val="p"/>
                      </m:rPr>
                      <a:rPr lang="en-US" sz="1800" i="1">
                        <a:latin typeface="Cambria Math" panose="02040503050406030204" pitchFamily="18" charset="0"/>
                      </a:rPr>
                      <m:t>t</m:t>
                    </m:r>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m:rPr>
                            <m:sty m:val="p"/>
                          </m:rPr>
                          <a:rPr lang="en-US" sz="1800" b="0" i="1" smtClean="0">
                            <a:latin typeface="Cambria Math" panose="02040503050406030204" pitchFamily="18" charset="0"/>
                          </a:rPr>
                          <m:t>S</m:t>
                        </m:r>
                      </m:sup>
                    </m:sSup>
                    <m:r>
                      <a:rPr lang="en-US" sz="1800" i="1">
                        <a:latin typeface="Cambria Math" panose="02040503050406030204" pitchFamily="18" charset="0"/>
                      </a:rPr>
                      <m:t>(</m:t>
                    </m:r>
                    <m:r>
                      <m:rPr>
                        <m:sty m:val="p"/>
                      </m:rPr>
                      <a:rPr lang="en-US" sz="1800" i="1">
                        <a:latin typeface="Cambria Math" panose="02040503050406030204" pitchFamily="18" charset="0"/>
                      </a:rPr>
                      <m:t>t</m:t>
                    </m:r>
                    <m:r>
                      <a:rPr lang="en-US" sz="1800" i="1">
                        <a:latin typeface="Cambria Math" panose="02040503050406030204" pitchFamily="18" charset="0"/>
                      </a:rPr>
                      <m:t>)</m:t>
                    </m:r>
                  </m:oMath>
                </a14:m>
                <a:r>
                  <a:rPr lang="en-US" sz="1800" dirty="0">
                    <a:latin typeface="Times New Roman" panose="02020603050405020304" pitchFamily="18" charset="0"/>
                    <a:cs typeface="Times New Roman" panose="02020603050405020304" pitchFamily="18" charset="0"/>
                  </a:rPr>
                  <a:t>: along-track neighboring satellites</a:t>
                </a:r>
              </a:p>
              <a:p>
                <a:pPr lvl="1">
                  <a:spcAft>
                    <a:spcPts val="600"/>
                  </a:spcAft>
                  <a:buSzPct val="60000"/>
                  <a:buFont typeface="Wingdings" panose="05000000000000000000" pitchFamily="2" charset="2"/>
                  <a:buChar char="§"/>
                </a:pPr>
                <a:r>
                  <a:rPr lang="vi-VN" sz="1800" dirty="0">
                    <a:latin typeface="+mj-lt"/>
                  </a:rPr>
                  <a:t>sufficient same-orbit coverage overlap</a:t>
                </a:r>
                <a:endParaRPr lang="en-US" sz="1800" dirty="0">
                  <a:latin typeface="+mj-lt"/>
                  <a:cs typeface="Times New Roman" panose="02020603050405020304" pitchFamily="18" charset="0"/>
                </a:endParaRPr>
              </a:p>
              <a:p>
                <a:pPr marL="596900" lvl="1" indent="0">
                  <a:spcAft>
                    <a:spcPts val="600"/>
                  </a:spcAft>
                  <a:buSzPct val="60000"/>
                  <a:buNone/>
                </a:pPr>
                <a:endParaRPr lang="en-US" sz="1800" dirty="0">
                  <a:latin typeface="Times New Roman" panose="02020603050405020304" pitchFamily="18" charset="0"/>
                  <a:cs typeface="Times New Roman" panose="02020603050405020304" pitchFamily="18" charset="0"/>
                </a:endParaRPr>
              </a:p>
            </p:txBody>
          </p:sp>
        </mc:Choice>
        <mc:Fallback xmlns="">
          <p:sp>
            <p:nvSpPr>
              <p:cNvPr id="6" name="內容版面配置區 3">
                <a:extLst>
                  <a:ext uri="{FF2B5EF4-FFF2-40B4-BE49-F238E27FC236}">
                    <a16:creationId xmlns:a16="http://schemas.microsoft.com/office/drawing/2014/main" id="{32AD87FD-0F0F-91F2-4AAE-99197014E3A5}"/>
                  </a:ext>
                </a:extLst>
              </p:cNvPr>
              <p:cNvSpPr>
                <a:spLocks noGrp="1" noRot="1" noChangeAspect="1" noMove="1" noResize="1" noEditPoints="1" noAdjustHandles="1" noChangeArrowheads="1" noChangeShapeType="1" noTextEdit="1"/>
              </p:cNvSpPr>
              <p:nvPr>
                <p:ph idx="1"/>
              </p:nvPr>
            </p:nvSpPr>
            <p:spPr>
              <a:xfrm>
                <a:off x="311700" y="1230200"/>
                <a:ext cx="5779716" cy="3416400"/>
              </a:xfrm>
              <a:blipFill>
                <a:blip r:embed="rId4"/>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5445882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034F707-B3B5-5DAB-BA91-FBB853AD0A7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B4AFE8E-7FA1-B5B5-834A-B09CA6B5A918}"/>
              </a:ext>
            </a:extLst>
          </p:cNvPr>
          <p:cNvSpPr>
            <a:spLocks noGrp="1"/>
          </p:cNvSpPr>
          <p:nvPr>
            <p:ph type="title"/>
          </p:nvPr>
        </p:nvSpPr>
        <p:spPr/>
        <p:txBody>
          <a:bodyPr/>
          <a:lstStyle/>
          <a:p>
            <a:r>
              <a:rPr lang="en-US" altLang="zh-TW" b="1" dirty="0">
                <a:latin typeface="Times New Roman"/>
                <a:cs typeface="Times New Roman"/>
              </a:rPr>
              <a:t>System Model – </a:t>
            </a:r>
            <a:r>
              <a:rPr lang="en-US" altLang="zh-TW" sz="1800" b="1" dirty="0">
                <a:latin typeface="Times New Roman"/>
                <a:cs typeface="Times New Roman"/>
              </a:rPr>
              <a:t>Relay Feasibility</a:t>
            </a:r>
            <a:endParaRPr lang="zh-TW" altLang="en-US" dirty="0"/>
          </a:p>
        </p:txBody>
      </p:sp>
      <p:sp>
        <p:nvSpPr>
          <p:cNvPr id="3" name="投影片編號版面配置區 2">
            <a:extLst>
              <a:ext uri="{FF2B5EF4-FFF2-40B4-BE49-F238E27FC236}">
                <a16:creationId xmlns:a16="http://schemas.microsoft.com/office/drawing/2014/main" id="{C6F01D70-99FF-2BF2-C6B2-77C16D22E2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sp>
        <p:nvSpPr>
          <p:cNvPr id="6" name="內容版面配置區 3">
            <a:extLst>
              <a:ext uri="{FF2B5EF4-FFF2-40B4-BE49-F238E27FC236}">
                <a16:creationId xmlns:a16="http://schemas.microsoft.com/office/drawing/2014/main" id="{2AF318CA-43A6-26D4-29C3-D901DB3072DF}"/>
              </a:ext>
            </a:extLst>
          </p:cNvPr>
          <p:cNvSpPr>
            <a:spLocks noGrp="1"/>
          </p:cNvSpPr>
          <p:nvPr>
            <p:ph idx="1"/>
          </p:nvPr>
        </p:nvSpPr>
        <p:spPr>
          <a:xfrm>
            <a:off x="311700" y="1230200"/>
            <a:ext cx="8618940" cy="3416400"/>
          </a:xfrm>
        </p:spPr>
        <p:txBody>
          <a:bodyPr/>
          <a:lstStyle/>
          <a:p>
            <a:r>
              <a:rPr lang="en-US" sz="1800" dirty="0">
                <a:latin typeface="Times New Roman" panose="02020603050405020304" pitchFamily="18" charset="0"/>
                <a:cs typeface="Times New Roman" panose="02020603050405020304" pitchFamily="18" charset="0"/>
              </a:rPr>
              <a:t>Under normal operation, overlapping beams coordinate service by: </a:t>
            </a:r>
          </a:p>
          <a:p>
            <a:pPr lvl="1"/>
            <a:r>
              <a:rPr lang="en-US" sz="1800" dirty="0">
                <a:latin typeface="Times New Roman" panose="02020603050405020304" pitchFamily="18" charset="0"/>
                <a:cs typeface="Times New Roman" panose="02020603050405020304" pitchFamily="18" charset="0"/>
              </a:rPr>
              <a:t>user association </a:t>
            </a:r>
          </a:p>
          <a:p>
            <a:pPr lvl="1"/>
            <a:r>
              <a:rPr lang="en-US" sz="1800" dirty="0">
                <a:latin typeface="Times New Roman" panose="02020603050405020304" pitchFamily="18" charset="0"/>
                <a:cs typeface="Times New Roman" panose="02020603050405020304" pitchFamily="18" charset="0"/>
              </a:rPr>
              <a:t>time-domain scheduling </a:t>
            </a:r>
          </a:p>
          <a:p>
            <a:pPr lvl="1"/>
            <a:r>
              <a:rPr lang="en-US" sz="1800" dirty="0">
                <a:latin typeface="Times New Roman" panose="02020603050405020304" pitchFamily="18" charset="0"/>
                <a:cs typeface="Times New Roman" panose="02020603050405020304" pitchFamily="18" charset="0"/>
              </a:rPr>
              <a:t>spatial separation </a:t>
            </a:r>
          </a:p>
          <a:p>
            <a:r>
              <a:rPr lang="en-US" sz="1800" dirty="0">
                <a:latin typeface="Times New Roman" panose="02020603050405020304" pitchFamily="18" charset="0"/>
                <a:cs typeface="Times New Roman" panose="02020603050405020304" pitchFamily="18" charset="0"/>
              </a:rPr>
              <a:t>If a critical satellite’s beam is shut down, affected users can be reassociated to helper beams </a:t>
            </a:r>
          </a:p>
          <a:p>
            <a:r>
              <a:rPr lang="en-US" sz="1800" dirty="0">
                <a:latin typeface="Times New Roman" panose="02020603050405020304" pitchFamily="18" charset="0"/>
                <a:cs typeface="Times New Roman" panose="02020603050405020304" pitchFamily="18" charset="0"/>
              </a:rPr>
              <a:t>Relay feasibility: </a:t>
            </a:r>
          </a:p>
          <a:p>
            <a:pPr lvl="1"/>
            <a:r>
              <a:rPr lang="en-US" sz="1800" dirty="0">
                <a:latin typeface="Times New Roman" panose="02020603050405020304" pitchFamily="18" charset="0"/>
                <a:cs typeface="Times New Roman" panose="02020603050405020304" pitchFamily="18" charset="0"/>
              </a:rPr>
              <a:t>overlapping coverage </a:t>
            </a:r>
          </a:p>
          <a:p>
            <a:pPr lvl="1"/>
            <a:r>
              <a:rPr lang="en-US" sz="1800" dirty="0">
                <a:latin typeface="Times New Roman" panose="02020603050405020304" pitchFamily="18" charset="0"/>
                <a:cs typeface="Times New Roman" panose="02020603050405020304" pitchFamily="18" charset="0"/>
              </a:rPr>
              <a:t>same service band </a:t>
            </a:r>
          </a:p>
          <a:p>
            <a:pPr lvl="1"/>
            <a:r>
              <a:rPr lang="en-US" sz="1800" dirty="0">
                <a:latin typeface="Times New Roman" panose="02020603050405020304" pitchFamily="18" charset="0"/>
                <a:cs typeface="Times New Roman" panose="02020603050405020304" pitchFamily="18" charset="0"/>
              </a:rPr>
              <a:t>same polarization setting</a:t>
            </a:r>
          </a:p>
        </p:txBody>
      </p:sp>
    </p:spTree>
    <p:extLst>
      <p:ext uri="{BB962C8B-B14F-4D97-AF65-F5344CB8AC3E}">
        <p14:creationId xmlns:p14="http://schemas.microsoft.com/office/powerpoint/2010/main" val="7228825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90D66C-FFF1-44EF-8689-4F567DF33F38}"/>
              </a:ext>
            </a:extLst>
          </p:cNvPr>
          <p:cNvSpPr>
            <a:spLocks noGrp="1"/>
          </p:cNvSpPr>
          <p:nvPr>
            <p:ph type="title"/>
          </p:nvPr>
        </p:nvSpPr>
        <p:spPr/>
        <p:txBody>
          <a:bodyPr/>
          <a:lstStyle/>
          <a:p>
            <a:r>
              <a:rPr lang="en-US" altLang="zh-TW" b="1" dirty="0">
                <a:latin typeface="Times New Roman"/>
                <a:cs typeface="Times New Roman"/>
              </a:rPr>
              <a:t>System Model – </a:t>
            </a:r>
            <a:r>
              <a:rPr lang="en-US" altLang="zh-TW" sz="1800" dirty="0">
                <a:latin typeface="+mj-lt"/>
              </a:rPr>
              <a:t>User Association and Beam Loading</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5E8BE453-84BF-4E0B-934D-08E738F814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38</a:t>
            </a:fld>
            <a:endParaRPr lang="en"/>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9BB56DD3-A529-49F7-93CF-A9AD108648FA}"/>
                  </a:ext>
                </a:extLst>
              </p:cNvPr>
              <p:cNvSpPr>
                <a:spLocks noGrp="1"/>
              </p:cNvSpPr>
              <p:nvPr>
                <p:ph idx="1"/>
              </p:nvPr>
            </p:nvSpPr>
            <p:spPr/>
            <p:txBody>
              <a:bodyPr/>
              <a:lstStyle/>
              <a:p>
                <a:pPr>
                  <a:spcAft>
                    <a:spcPts val="600"/>
                  </a:spcAft>
                </a:pPr>
                <a:r>
                  <a:rPr lang="vi-VN" sz="1800" dirty="0">
                    <a:latin typeface="+mj-lt"/>
                  </a:rPr>
                  <a:t>Single Association Model </a:t>
                </a:r>
                <a:endParaRPr lang="en-US" sz="1800" dirty="0">
                  <a:latin typeface="+mj-lt"/>
                </a:endParaRP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Each user is served by at most one satellite–beam pair in each time slot</a:t>
                </a:r>
                <a:r>
                  <a:rPr lang="en-US" sz="1800" dirty="0"/>
                  <a:t>.</a:t>
                </a:r>
                <a:endParaRPr lang="en-US" sz="1800" dirty="0">
                  <a:latin typeface="+mj-lt"/>
                </a:endParaRPr>
              </a:p>
              <a:p>
                <a:pPr marL="139700" indent="0">
                  <a:spcAft>
                    <a:spcPts val="600"/>
                  </a:spcAft>
                  <a:buNone/>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𝑢</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r>
                            <a:rPr lang="en-US" sz="1800" b="0" i="1" smtClean="0">
                              <a:latin typeface="Cambria Math" panose="02040503050406030204" pitchFamily="18" charset="0"/>
                            </a:rPr>
                            <m:t>𝑏</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d>
                        <m:dPr>
                          <m:begChr m:val="{"/>
                          <m:endChr m:val=""/>
                          <m:ctrlPr>
                            <a:rPr lang="en-US" sz="1800" i="1" smtClean="0">
                              <a:latin typeface="Cambria Math" panose="02040503050406030204" pitchFamily="18" charset="0"/>
                            </a:rPr>
                          </m:ctrlPr>
                        </m:dPr>
                        <m:e>
                          <m:eqArr>
                            <m:eqArrPr>
                              <m:ctrlPr>
                                <a:rPr lang="en-US" sz="1800" i="1" smtClean="0">
                                  <a:latin typeface="Cambria Math" panose="02040503050406030204" pitchFamily="18" charset="0"/>
                                </a:rPr>
                              </m:ctrlPr>
                            </m:eqArrPr>
                            <m:e>
                              <m:r>
                                <a:rPr lang="en-US" altLang="zh-TW" sz="1800" i="1">
                                  <a:latin typeface="Cambria Math" panose="02040503050406030204" pitchFamily="18" charset="0"/>
                                </a:rPr>
                                <m:t>1</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if</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user</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u</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is</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served</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by</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beam</m:t>
                              </m:r>
                              <m:r>
                                <a:rPr lang="en-US" altLang="zh-TW" sz="1800" b="0" i="1" smtClean="0">
                                  <a:latin typeface="Cambria Math" panose="02040503050406030204" pitchFamily="18" charset="0"/>
                                </a:rPr>
                                <m:t> </m:t>
                              </m:r>
                              <m:r>
                                <a:rPr lang="en-US" altLang="zh-TW" sz="1800" b="0" i="1" smtClean="0">
                                  <a:latin typeface="Cambria Math" panose="02040503050406030204" pitchFamily="18" charset="0"/>
                                </a:rPr>
                                <m:t>𝑏</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of</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satellite</m:t>
                              </m:r>
                              <m:r>
                                <a:rPr lang="en-US" altLang="zh-TW" sz="1800" b="0" i="1" smtClean="0">
                                  <a:latin typeface="Cambria Math" panose="02040503050406030204" pitchFamily="18" charset="0"/>
                                </a:rPr>
                                <m:t> </m:t>
                              </m:r>
                              <m:r>
                                <a:rPr lang="en-US" altLang="zh-TW" sz="1800" b="0" i="1" smtClean="0">
                                  <a:latin typeface="Cambria Math" panose="02040503050406030204" pitchFamily="18" charset="0"/>
                                </a:rPr>
                                <m:t>𝑠</m:t>
                              </m:r>
                            </m:e>
                            <m:e>
                              <m:r>
                                <a:rPr lang="en-US" altLang="zh-TW" sz="1800" i="1">
                                  <a:latin typeface="Cambria Math" panose="02040503050406030204" pitchFamily="18" charset="0"/>
                                </a:rPr>
                                <m:t>0</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otherwise</m:t>
                              </m:r>
                            </m:e>
                          </m:eqArr>
                        </m:e>
                      </m:d>
                    </m:oMath>
                  </m:oMathPara>
                </a14:m>
                <a:endParaRPr lang="en-US" sz="1800" i="1" dirty="0">
                  <a:latin typeface="Cambria Math" panose="02040503050406030204" pitchFamily="18" charset="0"/>
                </a:endParaRPr>
              </a:p>
              <a:p>
                <a:pPr marL="139700" indent="0">
                  <a:spcAft>
                    <a:spcPts val="600"/>
                  </a:spcAft>
                  <a:buNone/>
                </a:pPr>
                <a14:m>
                  <m:oMathPara xmlns:m="http://schemas.openxmlformats.org/officeDocument/2006/math">
                    <m:oMathParaPr>
                      <m:jc m:val="center"/>
                    </m:oMathParaPr>
                    <m:oMath xmlns:m="http://schemas.openxmlformats.org/officeDocument/2006/math">
                      <m:r>
                        <m:rPr>
                          <m:sty m:val="p"/>
                        </m:rPr>
                        <a:rPr lang="en-US" sz="1800" i="1">
                          <a:latin typeface="Cambria Math" panose="02040503050406030204" pitchFamily="18" charset="0"/>
                          <a:ea typeface="Cambria Math" panose="02040503050406030204" pitchFamily="18" charset="0"/>
                        </a:rPr>
                        <m:t>f</m:t>
                      </m:r>
                      <m:r>
                        <m:rPr>
                          <m:sty m:val="p"/>
                        </m:rPr>
                        <a:rPr lang="en-US" sz="1800" b="0" i="1" smtClean="0">
                          <a:latin typeface="Cambria Math" panose="02040503050406030204" pitchFamily="18" charset="0"/>
                          <a:ea typeface="Cambria Math" panose="02040503050406030204" pitchFamily="18" charset="0"/>
                        </a:rPr>
                        <m:t>or</m:t>
                      </m:r>
                      <m:r>
                        <a:rPr lang="en-US" sz="1800" b="0" i="1" smtClean="0">
                          <a:latin typeface="Cambria Math" panose="02040503050406030204" pitchFamily="18" charset="0"/>
                          <a:ea typeface="Cambria Math" panose="02040503050406030204" pitchFamily="18" charset="0"/>
                        </a:rPr>
                        <m:t> </m:t>
                      </m:r>
                      <m:r>
                        <m:rPr>
                          <m:sty m:val="p"/>
                        </m:rPr>
                        <a:rPr lang="en-US" sz="1800" b="0" i="1" smtClean="0">
                          <a:latin typeface="Cambria Math" panose="02040503050406030204" pitchFamily="18" charset="0"/>
                          <a:ea typeface="Cambria Math" panose="02040503050406030204" pitchFamily="18" charset="0"/>
                        </a:rPr>
                        <m:t>all</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𝑢</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𝑈</m:t>
                      </m:r>
                      <m:r>
                        <a:rPr lang="en-US" sz="1800" b="0" i="1" smtClean="0">
                          <a:latin typeface="Cambria Math" panose="02040503050406030204" pitchFamily="18" charset="0"/>
                          <a:ea typeface="Cambria Math" panose="02040503050406030204" pitchFamily="18" charset="0"/>
                        </a:rPr>
                        <m:t>(</m:t>
                      </m:r>
                      <m:r>
                        <m:rPr>
                          <m:sty m:val="p"/>
                        </m:rPr>
                        <a:rPr lang="en-US" sz="1800" b="0" i="1" smtClean="0">
                          <a:latin typeface="Cambria Math" panose="02040503050406030204" pitchFamily="18" charset="0"/>
                          <a:ea typeface="Cambria Math" panose="02040503050406030204" pitchFamily="18" charset="0"/>
                        </a:rPr>
                        <m:t>t</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𝑠</m:t>
                      </m:r>
                      <m:r>
                        <a:rPr lang="en-US" sz="1800" i="1">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𝑆</m:t>
                      </m:r>
                      <m:r>
                        <a:rPr lang="en-US" sz="1800" i="1">
                          <a:latin typeface="Cambria Math" panose="02040503050406030204" pitchFamily="18" charset="0"/>
                          <a:ea typeface="Cambria Math" panose="02040503050406030204" pitchFamily="18" charset="0"/>
                        </a:rPr>
                        <m:t>(</m:t>
                      </m:r>
                      <m:r>
                        <m:rPr>
                          <m:sty m:val="p"/>
                        </m:rPr>
                        <a:rPr lang="en-US" sz="1800" i="1">
                          <a:latin typeface="Cambria Math" panose="02040503050406030204" pitchFamily="18" charset="0"/>
                          <a:ea typeface="Cambria Math" panose="02040503050406030204" pitchFamily="18" charset="0"/>
                        </a:rPr>
                        <m:t>t</m:t>
                      </m:r>
                      <m:r>
                        <a:rPr lang="en-US" sz="1800" i="1">
                          <a:latin typeface="Cambria Math" panose="02040503050406030204" pitchFamily="18" charset="0"/>
                          <a:ea typeface="Cambria Math" panose="02040503050406030204" pitchFamily="18" charset="0"/>
                        </a:rPr>
                        <m:t>),</m:t>
                      </m:r>
                      <m:r>
                        <m:rPr>
                          <m:sty m:val="p"/>
                        </m:rPr>
                        <a:rPr lang="en-US" sz="1800" b="0" i="1" smtClean="0">
                          <a:latin typeface="Cambria Math" panose="02040503050406030204" pitchFamily="18" charset="0"/>
                          <a:ea typeface="Cambria Math" panose="02040503050406030204" pitchFamily="18" charset="0"/>
                        </a:rPr>
                        <m:t>and</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𝑏</m:t>
                      </m:r>
                      <m:r>
                        <a:rPr lang="en-US" sz="1800" i="1">
                          <a:latin typeface="Cambria Math" panose="02040503050406030204" pitchFamily="18" charset="0"/>
                          <a:ea typeface="Cambria Math" panose="02040503050406030204" pitchFamily="18" charset="0"/>
                        </a:rPr>
                        <m:t>∈</m:t>
                      </m:r>
                      <m:sSub>
                        <m:sSubPr>
                          <m:ctrlPr>
                            <a:rPr lang="en-US" sz="180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𝐵</m:t>
                          </m:r>
                        </m:e>
                        <m:sub>
                          <m:r>
                            <m:rPr>
                              <m:sty m:val="p"/>
                            </m:rPr>
                            <a:rPr lang="en-US" sz="1800" b="0" i="1" smtClean="0">
                              <a:latin typeface="Cambria Math" panose="02040503050406030204" pitchFamily="18" charset="0"/>
                              <a:ea typeface="Cambria Math" panose="02040503050406030204" pitchFamily="18" charset="0"/>
                            </a:rPr>
                            <m:t>s</m:t>
                          </m:r>
                        </m:sub>
                      </m:sSub>
                      <m:r>
                        <a:rPr lang="en-US" sz="1800" i="1">
                          <a:latin typeface="Cambria Math" panose="02040503050406030204" pitchFamily="18" charset="0"/>
                          <a:ea typeface="Cambria Math" panose="02040503050406030204" pitchFamily="18" charset="0"/>
                        </a:rPr>
                        <m:t>(</m:t>
                      </m:r>
                      <m:r>
                        <m:rPr>
                          <m:sty m:val="p"/>
                        </m:rPr>
                        <a:rPr lang="en-US" sz="1800" i="1">
                          <a:latin typeface="Cambria Math" panose="02040503050406030204" pitchFamily="18" charset="0"/>
                          <a:ea typeface="Cambria Math" panose="02040503050406030204" pitchFamily="18" charset="0"/>
                        </a:rPr>
                        <m:t>t</m:t>
                      </m:r>
                      <m:r>
                        <a:rPr lang="en-US" sz="1800" i="1">
                          <a:latin typeface="Cambria Math" panose="02040503050406030204" pitchFamily="18" charset="0"/>
                          <a:ea typeface="Cambria Math" panose="02040503050406030204" pitchFamily="18" charset="0"/>
                        </a:rPr>
                        <m:t>)</m:t>
                      </m:r>
                    </m:oMath>
                  </m:oMathPara>
                </a14:m>
                <a:endParaRPr lang="en-US" sz="1800" dirty="0"/>
              </a:p>
              <a:p>
                <a:pPr>
                  <a:spcAft>
                    <a:spcPts val="600"/>
                  </a:spcAft>
                </a:pPr>
                <a:r>
                  <a:rPr lang="vi-VN" sz="1800" dirty="0">
                    <a:latin typeface="+mj-lt"/>
                  </a:rPr>
                  <a:t>Beam loading</a:t>
                </a:r>
                <a:r>
                  <a:rPr lang="en-US" sz="1800" dirty="0"/>
                  <a:t> </a:t>
                </a:r>
                <a:r>
                  <a:rPr lang="en-US" sz="1800" dirty="0">
                    <a:latin typeface="Times New Roman" panose="02020603050405020304" pitchFamily="18" charset="0"/>
                    <a:cs typeface="Times New Roman" panose="02020603050405020304" pitchFamily="18" charset="0"/>
                  </a:rPr>
                  <a:t>represents the number of users served by each beam:</a:t>
                </a:r>
              </a:p>
              <a:p>
                <a:pPr marL="139700" indent="0">
                  <a:spcAft>
                    <a:spcPts val="600"/>
                  </a:spcAft>
                  <a:buNone/>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𝑁</m:t>
                          </m:r>
                        </m:e>
                        <m:sub>
                          <m:r>
                            <a:rPr lang="en-US" sz="1800" b="0" i="1" smtClean="0">
                              <a:latin typeface="Cambria Math" panose="02040503050406030204" pitchFamily="18" charset="0"/>
                            </a:rPr>
                            <m:t>𝑠</m:t>
                          </m:r>
                          <m:r>
                            <a:rPr lang="en-US" sz="1800" b="0" i="1" smtClean="0">
                              <a:latin typeface="Cambria Math" panose="02040503050406030204" pitchFamily="18" charset="0"/>
                            </a:rPr>
                            <m:t>,</m:t>
                          </m:r>
                          <m:r>
                            <a:rPr lang="en-US" sz="1800" b="0" i="1" smtClean="0">
                              <a:latin typeface="Cambria Math" panose="02040503050406030204" pitchFamily="18" charset="0"/>
                            </a:rPr>
                            <m:t>𝑏</m:t>
                          </m:r>
                        </m:sub>
                      </m:sSub>
                      <m:r>
                        <a:rPr lang="en-US" sz="1800" b="0" i="1" smtClean="0">
                          <a:latin typeface="Cambria Math" panose="02040503050406030204" pitchFamily="18" charset="0"/>
                        </a:rPr>
                        <m:t>(</m:t>
                      </m:r>
                      <m:r>
                        <m:rPr>
                          <m:sty m:val="p"/>
                        </m:rPr>
                        <a:rPr lang="en-US" sz="1800" b="0" i="1" smtClean="0">
                          <a:latin typeface="Cambria Math" panose="02040503050406030204" pitchFamily="18" charset="0"/>
                        </a:rPr>
                        <m:t>t</m:t>
                      </m:r>
                      <m:r>
                        <a:rPr lang="en-US" sz="1800" b="0" i="1" smtClean="0">
                          <a:latin typeface="Cambria Math" panose="02040503050406030204" pitchFamily="18" charset="0"/>
                        </a:rPr>
                        <m:t>)=</m:t>
                      </m:r>
                      <m:nary>
                        <m:naryPr>
                          <m:chr m:val="∑"/>
                          <m:supHide m:val="on"/>
                          <m:ctrlPr>
                            <a:rPr lang="en-US" sz="1800" i="1" smtClean="0">
                              <a:latin typeface="Cambria Math" panose="02040503050406030204" pitchFamily="18" charset="0"/>
                            </a:rPr>
                          </m:ctrlPr>
                        </m:naryPr>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𝑈</m:t>
                          </m:r>
                          <m:r>
                            <a:rPr lang="en-US" sz="1800" i="1">
                              <a:latin typeface="Cambria Math" panose="02040503050406030204" pitchFamily="18" charset="0"/>
                              <a:ea typeface="Cambria Math" panose="02040503050406030204" pitchFamily="18" charset="0"/>
                            </a:rPr>
                            <m:t>(</m:t>
                          </m:r>
                          <m:r>
                            <m:rPr>
                              <m:sty m:val="p"/>
                            </m:rPr>
                            <a:rPr lang="en-US" sz="1800" i="1">
                              <a:latin typeface="Cambria Math" panose="02040503050406030204" pitchFamily="18" charset="0"/>
                              <a:ea typeface="Cambria Math" panose="02040503050406030204" pitchFamily="18" charset="0"/>
                            </a:rPr>
                            <m:t>t</m:t>
                          </m:r>
                          <m:r>
                            <a:rPr lang="en-US" sz="1800" i="1">
                              <a:latin typeface="Cambria Math" panose="02040503050406030204" pitchFamily="18" charset="0"/>
                              <a:ea typeface="Cambria Math" panose="02040503050406030204" pitchFamily="18" charset="0"/>
                            </a:rPr>
                            <m:t>)</m:t>
                          </m:r>
                        </m:sub>
                        <m:sup/>
                        <m:e>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𝑢</m:t>
                              </m:r>
                              <m:r>
                                <a:rPr lang="en-US" sz="1800" i="1">
                                  <a:latin typeface="Cambria Math" panose="02040503050406030204" pitchFamily="18" charset="0"/>
                                </a:rPr>
                                <m:t>,</m:t>
                              </m:r>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𝑏</m:t>
                              </m:r>
                            </m:sub>
                          </m:sSub>
                          <m:d>
                            <m:dPr>
                              <m:ctrlPr>
                                <a:rPr lang="en-US" sz="1800" i="1">
                                  <a:latin typeface="Cambria Math" panose="02040503050406030204" pitchFamily="18" charset="0"/>
                                </a:rPr>
                              </m:ctrlPr>
                            </m:dPr>
                            <m:e>
                              <m:r>
                                <a:rPr lang="en-US" sz="1800" i="1">
                                  <a:latin typeface="Cambria Math" panose="02040503050406030204" pitchFamily="18" charset="0"/>
                                </a:rPr>
                                <m:t>𝑡</m:t>
                              </m:r>
                            </m:e>
                          </m:d>
                        </m:e>
                      </m:nary>
                    </m:oMath>
                  </m:oMathPara>
                </a14:m>
                <a:endParaRPr lang="en-US" sz="1800" dirty="0"/>
              </a:p>
              <a:p>
                <a:pPr marL="139700" indent="0">
                  <a:spcAft>
                    <a:spcPts val="600"/>
                  </a:spcAft>
                  <a:buNone/>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4" name="內容版面配置區 3">
                <a:extLst>
                  <a:ext uri="{FF2B5EF4-FFF2-40B4-BE49-F238E27FC236}">
                    <a16:creationId xmlns:a16="http://schemas.microsoft.com/office/drawing/2014/main" id="{9BB56DD3-A529-49F7-93CF-A9AD108648FA}"/>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42376092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21DE7FC-6D62-323C-036F-92EB94ED4E9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D63D8E9-962A-70BB-4536-C524B25C776A}"/>
              </a:ext>
            </a:extLst>
          </p:cNvPr>
          <p:cNvSpPr>
            <a:spLocks noGrp="1"/>
          </p:cNvSpPr>
          <p:nvPr>
            <p:ph type="title"/>
          </p:nvPr>
        </p:nvSpPr>
        <p:spPr/>
        <p:txBody>
          <a:bodyPr/>
          <a:lstStyle/>
          <a:p>
            <a:r>
              <a:rPr lang="en-US" altLang="zh-TW" b="1" dirty="0">
                <a:latin typeface="Times New Roman"/>
                <a:cs typeface="Times New Roman"/>
              </a:rPr>
              <a:t>System Model – </a:t>
            </a:r>
            <a:r>
              <a:rPr lang="en-US" altLang="zh-TW" sz="1800" dirty="0">
                <a:latin typeface="+mj-lt"/>
              </a:rPr>
              <a:t>Beam Power and Beam Status</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852D0D66-7856-141E-5179-9641A73A277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39</a:t>
            </a:fld>
            <a:endParaRPr lang="en"/>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4B7E6DC0-431E-FCC1-958D-4D5768F837B6}"/>
                  </a:ext>
                </a:extLst>
              </p:cNvPr>
              <p:cNvSpPr>
                <a:spLocks noGrp="1"/>
              </p:cNvSpPr>
              <p:nvPr>
                <p:ph idx="1"/>
              </p:nvPr>
            </p:nvSpPr>
            <p:spPr/>
            <p:txBody>
              <a:bodyPr/>
              <a:lstStyle/>
              <a:p>
                <a:pPr>
                  <a:spcAft>
                    <a:spcPts val="600"/>
                  </a:spcAft>
                </a:pPr>
                <a:r>
                  <a:rPr lang="vi-VN" sz="1800" dirty="0">
                    <a:latin typeface="+mj-lt"/>
                  </a:rPr>
                  <a:t>Default Beam-Powe</a:t>
                </a:r>
                <a:r>
                  <a:rPr lang="en-US" sz="1800" dirty="0">
                    <a:latin typeface="Times New Roman" panose="02020603050405020304" pitchFamily="18" charset="0"/>
                    <a:cs typeface="Times New Roman" panose="02020603050405020304" pitchFamily="18" charset="0"/>
                  </a:rPr>
                  <a:t>r  </a:t>
                </a:r>
                <a14:m>
                  <m:oMath xmlns:m="http://schemas.openxmlformats.org/officeDocument/2006/math">
                    <m:sSub>
                      <m:sSubPr>
                        <m:ctrlPr>
                          <a:rPr lang="en-US" sz="180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𝑃</m:t>
                        </m:r>
                      </m:e>
                      <m:sub>
                        <m:r>
                          <a:rPr lang="en-US" sz="1800" b="0" i="1" smtClean="0">
                            <a:latin typeface="Cambria Math" panose="02040503050406030204" pitchFamily="18" charset="0"/>
                            <a:cs typeface="Times New Roman" panose="02020603050405020304" pitchFamily="18" charset="0"/>
                          </a:rPr>
                          <m:t>𝑠</m:t>
                        </m:r>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𝑏</m:t>
                        </m:r>
                      </m:sub>
                    </m:sSub>
                    <m:r>
                      <a:rPr lang="en-US" altLang="zh-TW" sz="1800" i="1">
                        <a:latin typeface="Cambria Math" panose="02040503050406030204" pitchFamily="18" charset="0"/>
                        <a:cs typeface="Times New Roman" panose="02020603050405020304" pitchFamily="18" charset="0"/>
                      </a:rPr>
                      <m:t>(</m:t>
                    </m:r>
                  </m:oMath>
                </a14:m>
                <a:r>
                  <a:rPr lang="en-US" altLang="zh-TW" sz="1800" dirty="0">
                    <a:latin typeface="Times New Roman" panose="02020603050405020304" pitchFamily="18" charset="0"/>
                    <a:cs typeface="Times New Roman" panose="02020603050405020304" pitchFamily="18" charset="0"/>
                  </a:rPr>
                  <a:t>t) = </a:t>
                </a:r>
                <a14:m>
                  <m:oMath xmlns:m="http://schemas.openxmlformats.org/officeDocument/2006/math">
                    <m:sSubSup>
                      <m:sSubSupPr>
                        <m:ctrlPr>
                          <a:rPr lang="en-US" altLang="zh-TW" sz="1800" i="1" smtClean="0">
                            <a:latin typeface="Cambria Math" panose="02040503050406030204" pitchFamily="18" charset="0"/>
                            <a:cs typeface="Times New Roman" panose="02020603050405020304" pitchFamily="18" charset="0"/>
                          </a:rPr>
                        </m:ctrlPr>
                      </m:sSubSupPr>
                      <m:e>
                        <m:r>
                          <a:rPr lang="en-US" altLang="zh-TW" sz="1800" b="0" i="1" smtClean="0">
                            <a:latin typeface="Cambria Math" panose="02040503050406030204" pitchFamily="18" charset="0"/>
                            <a:cs typeface="Times New Roman" panose="02020603050405020304" pitchFamily="18" charset="0"/>
                          </a:rPr>
                          <m:t>𝑃</m:t>
                        </m:r>
                      </m:e>
                      <m:sub>
                        <m:r>
                          <a:rPr lang="en-US" altLang="zh-TW" sz="1800" b="0" i="1" smtClean="0">
                            <a:latin typeface="Cambria Math" panose="02040503050406030204" pitchFamily="18" charset="0"/>
                            <a:cs typeface="Times New Roman" panose="02020603050405020304" pitchFamily="18" charset="0"/>
                          </a:rPr>
                          <m:t>𝑠</m:t>
                        </m:r>
                        <m:r>
                          <a:rPr lang="en-US" altLang="zh-TW" sz="1800" b="0" i="1" smtClean="0">
                            <a:latin typeface="Cambria Math" panose="02040503050406030204" pitchFamily="18" charset="0"/>
                            <a:cs typeface="Times New Roman" panose="02020603050405020304" pitchFamily="18" charset="0"/>
                          </a:rPr>
                          <m:t>,</m:t>
                        </m:r>
                        <m:r>
                          <a:rPr lang="en-US" altLang="zh-TW" sz="1800" b="0" i="1" smtClean="0">
                            <a:latin typeface="Cambria Math" panose="02040503050406030204" pitchFamily="18" charset="0"/>
                            <a:cs typeface="Times New Roman" panose="02020603050405020304" pitchFamily="18" charset="0"/>
                          </a:rPr>
                          <m:t>𝑏</m:t>
                        </m:r>
                      </m:sub>
                      <m:sup>
                        <m:r>
                          <m:rPr>
                            <m:sty m:val="p"/>
                          </m:rPr>
                          <a:rPr lang="en-US" altLang="zh-TW" sz="1800" b="0" i="0" smtClean="0">
                            <a:latin typeface="Cambria Math" panose="02040503050406030204" pitchFamily="18" charset="0"/>
                            <a:cs typeface="Times New Roman" panose="02020603050405020304" pitchFamily="18" charset="0"/>
                          </a:rPr>
                          <m:t>def</m:t>
                        </m:r>
                      </m:sup>
                    </m:sSubSup>
                  </m:oMath>
                </a14:m>
                <a:r>
                  <a:rPr lang="en-US" sz="1800" i="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t>
                </a: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Under normal operation, EPFD violation risk is low, each beam has a preconfigured default transmit power under normal operation.</a:t>
                </a:r>
              </a:p>
              <a:p>
                <a:pPr>
                  <a:spcAft>
                    <a:spcPts val="600"/>
                  </a:spcAft>
                </a:pPr>
                <a:r>
                  <a:rPr lang="en-US" sz="1800" dirty="0">
                    <a:latin typeface="Times New Roman" panose="02020603050405020304" pitchFamily="18" charset="0"/>
                    <a:cs typeface="Times New Roman" panose="02020603050405020304" pitchFamily="18" charset="0"/>
                  </a:rPr>
                  <a:t>Each beam has a maximum transmit power </a:t>
                </a:r>
              </a:p>
              <a:p>
                <a:pPr marL="139700" indent="0">
                  <a:spcAft>
                    <a:spcPts val="600"/>
                  </a:spcAft>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0</m:t>
                      </m:r>
                      <m:r>
                        <a:rPr lang="en-US" sz="1800" b="0" i="1" smtClean="0">
                          <a:latin typeface="Cambria Math" panose="02040503050406030204" pitchFamily="18" charset="0"/>
                          <a:ea typeface="Cambria Math" panose="02040503050406030204" pitchFamily="18" charset="0"/>
                        </a:rPr>
                        <m:t>≤</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𝑃</m:t>
                          </m:r>
                        </m:e>
                        <m:sub>
                          <m:r>
                            <a:rPr lang="en-US" sz="1800" b="0" i="1" smtClean="0">
                              <a:latin typeface="Cambria Math" panose="02040503050406030204" pitchFamily="18" charset="0"/>
                              <a:ea typeface="Cambria Math" panose="02040503050406030204" pitchFamily="18" charset="0"/>
                            </a:rPr>
                            <m:t>𝑠</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𝑏</m:t>
                          </m:r>
                        </m:sub>
                      </m:sSub>
                      <m:r>
                        <a:rPr lang="en-US" sz="1800" b="0" i="1" smtClean="0">
                          <a:latin typeface="Cambria Math" panose="02040503050406030204" pitchFamily="18" charset="0"/>
                          <a:ea typeface="Cambria Math" panose="02040503050406030204" pitchFamily="18" charset="0"/>
                        </a:rPr>
                        <m:t>(</m:t>
                      </m:r>
                      <m:r>
                        <m:rPr>
                          <m:sty m:val="p"/>
                        </m:rPr>
                        <a:rPr lang="en-US" sz="1800" b="0" i="1" smtClean="0">
                          <a:latin typeface="Cambria Math" panose="02040503050406030204" pitchFamily="18" charset="0"/>
                          <a:ea typeface="Cambria Math" panose="02040503050406030204" pitchFamily="18" charset="0"/>
                        </a:rPr>
                        <m:t>t</m:t>
                      </m:r>
                      <m:r>
                        <a:rPr lang="en-US" sz="1800" b="0" i="1" smtClean="0">
                          <a:latin typeface="Cambria Math" panose="02040503050406030204" pitchFamily="18" charset="0"/>
                          <a:ea typeface="Cambria Math" panose="02040503050406030204" pitchFamily="18" charset="0"/>
                        </a:rPr>
                        <m:t>)≤</m:t>
                      </m:r>
                      <m:sSubSup>
                        <m:sSubSupPr>
                          <m:ctrlPr>
                            <a:rPr lang="en-US" sz="1800" b="0" i="1" smtClean="0">
                              <a:latin typeface="Cambria Math" panose="02040503050406030204" pitchFamily="18" charset="0"/>
                              <a:ea typeface="Cambria Math" panose="02040503050406030204" pitchFamily="18" charset="0"/>
                            </a:rPr>
                          </m:ctrlPr>
                        </m:sSubSupPr>
                        <m:e>
                          <m:r>
                            <a:rPr lang="en-US" sz="1800" b="0" i="1" smtClean="0">
                              <a:latin typeface="Cambria Math" panose="02040503050406030204" pitchFamily="18" charset="0"/>
                              <a:ea typeface="Cambria Math" panose="02040503050406030204" pitchFamily="18" charset="0"/>
                            </a:rPr>
                            <m:t>𝑃</m:t>
                          </m:r>
                        </m:e>
                        <m:sub>
                          <m:r>
                            <a:rPr lang="en-US" sz="1800" b="0" i="1" smtClean="0">
                              <a:latin typeface="Cambria Math" panose="02040503050406030204" pitchFamily="18" charset="0"/>
                              <a:ea typeface="Cambria Math" panose="02040503050406030204" pitchFamily="18" charset="0"/>
                            </a:rPr>
                            <m:t>𝑠</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𝑏</m:t>
                          </m:r>
                        </m:sub>
                        <m:sup>
                          <m:r>
                            <m:rPr>
                              <m:sty m:val="p"/>
                            </m:rPr>
                            <a:rPr lang="en-US" sz="1800" b="0" i="1" smtClean="0">
                              <a:latin typeface="Cambria Math" panose="02040503050406030204" pitchFamily="18" charset="0"/>
                              <a:ea typeface="Cambria Math" panose="02040503050406030204" pitchFamily="18" charset="0"/>
                            </a:rPr>
                            <m:t>max</m:t>
                          </m:r>
                        </m:sup>
                      </m:sSubSup>
                    </m:oMath>
                  </m:oMathPara>
                </a14:m>
                <a:endParaRPr lang="en-US" sz="1800" dirty="0"/>
              </a:p>
              <a:p>
                <a:pPr>
                  <a:spcAft>
                    <a:spcPts val="600"/>
                  </a:spcAft>
                </a:pPr>
                <a:r>
                  <a:rPr lang="en-US" sz="1800" dirty="0">
                    <a:latin typeface="Times New Roman" panose="02020603050405020304" pitchFamily="18" charset="0"/>
                    <a:cs typeface="Times New Roman" panose="02020603050405020304" pitchFamily="18" charset="0"/>
                  </a:rPr>
                  <a:t>Each satellite also has a total transmit power budget</a:t>
                </a:r>
              </a:p>
              <a:p>
                <a:pPr marL="139700" indent="0">
                  <a:spcAft>
                    <a:spcPts val="600"/>
                  </a:spcAft>
                  <a:buNone/>
                </a:pPr>
                <a14:m>
                  <m:oMathPara xmlns:m="http://schemas.openxmlformats.org/officeDocument/2006/math">
                    <m:oMathParaPr>
                      <m:jc m:val="centerGroup"/>
                    </m:oMathParaPr>
                    <m:oMath xmlns:m="http://schemas.openxmlformats.org/officeDocument/2006/math">
                      <m:nary>
                        <m:naryPr>
                          <m:chr m:val="∑"/>
                          <m:supHide m:val="on"/>
                          <m:ctrlPr>
                            <a:rPr lang="en-US" sz="1800" i="1" smtClean="0">
                              <a:latin typeface="Cambria Math" panose="02040503050406030204" pitchFamily="18" charset="0"/>
                              <a:ea typeface="Cambria Math" panose="02040503050406030204" pitchFamily="18" charset="0"/>
                            </a:rPr>
                          </m:ctrlPr>
                        </m:naryPr>
                        <m:sub>
                          <m:r>
                            <m:rPr>
                              <m:brk m:alnAt="7"/>
                            </m:rPr>
                            <a:rPr lang="en-US" sz="1800" b="0" i="1" smtClean="0">
                              <a:latin typeface="Cambria Math" panose="02040503050406030204" pitchFamily="18" charset="0"/>
                              <a:ea typeface="Cambria Math" panose="02040503050406030204" pitchFamily="18" charset="0"/>
                            </a:rPr>
                            <m:t>𝑏</m:t>
                          </m:r>
                          <m:r>
                            <a:rPr lang="en-US" sz="1800" i="1" smtClean="0">
                              <a:latin typeface="Cambria Math" panose="02040503050406030204" pitchFamily="18" charset="0"/>
                              <a:ea typeface="Cambria Math" panose="02040503050406030204" pitchFamily="18" charset="0"/>
                            </a:rPr>
                            <m:t>∈</m:t>
                          </m:r>
                          <m:sSub>
                            <m:sSubPr>
                              <m:ctrlPr>
                                <a:rPr lang="en-US" sz="1800"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𝑩</m:t>
                              </m:r>
                            </m:e>
                            <m:sub>
                              <m:r>
                                <a:rPr lang="en-US" sz="1800" b="0" i="1" smtClean="0">
                                  <a:latin typeface="Cambria Math" panose="02040503050406030204" pitchFamily="18" charset="0"/>
                                  <a:ea typeface="Cambria Math" panose="02040503050406030204" pitchFamily="18" charset="0"/>
                                </a:rPr>
                                <m:t>𝑠</m:t>
                              </m:r>
                            </m:sub>
                          </m:sSub>
                        </m:sub>
                        <m:sup/>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𝑃</m:t>
                              </m:r>
                            </m:e>
                            <m:sub>
                              <m:r>
                                <a:rPr lang="en-US" sz="1800" i="1">
                                  <a:latin typeface="Cambria Math" panose="02040503050406030204" pitchFamily="18" charset="0"/>
                                  <a:ea typeface="Cambria Math" panose="02040503050406030204" pitchFamily="18" charset="0"/>
                                </a:rPr>
                                <m:t>𝑠</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𝑏</m:t>
                              </m:r>
                            </m:sub>
                          </m:sSub>
                          <m:r>
                            <a:rPr lang="en-US" sz="1800" i="1">
                              <a:latin typeface="Cambria Math" panose="02040503050406030204" pitchFamily="18" charset="0"/>
                              <a:ea typeface="Cambria Math" panose="02040503050406030204" pitchFamily="18" charset="0"/>
                            </a:rPr>
                            <m:t>(</m:t>
                          </m:r>
                          <m:r>
                            <m:rPr>
                              <m:sty m:val="p"/>
                            </m:rPr>
                            <a:rPr lang="en-US" sz="1800" i="1">
                              <a:latin typeface="Cambria Math" panose="02040503050406030204" pitchFamily="18" charset="0"/>
                              <a:ea typeface="Cambria Math" panose="02040503050406030204" pitchFamily="18" charset="0"/>
                            </a:rPr>
                            <m:t>t</m:t>
                          </m:r>
                          <m:r>
                            <a:rPr lang="en-US" sz="1800" i="1">
                              <a:latin typeface="Cambria Math" panose="02040503050406030204" pitchFamily="18" charset="0"/>
                              <a:ea typeface="Cambria Math" panose="02040503050406030204" pitchFamily="18" charset="0"/>
                            </a:rPr>
                            <m:t>)</m:t>
                          </m:r>
                        </m:e>
                      </m:nary>
                      <m:r>
                        <a:rPr lang="en-US" sz="1800" i="1">
                          <a:latin typeface="Cambria Math" panose="02040503050406030204" pitchFamily="18" charset="0"/>
                          <a:ea typeface="Cambria Math" panose="02040503050406030204" pitchFamily="18" charset="0"/>
                        </a:rPr>
                        <m:t>≤</m:t>
                      </m:r>
                      <m:sSubSup>
                        <m:sSubSupPr>
                          <m:ctrlPr>
                            <a:rPr lang="en-US" sz="1800" i="1">
                              <a:latin typeface="Cambria Math" panose="02040503050406030204" pitchFamily="18" charset="0"/>
                              <a:ea typeface="Cambria Math" panose="02040503050406030204" pitchFamily="18" charset="0"/>
                            </a:rPr>
                          </m:ctrlPr>
                        </m:sSubSupPr>
                        <m:e>
                          <m:r>
                            <a:rPr lang="en-US" sz="1800" i="1">
                              <a:latin typeface="Cambria Math" panose="02040503050406030204" pitchFamily="18" charset="0"/>
                              <a:ea typeface="Cambria Math" panose="02040503050406030204" pitchFamily="18" charset="0"/>
                            </a:rPr>
                            <m:t>𝑃</m:t>
                          </m:r>
                        </m:e>
                        <m:sub>
                          <m:r>
                            <a:rPr lang="en-US" sz="1800" i="1">
                              <a:latin typeface="Cambria Math" panose="02040503050406030204" pitchFamily="18" charset="0"/>
                              <a:ea typeface="Cambria Math" panose="02040503050406030204" pitchFamily="18" charset="0"/>
                            </a:rPr>
                            <m:t>𝑠</m:t>
                          </m:r>
                        </m:sub>
                        <m:sup>
                          <m:r>
                            <m:rPr>
                              <m:sty m:val="p"/>
                            </m:rPr>
                            <a:rPr lang="en-US" sz="1800" i="1">
                              <a:latin typeface="Cambria Math" panose="02040503050406030204" pitchFamily="18" charset="0"/>
                              <a:ea typeface="Cambria Math" panose="02040503050406030204" pitchFamily="18" charset="0"/>
                            </a:rPr>
                            <m:t>max</m:t>
                          </m:r>
                        </m:sup>
                      </m:sSubSup>
                    </m:oMath>
                  </m:oMathPara>
                </a14:m>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4" name="內容版面配置區 3">
                <a:extLst>
                  <a:ext uri="{FF2B5EF4-FFF2-40B4-BE49-F238E27FC236}">
                    <a16:creationId xmlns:a16="http://schemas.microsoft.com/office/drawing/2014/main" id="{4B7E6DC0-431E-FCC1-958D-4D5768F837B6}"/>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21014423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F80A448-2900-5758-0CEA-7ADB3DB372E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DE0C408-3B3E-3ACF-9899-78FA99E599E6}"/>
              </a:ext>
            </a:extLst>
          </p:cNvPr>
          <p:cNvSpPr>
            <a:spLocks noGrp="1"/>
          </p:cNvSpPr>
          <p:nvPr>
            <p:ph type="title"/>
          </p:nvPr>
        </p:nvSpPr>
        <p:spPr/>
        <p:txBody>
          <a:bodyPr/>
          <a:lstStyle/>
          <a:p>
            <a:r>
              <a:rPr lang="en-US" altLang="zh-TW" b="1" dirty="0">
                <a:latin typeface="Times New Roman"/>
                <a:cs typeface="Times New Roman"/>
              </a:rPr>
              <a:t>System Model – </a:t>
            </a:r>
            <a:r>
              <a:rPr lang="en-US" altLang="zh-TW" sz="1800" b="1" dirty="0">
                <a:latin typeface="Times New Roman" panose="02020603050405020304" pitchFamily="18" charset="0"/>
                <a:cs typeface="Times New Roman" panose="02020603050405020304" pitchFamily="18" charset="0"/>
              </a:rPr>
              <a:t>User Service Model</a:t>
            </a:r>
            <a:br>
              <a:rPr lang="vi-VN" sz="1800" b="1"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04C4AE35-FF9C-7E42-CFC2-66544475DE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40</a:t>
            </a:fld>
            <a:endParaRPr lang="en"/>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1770F98C-0FB2-8B21-EAAD-F0FAA540D05A}"/>
                  </a:ext>
                </a:extLst>
              </p:cNvPr>
              <p:cNvSpPr>
                <a:spLocks noGrp="1"/>
              </p:cNvSpPr>
              <p:nvPr>
                <p:ph idx="1"/>
              </p:nvPr>
            </p:nvSpPr>
            <p:spPr/>
            <p:txBody>
              <a:bodyPr/>
              <a:lstStyle/>
              <a:p>
                <a:pPr>
                  <a:spcAft>
                    <a:spcPts val="600"/>
                  </a:spcAft>
                </a:pPr>
                <a:r>
                  <a:rPr lang="vi-VN" sz="1800" dirty="0">
                    <a:latin typeface="+mj-lt"/>
                  </a:rPr>
                  <a:t>User Service Model</a:t>
                </a:r>
                <a:endParaRPr lang="en-US" sz="1800" dirty="0">
                  <a:latin typeface="+mj-lt"/>
                </a:endParaRP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User SINR</a:t>
                </a:r>
                <a:r>
                  <a:rPr lang="en-US" altLang="zh-TW" sz="1800" dirty="0">
                    <a:latin typeface="Times New Roman" panose="02020603050405020304" pitchFamily="18" charset="0"/>
                    <a:cs typeface="Times New Roman" panose="02020603050405020304" pitchFamily="18" charset="0"/>
                  </a:rPr>
                  <a:t>(</a:t>
                </a:r>
                <a:r>
                  <a:rPr lang="vi-VN" sz="1800" dirty="0">
                    <a:latin typeface="+mj-lt"/>
                  </a:rPr>
                  <a:t>Signal-to-Interference-plus-Noise Ratio</a:t>
                </a:r>
                <a:r>
                  <a:rPr lang="en-US" altLang="zh-TW" sz="180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is determined by the serving beam</a:t>
                </a:r>
                <a:r>
                  <a:rPr lang="vi-VN" sz="1800" dirty="0"/>
                  <a:t> </a:t>
                </a:r>
                <a:r>
                  <a:rPr lang="vi-VN" sz="1800" dirty="0">
                    <a:latin typeface="+mj-lt"/>
                  </a:rPr>
                  <a:t>downlink signal</a:t>
                </a:r>
                <a:r>
                  <a:rPr lang="en-US" sz="1800" dirty="0">
                    <a:cs typeface="Times New Roman" panose="02020603050405020304" pitchFamily="18" charset="0"/>
                  </a:rPr>
                  <a:t> </a:t>
                </a:r>
                <a14:m>
                  <m:oMath xmlns:m="http://schemas.openxmlformats.org/officeDocument/2006/math">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𝑆</m:t>
                        </m:r>
                      </m:e>
                      <m:sub>
                        <m:r>
                          <a:rPr lang="en-US" sz="1800" i="1">
                            <a:latin typeface="Cambria Math" panose="02040503050406030204" pitchFamily="18" charset="0"/>
                            <a:cs typeface="Times New Roman" panose="02020603050405020304" pitchFamily="18" charset="0"/>
                          </a:rPr>
                          <m:t>𝑢</m:t>
                        </m:r>
                      </m:sub>
                    </m:sSub>
                  </m:oMath>
                </a14:m>
                <a:r>
                  <a:rPr lang="en-US" sz="1800" dirty="0">
                    <a:latin typeface="Times New Roman" panose="02020603050405020304" pitchFamily="18" charset="0"/>
                    <a:cs typeface="Times New Roman" panose="02020603050405020304" pitchFamily="18" charset="0"/>
                  </a:rPr>
                  <a:t>, co-channel interference, and receiver noise.</a:t>
                </a:r>
              </a:p>
              <a:p>
                <a:pPr marL="596900" lvl="1" indent="0">
                  <a:spcAft>
                    <a:spcPts val="600"/>
                  </a:spcAft>
                  <a:buNone/>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cs typeface="Times New Roman" panose="02020603050405020304" pitchFamily="18" charset="0"/>
                            </a:rPr>
                          </m:ctrlPr>
                        </m:sSubPr>
                        <m:e>
                          <m:r>
                            <m:rPr>
                              <m:sty m:val="p"/>
                            </m:rPr>
                            <a:rPr lang="en-US" sz="1600" b="0" i="1" smtClean="0">
                              <a:latin typeface="Cambria Math" panose="02040503050406030204" pitchFamily="18" charset="0"/>
                              <a:cs typeface="Times New Roman" panose="02020603050405020304" pitchFamily="18" charset="0"/>
                            </a:rPr>
                            <m:t>SINR</m:t>
                          </m:r>
                        </m:e>
                        <m:sub>
                          <m:r>
                            <a:rPr lang="en-US" sz="1600" b="0" i="1" smtClean="0">
                              <a:latin typeface="Cambria Math" panose="02040503050406030204" pitchFamily="18" charset="0"/>
                              <a:cs typeface="Times New Roman" panose="02020603050405020304" pitchFamily="18" charset="0"/>
                            </a:rPr>
                            <m:t>𝑢</m:t>
                          </m:r>
                        </m:sub>
                      </m:sSub>
                      <m:r>
                        <a:rPr lang="en-US" sz="1600" b="0" i="1" smtClean="0">
                          <a:latin typeface="Cambria Math" panose="02040503050406030204" pitchFamily="18" charset="0"/>
                          <a:cs typeface="Times New Roman" panose="02020603050405020304" pitchFamily="18" charset="0"/>
                        </a:rPr>
                        <m:t>(</m:t>
                      </m:r>
                      <m:r>
                        <m:rPr>
                          <m:sty m:val="p"/>
                        </m:rPr>
                        <a:rPr lang="en-US" sz="1600" b="0" i="1" smtClean="0">
                          <a:latin typeface="Cambria Math" panose="02040503050406030204" pitchFamily="18" charset="0"/>
                          <a:cs typeface="Times New Roman" panose="02020603050405020304" pitchFamily="18" charset="0"/>
                        </a:rPr>
                        <m:t>t</m:t>
                      </m:r>
                      <m:r>
                        <a:rPr lang="en-US" sz="1600" b="0" i="1" smtClean="0">
                          <a:latin typeface="Cambria Math" panose="02040503050406030204" pitchFamily="18" charset="0"/>
                          <a:cs typeface="Times New Roman" panose="02020603050405020304" pitchFamily="18" charset="0"/>
                        </a:rPr>
                        <m:t>)=</m:t>
                      </m:r>
                      <m:f>
                        <m:fPr>
                          <m:ctrlPr>
                            <a:rPr lang="en-US" sz="1600" i="1" smtClean="0">
                              <a:latin typeface="Cambria Math" panose="02040503050406030204" pitchFamily="18" charset="0"/>
                              <a:cs typeface="Times New Roman" panose="02020603050405020304" pitchFamily="18" charset="0"/>
                            </a:rPr>
                          </m:ctrlPr>
                        </m:fPr>
                        <m:num>
                          <m:sSub>
                            <m:sSubPr>
                              <m:ctrlPr>
                                <a:rPr lang="en-US" sz="1600" i="1" smtClean="0">
                                  <a:latin typeface="Cambria Math" panose="02040503050406030204" pitchFamily="18" charset="0"/>
                                  <a:cs typeface="Times New Roman" panose="02020603050405020304" pitchFamily="18" charset="0"/>
                                </a:rPr>
                              </m:ctrlPr>
                            </m:sSubPr>
                            <m:e>
                              <m:r>
                                <a:rPr lang="en-US" sz="1600" b="0" i="1" smtClean="0">
                                  <a:latin typeface="Cambria Math" panose="02040503050406030204" pitchFamily="18" charset="0"/>
                                  <a:cs typeface="Times New Roman" panose="02020603050405020304" pitchFamily="18" charset="0"/>
                                </a:rPr>
                                <m:t>𝑆</m:t>
                              </m:r>
                            </m:e>
                            <m:sub>
                              <m:r>
                                <a:rPr lang="en-US" sz="1600" b="0" i="1" smtClean="0">
                                  <a:latin typeface="Cambria Math" panose="02040503050406030204" pitchFamily="18" charset="0"/>
                                  <a:cs typeface="Times New Roman" panose="02020603050405020304" pitchFamily="18" charset="0"/>
                                </a:rPr>
                                <m:t>𝑢</m:t>
                              </m:r>
                            </m:sub>
                          </m:sSub>
                          <m:r>
                            <a:rPr lang="en-US" sz="1600" b="0" i="1" smtClean="0">
                              <a:latin typeface="Cambria Math" panose="02040503050406030204" pitchFamily="18" charset="0"/>
                              <a:cs typeface="Times New Roman" panose="02020603050405020304" pitchFamily="18" charset="0"/>
                            </a:rPr>
                            <m:t>(</m:t>
                          </m:r>
                          <m:r>
                            <m:rPr>
                              <m:sty m:val="p"/>
                            </m:rPr>
                            <a:rPr lang="en-US" sz="1600" b="0" i="1" smtClean="0">
                              <a:latin typeface="Cambria Math" panose="02040503050406030204" pitchFamily="18" charset="0"/>
                              <a:cs typeface="Times New Roman" panose="02020603050405020304" pitchFamily="18" charset="0"/>
                            </a:rPr>
                            <m:t>t</m:t>
                          </m:r>
                          <m:r>
                            <a:rPr lang="en-US" sz="1600" b="0" i="1" smtClean="0">
                              <a:latin typeface="Cambria Math" panose="02040503050406030204" pitchFamily="18" charset="0"/>
                              <a:cs typeface="Times New Roman" panose="02020603050405020304" pitchFamily="18" charset="0"/>
                            </a:rPr>
                            <m:t>)</m:t>
                          </m:r>
                        </m:num>
                        <m:den>
                          <m:sSubSup>
                            <m:sSubSupPr>
                              <m:ctrlPr>
                                <a:rPr lang="en-US" sz="1600" i="1" smtClean="0">
                                  <a:latin typeface="Cambria Math" panose="02040503050406030204" pitchFamily="18" charset="0"/>
                                  <a:cs typeface="Times New Roman" panose="02020603050405020304" pitchFamily="18" charset="0"/>
                                </a:rPr>
                              </m:ctrlPr>
                            </m:sSubSupPr>
                            <m:e>
                              <m:r>
                                <a:rPr lang="en-US" altLang="zh-TW" sz="1600" i="1">
                                  <a:latin typeface="Cambria Math" panose="02040503050406030204" pitchFamily="18" charset="0"/>
                                  <a:cs typeface="Times New Roman" panose="02020603050405020304" pitchFamily="18" charset="0"/>
                                </a:rPr>
                                <m:t>𝐼</m:t>
                              </m:r>
                            </m:e>
                            <m:sub>
                              <m:r>
                                <a:rPr lang="en-US" sz="1600" b="0" i="1" smtClean="0">
                                  <a:latin typeface="Cambria Math" panose="02040503050406030204" pitchFamily="18" charset="0"/>
                                  <a:cs typeface="Times New Roman" panose="02020603050405020304" pitchFamily="18" charset="0"/>
                                </a:rPr>
                                <m:t>𝑢</m:t>
                              </m:r>
                            </m:sub>
                            <m:sup>
                              <m:r>
                                <m:rPr>
                                  <m:sty m:val="p"/>
                                </m:rPr>
                                <a:rPr lang="en-US" sz="1600" b="0" i="1" smtClean="0">
                                  <a:latin typeface="Cambria Math" panose="02040503050406030204" pitchFamily="18" charset="0"/>
                                  <a:cs typeface="Times New Roman" panose="02020603050405020304" pitchFamily="18" charset="0"/>
                                </a:rPr>
                                <m:t>intra</m:t>
                              </m:r>
                            </m:sup>
                          </m:sSubSup>
                          <m:r>
                            <a:rPr lang="en-US" sz="1600" i="1">
                              <a:latin typeface="Cambria Math" panose="02040503050406030204" pitchFamily="18" charset="0"/>
                              <a:cs typeface="Times New Roman" panose="02020603050405020304" pitchFamily="18" charset="0"/>
                            </a:rPr>
                            <m:t>(</m:t>
                          </m:r>
                          <m:r>
                            <m:rPr>
                              <m:sty m:val="p"/>
                            </m:rPr>
                            <a:rPr lang="en-US" sz="1600" i="1">
                              <a:latin typeface="Cambria Math" panose="02040503050406030204" pitchFamily="18" charset="0"/>
                              <a:cs typeface="Times New Roman" panose="02020603050405020304" pitchFamily="18" charset="0"/>
                            </a:rPr>
                            <m:t>t</m:t>
                          </m:r>
                          <m:r>
                            <a:rPr lang="en-US" sz="1600" i="1">
                              <a:latin typeface="Cambria Math" panose="02040503050406030204" pitchFamily="18" charset="0"/>
                              <a:cs typeface="Times New Roman" panose="02020603050405020304" pitchFamily="18" charset="0"/>
                            </a:rPr>
                            <m:t>)+</m:t>
                          </m:r>
                          <m:sSubSup>
                            <m:sSubSupPr>
                              <m:ctrlPr>
                                <a:rPr lang="en-US" sz="1600" i="1" smtClean="0">
                                  <a:latin typeface="Cambria Math" panose="02040503050406030204" pitchFamily="18" charset="0"/>
                                  <a:cs typeface="Times New Roman" panose="02020603050405020304" pitchFamily="18" charset="0"/>
                                </a:rPr>
                              </m:ctrlPr>
                            </m:sSubSupPr>
                            <m:e>
                              <m:r>
                                <a:rPr lang="en-US" sz="1600" b="0" i="1" smtClean="0">
                                  <a:latin typeface="Cambria Math" panose="02040503050406030204" pitchFamily="18" charset="0"/>
                                  <a:cs typeface="Times New Roman" panose="02020603050405020304" pitchFamily="18" charset="0"/>
                                </a:rPr>
                                <m:t>𝐼</m:t>
                              </m:r>
                            </m:e>
                            <m:sub>
                              <m:r>
                                <a:rPr lang="en-US" sz="1600" b="0" i="1" smtClean="0">
                                  <a:latin typeface="Cambria Math" panose="02040503050406030204" pitchFamily="18" charset="0"/>
                                  <a:cs typeface="Times New Roman" panose="02020603050405020304" pitchFamily="18" charset="0"/>
                                </a:rPr>
                                <m:t>𝑢</m:t>
                              </m:r>
                            </m:sub>
                            <m:sup>
                              <m:r>
                                <m:rPr>
                                  <m:sty m:val="p"/>
                                </m:rPr>
                                <a:rPr lang="en-US" sz="1600" b="0" i="1" smtClean="0">
                                  <a:latin typeface="Cambria Math" panose="02040503050406030204" pitchFamily="18" charset="0"/>
                                  <a:cs typeface="Times New Roman" panose="02020603050405020304" pitchFamily="18" charset="0"/>
                                </a:rPr>
                                <m:t>inter</m:t>
                              </m:r>
                            </m:sup>
                          </m:sSubSup>
                          <m:r>
                            <a:rPr lang="en-US" sz="1600" i="1">
                              <a:latin typeface="Cambria Math" panose="02040503050406030204" pitchFamily="18" charset="0"/>
                              <a:cs typeface="Times New Roman" panose="02020603050405020304" pitchFamily="18" charset="0"/>
                            </a:rPr>
                            <m:t>(</m:t>
                          </m:r>
                          <m:r>
                            <m:rPr>
                              <m:sty m:val="p"/>
                            </m:rPr>
                            <a:rPr lang="en-US" sz="1600" i="1">
                              <a:latin typeface="Cambria Math" panose="02040503050406030204" pitchFamily="18" charset="0"/>
                              <a:cs typeface="Times New Roman" panose="02020603050405020304" pitchFamily="18" charset="0"/>
                            </a:rPr>
                            <m:t>t</m:t>
                          </m:r>
                          <m:r>
                            <a:rPr lang="en-US" sz="1600" i="1">
                              <a:latin typeface="Cambria Math" panose="02040503050406030204" pitchFamily="18" charset="0"/>
                              <a:cs typeface="Times New Roman" panose="02020603050405020304" pitchFamily="18" charset="0"/>
                            </a:rPr>
                            <m:t>)+</m:t>
                          </m:r>
                          <m:sSub>
                            <m:sSubPr>
                              <m:ctrlPr>
                                <a:rPr lang="en-US" sz="1600" i="1" smtClean="0">
                                  <a:latin typeface="Cambria Math" panose="02040503050406030204" pitchFamily="18" charset="0"/>
                                  <a:cs typeface="Times New Roman" panose="02020603050405020304" pitchFamily="18" charset="0"/>
                                </a:rPr>
                              </m:ctrlPr>
                            </m:sSubPr>
                            <m:e>
                              <m:r>
                                <a:rPr lang="en-US" sz="1600" b="0" i="1" smtClean="0">
                                  <a:latin typeface="Cambria Math" panose="02040503050406030204" pitchFamily="18" charset="0"/>
                                  <a:cs typeface="Times New Roman" panose="02020603050405020304" pitchFamily="18" charset="0"/>
                                </a:rPr>
                                <m:t>𝑁</m:t>
                              </m:r>
                            </m:e>
                            <m:sub>
                              <m:r>
                                <m:rPr>
                                  <m:sty m:val="p"/>
                                </m:rPr>
                                <a:rPr lang="en-US" sz="1600" b="0" i="1" smtClean="0">
                                  <a:latin typeface="Cambria Math" panose="02040503050406030204" pitchFamily="18" charset="0"/>
                                  <a:cs typeface="Times New Roman" panose="02020603050405020304" pitchFamily="18" charset="0"/>
                                </a:rPr>
                                <m:t>u</m:t>
                              </m:r>
                            </m:sub>
                          </m:sSub>
                          <m:r>
                            <a:rPr lang="en-US" sz="1600" b="0" i="1" smtClean="0">
                              <a:latin typeface="Cambria Math" panose="02040503050406030204" pitchFamily="18" charset="0"/>
                              <a:cs typeface="Times New Roman" panose="02020603050405020304" pitchFamily="18" charset="0"/>
                            </a:rPr>
                            <m:t>(</m:t>
                          </m:r>
                          <m:r>
                            <m:rPr>
                              <m:sty m:val="p"/>
                            </m:rPr>
                            <a:rPr lang="en-US" sz="1600" b="0" i="1" smtClean="0">
                              <a:latin typeface="Cambria Math" panose="02040503050406030204" pitchFamily="18" charset="0"/>
                              <a:cs typeface="Times New Roman" panose="02020603050405020304" pitchFamily="18" charset="0"/>
                            </a:rPr>
                            <m:t>t</m:t>
                          </m:r>
                          <m:r>
                            <a:rPr lang="en-US" sz="1600" b="0" i="1" smtClean="0">
                              <a:latin typeface="Cambria Math" panose="02040503050406030204" pitchFamily="18" charset="0"/>
                              <a:cs typeface="Times New Roman" panose="02020603050405020304" pitchFamily="18" charset="0"/>
                            </a:rPr>
                            <m:t>)</m:t>
                          </m:r>
                        </m:den>
                      </m:f>
                    </m:oMath>
                  </m:oMathPara>
                </a14:m>
                <a:endParaRPr lang="en-US" sz="1800" dirty="0">
                  <a:latin typeface="Times New Roman" panose="02020603050405020304" pitchFamily="18" charset="0"/>
                  <a:cs typeface="Times New Roman" panose="02020603050405020304" pitchFamily="18" charset="0"/>
                </a:endParaRP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Beam’s instantaneous capacity follows the Shannon capacity model.</a:t>
                </a:r>
              </a:p>
              <a:p>
                <a:pPr marL="596900" lvl="1" indent="0">
                  <a:spcAft>
                    <a:spcPts val="600"/>
                  </a:spcAft>
                  <a:buNone/>
                </a:pPr>
                <a14:m>
                  <m:oMathPara xmlns:m="http://schemas.openxmlformats.org/officeDocument/2006/math">
                    <m:oMathParaPr>
                      <m:jc m:val="centerGroup"/>
                    </m:oMathParaPr>
                    <m:oMath xmlns:m="http://schemas.openxmlformats.org/officeDocument/2006/math">
                      <m:sSub>
                        <m:sSubPr>
                          <m:ctrlPr>
                            <a:rPr lang="en-US" sz="1800" i="1">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𝐶</m:t>
                          </m:r>
                        </m:e>
                        <m:sub>
                          <m:r>
                            <a:rPr lang="en-US" sz="1800" i="1">
                              <a:latin typeface="Cambria Math" panose="02040503050406030204" pitchFamily="18" charset="0"/>
                              <a:cs typeface="Times New Roman" panose="02020603050405020304" pitchFamily="18" charset="0"/>
                            </a:rPr>
                            <m:t>𝑢</m:t>
                          </m:r>
                        </m:sub>
                      </m:sSub>
                      <m:r>
                        <a:rPr lang="en-US" sz="1800" i="1">
                          <a:latin typeface="Cambria Math" panose="02040503050406030204" pitchFamily="18" charset="0"/>
                          <a:cs typeface="Times New Roman" panose="02020603050405020304" pitchFamily="18" charset="0"/>
                        </a:rPr>
                        <m:t>(</m:t>
                      </m:r>
                      <m:r>
                        <m:rPr>
                          <m:sty m:val="p"/>
                        </m:rPr>
                        <a:rPr lang="en-US" sz="1800" i="1">
                          <a:latin typeface="Cambria Math" panose="02040503050406030204" pitchFamily="18" charset="0"/>
                          <a:cs typeface="Times New Roman" panose="02020603050405020304" pitchFamily="18" charset="0"/>
                        </a:rPr>
                        <m:t>t</m:t>
                      </m:r>
                      <m:r>
                        <a:rPr lang="en-US" sz="1800" i="1">
                          <a:latin typeface="Cambria Math" panose="02040503050406030204" pitchFamily="18" charset="0"/>
                          <a:cs typeface="Times New Roman" panose="02020603050405020304" pitchFamily="18" charset="0"/>
                        </a:rPr>
                        <m:t>) =</m:t>
                      </m:r>
                      <m:sSub>
                        <m:sSubPr>
                          <m:ctrlPr>
                            <a:rPr lang="en-US" sz="1800" i="1">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𝐵</m:t>
                          </m:r>
                        </m:e>
                        <m:sub>
                          <m:r>
                            <a:rPr lang="en-US" sz="1800" i="1">
                              <a:latin typeface="Cambria Math" panose="02040503050406030204" pitchFamily="18" charset="0"/>
                              <a:cs typeface="Times New Roman" panose="02020603050405020304" pitchFamily="18" charset="0"/>
                            </a:rPr>
                            <m:t>𝑢</m:t>
                          </m:r>
                        </m:sub>
                      </m:sSub>
                      <m:r>
                        <a:rPr lang="en-US" sz="1800" i="1">
                          <a:latin typeface="Cambria Math" panose="02040503050406030204" pitchFamily="18" charset="0"/>
                          <a:cs typeface="Times New Roman" panose="02020603050405020304" pitchFamily="18" charset="0"/>
                        </a:rPr>
                        <m:t>(</m:t>
                      </m:r>
                      <m:r>
                        <m:rPr>
                          <m:sty m:val="p"/>
                        </m:rPr>
                        <a:rPr lang="en-US" sz="1800" i="1">
                          <a:latin typeface="Cambria Math" panose="02040503050406030204" pitchFamily="18" charset="0"/>
                          <a:cs typeface="Times New Roman" panose="02020603050405020304" pitchFamily="18" charset="0"/>
                        </a:rPr>
                        <m:t>t</m:t>
                      </m:r>
                      <m:r>
                        <a:rPr lang="en-US" sz="1800" i="1">
                          <a:latin typeface="Cambria Math" panose="02040503050406030204" pitchFamily="18" charset="0"/>
                          <a:cs typeface="Times New Roman" panose="02020603050405020304" pitchFamily="18" charset="0"/>
                        </a:rPr>
                        <m:t>)</m:t>
                      </m:r>
                      <m:func>
                        <m:funcPr>
                          <m:ctrlPr>
                            <a:rPr lang="en-US" sz="1800" i="1" smtClean="0">
                              <a:latin typeface="Cambria Math" panose="02040503050406030204" pitchFamily="18" charset="0"/>
                              <a:cs typeface="Times New Roman" panose="02020603050405020304" pitchFamily="18" charset="0"/>
                            </a:rPr>
                          </m:ctrlPr>
                        </m:funcPr>
                        <m:fName>
                          <m:sSub>
                            <m:sSubPr>
                              <m:ctrlPr>
                                <a:rPr lang="en-US" sz="1800" i="1" smtClean="0">
                                  <a:latin typeface="Cambria Math" panose="02040503050406030204" pitchFamily="18" charset="0"/>
                                  <a:cs typeface="Times New Roman" panose="02020603050405020304" pitchFamily="18" charset="0"/>
                                </a:rPr>
                              </m:ctrlPr>
                            </m:sSubPr>
                            <m:e>
                              <m:r>
                                <m:rPr>
                                  <m:sty m:val="p"/>
                                </m:rPr>
                                <a:rPr lang="en-US" sz="1800" i="0" smtClean="0">
                                  <a:latin typeface="Cambria Math" panose="02040503050406030204" pitchFamily="18" charset="0"/>
                                  <a:cs typeface="Times New Roman" panose="02020603050405020304" pitchFamily="18" charset="0"/>
                                </a:rPr>
                                <m:t>log</m:t>
                              </m:r>
                            </m:e>
                            <m:sub>
                              <m:r>
                                <a:rPr lang="en-US" sz="1800" b="0" i="1" smtClean="0">
                                  <a:latin typeface="Cambria Math" panose="02040503050406030204" pitchFamily="18" charset="0"/>
                                  <a:cs typeface="Times New Roman" panose="02020603050405020304" pitchFamily="18" charset="0"/>
                                </a:rPr>
                                <m:t>2</m:t>
                              </m:r>
                            </m:sub>
                          </m:sSub>
                        </m:fName>
                        <m:e>
                          <m:r>
                            <a:rPr lang="en-US" sz="1800" b="0" i="1" smtClean="0">
                              <a:latin typeface="Cambria Math" panose="02040503050406030204" pitchFamily="18" charset="0"/>
                              <a:cs typeface="Times New Roman" panose="02020603050405020304" pitchFamily="18" charset="0"/>
                            </a:rPr>
                            <m:t>(1+</m:t>
                          </m:r>
                          <m:sSub>
                            <m:sSubPr>
                              <m:ctrlPr>
                                <a:rPr lang="en-US" sz="1800" i="1">
                                  <a:latin typeface="Cambria Math" panose="02040503050406030204" pitchFamily="18" charset="0"/>
                                  <a:cs typeface="Times New Roman" panose="02020603050405020304" pitchFamily="18" charset="0"/>
                                </a:rPr>
                              </m:ctrlPr>
                            </m:sSubPr>
                            <m:e>
                              <m:r>
                                <m:rPr>
                                  <m:sty m:val="p"/>
                                </m:rPr>
                                <a:rPr lang="en-US" sz="1800" i="1">
                                  <a:latin typeface="Cambria Math" panose="02040503050406030204" pitchFamily="18" charset="0"/>
                                  <a:cs typeface="Times New Roman" panose="02020603050405020304" pitchFamily="18" charset="0"/>
                                </a:rPr>
                                <m:t>SINR</m:t>
                              </m:r>
                            </m:e>
                            <m:sub>
                              <m:r>
                                <a:rPr lang="en-US" sz="1800" i="1">
                                  <a:latin typeface="Cambria Math" panose="02040503050406030204" pitchFamily="18" charset="0"/>
                                  <a:cs typeface="Times New Roman" panose="02020603050405020304" pitchFamily="18" charset="0"/>
                                </a:rPr>
                                <m:t>𝑢</m:t>
                              </m:r>
                            </m:sub>
                          </m:sSub>
                          <m:r>
                            <a:rPr lang="en-US" sz="1800" i="1">
                              <a:latin typeface="Cambria Math" panose="02040503050406030204" pitchFamily="18" charset="0"/>
                              <a:cs typeface="Times New Roman" panose="02020603050405020304" pitchFamily="18" charset="0"/>
                            </a:rPr>
                            <m:t>(</m:t>
                          </m:r>
                          <m:r>
                            <m:rPr>
                              <m:sty m:val="p"/>
                            </m:rPr>
                            <a:rPr lang="en-US" sz="1800" i="1">
                              <a:latin typeface="Cambria Math" panose="02040503050406030204" pitchFamily="18" charset="0"/>
                              <a:cs typeface="Times New Roman" panose="02020603050405020304" pitchFamily="18" charset="0"/>
                            </a:rPr>
                            <m:t>t</m:t>
                          </m:r>
                          <m:r>
                            <a:rPr lang="en-US" sz="1800" i="1">
                              <a:latin typeface="Cambria Math" panose="02040503050406030204" pitchFamily="18" charset="0"/>
                              <a:cs typeface="Times New Roman" panose="02020603050405020304" pitchFamily="18" charset="0"/>
                            </a:rPr>
                            <m:t>))</m:t>
                          </m:r>
                        </m:e>
                      </m:func>
                    </m:oMath>
                  </m:oMathPara>
                </a14:m>
                <a:endParaRPr lang="en-US" sz="1800" dirty="0">
                  <a:latin typeface="Times New Roman" panose="02020603050405020304" pitchFamily="18" charset="0"/>
                  <a:cs typeface="Times New Roman" panose="02020603050405020304" pitchFamily="18" charset="0"/>
                </a:endParaRPr>
              </a:p>
            </p:txBody>
          </p:sp>
        </mc:Choice>
        <mc:Fallback xmlns="">
          <p:sp>
            <p:nvSpPr>
              <p:cNvPr id="4" name="內容版面配置區 3">
                <a:extLst>
                  <a:ext uri="{FF2B5EF4-FFF2-40B4-BE49-F238E27FC236}">
                    <a16:creationId xmlns:a16="http://schemas.microsoft.com/office/drawing/2014/main" id="{1770F98C-0FB2-8B21-EAAD-F0FAA540D05A}"/>
                  </a:ext>
                </a:extLst>
              </p:cNvPr>
              <p:cNvSpPr>
                <a:spLocks noGrp="1" noRot="1" noChangeAspect="1" noMove="1" noResize="1" noEditPoints="1" noAdjustHandles="1" noChangeArrowheads="1" noChangeShapeType="1" noTextEdit="1"/>
              </p:cNvSpPr>
              <p:nvPr>
                <p:ph idx="1"/>
              </p:nvPr>
            </p:nvSpPr>
            <p:spPr>
              <a:blipFill>
                <a:blip r:embed="rId3"/>
                <a:stretch>
                  <a:fillRect r="-1216"/>
                </a:stretch>
              </a:blipFill>
            </p:spPr>
            <p:txBody>
              <a:bodyPr/>
              <a:lstStyle/>
              <a:p>
                <a:r>
                  <a:rPr lang="vi-VN">
                    <a:noFill/>
                  </a:rPr>
                  <a:t> </a:t>
                </a:r>
              </a:p>
            </p:txBody>
          </p:sp>
        </mc:Fallback>
      </mc:AlternateContent>
    </p:spTree>
    <p:extLst>
      <p:ext uri="{BB962C8B-B14F-4D97-AF65-F5344CB8AC3E}">
        <p14:creationId xmlns:p14="http://schemas.microsoft.com/office/powerpoint/2010/main" val="26336085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E2DE758-9D29-E0AD-7B10-403F9DA6372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6383D59-0C77-50F7-252D-B9D5D97438EA}"/>
              </a:ext>
            </a:extLst>
          </p:cNvPr>
          <p:cNvSpPr>
            <a:spLocks noGrp="1"/>
          </p:cNvSpPr>
          <p:nvPr>
            <p:ph type="title"/>
          </p:nvPr>
        </p:nvSpPr>
        <p:spPr/>
        <p:txBody>
          <a:bodyPr/>
          <a:lstStyle/>
          <a:p>
            <a:r>
              <a:rPr lang="en-US" altLang="zh-TW" b="1" dirty="0">
                <a:latin typeface="Times New Roman"/>
                <a:cs typeface="Times New Roman"/>
              </a:rPr>
              <a:t>System Model – </a:t>
            </a:r>
            <a:r>
              <a:rPr lang="en-US" altLang="zh-TW" sz="1800" b="1" dirty="0">
                <a:latin typeface="Times New Roman" panose="02020603050405020304" pitchFamily="18" charset="0"/>
                <a:cs typeface="Times New Roman" panose="02020603050405020304" pitchFamily="18" charset="0"/>
              </a:rPr>
              <a:t>User Service Model</a:t>
            </a:r>
            <a:br>
              <a:rPr lang="vi-VN" sz="1800" b="1"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3FBA4BDA-99D9-6B65-31F0-29425418CE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41</a:t>
            </a:fld>
            <a:endParaRPr lang="en"/>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80071D1E-A784-A1F0-7045-48822FADB85F}"/>
                  </a:ext>
                </a:extLst>
              </p:cNvPr>
              <p:cNvSpPr>
                <a:spLocks noGrp="1"/>
              </p:cNvSpPr>
              <p:nvPr>
                <p:ph idx="1"/>
              </p:nvPr>
            </p:nvSpPr>
            <p:spPr/>
            <p:txBody>
              <a:bodyPr/>
              <a:lstStyle/>
              <a:p>
                <a:pPr>
                  <a:spcAft>
                    <a:spcPts val="600"/>
                  </a:spcAft>
                </a:pPr>
                <a:r>
                  <a:rPr lang="vi-VN" sz="1800" dirty="0">
                    <a:latin typeface="+mj-lt"/>
                  </a:rPr>
                  <a:t>User Service Model</a:t>
                </a:r>
                <a:endParaRPr lang="en-US" sz="1800" dirty="0">
                  <a:latin typeface="Times New Roman" panose="02020603050405020304" pitchFamily="18" charset="0"/>
                  <a:cs typeface="Times New Roman" panose="02020603050405020304" pitchFamily="18" charset="0"/>
                </a:endParaRP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Users served by the same beam share the beam resource.</a:t>
                </a:r>
              </a:p>
              <a:p>
                <a:pPr marL="596900" lvl="1" indent="0">
                  <a:spcAft>
                    <a:spcPts val="600"/>
                  </a:spcAft>
                  <a:buNone/>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𝑅</m:t>
                          </m:r>
                        </m:e>
                        <m:sub>
                          <m:r>
                            <a:rPr lang="en-US" sz="1800" i="1">
                              <a:latin typeface="Cambria Math" panose="02040503050406030204" pitchFamily="18" charset="0"/>
                              <a:cs typeface="Times New Roman" panose="02020603050405020304" pitchFamily="18" charset="0"/>
                            </a:rPr>
                            <m:t>𝑢</m:t>
                          </m:r>
                        </m:sub>
                      </m:sSub>
                      <m:r>
                        <a:rPr lang="en-US" sz="1800" i="1">
                          <a:latin typeface="Cambria Math" panose="02040503050406030204" pitchFamily="18" charset="0"/>
                          <a:cs typeface="Times New Roman" panose="02020603050405020304" pitchFamily="18" charset="0"/>
                        </a:rPr>
                        <m:t>(</m:t>
                      </m:r>
                      <m:r>
                        <m:rPr>
                          <m:sty m:val="p"/>
                        </m:rPr>
                        <a:rPr lang="en-US" sz="1800" i="1">
                          <a:latin typeface="Cambria Math" panose="02040503050406030204" pitchFamily="18" charset="0"/>
                          <a:cs typeface="Times New Roman" panose="02020603050405020304" pitchFamily="18" charset="0"/>
                        </a:rPr>
                        <m:t>t</m:t>
                      </m:r>
                      <m:r>
                        <a:rPr lang="en-US" sz="1800" i="1">
                          <a:latin typeface="Cambria Math" panose="02040503050406030204" pitchFamily="18" charset="0"/>
                          <a:cs typeface="Times New Roman" panose="02020603050405020304" pitchFamily="18" charset="0"/>
                        </a:rPr>
                        <m:t>)=</m:t>
                      </m:r>
                      <m:f>
                        <m:fPr>
                          <m:ctrlPr>
                            <a:rPr lang="en-US" sz="1800" i="1">
                              <a:latin typeface="Cambria Math" panose="02040503050406030204" pitchFamily="18" charset="0"/>
                              <a:cs typeface="Times New Roman" panose="02020603050405020304" pitchFamily="18" charset="0"/>
                            </a:rPr>
                          </m:ctrlPr>
                        </m:fPr>
                        <m:num>
                          <m:sSub>
                            <m:sSubPr>
                              <m:ctrlPr>
                                <a:rPr lang="en-US" sz="1800" i="1">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𝐶</m:t>
                              </m:r>
                            </m:e>
                            <m:sub>
                              <m:r>
                                <a:rPr lang="en-US" sz="1800" i="1">
                                  <a:latin typeface="Cambria Math" panose="02040503050406030204" pitchFamily="18" charset="0"/>
                                  <a:cs typeface="Times New Roman" panose="02020603050405020304" pitchFamily="18" charset="0"/>
                                </a:rPr>
                                <m:t>𝑢</m:t>
                              </m:r>
                            </m:sub>
                          </m:sSub>
                          <m:r>
                            <a:rPr lang="en-US" sz="1800" i="1">
                              <a:latin typeface="Cambria Math" panose="02040503050406030204" pitchFamily="18" charset="0"/>
                              <a:cs typeface="Times New Roman" panose="02020603050405020304" pitchFamily="18" charset="0"/>
                            </a:rPr>
                            <m:t>(</m:t>
                          </m:r>
                          <m:r>
                            <m:rPr>
                              <m:sty m:val="p"/>
                            </m:rPr>
                            <a:rPr lang="en-US" sz="1800" i="1">
                              <a:latin typeface="Cambria Math" panose="02040503050406030204" pitchFamily="18" charset="0"/>
                              <a:cs typeface="Times New Roman" panose="02020603050405020304" pitchFamily="18" charset="0"/>
                            </a:rPr>
                            <m:t>t</m:t>
                          </m:r>
                          <m:r>
                            <a:rPr lang="en-US" sz="1800" i="1">
                              <a:latin typeface="Cambria Math" panose="02040503050406030204" pitchFamily="18" charset="0"/>
                              <a:cs typeface="Times New Roman" panose="02020603050405020304" pitchFamily="18" charset="0"/>
                            </a:rPr>
                            <m:t>)</m:t>
                          </m:r>
                        </m:num>
                        <m:den>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𝑁</m:t>
                              </m:r>
                            </m:e>
                            <m:sub>
                              <m:r>
                                <a:rPr lang="en-US" sz="1800" b="0" i="1" smtClean="0">
                                  <a:latin typeface="Cambria Math" panose="02040503050406030204" pitchFamily="18" charset="0"/>
                                  <a:cs typeface="Times New Roman" panose="02020603050405020304" pitchFamily="18" charset="0"/>
                                </a:rPr>
                                <m:t>𝑠</m:t>
                              </m:r>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𝑏</m:t>
                              </m:r>
                            </m:sub>
                          </m:sSub>
                          <m:r>
                            <a:rPr lang="en-US" sz="1800" i="1">
                              <a:latin typeface="Cambria Math" panose="02040503050406030204" pitchFamily="18" charset="0"/>
                              <a:cs typeface="Times New Roman" panose="02020603050405020304" pitchFamily="18" charset="0"/>
                            </a:rPr>
                            <m:t>(</m:t>
                          </m:r>
                          <m:r>
                            <m:rPr>
                              <m:sty m:val="p"/>
                            </m:rPr>
                            <a:rPr lang="en-US" sz="1800" i="1">
                              <a:latin typeface="Cambria Math" panose="02040503050406030204" pitchFamily="18" charset="0"/>
                              <a:cs typeface="Times New Roman" panose="02020603050405020304" pitchFamily="18" charset="0"/>
                            </a:rPr>
                            <m:t>t</m:t>
                          </m:r>
                          <m:r>
                            <a:rPr lang="en-US" sz="1800" i="1">
                              <a:latin typeface="Cambria Math" panose="02040503050406030204" pitchFamily="18" charset="0"/>
                              <a:cs typeface="Times New Roman" panose="02020603050405020304" pitchFamily="18" charset="0"/>
                            </a:rPr>
                            <m:t>)</m:t>
                          </m:r>
                        </m:den>
                      </m:f>
                    </m:oMath>
                  </m:oMathPara>
                </a14:m>
                <a:endParaRPr lang="en-US" sz="1800" dirty="0">
                  <a:latin typeface="Times New Roman" panose="02020603050405020304" pitchFamily="18" charset="0"/>
                  <a:cs typeface="Times New Roman" panose="02020603050405020304" pitchFamily="18" charset="0"/>
                </a:endParaRP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User satisfaction measures the fraction of user demand </a:t>
                </a:r>
                <a14:m>
                  <m:oMath xmlns:m="http://schemas.openxmlformats.org/officeDocument/2006/math">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𝐷</m:t>
                        </m:r>
                      </m:e>
                      <m:sub>
                        <m:r>
                          <a:rPr lang="en-US" sz="1800" i="1">
                            <a:latin typeface="Cambria Math" panose="02040503050406030204" pitchFamily="18" charset="0"/>
                            <a:cs typeface="Times New Roman" panose="02020603050405020304" pitchFamily="18" charset="0"/>
                          </a:rPr>
                          <m:t>𝑢</m:t>
                        </m:r>
                      </m:sub>
                    </m:sSub>
                    <m:r>
                      <a:rPr lang="en-US" sz="1800" i="1">
                        <a:latin typeface="Cambria Math" panose="02040503050406030204" pitchFamily="18" charset="0"/>
                        <a:cs typeface="Times New Roman" panose="02020603050405020304" pitchFamily="18" charset="0"/>
                      </a:rPr>
                      <m:t> </m:t>
                    </m:r>
                  </m:oMath>
                </a14:m>
                <a:r>
                  <a:rPr lang="en-US" sz="1800" dirty="0">
                    <a:latin typeface="Times New Roman" panose="02020603050405020304" pitchFamily="18" charset="0"/>
                    <a:cs typeface="Times New Roman" panose="02020603050405020304" pitchFamily="18" charset="0"/>
                  </a:rPr>
                  <a:t>being satisfied.</a:t>
                </a:r>
              </a:p>
              <a:p>
                <a:pPr marL="596900" lvl="1" indent="0">
                  <a:spcAft>
                    <a:spcPts val="600"/>
                  </a:spcAft>
                  <a:buNone/>
                </a:pPr>
                <a14:m>
                  <m:oMathPara xmlns:m="http://schemas.openxmlformats.org/officeDocument/2006/math">
                    <m:oMathParaPr>
                      <m:jc m:val="centerGroup"/>
                    </m:oMathParaPr>
                    <m:oMath xmlns:m="http://schemas.openxmlformats.org/officeDocument/2006/math">
                      <m:sSub>
                        <m:sSubPr>
                          <m:ctrlPr>
                            <a:rPr lang="en-US" sz="1800" i="1">
                              <a:latin typeface="Cambria Math" panose="02040503050406030204" pitchFamily="18" charset="0"/>
                              <a:cs typeface="Times New Roman" panose="02020603050405020304" pitchFamily="18" charset="0"/>
                            </a:rPr>
                          </m:ctrlPr>
                        </m:sSubPr>
                        <m:e>
                          <m:r>
                            <m:rPr>
                              <m:sty m:val="p"/>
                            </m:rPr>
                            <a:rPr lang="en-US" sz="1800" b="0" i="1" smtClean="0">
                              <a:latin typeface="Cambria Math" panose="02040503050406030204" pitchFamily="18" charset="0"/>
                              <a:cs typeface="Times New Roman" panose="02020603050405020304" pitchFamily="18" charset="0"/>
                            </a:rPr>
                            <m:t>sat</m:t>
                          </m:r>
                        </m:e>
                        <m:sub>
                          <m:r>
                            <a:rPr lang="en-US" sz="1800" i="1">
                              <a:latin typeface="Cambria Math" panose="02040503050406030204" pitchFamily="18" charset="0"/>
                              <a:cs typeface="Times New Roman" panose="02020603050405020304" pitchFamily="18" charset="0"/>
                            </a:rPr>
                            <m:t>𝑢</m:t>
                          </m:r>
                        </m:sub>
                      </m:sSub>
                      <m:r>
                        <a:rPr lang="en-US" sz="1800" i="1">
                          <a:latin typeface="Cambria Math" panose="02040503050406030204" pitchFamily="18" charset="0"/>
                          <a:cs typeface="Times New Roman" panose="02020603050405020304" pitchFamily="18" charset="0"/>
                        </a:rPr>
                        <m:t>(</m:t>
                      </m:r>
                      <m:r>
                        <m:rPr>
                          <m:sty m:val="p"/>
                        </m:rPr>
                        <a:rPr lang="en-US" sz="1800" i="1">
                          <a:latin typeface="Cambria Math" panose="02040503050406030204" pitchFamily="18" charset="0"/>
                          <a:cs typeface="Times New Roman" panose="02020603050405020304" pitchFamily="18" charset="0"/>
                        </a:rPr>
                        <m:t>t</m:t>
                      </m:r>
                      <m:r>
                        <a:rPr lang="en-US" sz="1800" i="1">
                          <a:latin typeface="Cambria Math" panose="02040503050406030204" pitchFamily="18" charset="0"/>
                          <a:cs typeface="Times New Roman" panose="02020603050405020304" pitchFamily="18" charset="0"/>
                        </a:rPr>
                        <m:t>)=</m:t>
                      </m:r>
                      <m:r>
                        <m:rPr>
                          <m:sty m:val="p"/>
                        </m:rPr>
                        <a:rPr lang="en-US" sz="1800" b="0" i="1" smtClean="0">
                          <a:latin typeface="Cambria Math" panose="02040503050406030204" pitchFamily="18" charset="0"/>
                          <a:cs typeface="Times New Roman" panose="02020603050405020304" pitchFamily="18" charset="0"/>
                        </a:rPr>
                        <m:t>min</m:t>
                      </m:r>
                      <m:d>
                        <m:dPr>
                          <m:ctrlPr>
                            <a:rPr lang="en-US" sz="1800" i="1" smtClean="0">
                              <a:latin typeface="Cambria Math" panose="02040503050406030204" pitchFamily="18" charset="0"/>
                              <a:cs typeface="Times New Roman" panose="02020603050405020304" pitchFamily="18" charset="0"/>
                            </a:rPr>
                          </m:ctrlPr>
                        </m:dPr>
                        <m:e>
                          <m:f>
                            <m:fPr>
                              <m:ctrlPr>
                                <a:rPr lang="en-US" sz="1800" i="1">
                                  <a:latin typeface="Cambria Math" panose="02040503050406030204" pitchFamily="18" charset="0"/>
                                  <a:cs typeface="Times New Roman" panose="02020603050405020304" pitchFamily="18" charset="0"/>
                                </a:rPr>
                              </m:ctrlPr>
                            </m:fPr>
                            <m:num>
                              <m:sSub>
                                <m:sSubPr>
                                  <m:ctrlPr>
                                    <a:rPr lang="en-US" sz="1800" i="1">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𝑅</m:t>
                                  </m:r>
                                </m:e>
                                <m:sub>
                                  <m:r>
                                    <a:rPr lang="en-US" sz="1800" i="1">
                                      <a:latin typeface="Cambria Math" panose="02040503050406030204" pitchFamily="18" charset="0"/>
                                      <a:cs typeface="Times New Roman" panose="02020603050405020304" pitchFamily="18" charset="0"/>
                                    </a:rPr>
                                    <m:t>𝑢</m:t>
                                  </m:r>
                                </m:sub>
                              </m:sSub>
                              <m:r>
                                <a:rPr lang="en-US" sz="1800" i="1">
                                  <a:latin typeface="Cambria Math" panose="02040503050406030204" pitchFamily="18" charset="0"/>
                                  <a:cs typeface="Times New Roman" panose="02020603050405020304" pitchFamily="18" charset="0"/>
                                </a:rPr>
                                <m:t>(</m:t>
                              </m:r>
                              <m:r>
                                <m:rPr>
                                  <m:sty m:val="p"/>
                                </m:rPr>
                                <a:rPr lang="en-US" sz="1800" i="1">
                                  <a:latin typeface="Cambria Math" panose="02040503050406030204" pitchFamily="18" charset="0"/>
                                  <a:cs typeface="Times New Roman" panose="02020603050405020304" pitchFamily="18" charset="0"/>
                                </a:rPr>
                                <m:t>t</m:t>
                              </m:r>
                              <m:r>
                                <a:rPr lang="en-US" sz="1800" i="1">
                                  <a:latin typeface="Cambria Math" panose="02040503050406030204" pitchFamily="18" charset="0"/>
                                  <a:cs typeface="Times New Roman" panose="02020603050405020304" pitchFamily="18" charset="0"/>
                                </a:rPr>
                                <m:t>)</m:t>
                              </m:r>
                            </m:num>
                            <m:den>
                              <m:sSub>
                                <m:sSubPr>
                                  <m:ctrlPr>
                                    <a:rPr lang="en-US" sz="1800" i="1">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𝐷</m:t>
                                  </m:r>
                                </m:e>
                                <m:sub>
                                  <m:r>
                                    <a:rPr lang="en-US" sz="1800" b="0" i="1" smtClean="0">
                                      <a:latin typeface="Cambria Math" panose="02040503050406030204" pitchFamily="18" charset="0"/>
                                      <a:cs typeface="Times New Roman" panose="02020603050405020304" pitchFamily="18" charset="0"/>
                                    </a:rPr>
                                    <m:t>𝑢</m:t>
                                  </m:r>
                                </m:sub>
                              </m:sSub>
                              <m:r>
                                <a:rPr lang="en-US" sz="1800" i="1">
                                  <a:latin typeface="Cambria Math" panose="02040503050406030204" pitchFamily="18" charset="0"/>
                                  <a:cs typeface="Times New Roman" panose="02020603050405020304" pitchFamily="18" charset="0"/>
                                </a:rPr>
                                <m:t>(</m:t>
                              </m:r>
                              <m:r>
                                <m:rPr>
                                  <m:sty m:val="p"/>
                                </m:rPr>
                                <a:rPr lang="en-US" sz="1800" i="1">
                                  <a:latin typeface="Cambria Math" panose="02040503050406030204" pitchFamily="18" charset="0"/>
                                  <a:cs typeface="Times New Roman" panose="02020603050405020304" pitchFamily="18" charset="0"/>
                                </a:rPr>
                                <m:t>t</m:t>
                              </m:r>
                              <m:r>
                                <a:rPr lang="en-US" sz="1800" i="1">
                                  <a:latin typeface="Cambria Math" panose="02040503050406030204" pitchFamily="18" charset="0"/>
                                  <a:cs typeface="Times New Roman" panose="02020603050405020304" pitchFamily="18" charset="0"/>
                                </a:rPr>
                                <m:t>)</m:t>
                              </m:r>
                            </m:den>
                          </m:f>
                          <m:r>
                            <a:rPr lang="en-US" sz="1800" b="0" i="1" smtClean="0">
                              <a:latin typeface="Cambria Math" panose="02040503050406030204" pitchFamily="18" charset="0"/>
                              <a:cs typeface="Times New Roman" panose="02020603050405020304" pitchFamily="18" charset="0"/>
                            </a:rPr>
                            <m:t>,1</m:t>
                          </m:r>
                        </m:e>
                      </m:d>
                    </m:oMath>
                  </m:oMathPara>
                </a14:m>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4" name="內容版面配置區 3">
                <a:extLst>
                  <a:ext uri="{FF2B5EF4-FFF2-40B4-BE49-F238E27FC236}">
                    <a16:creationId xmlns:a16="http://schemas.microsoft.com/office/drawing/2014/main" id="{80071D1E-A784-A1F0-7045-48822FADB85F}"/>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2409099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CFF49A4-66D9-2487-D5F4-B6060CDD089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8D1539C-F8BA-AB41-EA8F-8DF7F282E48C}"/>
              </a:ext>
            </a:extLst>
          </p:cNvPr>
          <p:cNvSpPr>
            <a:spLocks noGrp="1"/>
          </p:cNvSpPr>
          <p:nvPr>
            <p:ph type="title"/>
          </p:nvPr>
        </p:nvSpPr>
        <p:spPr/>
        <p:txBody>
          <a:bodyPr/>
          <a:lstStyle/>
          <a:p>
            <a:r>
              <a:rPr lang="en-US" altLang="zh-TW" b="1" dirty="0">
                <a:latin typeface="Times New Roman"/>
                <a:cs typeface="Times New Roman"/>
              </a:rPr>
              <a:t>System Model – </a:t>
            </a:r>
            <a:r>
              <a:rPr lang="vi-VN" sz="1800" dirty="0">
                <a:latin typeface="+mj-lt"/>
              </a:rPr>
              <a:t>Beam-Level EPFD</a:t>
            </a:r>
            <a:r>
              <a:rPr lang="en-US" sz="1800" dirty="0">
                <a:latin typeface="+mj-lt"/>
              </a:rPr>
              <a:t> </a:t>
            </a:r>
            <a:r>
              <a:rPr lang="en-US" sz="1800" dirty="0">
                <a:latin typeface="Times New Roman" panose="02020603050405020304" pitchFamily="18" charset="0"/>
                <a:cs typeface="Times New Roman" panose="02020603050405020304" pitchFamily="18" charset="0"/>
              </a:rPr>
              <a:t>Model</a:t>
            </a:r>
            <a:br>
              <a:rPr lang="vi-VN" sz="1800" b="1"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B720FFBD-3872-28D3-D7E1-F6E04C83EB7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42</a:t>
            </a:fld>
            <a:endParaRPr lang="en"/>
          </a:p>
        </p:txBody>
      </p:sp>
      <p:sp>
        <p:nvSpPr>
          <p:cNvPr id="4" name="內容版面配置區 3">
            <a:extLst>
              <a:ext uri="{FF2B5EF4-FFF2-40B4-BE49-F238E27FC236}">
                <a16:creationId xmlns:a16="http://schemas.microsoft.com/office/drawing/2014/main" id="{5DDA50E1-9F78-C4A0-2535-8CA0641AB751}"/>
              </a:ext>
            </a:extLst>
          </p:cNvPr>
          <p:cNvSpPr>
            <a:spLocks noGrp="1"/>
          </p:cNvSpPr>
          <p:nvPr>
            <p:ph idx="1"/>
          </p:nvPr>
        </p:nvSpPr>
        <p:spPr/>
        <p:txBody>
          <a:bodyPr/>
          <a:lstStyle/>
          <a:p>
            <a:pPr>
              <a:spcAft>
                <a:spcPts val="600"/>
              </a:spcAft>
            </a:pPr>
            <a:r>
              <a:rPr lang="en-US" sz="1800" dirty="0">
                <a:latin typeface="Times New Roman" panose="02020603050405020304" pitchFamily="18" charset="0"/>
                <a:cs typeface="Times New Roman" panose="02020603050405020304" pitchFamily="18" charset="0"/>
              </a:rPr>
              <a:t>EPFD is computed at the beam-level for each visible LEO satellite</a:t>
            </a: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a:p>
            <a:pPr>
              <a:spcAft>
                <a:spcPts val="600"/>
              </a:spcAft>
            </a:pPr>
            <a:r>
              <a:rPr lang="en-US" sz="1800" dirty="0">
                <a:latin typeface="Times New Roman" panose="02020603050405020304" pitchFamily="18" charset="0"/>
                <a:cs typeface="Times New Roman" panose="02020603050405020304" pitchFamily="18" charset="0"/>
              </a:rPr>
              <a:t>The GS receives the aggregate EPFD from all beams of all visible LEO satellites.</a:t>
            </a: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187199C5-CF01-235F-B41D-AC29CF0FEC5C}"/>
              </a:ext>
            </a:extLst>
          </p:cNvPr>
          <p:cNvPicPr>
            <a:picLocks noChangeAspect="1"/>
          </p:cNvPicPr>
          <p:nvPr/>
        </p:nvPicPr>
        <p:blipFill>
          <a:blip r:embed="rId3"/>
          <a:stretch>
            <a:fillRect/>
          </a:stretch>
        </p:blipFill>
        <p:spPr>
          <a:xfrm>
            <a:off x="2379261" y="1728929"/>
            <a:ext cx="4385477" cy="639423"/>
          </a:xfrm>
          <a:prstGeom prst="rect">
            <a:avLst/>
          </a:prstGeom>
        </p:spPr>
      </p:pic>
      <p:pic>
        <p:nvPicPr>
          <p:cNvPr id="8" name="圖片 7">
            <a:extLst>
              <a:ext uri="{FF2B5EF4-FFF2-40B4-BE49-F238E27FC236}">
                <a16:creationId xmlns:a16="http://schemas.microsoft.com/office/drawing/2014/main" id="{9B527504-5693-9D55-2F9D-A819989B3544}"/>
              </a:ext>
            </a:extLst>
          </p:cNvPr>
          <p:cNvPicPr>
            <a:picLocks noChangeAspect="1"/>
          </p:cNvPicPr>
          <p:nvPr/>
        </p:nvPicPr>
        <p:blipFill>
          <a:blip r:embed="rId4"/>
          <a:stretch>
            <a:fillRect/>
          </a:stretch>
        </p:blipFill>
        <p:spPr>
          <a:xfrm>
            <a:off x="2827382" y="2938400"/>
            <a:ext cx="3489234" cy="587709"/>
          </a:xfrm>
          <a:prstGeom prst="rect">
            <a:avLst/>
          </a:prstGeom>
        </p:spPr>
      </p:pic>
    </p:spTree>
    <p:extLst>
      <p:ext uri="{BB962C8B-B14F-4D97-AF65-F5344CB8AC3E}">
        <p14:creationId xmlns:p14="http://schemas.microsoft.com/office/powerpoint/2010/main" val="7318299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26FA6D-0D37-B347-2761-CDB48230A8FA}"/>
              </a:ext>
            </a:extLst>
          </p:cNvPr>
          <p:cNvSpPr>
            <a:spLocks noGrp="1"/>
          </p:cNvSpPr>
          <p:nvPr>
            <p:ph type="title"/>
          </p:nvPr>
        </p:nvSpPr>
        <p:spPr/>
        <p:txBody>
          <a:bodyPr/>
          <a:lstStyle/>
          <a:p>
            <a:r>
              <a:rPr lang="vi-VN" dirty="0">
                <a:latin typeface="+mj-lt"/>
              </a:rPr>
              <a:t>Problem Formulation</a:t>
            </a:r>
          </a:p>
        </p:txBody>
      </p:sp>
      <p:sp>
        <p:nvSpPr>
          <p:cNvPr id="3" name="投影片編號版面配置區 2">
            <a:extLst>
              <a:ext uri="{FF2B5EF4-FFF2-40B4-BE49-F238E27FC236}">
                <a16:creationId xmlns:a16="http://schemas.microsoft.com/office/drawing/2014/main" id="{8CD2DB02-824F-CA86-824C-73F5A09005D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43</a:t>
            </a:fld>
            <a:endParaRPr lang="en"/>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C57D0853-4357-3D77-85C4-6D25A72CF516}"/>
                  </a:ext>
                </a:extLst>
              </p:cNvPr>
              <p:cNvSpPr>
                <a:spLocks noGrp="1"/>
              </p:cNvSpPr>
              <p:nvPr>
                <p:ph idx="1"/>
              </p:nvPr>
            </p:nvSpPr>
            <p:spPr/>
            <p:txBody>
              <a:bodyPr/>
              <a:lstStyle/>
              <a:p>
                <a:r>
                  <a:rPr lang="vi-VN" sz="1800" dirty="0"/>
                  <a:t>Objective: maximize total user satisfaction</a:t>
                </a:r>
                <a:endParaRPr lang="en-US" sz="1800" dirty="0"/>
              </a:p>
              <a:p>
                <a:pPr marL="139700" indent="0">
                  <a:buNone/>
                </a:pPr>
                <a14:m>
                  <m:oMathPara xmlns:m="http://schemas.openxmlformats.org/officeDocument/2006/math">
                    <m:oMathParaPr>
                      <m:jc m:val="centerGroup"/>
                    </m:oMathParaPr>
                    <m:oMath xmlns:m="http://schemas.openxmlformats.org/officeDocument/2006/math">
                      <m:func>
                        <m:funcPr>
                          <m:ctrlPr>
                            <a:rPr lang="en-US" sz="1800" i="1" smtClean="0">
                              <a:latin typeface="Cambria Math" panose="02040503050406030204" pitchFamily="18" charset="0"/>
                            </a:rPr>
                          </m:ctrlPr>
                        </m:funcPr>
                        <m:fName>
                          <m:limLow>
                            <m:limLowPr>
                              <m:ctrlPr>
                                <a:rPr lang="en-US" sz="1800" i="1" smtClean="0">
                                  <a:latin typeface="Cambria Math" panose="02040503050406030204" pitchFamily="18" charset="0"/>
                                </a:rPr>
                              </m:ctrlPr>
                            </m:limLowPr>
                            <m:e>
                              <m:r>
                                <m:rPr>
                                  <m:sty m:val="p"/>
                                </m:rPr>
                                <a:rPr lang="en-US" sz="1800" i="0" smtClean="0">
                                  <a:latin typeface="Cambria Math" panose="02040503050406030204" pitchFamily="18" charset="0"/>
                                </a:rPr>
                                <m:t>max</m:t>
                              </m:r>
                            </m:e>
                            <m:lim>
                              <m:r>
                                <m:rPr>
                                  <m:sty m:val="p"/>
                                </m:rPr>
                                <a:rPr lang="en-US" sz="1800" b="0" i="1" smtClean="0">
                                  <a:latin typeface="Cambria Math" panose="02040503050406030204" pitchFamily="18" charset="0"/>
                                </a:rPr>
                                <m:t>x</m:t>
                              </m:r>
                              <m:r>
                                <a:rPr lang="en-US" sz="1800" b="0" i="1" smtClean="0">
                                  <a:latin typeface="Cambria Math" panose="02040503050406030204" pitchFamily="18" charset="0"/>
                                </a:rPr>
                                <m:t>(</m:t>
                              </m:r>
                              <m:r>
                                <m:rPr>
                                  <m:sty m:val="p"/>
                                </m:rPr>
                                <a:rPr lang="en-US" sz="1800" b="0" i="1" smtClean="0">
                                  <a:latin typeface="Cambria Math" panose="02040503050406030204" pitchFamily="18" charset="0"/>
                                </a:rPr>
                                <m:t>t</m:t>
                              </m:r>
                              <m:r>
                                <a:rPr lang="en-US" sz="1800" b="0" i="1" smtClean="0">
                                  <a:latin typeface="Cambria Math" panose="02040503050406030204" pitchFamily="18" charset="0"/>
                                </a:rPr>
                                <m:t>),</m:t>
                              </m:r>
                              <m:r>
                                <m:rPr>
                                  <m:sty m:val="p"/>
                                </m:rPr>
                                <a:rPr lang="en-US" sz="1800" b="0" i="1" smtClean="0">
                                  <a:latin typeface="Cambria Math" panose="02040503050406030204" pitchFamily="18" charset="0"/>
                                </a:rPr>
                                <m:t>P</m:t>
                              </m:r>
                              <m:r>
                                <a:rPr lang="en-US" sz="1800" b="0" i="1" smtClean="0">
                                  <a:latin typeface="Cambria Math" panose="02040503050406030204" pitchFamily="18" charset="0"/>
                                </a:rPr>
                                <m:t>(</m:t>
                              </m:r>
                              <m:r>
                                <m:rPr>
                                  <m:sty m:val="p"/>
                                </m:rPr>
                                <a:rPr lang="en-US" sz="1800" b="0" i="1" smtClean="0">
                                  <a:latin typeface="Cambria Math" panose="02040503050406030204" pitchFamily="18" charset="0"/>
                                </a:rPr>
                                <m:t>t</m:t>
                              </m:r>
                              <m:r>
                                <a:rPr lang="en-US" sz="1800" b="0" i="1" smtClean="0">
                                  <a:latin typeface="Cambria Math" panose="02040503050406030204" pitchFamily="18" charset="0"/>
                                </a:rPr>
                                <m:t>)</m:t>
                              </m:r>
                            </m:lim>
                          </m:limLow>
                        </m:fName>
                        <m:e>
                          <m:nary>
                            <m:naryPr>
                              <m:chr m:val="∑"/>
                              <m:supHide m:val="on"/>
                              <m:ctrlPr>
                                <a:rPr lang="en-US" sz="1800" i="1" smtClean="0">
                                  <a:latin typeface="Cambria Math" panose="02040503050406030204" pitchFamily="18" charset="0"/>
                                </a:rPr>
                              </m:ctrlPr>
                            </m:naryPr>
                            <m:sub>
                              <m:r>
                                <m:rPr>
                                  <m:brk m:alnAt="7"/>
                                </m:rPr>
                                <a:rPr lang="en-US" sz="1800" b="0" i="1" smtClean="0">
                                  <a:latin typeface="Cambria Math" panose="02040503050406030204" pitchFamily="18" charset="0"/>
                                </a:rPr>
                                <m:t>𝑢</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𝑈</m:t>
                              </m:r>
                              <m:r>
                                <a:rPr lang="en-US" sz="1800" b="0" i="1" smtClean="0">
                                  <a:latin typeface="Cambria Math" panose="02040503050406030204" pitchFamily="18" charset="0"/>
                                  <a:ea typeface="Cambria Math" panose="02040503050406030204" pitchFamily="18" charset="0"/>
                                </a:rPr>
                                <m:t>(</m:t>
                              </m:r>
                              <m:r>
                                <m:rPr>
                                  <m:sty m:val="p"/>
                                </m:rPr>
                                <a:rPr lang="en-US" sz="1800" b="0" i="1" smtClean="0">
                                  <a:latin typeface="Cambria Math" panose="02040503050406030204" pitchFamily="18" charset="0"/>
                                  <a:ea typeface="Cambria Math" panose="02040503050406030204" pitchFamily="18" charset="0"/>
                                </a:rPr>
                                <m:t>t</m:t>
                              </m:r>
                              <m:r>
                                <a:rPr lang="en-US" sz="1800" b="0" i="1" smtClean="0">
                                  <a:latin typeface="Cambria Math" panose="02040503050406030204" pitchFamily="18" charset="0"/>
                                  <a:ea typeface="Cambria Math" panose="02040503050406030204" pitchFamily="18" charset="0"/>
                                </a:rPr>
                                <m:t>)</m:t>
                              </m:r>
                            </m:sub>
                            <m:sup/>
                            <m:e>
                              <m:sSub>
                                <m:sSubPr>
                                  <m:ctrlPr>
                                    <a:rPr lang="en-US" sz="1800" i="1" smtClean="0">
                                      <a:latin typeface="Cambria Math" panose="02040503050406030204" pitchFamily="18" charset="0"/>
                                    </a:rPr>
                                  </m:ctrlPr>
                                </m:sSubPr>
                                <m:e>
                                  <m:r>
                                    <m:rPr>
                                      <m:sty m:val="p"/>
                                    </m:rPr>
                                    <a:rPr lang="en-US" sz="1800" b="0" i="1" smtClean="0">
                                      <a:latin typeface="Cambria Math" panose="02040503050406030204" pitchFamily="18" charset="0"/>
                                    </a:rPr>
                                    <m:t>sat</m:t>
                                  </m:r>
                                </m:e>
                                <m:sub>
                                  <m:r>
                                    <a:rPr lang="en-US" sz="1800" b="0" i="1" smtClean="0">
                                      <a:latin typeface="Cambria Math" panose="02040503050406030204" pitchFamily="18" charset="0"/>
                                    </a:rPr>
                                    <m:t>𝑢</m:t>
                                  </m:r>
                                </m:sub>
                              </m:sSub>
                              <m:r>
                                <a:rPr lang="en-US" sz="1800" b="0" i="1" smtClean="0">
                                  <a:latin typeface="Cambria Math" panose="02040503050406030204" pitchFamily="18" charset="0"/>
                                </a:rPr>
                                <m:t>(</m:t>
                              </m:r>
                              <m:r>
                                <m:rPr>
                                  <m:sty m:val="p"/>
                                </m:rPr>
                                <a:rPr lang="en-US" sz="1800" b="0" i="1" smtClean="0">
                                  <a:latin typeface="Cambria Math" panose="02040503050406030204" pitchFamily="18" charset="0"/>
                                </a:rPr>
                                <m:t>t</m:t>
                              </m:r>
                              <m:r>
                                <a:rPr lang="en-US" sz="1800" b="0" i="1" smtClean="0">
                                  <a:latin typeface="Cambria Math" panose="02040503050406030204" pitchFamily="18" charset="0"/>
                                </a:rPr>
                                <m:t>)</m:t>
                              </m:r>
                            </m:e>
                          </m:nary>
                        </m:e>
                      </m:func>
                    </m:oMath>
                  </m:oMathPara>
                </a14:m>
                <a:endParaRPr lang="en-US" sz="1800" dirty="0"/>
              </a:p>
              <a:p>
                <a:r>
                  <a:rPr lang="en-US" sz="1800" dirty="0"/>
                  <a:t>C</a:t>
                </a:r>
                <a:r>
                  <a:rPr lang="vi-VN" sz="1800" dirty="0"/>
                  <a:t>onstraints</a:t>
                </a:r>
                <a:r>
                  <a:rPr lang="en-US" sz="1800" dirty="0"/>
                  <a:t>:</a:t>
                </a:r>
              </a:p>
              <a:p>
                <a:endParaRPr lang="vi-VN" sz="1800" dirty="0"/>
              </a:p>
            </p:txBody>
          </p:sp>
        </mc:Choice>
        <mc:Fallback xmlns="">
          <p:sp>
            <p:nvSpPr>
              <p:cNvPr id="4" name="內容版面配置區 3">
                <a:extLst>
                  <a:ext uri="{FF2B5EF4-FFF2-40B4-BE49-F238E27FC236}">
                    <a16:creationId xmlns:a16="http://schemas.microsoft.com/office/drawing/2014/main" id="{C57D0853-4357-3D77-85C4-6D25A72CF516}"/>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vi-VN">
                    <a:noFill/>
                  </a:rPr>
                  <a:t> </a:t>
                </a:r>
              </a:p>
            </p:txBody>
          </p:sp>
        </mc:Fallback>
      </mc:AlternateContent>
      <p:pic>
        <p:nvPicPr>
          <p:cNvPr id="10" name="圖片 9">
            <a:extLst>
              <a:ext uri="{FF2B5EF4-FFF2-40B4-BE49-F238E27FC236}">
                <a16:creationId xmlns:a16="http://schemas.microsoft.com/office/drawing/2014/main" id="{9F9B147E-6CE3-ABC4-C61D-FE4BCBDDEDF2}"/>
              </a:ext>
            </a:extLst>
          </p:cNvPr>
          <p:cNvPicPr>
            <a:picLocks noChangeAspect="1"/>
          </p:cNvPicPr>
          <p:nvPr/>
        </p:nvPicPr>
        <p:blipFill>
          <a:blip r:embed="rId4"/>
          <a:stretch>
            <a:fillRect/>
          </a:stretch>
        </p:blipFill>
        <p:spPr>
          <a:xfrm>
            <a:off x="2759552" y="2742372"/>
            <a:ext cx="3322171" cy="2401128"/>
          </a:xfrm>
          <a:prstGeom prst="rect">
            <a:avLst/>
          </a:prstGeom>
        </p:spPr>
      </p:pic>
    </p:spTree>
    <p:extLst>
      <p:ext uri="{BB962C8B-B14F-4D97-AF65-F5344CB8AC3E}">
        <p14:creationId xmlns:p14="http://schemas.microsoft.com/office/powerpoint/2010/main" val="10760558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90D66C-FFF1-44EF-8689-4F567DF33F38}"/>
              </a:ext>
            </a:extLst>
          </p:cNvPr>
          <p:cNvSpPr>
            <a:spLocks noGrp="1"/>
          </p:cNvSpPr>
          <p:nvPr>
            <p:ph type="title"/>
          </p:nvPr>
        </p:nvSpPr>
        <p:spPr/>
        <p:txBody>
          <a:bodyPr/>
          <a:lstStyle/>
          <a:p>
            <a:r>
              <a:rPr lang="en-US" altLang="zh-TW" b="1" dirty="0">
                <a:latin typeface="Times New Roman"/>
                <a:cs typeface="Times New Roman"/>
              </a:rPr>
              <a:t>Method – </a:t>
            </a:r>
            <a:r>
              <a:rPr lang="en-US" altLang="zh-TW" sz="1800" b="1" dirty="0">
                <a:latin typeface="Times New Roman"/>
                <a:cs typeface="Times New Roman"/>
              </a:rPr>
              <a:t>Design Motivation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5E8BE453-84BF-4E0B-934D-08E738F814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44</a:t>
            </a:fld>
            <a:endParaRPr lang="en"/>
          </a:p>
        </p:txBody>
      </p:sp>
      <p:sp>
        <p:nvSpPr>
          <p:cNvPr id="4" name="內容版面配置區 3">
            <a:extLst>
              <a:ext uri="{FF2B5EF4-FFF2-40B4-BE49-F238E27FC236}">
                <a16:creationId xmlns:a16="http://schemas.microsoft.com/office/drawing/2014/main" id="{9BB56DD3-A529-49F7-93CF-A9AD108648FA}"/>
              </a:ext>
            </a:extLst>
          </p:cNvPr>
          <p:cNvSpPr>
            <a:spLocks noGrp="1"/>
          </p:cNvSpPr>
          <p:nvPr>
            <p:ph idx="1"/>
          </p:nvPr>
        </p:nvSpPr>
        <p:spPr>
          <a:xfrm>
            <a:off x="311700" y="1241630"/>
            <a:ext cx="8520600" cy="3416400"/>
          </a:xfrm>
        </p:spPr>
        <p:txBody>
          <a:bodyPr/>
          <a:lstStyle/>
          <a:p>
            <a:pPr>
              <a:spcAft>
                <a:spcPts val="600"/>
              </a:spcAft>
            </a:pPr>
            <a:r>
              <a:rPr lang="en-US" sz="1800" dirty="0"/>
              <a:t>Goal: improve overall user satisfaction under the EPFD limit.</a:t>
            </a:r>
          </a:p>
          <a:p>
            <a:pPr>
              <a:spcAft>
                <a:spcPts val="600"/>
              </a:spcAft>
            </a:pPr>
            <a:r>
              <a:rPr lang="en-US" sz="1800" dirty="0"/>
              <a:t>Proposed framework: </a:t>
            </a:r>
            <a:r>
              <a:rPr lang="en-US" sz="1800" b="1" dirty="0"/>
              <a:t>Safe-Beam Assisted Power-Release Relay (SAPR-R)</a:t>
            </a:r>
            <a:r>
              <a:rPr lang="en-US" sz="1800" dirty="0"/>
              <a:t>.</a:t>
            </a:r>
          </a:p>
          <a:p>
            <a:pPr>
              <a:spcAft>
                <a:spcPts val="600"/>
              </a:spcAft>
            </a:pPr>
            <a:r>
              <a:rPr lang="en-US" sz="1800" dirty="0"/>
              <a:t>Key idea: exploit predictable beam overlap so users affected by critical-beam shutdown can be served by nearby helper satellite beams.</a:t>
            </a: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0717617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ED92C63-819D-7B4D-F1AA-9835503559F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71518EC-152C-C669-2F43-388F9E7334D2}"/>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SAPR-R Overview</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E39C5DC2-49C3-5111-652B-A30933C0997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45</a:t>
            </a:fld>
            <a:endParaRPr lang="en"/>
          </a:p>
        </p:txBody>
      </p:sp>
      <p:sp>
        <p:nvSpPr>
          <p:cNvPr id="4" name="內容版面配置區 3">
            <a:extLst>
              <a:ext uri="{FF2B5EF4-FFF2-40B4-BE49-F238E27FC236}">
                <a16:creationId xmlns:a16="http://schemas.microsoft.com/office/drawing/2014/main" id="{158D11A1-047D-E193-65C0-2B853C12483D}"/>
              </a:ext>
            </a:extLst>
          </p:cNvPr>
          <p:cNvSpPr>
            <a:spLocks noGrp="1"/>
          </p:cNvSpPr>
          <p:nvPr>
            <p:ph idx="1"/>
          </p:nvPr>
        </p:nvSpPr>
        <p:spPr>
          <a:xfrm>
            <a:off x="311700" y="1241630"/>
            <a:ext cx="8520600" cy="3416400"/>
          </a:xfrm>
        </p:spPr>
        <p:txBody>
          <a:bodyPr/>
          <a:lstStyle/>
          <a:p>
            <a:pPr>
              <a:spcAft>
                <a:spcPts val="600"/>
              </a:spcAft>
            </a:pPr>
            <a:r>
              <a:rPr lang="en-US" sz="1800" b="1" dirty="0">
                <a:latin typeface="Times New Roman" panose="02020603050405020304" pitchFamily="18" charset="0"/>
                <a:cs typeface="Times New Roman" panose="02020603050405020304" pitchFamily="18" charset="0"/>
              </a:rPr>
              <a:t>Beam Relation Precomputation</a:t>
            </a:r>
            <a:r>
              <a:rPr lang="zh-TW" altLang="en-US" sz="1800"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predict the critical/helper satellite relationship and beam overlap.</a:t>
            </a:r>
          </a:p>
          <a:p>
            <a:pPr>
              <a:spcAft>
                <a:spcPts val="600"/>
              </a:spcAft>
            </a:pPr>
            <a:r>
              <a:rPr lang="en-US" sz="1800" b="1" dirty="0">
                <a:latin typeface="Times New Roman" panose="02020603050405020304" pitchFamily="18" charset="0"/>
                <a:cs typeface="Times New Roman" panose="02020603050405020304" pitchFamily="18" charset="0"/>
              </a:rPr>
              <a:t>Stage 1-1: Safe-Beam Assisted Power Release</a:t>
            </a:r>
            <a:r>
              <a:rPr lang="zh-TW" altLang="en-US" sz="1800" b="1" dirty="0">
                <a:latin typeface="Times New Roman" panose="02020603050405020304" pitchFamily="18" charset="0"/>
                <a:cs typeface="Times New Roman" panose="02020603050405020304" pitchFamily="18" charset="0"/>
              </a:rPr>
              <a:t> </a:t>
            </a:r>
            <a:r>
              <a:rPr lang="en-US" altLang="zh-TW" sz="1800" b="1" dirty="0">
                <a:latin typeface="Times New Roman" panose="02020603050405020304" pitchFamily="18" charset="0"/>
                <a:cs typeface="Times New Roman" panose="02020603050405020304" pitchFamily="18" charset="0"/>
              </a:rPr>
              <a:t>(SAHR)</a:t>
            </a:r>
            <a:r>
              <a:rPr lang="zh-TW" altLang="en-US" sz="1800"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use critical safe beams to release helper satellite power.</a:t>
            </a:r>
          </a:p>
          <a:p>
            <a:pPr>
              <a:spcAft>
                <a:spcPts val="600"/>
              </a:spcAft>
            </a:pPr>
            <a:r>
              <a:rPr lang="en-US" sz="1800" b="1" dirty="0">
                <a:latin typeface="Times New Roman" panose="02020603050405020304" pitchFamily="18" charset="0"/>
                <a:cs typeface="Times New Roman" panose="02020603050405020304" pitchFamily="18" charset="0"/>
              </a:rPr>
              <a:t>Stage 1-2: Helper Relay Beam Boosting</a:t>
            </a:r>
            <a:r>
              <a:rPr lang="zh-TW" altLang="en-US" sz="1800"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allocate released power to helper relay beams.</a:t>
            </a:r>
          </a:p>
          <a:p>
            <a:pPr>
              <a:spcAft>
                <a:spcPts val="600"/>
              </a:spcAft>
            </a:pPr>
            <a:r>
              <a:rPr lang="en-US" sz="1800" b="1" dirty="0">
                <a:latin typeface="Times New Roman" panose="02020603050405020304" pitchFamily="18" charset="0"/>
                <a:cs typeface="Times New Roman" panose="02020603050405020304" pitchFamily="18" charset="0"/>
              </a:rPr>
              <a:t>Stage 2: Beam-Pair Local Relay</a:t>
            </a:r>
            <a:r>
              <a:rPr lang="zh-TW" altLang="en-US" sz="1800" b="1" dirty="0">
                <a:latin typeface="Times New Roman" panose="02020603050405020304" pitchFamily="18" charset="0"/>
                <a:cs typeface="Times New Roman" panose="02020603050405020304" pitchFamily="18" charset="0"/>
              </a:rPr>
              <a:t> </a:t>
            </a:r>
            <a:r>
              <a:rPr lang="en-US" altLang="zh-TW" sz="1800" b="1" dirty="0">
                <a:latin typeface="Times New Roman" panose="02020603050405020304" pitchFamily="18" charset="0"/>
                <a:cs typeface="Times New Roman" panose="02020603050405020304" pitchFamily="18" charset="0"/>
              </a:rPr>
              <a:t>(BPLR)</a:t>
            </a:r>
            <a:r>
              <a:rPr lang="zh-TW" altLang="en-US" sz="1800"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relay closed-beam users to feasible helper relay beams.</a:t>
            </a: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1896544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02762B3-B449-EC99-D911-6E44E16DC9E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D687227-2DD0-F47D-B5E5-E2EF634583B0}"/>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Beam Relation Precomputation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918CB422-8050-9221-8322-0EECF8E65F9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46</a:t>
            </a:fld>
            <a:endParaRPr lang="en"/>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CA4A85B2-88FA-F019-82E1-C79E7B48DE49}"/>
                  </a:ext>
                </a:extLst>
              </p:cNvPr>
              <p:cNvSpPr>
                <a:spLocks noGrp="1"/>
              </p:cNvSpPr>
              <p:nvPr>
                <p:ph idx="1"/>
              </p:nvPr>
            </p:nvSpPr>
            <p:spPr>
              <a:xfrm>
                <a:off x="311700" y="1241630"/>
                <a:ext cx="8520600" cy="3416400"/>
              </a:xfrm>
            </p:spPr>
            <p:txBody>
              <a:bodyPr/>
              <a:lstStyle/>
              <a:p>
                <a:r>
                  <a:rPr lang="en-US" sz="1800" dirty="0">
                    <a:latin typeface="Times New Roman" panose="02020603050405020304" pitchFamily="18" charset="0"/>
                    <a:cs typeface="Times New Roman" panose="02020603050405020304" pitchFamily="18" charset="0"/>
                  </a:rPr>
                  <a:t>SAPR-R precomputes a beam relation record</a:t>
                </a:r>
                <a:r>
                  <a:rPr lang="ar-AE" sz="1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1800" i="1">
                            <a:latin typeface="Cambria Math" panose="02040503050406030204" pitchFamily="18" charset="0"/>
                          </a:rPr>
                        </m:ctrlPr>
                      </m:sSubPr>
                      <m:e>
                        <m:r>
                          <a:rPr lang="ar-AE" sz="1800">
                            <a:latin typeface="Cambria Math" panose="02040503050406030204" pitchFamily="18" charset="0"/>
                          </a:rPr>
                          <m:t>ℛ</m:t>
                        </m:r>
                      </m:e>
                      <m:sub>
                        <m:r>
                          <a:rPr lang="ar-AE" sz="1800" i="1">
                            <a:latin typeface="Cambria Math" panose="02040503050406030204" pitchFamily="18" charset="0"/>
                          </a:rPr>
                          <m:t>𝐵</m:t>
                        </m:r>
                      </m:sub>
                    </m:sSub>
                    <m:d>
                      <m:dPr>
                        <m:ctrlPr>
                          <a:rPr lang="ar-AE" sz="1800" i="1">
                            <a:latin typeface="Cambria Math" panose="02040503050406030204" pitchFamily="18" charset="0"/>
                          </a:rPr>
                        </m:ctrlPr>
                      </m:dPr>
                      <m:e>
                        <m:r>
                          <a:rPr lang="ar-AE" sz="1800" i="1">
                            <a:latin typeface="Cambria Math" panose="02040503050406030204" pitchFamily="18" charset="0"/>
                          </a:rPr>
                          <m:t>𝑡</m:t>
                        </m:r>
                      </m:e>
                    </m:d>
                  </m:oMath>
                </a14:m>
                <a:r>
                  <a:rPr lang="en-US" sz="1800" dirty="0">
                    <a:latin typeface="Times New Roman" panose="02020603050405020304" pitchFamily="18" charset="0"/>
                    <a:cs typeface="Times New Roman" panose="02020603050405020304" pitchFamily="18" charset="0"/>
                  </a:rPr>
                  <a:t>.</a:t>
                </a:r>
              </a:p>
              <a:p>
                <a14:m>
                  <m:oMath xmlns:m="http://schemas.openxmlformats.org/officeDocument/2006/math">
                    <m:sSub>
                      <m:sSubPr>
                        <m:ctrlPr>
                          <a:rPr lang="ar-AE" sz="1800" i="1">
                            <a:latin typeface="Cambria Math" panose="02040503050406030204" pitchFamily="18" charset="0"/>
                          </a:rPr>
                        </m:ctrlPr>
                      </m:sSubPr>
                      <m:e>
                        <m:r>
                          <a:rPr lang="ar-AE" sz="1800">
                            <a:latin typeface="Cambria Math" panose="02040503050406030204" pitchFamily="18" charset="0"/>
                          </a:rPr>
                          <m:t>ℛ</m:t>
                        </m:r>
                      </m:e>
                      <m:sub>
                        <m:r>
                          <a:rPr lang="ar-AE" sz="1800" i="1">
                            <a:latin typeface="Cambria Math" panose="02040503050406030204" pitchFamily="18" charset="0"/>
                          </a:rPr>
                          <m:t>𝐵</m:t>
                        </m:r>
                      </m:sub>
                    </m:sSub>
                    <m:d>
                      <m:dPr>
                        <m:ctrlPr>
                          <a:rPr lang="ar-AE" sz="1800" i="1">
                            <a:latin typeface="Cambria Math" panose="02040503050406030204" pitchFamily="18" charset="0"/>
                          </a:rPr>
                        </m:ctrlPr>
                      </m:dPr>
                      <m:e>
                        <m:r>
                          <a:rPr lang="ar-AE" sz="1800" i="1">
                            <a:latin typeface="Cambria Math" panose="02040503050406030204" pitchFamily="18" charset="0"/>
                          </a:rPr>
                          <m:t>𝑡</m:t>
                        </m:r>
                      </m:e>
                    </m:d>
                    <m:r>
                      <a:rPr lang="ar-AE" sz="1800">
                        <a:latin typeface="Cambria Math" panose="02040503050406030204" pitchFamily="18" charset="0"/>
                      </a:rPr>
                      <m:t>=</m:t>
                    </m:r>
                    <m:d>
                      <m:dPr>
                        <m:begChr m:val="{"/>
                        <m:endChr m:val="}"/>
                        <m:sepChr m:val=","/>
                        <m:ctrlPr>
                          <a:rPr lang="ar-AE" sz="1800" i="1">
                            <a:latin typeface="Cambria Math" panose="02040503050406030204" pitchFamily="18" charset="0"/>
                          </a:rPr>
                        </m:ctrlPr>
                      </m:dPr>
                      <m:e>
                        <m:sSup>
                          <m:sSupPr>
                            <m:ctrlPr>
                              <a:rPr lang="ar-AE" sz="1800" i="1">
                                <a:solidFill>
                                  <a:srgbClr val="FF0000"/>
                                </a:solidFill>
                                <a:latin typeface="Cambria Math" panose="02040503050406030204" pitchFamily="18" charset="0"/>
                              </a:rPr>
                            </m:ctrlPr>
                          </m:sSupPr>
                          <m:e>
                            <m:r>
                              <a:rPr lang="ar-AE" sz="1800" i="1">
                                <a:solidFill>
                                  <a:srgbClr val="FF0000"/>
                                </a:solidFill>
                                <a:latin typeface="Cambria Math" panose="02040503050406030204" pitchFamily="18" charset="0"/>
                              </a:rPr>
                              <m:t>𝑠</m:t>
                            </m:r>
                          </m:e>
                          <m:sup>
                            <m:r>
                              <m:rPr>
                                <m:sty m:val="p"/>
                              </m:rPr>
                              <a:rPr lang="en-US" altLang="zh-TW" sz="1800" i="1">
                                <a:solidFill>
                                  <a:srgbClr val="FF0000"/>
                                </a:solidFill>
                                <a:latin typeface="Cambria Math" panose="02040503050406030204" pitchFamily="18" charset="0"/>
                              </a:rPr>
                              <m:t>C</m:t>
                            </m:r>
                          </m:sup>
                        </m:sSup>
                        <m:d>
                          <m:dPr>
                            <m:ctrlPr>
                              <a:rPr lang="ar-AE" sz="1800" i="1">
                                <a:solidFill>
                                  <a:srgbClr val="FF0000"/>
                                </a:solidFill>
                                <a:latin typeface="Cambria Math" panose="02040503050406030204" pitchFamily="18" charset="0"/>
                              </a:rPr>
                            </m:ctrlPr>
                          </m:dPr>
                          <m:e>
                            <m:r>
                              <a:rPr lang="ar-AE" sz="1800" i="1">
                                <a:solidFill>
                                  <a:srgbClr val="FF0000"/>
                                </a:solidFill>
                                <a:latin typeface="Cambria Math" panose="02040503050406030204" pitchFamily="18" charset="0"/>
                              </a:rPr>
                              <m:t>𝑡</m:t>
                            </m:r>
                          </m:e>
                        </m:d>
                      </m:e>
                      <m:e>
                        <m:sSup>
                          <m:sSupPr>
                            <m:ctrlPr>
                              <a:rPr lang="ar-AE" sz="1800" i="1">
                                <a:solidFill>
                                  <a:srgbClr val="FF0000"/>
                                </a:solidFill>
                                <a:latin typeface="Cambria Math" panose="02040503050406030204" pitchFamily="18" charset="0"/>
                              </a:rPr>
                            </m:ctrlPr>
                          </m:sSupPr>
                          <m:e>
                            <m:r>
                              <a:rPr lang="ar-AE" sz="1800" i="1">
                                <a:solidFill>
                                  <a:srgbClr val="FF0000"/>
                                </a:solidFill>
                                <a:latin typeface="Cambria Math" panose="02040503050406030204" pitchFamily="18" charset="0"/>
                              </a:rPr>
                              <m:t>𝑠</m:t>
                            </m:r>
                          </m:e>
                          <m:sup>
                            <m:r>
                              <a:rPr lang="ar-AE" sz="1800" i="1">
                                <a:solidFill>
                                  <a:srgbClr val="FF0000"/>
                                </a:solidFill>
                                <a:latin typeface="Cambria Math" panose="02040503050406030204" pitchFamily="18" charset="0"/>
                              </a:rPr>
                              <m:t>𝑁</m:t>
                            </m:r>
                          </m:sup>
                        </m:sSup>
                        <m:d>
                          <m:dPr>
                            <m:ctrlPr>
                              <a:rPr lang="ar-AE" sz="1800" i="1">
                                <a:solidFill>
                                  <a:srgbClr val="FF0000"/>
                                </a:solidFill>
                                <a:latin typeface="Cambria Math" panose="02040503050406030204" pitchFamily="18" charset="0"/>
                              </a:rPr>
                            </m:ctrlPr>
                          </m:dPr>
                          <m:e>
                            <m:r>
                              <a:rPr lang="ar-AE" sz="1800" i="1">
                                <a:solidFill>
                                  <a:srgbClr val="FF0000"/>
                                </a:solidFill>
                                <a:latin typeface="Cambria Math" panose="02040503050406030204" pitchFamily="18" charset="0"/>
                              </a:rPr>
                              <m:t>𝑡</m:t>
                            </m:r>
                          </m:e>
                        </m:d>
                      </m:e>
                      <m:e>
                        <m:sSup>
                          <m:sSupPr>
                            <m:ctrlPr>
                              <a:rPr lang="ar-AE" sz="1800" i="1">
                                <a:solidFill>
                                  <a:srgbClr val="FF0000"/>
                                </a:solidFill>
                                <a:latin typeface="Cambria Math" panose="02040503050406030204" pitchFamily="18" charset="0"/>
                              </a:rPr>
                            </m:ctrlPr>
                          </m:sSupPr>
                          <m:e>
                            <m:r>
                              <a:rPr lang="ar-AE" sz="1800" i="1">
                                <a:solidFill>
                                  <a:srgbClr val="FF0000"/>
                                </a:solidFill>
                                <a:latin typeface="Cambria Math" panose="02040503050406030204" pitchFamily="18" charset="0"/>
                              </a:rPr>
                              <m:t>𝑠</m:t>
                            </m:r>
                          </m:e>
                          <m:sup>
                            <m:r>
                              <a:rPr lang="ar-AE" sz="1800" i="1">
                                <a:solidFill>
                                  <a:srgbClr val="FF0000"/>
                                </a:solidFill>
                                <a:latin typeface="Cambria Math" panose="02040503050406030204" pitchFamily="18" charset="0"/>
                              </a:rPr>
                              <m:t>𝑆</m:t>
                            </m:r>
                          </m:sup>
                        </m:sSup>
                        <m:d>
                          <m:dPr>
                            <m:ctrlPr>
                              <a:rPr lang="ar-AE" sz="1800" i="1">
                                <a:solidFill>
                                  <a:srgbClr val="FF0000"/>
                                </a:solidFill>
                                <a:latin typeface="Cambria Math" panose="02040503050406030204" pitchFamily="18" charset="0"/>
                              </a:rPr>
                            </m:ctrlPr>
                          </m:dPr>
                          <m:e>
                            <m:r>
                              <a:rPr lang="ar-AE" sz="1800" i="1">
                                <a:solidFill>
                                  <a:srgbClr val="FF0000"/>
                                </a:solidFill>
                                <a:latin typeface="Cambria Math" panose="02040503050406030204" pitchFamily="18" charset="0"/>
                              </a:rPr>
                              <m:t>𝑡</m:t>
                            </m:r>
                          </m:e>
                        </m:d>
                      </m:e>
                      <m:e>
                        <m:sSubSup>
                          <m:sSubSupPr>
                            <m:ctrlPr>
                              <a:rPr lang="ar-AE" sz="1800" i="1">
                                <a:solidFill>
                                  <a:srgbClr val="FF0000"/>
                                </a:solidFill>
                                <a:latin typeface="Cambria Math" panose="02040503050406030204" pitchFamily="18" charset="0"/>
                              </a:rPr>
                            </m:ctrlPr>
                          </m:sSubSupPr>
                          <m:e>
                            <m:r>
                              <a:rPr lang="ar-AE" sz="1800">
                                <a:solidFill>
                                  <a:srgbClr val="FF0000"/>
                                </a:solidFill>
                                <a:latin typeface="Cambria Math" panose="02040503050406030204" pitchFamily="18" charset="0"/>
                              </a:rPr>
                              <m:t>ℬ</m:t>
                            </m:r>
                          </m:e>
                          <m:sub>
                            <m:r>
                              <a:rPr lang="ar-AE" sz="1800" i="1">
                                <a:solidFill>
                                  <a:srgbClr val="FF0000"/>
                                </a:solidFill>
                                <a:latin typeface="Cambria Math" panose="02040503050406030204" pitchFamily="18" charset="0"/>
                              </a:rPr>
                              <m:t>𝑐</m:t>
                            </m:r>
                          </m:sub>
                          <m:sup>
                            <m:r>
                              <a:rPr lang="ar-AE" sz="1800" i="1">
                                <a:solidFill>
                                  <a:srgbClr val="FF0000"/>
                                </a:solidFill>
                                <a:latin typeface="Cambria Math" panose="02040503050406030204" pitchFamily="18" charset="0"/>
                              </a:rPr>
                              <m:t>𝑜𝑓𝑓</m:t>
                            </m:r>
                          </m:sup>
                        </m:sSubSup>
                        <m:d>
                          <m:dPr>
                            <m:ctrlPr>
                              <a:rPr lang="ar-AE" sz="1800" i="1">
                                <a:solidFill>
                                  <a:srgbClr val="FF0000"/>
                                </a:solidFill>
                                <a:latin typeface="Cambria Math" panose="02040503050406030204" pitchFamily="18" charset="0"/>
                              </a:rPr>
                            </m:ctrlPr>
                          </m:dPr>
                          <m:e>
                            <m:r>
                              <a:rPr lang="ar-AE" sz="1800" i="1">
                                <a:solidFill>
                                  <a:srgbClr val="FF0000"/>
                                </a:solidFill>
                                <a:latin typeface="Cambria Math" panose="02040503050406030204" pitchFamily="18" charset="0"/>
                              </a:rPr>
                              <m:t>𝑡</m:t>
                            </m:r>
                          </m:e>
                        </m:d>
                      </m:e>
                      <m:e>
                        <m:sSubSup>
                          <m:sSubSupPr>
                            <m:ctrlPr>
                              <a:rPr lang="ar-AE" sz="1800" i="1">
                                <a:solidFill>
                                  <a:srgbClr val="FF0000"/>
                                </a:solidFill>
                                <a:latin typeface="Cambria Math" panose="02040503050406030204" pitchFamily="18" charset="0"/>
                              </a:rPr>
                            </m:ctrlPr>
                          </m:sSubSupPr>
                          <m:e>
                            <m:r>
                              <a:rPr lang="ar-AE" sz="1800">
                                <a:solidFill>
                                  <a:srgbClr val="FF0000"/>
                                </a:solidFill>
                                <a:latin typeface="Cambria Math" panose="02040503050406030204" pitchFamily="18" charset="0"/>
                              </a:rPr>
                              <m:t>ℬ</m:t>
                            </m:r>
                          </m:e>
                          <m:sub>
                            <m:r>
                              <a:rPr lang="ar-AE" sz="1800" i="1">
                                <a:solidFill>
                                  <a:srgbClr val="FF0000"/>
                                </a:solidFill>
                                <a:latin typeface="Cambria Math" panose="02040503050406030204" pitchFamily="18" charset="0"/>
                              </a:rPr>
                              <m:t>𝑐</m:t>
                            </m:r>
                          </m:sub>
                          <m:sup>
                            <m:r>
                              <a:rPr lang="ar-AE" sz="1800" i="1">
                                <a:solidFill>
                                  <a:srgbClr val="FF0000"/>
                                </a:solidFill>
                                <a:latin typeface="Cambria Math" panose="02040503050406030204" pitchFamily="18" charset="0"/>
                              </a:rPr>
                              <m:t>𝑠𝑎𝑓𝑒</m:t>
                            </m:r>
                          </m:sup>
                        </m:sSubSup>
                        <m:d>
                          <m:dPr>
                            <m:ctrlPr>
                              <a:rPr lang="ar-AE" sz="1800" i="1">
                                <a:solidFill>
                                  <a:srgbClr val="FF0000"/>
                                </a:solidFill>
                                <a:latin typeface="Cambria Math" panose="02040503050406030204" pitchFamily="18" charset="0"/>
                              </a:rPr>
                            </m:ctrlPr>
                          </m:dPr>
                          <m:e>
                            <m:r>
                              <a:rPr lang="ar-AE" sz="1800" i="1">
                                <a:solidFill>
                                  <a:srgbClr val="FF0000"/>
                                </a:solidFill>
                                <a:latin typeface="Cambria Math" panose="02040503050406030204" pitchFamily="18" charset="0"/>
                              </a:rPr>
                              <m:t>𝑡</m:t>
                            </m:r>
                          </m:e>
                        </m:d>
                      </m:e>
                      <m:e>
                        <m:sSub>
                          <m:sSubPr>
                            <m:ctrlPr>
                              <a:rPr lang="ar-AE" sz="1800" i="1">
                                <a:latin typeface="Cambria Math" panose="02040503050406030204" pitchFamily="18" charset="0"/>
                              </a:rPr>
                            </m:ctrlPr>
                          </m:sSubPr>
                          <m:e>
                            <m:r>
                              <a:rPr lang="ar-AE" sz="1800">
                                <a:latin typeface="Cambria Math" panose="02040503050406030204" pitchFamily="18" charset="0"/>
                              </a:rPr>
                              <m:t>ℳ</m:t>
                            </m:r>
                          </m:e>
                          <m:sub>
                            <m:r>
                              <a:rPr lang="ar-AE" sz="1800" i="1">
                                <a:latin typeface="Cambria Math" panose="02040503050406030204" pitchFamily="18" charset="0"/>
                              </a:rPr>
                              <m:t>𝑠𝑎𝑓𝑒</m:t>
                            </m:r>
                            <m:r>
                              <a:rPr lang="ar-AE" sz="1800">
                                <a:latin typeface="Cambria Math" panose="02040503050406030204" pitchFamily="18" charset="0"/>
                              </a:rPr>
                              <m:t>→</m:t>
                            </m:r>
                            <m:r>
                              <a:rPr lang="ar-AE" sz="1800" i="1">
                                <a:latin typeface="Cambria Math" panose="02040503050406030204" pitchFamily="18" charset="0"/>
                              </a:rPr>
                              <m:t>𝑟𝑒𝑙</m:t>
                            </m:r>
                          </m:sub>
                        </m:sSub>
                        <m:d>
                          <m:dPr>
                            <m:ctrlPr>
                              <a:rPr lang="ar-AE" sz="1800" i="1">
                                <a:latin typeface="Cambria Math" panose="02040503050406030204" pitchFamily="18" charset="0"/>
                              </a:rPr>
                            </m:ctrlPr>
                          </m:dPr>
                          <m:e>
                            <m:r>
                              <a:rPr lang="ar-AE" sz="1800" i="1">
                                <a:latin typeface="Cambria Math" panose="02040503050406030204" pitchFamily="18" charset="0"/>
                              </a:rPr>
                              <m:t>𝑡</m:t>
                            </m:r>
                          </m:e>
                        </m:d>
                      </m:e>
                      <m:e>
                        <m:sSub>
                          <m:sSubPr>
                            <m:ctrlPr>
                              <a:rPr lang="ar-AE" sz="1800" i="1">
                                <a:latin typeface="Cambria Math" panose="02040503050406030204" pitchFamily="18" charset="0"/>
                              </a:rPr>
                            </m:ctrlPr>
                          </m:sSubPr>
                          <m:e>
                            <m:r>
                              <a:rPr lang="ar-AE" sz="1800">
                                <a:latin typeface="Cambria Math" panose="02040503050406030204" pitchFamily="18" charset="0"/>
                              </a:rPr>
                              <m:t>ℳ</m:t>
                            </m:r>
                          </m:e>
                          <m:sub>
                            <m:r>
                              <a:rPr lang="ar-AE" sz="1800" i="1">
                                <a:latin typeface="Cambria Math" panose="02040503050406030204" pitchFamily="18" charset="0"/>
                              </a:rPr>
                              <m:t>𝑜𝑓𝑓</m:t>
                            </m:r>
                            <m:r>
                              <a:rPr lang="ar-AE" sz="1800">
                                <a:latin typeface="Cambria Math" panose="02040503050406030204" pitchFamily="18" charset="0"/>
                              </a:rPr>
                              <m:t>→</m:t>
                            </m:r>
                            <m:r>
                              <a:rPr lang="ar-AE" sz="1800" i="1">
                                <a:latin typeface="Cambria Math" panose="02040503050406030204" pitchFamily="18" charset="0"/>
                              </a:rPr>
                              <m:t>𝑟𝑒𝑙𝑎𝑦</m:t>
                            </m:r>
                          </m:sub>
                        </m:sSub>
                        <m:d>
                          <m:dPr>
                            <m:ctrlPr>
                              <a:rPr lang="ar-AE" sz="1800" i="1">
                                <a:latin typeface="Cambria Math" panose="02040503050406030204" pitchFamily="18" charset="0"/>
                              </a:rPr>
                            </m:ctrlPr>
                          </m:dPr>
                          <m:e>
                            <m:r>
                              <a:rPr lang="ar-AE" sz="1800" i="1">
                                <a:latin typeface="Cambria Math" panose="02040503050406030204" pitchFamily="18" charset="0"/>
                              </a:rPr>
                              <m:t>𝑡</m:t>
                            </m:r>
                          </m:e>
                        </m:d>
                      </m:e>
                    </m:d>
                  </m:oMath>
                </a14:m>
                <a:endParaRPr lang="en-US" sz="1800" dirty="0"/>
              </a:p>
            </p:txBody>
          </p:sp>
        </mc:Choice>
        <mc:Fallback xmlns="">
          <p:sp>
            <p:nvSpPr>
              <p:cNvPr id="4" name="內容版面配置區 3">
                <a:extLst>
                  <a:ext uri="{FF2B5EF4-FFF2-40B4-BE49-F238E27FC236}">
                    <a16:creationId xmlns:a16="http://schemas.microsoft.com/office/drawing/2014/main" id="{CA4A85B2-88FA-F019-82E1-C79E7B48DE49}"/>
                  </a:ext>
                </a:extLst>
              </p:cNvPr>
              <p:cNvSpPr>
                <a:spLocks noGrp="1" noRot="1" noChangeAspect="1" noMove="1" noResize="1" noEditPoints="1" noAdjustHandles="1" noChangeArrowheads="1" noChangeShapeType="1" noTextEdit="1"/>
              </p:cNvSpPr>
              <p:nvPr>
                <p:ph idx="1"/>
              </p:nvPr>
            </p:nvSpPr>
            <p:spPr>
              <a:xfrm>
                <a:off x="311700" y="1241630"/>
                <a:ext cx="8520600" cy="3416400"/>
              </a:xfrm>
              <a:blipFill>
                <a:blip r:embed="rId3"/>
                <a:stretch>
                  <a:fillRect/>
                </a:stretch>
              </a:blipFill>
            </p:spPr>
            <p:txBody>
              <a:bodyPr/>
              <a:lstStyle/>
              <a:p>
                <a:r>
                  <a:rPr lang="vi-VN">
                    <a:noFill/>
                  </a:rPr>
                  <a:t> </a:t>
                </a:r>
              </a:p>
            </p:txBody>
          </p:sp>
        </mc:Fallback>
      </mc:AlternateContent>
      <p:pic>
        <p:nvPicPr>
          <p:cNvPr id="8" name="圖片 7">
            <a:extLst>
              <a:ext uri="{FF2B5EF4-FFF2-40B4-BE49-F238E27FC236}">
                <a16:creationId xmlns:a16="http://schemas.microsoft.com/office/drawing/2014/main" id="{B20AB80C-412D-BEC6-720D-2999A81B46F8}"/>
              </a:ext>
            </a:extLst>
          </p:cNvPr>
          <p:cNvPicPr>
            <a:picLocks noChangeAspect="1"/>
          </p:cNvPicPr>
          <p:nvPr/>
        </p:nvPicPr>
        <p:blipFill>
          <a:blip r:embed="rId4"/>
          <a:stretch>
            <a:fillRect/>
          </a:stretch>
        </p:blipFill>
        <p:spPr>
          <a:xfrm>
            <a:off x="733425" y="2193032"/>
            <a:ext cx="7677150" cy="2950468"/>
          </a:xfrm>
          <a:prstGeom prst="rect">
            <a:avLst/>
          </a:prstGeom>
        </p:spPr>
      </p:pic>
    </p:spTree>
    <p:extLst>
      <p:ext uri="{BB962C8B-B14F-4D97-AF65-F5344CB8AC3E}">
        <p14:creationId xmlns:p14="http://schemas.microsoft.com/office/powerpoint/2010/main" val="40419632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CE2229F-951E-CA1F-34ED-F2C17742386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EB415FA-BBEC-AD76-7FB3-51A487EEAD90}"/>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Beam Relation Precomputation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413051A5-6102-3B66-8D65-FE20234D5A9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47</a:t>
            </a:fld>
            <a:endParaRPr lang="en"/>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A58324A7-C7CD-5A23-F10B-13529378947A}"/>
                  </a:ext>
                </a:extLst>
              </p:cNvPr>
              <p:cNvSpPr>
                <a:spLocks noGrp="1"/>
              </p:cNvSpPr>
              <p:nvPr>
                <p:ph idx="1"/>
              </p:nvPr>
            </p:nvSpPr>
            <p:spPr>
              <a:xfrm>
                <a:off x="311700" y="1241630"/>
                <a:ext cx="8520600" cy="3416400"/>
              </a:xfrm>
            </p:spPr>
            <p:txBody>
              <a:bodyPr/>
              <a:lstStyle/>
              <a:p>
                <a14:m>
                  <m:oMath xmlns:m="http://schemas.openxmlformats.org/officeDocument/2006/math">
                    <m:sSub>
                      <m:sSubPr>
                        <m:ctrlPr>
                          <a:rPr lang="ar-AE" sz="1800" i="1">
                            <a:latin typeface="Cambria Math" panose="02040503050406030204" pitchFamily="18" charset="0"/>
                          </a:rPr>
                        </m:ctrlPr>
                      </m:sSubPr>
                      <m:e>
                        <m:r>
                          <a:rPr lang="ar-AE" sz="1800">
                            <a:latin typeface="Cambria Math" panose="02040503050406030204" pitchFamily="18" charset="0"/>
                          </a:rPr>
                          <m:t>ℛ</m:t>
                        </m:r>
                      </m:e>
                      <m:sub>
                        <m:r>
                          <a:rPr lang="ar-AE" sz="1800" i="1">
                            <a:latin typeface="Cambria Math" panose="02040503050406030204" pitchFamily="18" charset="0"/>
                          </a:rPr>
                          <m:t>𝐵</m:t>
                        </m:r>
                      </m:sub>
                    </m:sSub>
                    <m:d>
                      <m:dPr>
                        <m:ctrlPr>
                          <a:rPr lang="ar-AE" sz="1800" i="1">
                            <a:latin typeface="Cambria Math" panose="02040503050406030204" pitchFamily="18" charset="0"/>
                          </a:rPr>
                        </m:ctrlPr>
                      </m:dPr>
                      <m:e>
                        <m:r>
                          <a:rPr lang="ar-AE" sz="1800" i="1">
                            <a:latin typeface="Cambria Math" panose="02040503050406030204" pitchFamily="18" charset="0"/>
                          </a:rPr>
                          <m:t>𝑡</m:t>
                        </m:r>
                      </m:e>
                    </m:d>
                    <m:r>
                      <a:rPr lang="ar-AE" sz="1800">
                        <a:latin typeface="Cambria Math" panose="02040503050406030204" pitchFamily="18" charset="0"/>
                      </a:rPr>
                      <m:t>=</m:t>
                    </m:r>
                    <m:d>
                      <m:dPr>
                        <m:begChr m:val="{"/>
                        <m:endChr m:val="}"/>
                        <m:sepChr m:val=","/>
                        <m:ctrlPr>
                          <a:rPr lang="ar-AE" sz="1800" i="1" smtClean="0">
                            <a:solidFill>
                              <a:schemeClr val="bg2"/>
                            </a:solidFill>
                            <a:latin typeface="Cambria Math" panose="02040503050406030204" pitchFamily="18" charset="0"/>
                          </a:rPr>
                        </m:ctrlPr>
                      </m:dPr>
                      <m:e>
                        <m:sSup>
                          <m:sSupPr>
                            <m:ctrlPr>
                              <a:rPr lang="ar-AE" sz="1800" i="1">
                                <a:solidFill>
                                  <a:schemeClr val="bg2"/>
                                </a:solidFill>
                                <a:latin typeface="Cambria Math" panose="02040503050406030204" pitchFamily="18" charset="0"/>
                              </a:rPr>
                            </m:ctrlPr>
                          </m:sSupPr>
                          <m:e>
                            <m:r>
                              <a:rPr lang="ar-AE" sz="1800" i="1">
                                <a:solidFill>
                                  <a:schemeClr val="bg2"/>
                                </a:solidFill>
                                <a:latin typeface="Cambria Math" panose="02040503050406030204" pitchFamily="18" charset="0"/>
                              </a:rPr>
                              <m:t>𝑠</m:t>
                            </m:r>
                          </m:e>
                          <m:sup>
                            <m:r>
                              <m:rPr>
                                <m:sty m:val="p"/>
                              </m:rPr>
                              <a:rPr lang="en-US" altLang="zh-TW" sz="1800" i="1">
                                <a:solidFill>
                                  <a:schemeClr val="bg2"/>
                                </a:solidFill>
                                <a:latin typeface="Cambria Math" panose="02040503050406030204" pitchFamily="18" charset="0"/>
                              </a:rPr>
                              <m:t>C</m:t>
                            </m:r>
                          </m:sup>
                        </m:sSup>
                        <m:d>
                          <m:dPr>
                            <m:ctrlPr>
                              <a:rPr lang="ar-AE" sz="1800" i="1">
                                <a:solidFill>
                                  <a:schemeClr val="bg2"/>
                                </a:solidFill>
                                <a:latin typeface="Cambria Math" panose="02040503050406030204" pitchFamily="18" charset="0"/>
                              </a:rPr>
                            </m:ctrlPr>
                          </m:dPr>
                          <m:e>
                            <m:r>
                              <a:rPr lang="ar-AE" sz="1800" i="1">
                                <a:solidFill>
                                  <a:schemeClr val="bg2"/>
                                </a:solidFill>
                                <a:latin typeface="Cambria Math" panose="02040503050406030204" pitchFamily="18" charset="0"/>
                              </a:rPr>
                              <m:t>𝑡</m:t>
                            </m:r>
                          </m:e>
                        </m:d>
                      </m:e>
                      <m:e>
                        <m:sSup>
                          <m:sSupPr>
                            <m:ctrlPr>
                              <a:rPr lang="ar-AE" sz="1800" i="1">
                                <a:solidFill>
                                  <a:schemeClr val="bg2"/>
                                </a:solidFill>
                                <a:latin typeface="Cambria Math" panose="02040503050406030204" pitchFamily="18" charset="0"/>
                              </a:rPr>
                            </m:ctrlPr>
                          </m:sSupPr>
                          <m:e>
                            <m:r>
                              <a:rPr lang="ar-AE" sz="1800" i="1">
                                <a:solidFill>
                                  <a:schemeClr val="bg2"/>
                                </a:solidFill>
                                <a:latin typeface="Cambria Math" panose="02040503050406030204" pitchFamily="18" charset="0"/>
                              </a:rPr>
                              <m:t>𝑠</m:t>
                            </m:r>
                          </m:e>
                          <m:sup>
                            <m:r>
                              <a:rPr lang="ar-AE" sz="1800" i="1">
                                <a:solidFill>
                                  <a:schemeClr val="bg2"/>
                                </a:solidFill>
                                <a:latin typeface="Cambria Math" panose="02040503050406030204" pitchFamily="18" charset="0"/>
                              </a:rPr>
                              <m:t>𝑁</m:t>
                            </m:r>
                          </m:sup>
                        </m:sSup>
                        <m:d>
                          <m:dPr>
                            <m:ctrlPr>
                              <a:rPr lang="ar-AE" sz="1800" i="1">
                                <a:solidFill>
                                  <a:schemeClr val="bg2"/>
                                </a:solidFill>
                                <a:latin typeface="Cambria Math" panose="02040503050406030204" pitchFamily="18" charset="0"/>
                              </a:rPr>
                            </m:ctrlPr>
                          </m:dPr>
                          <m:e>
                            <m:r>
                              <a:rPr lang="ar-AE" sz="1800" i="1">
                                <a:solidFill>
                                  <a:schemeClr val="bg2"/>
                                </a:solidFill>
                                <a:latin typeface="Cambria Math" panose="02040503050406030204" pitchFamily="18" charset="0"/>
                              </a:rPr>
                              <m:t>𝑡</m:t>
                            </m:r>
                          </m:e>
                        </m:d>
                      </m:e>
                      <m:e>
                        <m:sSup>
                          <m:sSupPr>
                            <m:ctrlPr>
                              <a:rPr lang="ar-AE" sz="1800" i="1">
                                <a:solidFill>
                                  <a:schemeClr val="bg2"/>
                                </a:solidFill>
                                <a:latin typeface="Cambria Math" panose="02040503050406030204" pitchFamily="18" charset="0"/>
                              </a:rPr>
                            </m:ctrlPr>
                          </m:sSupPr>
                          <m:e>
                            <m:r>
                              <a:rPr lang="ar-AE" sz="1800" i="1">
                                <a:solidFill>
                                  <a:schemeClr val="bg2"/>
                                </a:solidFill>
                                <a:latin typeface="Cambria Math" panose="02040503050406030204" pitchFamily="18" charset="0"/>
                              </a:rPr>
                              <m:t>𝑠</m:t>
                            </m:r>
                          </m:e>
                          <m:sup>
                            <m:r>
                              <a:rPr lang="ar-AE" sz="1800" i="1">
                                <a:solidFill>
                                  <a:schemeClr val="bg2"/>
                                </a:solidFill>
                                <a:latin typeface="Cambria Math" panose="02040503050406030204" pitchFamily="18" charset="0"/>
                              </a:rPr>
                              <m:t>𝑆</m:t>
                            </m:r>
                          </m:sup>
                        </m:sSup>
                        <m:d>
                          <m:dPr>
                            <m:ctrlPr>
                              <a:rPr lang="ar-AE" sz="1800" i="1">
                                <a:solidFill>
                                  <a:schemeClr val="bg2"/>
                                </a:solidFill>
                                <a:latin typeface="Cambria Math" panose="02040503050406030204" pitchFamily="18" charset="0"/>
                              </a:rPr>
                            </m:ctrlPr>
                          </m:dPr>
                          <m:e>
                            <m:r>
                              <a:rPr lang="ar-AE" sz="1800" i="1">
                                <a:solidFill>
                                  <a:schemeClr val="bg2"/>
                                </a:solidFill>
                                <a:latin typeface="Cambria Math" panose="02040503050406030204" pitchFamily="18" charset="0"/>
                              </a:rPr>
                              <m:t>𝑡</m:t>
                            </m:r>
                          </m:e>
                        </m:d>
                      </m:e>
                      <m:e>
                        <m:sSubSup>
                          <m:sSubSupPr>
                            <m:ctrlPr>
                              <a:rPr lang="ar-AE" sz="1800" i="1">
                                <a:solidFill>
                                  <a:schemeClr val="bg2"/>
                                </a:solidFill>
                                <a:latin typeface="Cambria Math" panose="02040503050406030204" pitchFamily="18" charset="0"/>
                              </a:rPr>
                            </m:ctrlPr>
                          </m:sSubSupPr>
                          <m:e>
                            <m:r>
                              <a:rPr lang="ar-AE" sz="1800">
                                <a:solidFill>
                                  <a:schemeClr val="bg2"/>
                                </a:solidFill>
                                <a:latin typeface="Cambria Math" panose="02040503050406030204" pitchFamily="18" charset="0"/>
                              </a:rPr>
                              <m:t>ℬ</m:t>
                            </m:r>
                          </m:e>
                          <m:sub>
                            <m:r>
                              <a:rPr lang="ar-AE" sz="1800" i="1">
                                <a:solidFill>
                                  <a:schemeClr val="bg2"/>
                                </a:solidFill>
                                <a:latin typeface="Cambria Math" panose="02040503050406030204" pitchFamily="18" charset="0"/>
                              </a:rPr>
                              <m:t>𝑐</m:t>
                            </m:r>
                          </m:sub>
                          <m:sup>
                            <m:r>
                              <a:rPr lang="ar-AE" sz="1800" i="1">
                                <a:solidFill>
                                  <a:schemeClr val="bg2"/>
                                </a:solidFill>
                                <a:latin typeface="Cambria Math" panose="02040503050406030204" pitchFamily="18" charset="0"/>
                              </a:rPr>
                              <m:t>𝑜𝑓𝑓</m:t>
                            </m:r>
                          </m:sup>
                        </m:sSubSup>
                        <m:d>
                          <m:dPr>
                            <m:ctrlPr>
                              <a:rPr lang="ar-AE" sz="1800" i="1">
                                <a:solidFill>
                                  <a:schemeClr val="bg2"/>
                                </a:solidFill>
                                <a:latin typeface="Cambria Math" panose="02040503050406030204" pitchFamily="18" charset="0"/>
                              </a:rPr>
                            </m:ctrlPr>
                          </m:dPr>
                          <m:e>
                            <m:r>
                              <a:rPr lang="ar-AE" sz="1800" i="1">
                                <a:solidFill>
                                  <a:schemeClr val="bg2"/>
                                </a:solidFill>
                                <a:latin typeface="Cambria Math" panose="02040503050406030204" pitchFamily="18" charset="0"/>
                              </a:rPr>
                              <m:t>𝑡</m:t>
                            </m:r>
                          </m:e>
                        </m:d>
                      </m:e>
                      <m:e>
                        <m:sSubSup>
                          <m:sSubSupPr>
                            <m:ctrlPr>
                              <a:rPr lang="ar-AE" sz="1800" i="1">
                                <a:solidFill>
                                  <a:schemeClr val="bg2"/>
                                </a:solidFill>
                                <a:latin typeface="Cambria Math" panose="02040503050406030204" pitchFamily="18" charset="0"/>
                              </a:rPr>
                            </m:ctrlPr>
                          </m:sSubSupPr>
                          <m:e>
                            <m:r>
                              <a:rPr lang="ar-AE" sz="1800">
                                <a:solidFill>
                                  <a:schemeClr val="bg2"/>
                                </a:solidFill>
                                <a:latin typeface="Cambria Math" panose="02040503050406030204" pitchFamily="18" charset="0"/>
                              </a:rPr>
                              <m:t>ℬ</m:t>
                            </m:r>
                          </m:e>
                          <m:sub>
                            <m:r>
                              <a:rPr lang="ar-AE" sz="1800" i="1">
                                <a:solidFill>
                                  <a:schemeClr val="bg2"/>
                                </a:solidFill>
                                <a:latin typeface="Cambria Math" panose="02040503050406030204" pitchFamily="18" charset="0"/>
                              </a:rPr>
                              <m:t>𝑐</m:t>
                            </m:r>
                          </m:sub>
                          <m:sup>
                            <m:r>
                              <a:rPr lang="ar-AE" sz="1800" i="1">
                                <a:solidFill>
                                  <a:schemeClr val="bg2"/>
                                </a:solidFill>
                                <a:latin typeface="Cambria Math" panose="02040503050406030204" pitchFamily="18" charset="0"/>
                              </a:rPr>
                              <m:t>𝑠𝑎𝑓𝑒</m:t>
                            </m:r>
                          </m:sup>
                        </m:sSubSup>
                        <m:d>
                          <m:dPr>
                            <m:ctrlPr>
                              <a:rPr lang="ar-AE" sz="1800" i="1">
                                <a:solidFill>
                                  <a:schemeClr val="bg2"/>
                                </a:solidFill>
                                <a:latin typeface="Cambria Math" panose="02040503050406030204" pitchFamily="18" charset="0"/>
                              </a:rPr>
                            </m:ctrlPr>
                          </m:dPr>
                          <m:e>
                            <m:r>
                              <a:rPr lang="ar-AE" sz="1800" i="1">
                                <a:solidFill>
                                  <a:schemeClr val="bg2"/>
                                </a:solidFill>
                                <a:latin typeface="Cambria Math" panose="02040503050406030204" pitchFamily="18" charset="0"/>
                              </a:rPr>
                              <m:t>𝑡</m:t>
                            </m:r>
                          </m:e>
                        </m:d>
                      </m:e>
                      <m:e>
                        <m:sSub>
                          <m:sSubPr>
                            <m:ctrlPr>
                              <a:rPr lang="ar-AE" sz="1800" i="1" smtClean="0">
                                <a:solidFill>
                                  <a:srgbClr val="C00000"/>
                                </a:solidFill>
                                <a:latin typeface="Cambria Math" panose="02040503050406030204" pitchFamily="18" charset="0"/>
                              </a:rPr>
                            </m:ctrlPr>
                          </m:sSubPr>
                          <m:e>
                            <m:r>
                              <a:rPr lang="ar-AE" sz="1800">
                                <a:solidFill>
                                  <a:srgbClr val="C00000"/>
                                </a:solidFill>
                                <a:latin typeface="Cambria Math" panose="02040503050406030204" pitchFamily="18" charset="0"/>
                              </a:rPr>
                              <m:t>ℳ</m:t>
                            </m:r>
                          </m:e>
                          <m:sub>
                            <m:r>
                              <a:rPr lang="ar-AE" sz="1800" i="1">
                                <a:solidFill>
                                  <a:srgbClr val="C00000"/>
                                </a:solidFill>
                                <a:latin typeface="Cambria Math" panose="02040503050406030204" pitchFamily="18" charset="0"/>
                              </a:rPr>
                              <m:t>𝑠𝑎𝑓𝑒</m:t>
                            </m:r>
                            <m:r>
                              <a:rPr lang="ar-AE" sz="1800">
                                <a:solidFill>
                                  <a:srgbClr val="C00000"/>
                                </a:solidFill>
                                <a:latin typeface="Cambria Math" panose="02040503050406030204" pitchFamily="18" charset="0"/>
                              </a:rPr>
                              <m:t>→</m:t>
                            </m:r>
                            <m:r>
                              <a:rPr lang="ar-AE" sz="1800" i="1">
                                <a:solidFill>
                                  <a:srgbClr val="C00000"/>
                                </a:solidFill>
                                <a:latin typeface="Cambria Math" panose="02040503050406030204" pitchFamily="18" charset="0"/>
                              </a:rPr>
                              <m:t>𝑟𝑒𝑙</m:t>
                            </m:r>
                          </m:sub>
                        </m:sSub>
                        <m:d>
                          <m:dPr>
                            <m:ctrlPr>
                              <a:rPr lang="ar-AE" sz="1800" i="1">
                                <a:solidFill>
                                  <a:srgbClr val="C00000"/>
                                </a:solidFill>
                                <a:latin typeface="Cambria Math" panose="02040503050406030204" pitchFamily="18" charset="0"/>
                              </a:rPr>
                            </m:ctrlPr>
                          </m:dPr>
                          <m:e>
                            <m:r>
                              <a:rPr lang="ar-AE" sz="1800" i="1">
                                <a:solidFill>
                                  <a:srgbClr val="C00000"/>
                                </a:solidFill>
                                <a:latin typeface="Cambria Math" panose="02040503050406030204" pitchFamily="18" charset="0"/>
                              </a:rPr>
                              <m:t>𝑡</m:t>
                            </m:r>
                          </m:e>
                        </m:d>
                      </m:e>
                      <m:e>
                        <m:sSub>
                          <m:sSubPr>
                            <m:ctrlPr>
                              <a:rPr lang="ar-AE" sz="1800" i="1" smtClean="0">
                                <a:solidFill>
                                  <a:srgbClr val="C00000"/>
                                </a:solidFill>
                                <a:latin typeface="Cambria Math" panose="02040503050406030204" pitchFamily="18" charset="0"/>
                              </a:rPr>
                            </m:ctrlPr>
                          </m:sSubPr>
                          <m:e>
                            <m:r>
                              <a:rPr lang="ar-AE" sz="1800">
                                <a:solidFill>
                                  <a:srgbClr val="C00000"/>
                                </a:solidFill>
                                <a:latin typeface="Cambria Math" panose="02040503050406030204" pitchFamily="18" charset="0"/>
                              </a:rPr>
                              <m:t>ℳ</m:t>
                            </m:r>
                          </m:e>
                          <m:sub>
                            <m:r>
                              <a:rPr lang="ar-AE" sz="1800" i="1">
                                <a:solidFill>
                                  <a:srgbClr val="C00000"/>
                                </a:solidFill>
                                <a:latin typeface="Cambria Math" panose="02040503050406030204" pitchFamily="18" charset="0"/>
                              </a:rPr>
                              <m:t>𝑜𝑓𝑓</m:t>
                            </m:r>
                            <m:r>
                              <a:rPr lang="ar-AE" sz="1800">
                                <a:solidFill>
                                  <a:srgbClr val="C00000"/>
                                </a:solidFill>
                                <a:latin typeface="Cambria Math" panose="02040503050406030204" pitchFamily="18" charset="0"/>
                              </a:rPr>
                              <m:t>→</m:t>
                            </m:r>
                            <m:r>
                              <a:rPr lang="ar-AE" sz="1800" i="1">
                                <a:solidFill>
                                  <a:srgbClr val="C00000"/>
                                </a:solidFill>
                                <a:latin typeface="Cambria Math" panose="02040503050406030204" pitchFamily="18" charset="0"/>
                              </a:rPr>
                              <m:t>𝑟𝑒𝑙𝑎𝑦</m:t>
                            </m:r>
                          </m:sub>
                        </m:sSub>
                        <m:d>
                          <m:dPr>
                            <m:ctrlPr>
                              <a:rPr lang="ar-AE" sz="1800" i="1">
                                <a:solidFill>
                                  <a:srgbClr val="C00000"/>
                                </a:solidFill>
                                <a:latin typeface="Cambria Math" panose="02040503050406030204" pitchFamily="18" charset="0"/>
                              </a:rPr>
                            </m:ctrlPr>
                          </m:dPr>
                          <m:e>
                            <m:r>
                              <a:rPr lang="ar-AE" sz="1800" i="1">
                                <a:solidFill>
                                  <a:srgbClr val="C00000"/>
                                </a:solidFill>
                                <a:latin typeface="Cambria Math" panose="02040503050406030204" pitchFamily="18" charset="0"/>
                              </a:rPr>
                              <m:t>𝑡</m:t>
                            </m:r>
                          </m:e>
                        </m:d>
                      </m:e>
                    </m:d>
                  </m:oMath>
                </a14:m>
                <a:endParaRPr lang="en-US" sz="1800" dirty="0">
                  <a:latin typeface="Times New Roman" panose="02020603050405020304" pitchFamily="18" charset="0"/>
                  <a:cs typeface="Times New Roman" panose="02020603050405020304" pitchFamily="18" charset="0"/>
                </a:endParaRPr>
              </a:p>
            </p:txBody>
          </p:sp>
        </mc:Choice>
        <mc:Fallback xmlns="">
          <p:sp>
            <p:nvSpPr>
              <p:cNvPr id="4" name="內容版面配置區 3">
                <a:extLst>
                  <a:ext uri="{FF2B5EF4-FFF2-40B4-BE49-F238E27FC236}">
                    <a16:creationId xmlns:a16="http://schemas.microsoft.com/office/drawing/2014/main" id="{A58324A7-C7CD-5A23-F10B-13529378947A}"/>
                  </a:ext>
                </a:extLst>
              </p:cNvPr>
              <p:cNvSpPr>
                <a:spLocks noGrp="1" noRot="1" noChangeAspect="1" noMove="1" noResize="1" noEditPoints="1" noAdjustHandles="1" noChangeArrowheads="1" noChangeShapeType="1" noTextEdit="1"/>
              </p:cNvSpPr>
              <p:nvPr>
                <p:ph idx="1"/>
              </p:nvPr>
            </p:nvSpPr>
            <p:spPr>
              <a:xfrm>
                <a:off x="311700" y="1241630"/>
                <a:ext cx="8520600" cy="3416400"/>
              </a:xfrm>
              <a:blipFill>
                <a:blip r:embed="rId3"/>
                <a:stretch>
                  <a:fillRect/>
                </a:stretch>
              </a:blipFill>
            </p:spPr>
            <p:txBody>
              <a:bodyPr/>
              <a:lstStyle/>
              <a:p>
                <a:r>
                  <a:rPr lang="vi-VN">
                    <a:noFill/>
                  </a:rPr>
                  <a:t> </a:t>
                </a:r>
              </a:p>
            </p:txBody>
          </p:sp>
        </mc:Fallback>
      </mc:AlternateContent>
      <p:pic>
        <p:nvPicPr>
          <p:cNvPr id="7" name="圖片 6">
            <a:extLst>
              <a:ext uri="{FF2B5EF4-FFF2-40B4-BE49-F238E27FC236}">
                <a16:creationId xmlns:a16="http://schemas.microsoft.com/office/drawing/2014/main" id="{E197A9A3-595B-B959-F4DC-1D245445F2AE}"/>
              </a:ext>
            </a:extLst>
          </p:cNvPr>
          <p:cNvPicPr>
            <a:picLocks noChangeAspect="1"/>
          </p:cNvPicPr>
          <p:nvPr/>
        </p:nvPicPr>
        <p:blipFill>
          <a:blip r:embed="rId4"/>
          <a:stretch>
            <a:fillRect/>
          </a:stretch>
        </p:blipFill>
        <p:spPr>
          <a:xfrm>
            <a:off x="895349" y="1899736"/>
            <a:ext cx="7379875" cy="3243764"/>
          </a:xfrm>
          <a:prstGeom prst="rect">
            <a:avLst/>
          </a:prstGeom>
        </p:spPr>
      </p:pic>
    </p:spTree>
    <p:extLst>
      <p:ext uri="{BB962C8B-B14F-4D97-AF65-F5344CB8AC3E}">
        <p14:creationId xmlns:p14="http://schemas.microsoft.com/office/powerpoint/2010/main" val="18072169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F15E69D-BF0E-EC88-6B0B-534AE0F3B41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6487FC2-CB0A-AB8E-7999-5131C67668B8}"/>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Method – </a:t>
            </a:r>
            <a:r>
              <a:rPr lang="vi-VN" sz="1800" dirty="0">
                <a:latin typeface="Times New Roman" panose="02020603050405020304" pitchFamily="18" charset="0"/>
                <a:cs typeface="Times New Roman" panose="02020603050405020304" pitchFamily="18" charset="0"/>
              </a:rPr>
              <a:t>Stage 1-1</a:t>
            </a:r>
            <a:r>
              <a:rPr lang="en-US" sz="1800" dirty="0">
                <a:latin typeface="Times New Roman" panose="02020603050405020304" pitchFamily="18" charset="0"/>
                <a:cs typeface="Times New Roman" panose="02020603050405020304" pitchFamily="18" charset="0"/>
              </a:rPr>
              <a:t> </a:t>
            </a:r>
            <a:r>
              <a:rPr lang="vi-VN" sz="1800" dirty="0">
                <a:latin typeface="Times New Roman" panose="02020603050405020304" pitchFamily="18" charset="0"/>
                <a:cs typeface="Times New Roman" panose="02020603050405020304" pitchFamily="18" charset="0"/>
              </a:rPr>
              <a:t>: Safe-Beam Assisted Power Release</a:t>
            </a:r>
            <a:r>
              <a:rPr lang="en-US" sz="1800" dirty="0">
                <a:latin typeface="Times New Roman" panose="02020603050405020304" pitchFamily="18" charset="0"/>
                <a:cs typeface="Times New Roman" panose="02020603050405020304" pitchFamily="18" charset="0"/>
              </a:rPr>
              <a:t> (SAHR)</a:t>
            </a:r>
            <a:br>
              <a:rPr lang="en-US" altLang="zh-TW" sz="1800" b="1" dirty="0">
                <a:latin typeface="Times New Roman" panose="02020603050405020304" pitchFamily="18" charset="0"/>
                <a:cs typeface="Times New Roman" panose="02020603050405020304" pitchFamily="18" charset="0"/>
              </a:rPr>
            </a:br>
            <a:endParaRPr lang="zh-TW" altLang="en-US" sz="1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272657DC-82E5-0370-60EF-5C1C1E2346C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48</a:t>
            </a:fld>
            <a:endParaRPr lang="en"/>
          </a:p>
        </p:txBody>
      </p:sp>
      <p:sp>
        <p:nvSpPr>
          <p:cNvPr id="4" name="內容版面配置區 3">
            <a:extLst>
              <a:ext uri="{FF2B5EF4-FFF2-40B4-BE49-F238E27FC236}">
                <a16:creationId xmlns:a16="http://schemas.microsoft.com/office/drawing/2014/main" id="{94B45C74-48B1-9C7B-2858-0E2E1514E97E}"/>
              </a:ext>
            </a:extLst>
          </p:cNvPr>
          <p:cNvSpPr>
            <a:spLocks noGrp="1"/>
          </p:cNvSpPr>
          <p:nvPr>
            <p:ph idx="1"/>
          </p:nvPr>
        </p:nvSpPr>
        <p:spPr>
          <a:xfrm>
            <a:off x="311700" y="1241630"/>
            <a:ext cx="3545926" cy="3416400"/>
          </a:xfrm>
        </p:spPr>
        <p:txBody>
          <a:bodyPr/>
          <a:lstStyle/>
          <a:p>
            <a:r>
              <a:rPr lang="en-US" sz="1800" dirty="0">
                <a:latin typeface="Times New Roman" panose="02020603050405020304" pitchFamily="18" charset="0"/>
                <a:cs typeface="Times New Roman" panose="02020603050405020304" pitchFamily="18" charset="0"/>
              </a:rPr>
              <a:t>The goal is to release available power from helper satellites for later relay.</a:t>
            </a:r>
          </a:p>
          <a:p>
            <a:r>
              <a:rPr lang="en-US" sz="1800" dirty="0">
                <a:latin typeface="Times New Roman" panose="02020603050405020304" pitchFamily="18" charset="0"/>
                <a:cs typeface="Times New Roman" panose="02020603050405020304" pitchFamily="18" charset="0"/>
              </a:rPr>
              <a:t>Safe-beam/helper-beam mappings are used to transfer selected helper users to critical safe beams.</a:t>
            </a:r>
          </a:p>
          <a:p>
            <a:r>
              <a:rPr lang="en-US" sz="1800" dirty="0">
                <a:latin typeface="Times New Roman" panose="02020603050405020304" pitchFamily="18" charset="0"/>
                <a:cs typeface="Times New Roman" panose="02020603050405020304" pitchFamily="18" charset="0"/>
              </a:rPr>
              <a:t>A transfer is accepted only if the satisfaction of both transferred helper users and original safe-beam users is not degraded.</a:t>
            </a:r>
          </a:p>
        </p:txBody>
      </p:sp>
      <p:pic>
        <p:nvPicPr>
          <p:cNvPr id="9" name="圖片 8">
            <a:extLst>
              <a:ext uri="{FF2B5EF4-FFF2-40B4-BE49-F238E27FC236}">
                <a16:creationId xmlns:a16="http://schemas.microsoft.com/office/drawing/2014/main" id="{67504244-3333-7A7E-9C93-EE3E5F2C50E0}"/>
              </a:ext>
            </a:extLst>
          </p:cNvPr>
          <p:cNvPicPr>
            <a:picLocks noChangeAspect="1"/>
          </p:cNvPicPr>
          <p:nvPr/>
        </p:nvPicPr>
        <p:blipFill>
          <a:blip r:embed="rId3"/>
          <a:stretch>
            <a:fillRect/>
          </a:stretch>
        </p:blipFill>
        <p:spPr>
          <a:xfrm>
            <a:off x="3857626" y="1469155"/>
            <a:ext cx="5286374" cy="2961349"/>
          </a:xfrm>
          <a:prstGeom prst="rect">
            <a:avLst/>
          </a:prstGeom>
        </p:spPr>
      </p:pic>
    </p:spTree>
    <p:extLst>
      <p:ext uri="{BB962C8B-B14F-4D97-AF65-F5344CB8AC3E}">
        <p14:creationId xmlns:p14="http://schemas.microsoft.com/office/powerpoint/2010/main" val="27994996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62DD85-F4F2-97E2-7602-7B1C9D7178C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5A59807-5BDD-3665-36F7-2C17A87D039B}"/>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Method – </a:t>
            </a:r>
            <a:r>
              <a:rPr lang="vi-VN" sz="1800" dirty="0">
                <a:latin typeface="Times New Roman" panose="02020603050405020304" pitchFamily="18" charset="0"/>
                <a:cs typeface="Times New Roman" panose="02020603050405020304" pitchFamily="18" charset="0"/>
              </a:rPr>
              <a:t>Stage 1-</a:t>
            </a:r>
            <a:r>
              <a:rPr lang="en-US" sz="1800" dirty="0">
                <a:latin typeface="Times New Roman" panose="02020603050405020304" pitchFamily="18" charset="0"/>
                <a:cs typeface="Times New Roman" panose="02020603050405020304" pitchFamily="18" charset="0"/>
              </a:rPr>
              <a:t>2 </a:t>
            </a:r>
            <a:r>
              <a:rPr lang="vi-V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Helper Relay Beam Boosting</a:t>
            </a:r>
            <a:r>
              <a:rPr lang="zh-TW" altLang="en-US" sz="1800" dirty="0">
                <a:latin typeface="Times New Roman" panose="02020603050405020304" pitchFamily="18" charset="0"/>
                <a:cs typeface="Times New Roman" panose="02020603050405020304" pitchFamily="18" charset="0"/>
              </a:rPr>
              <a:t> </a:t>
            </a:r>
            <a:br>
              <a:rPr lang="en-US" altLang="zh-TW" sz="1800" b="1" dirty="0">
                <a:latin typeface="Times New Roman" panose="02020603050405020304" pitchFamily="18" charset="0"/>
                <a:cs typeface="Times New Roman" panose="02020603050405020304" pitchFamily="18" charset="0"/>
              </a:rPr>
            </a:br>
            <a:endParaRPr lang="zh-TW" altLang="en-US" sz="1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F1BD9087-F817-1368-A2E0-46E796345D7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49</a:t>
            </a:fld>
            <a:endParaRPr lang="en"/>
          </a:p>
        </p:txBody>
      </p:sp>
      <p:sp>
        <p:nvSpPr>
          <p:cNvPr id="4" name="內容版面配置區 3">
            <a:extLst>
              <a:ext uri="{FF2B5EF4-FFF2-40B4-BE49-F238E27FC236}">
                <a16:creationId xmlns:a16="http://schemas.microsoft.com/office/drawing/2014/main" id="{246CBFE1-20B5-B788-BFB2-51DB4DB2D239}"/>
              </a:ext>
            </a:extLst>
          </p:cNvPr>
          <p:cNvSpPr>
            <a:spLocks noGrp="1"/>
          </p:cNvSpPr>
          <p:nvPr>
            <p:ph idx="1"/>
          </p:nvPr>
        </p:nvSpPr>
        <p:spPr>
          <a:xfrm>
            <a:off x="311699" y="1241630"/>
            <a:ext cx="8517975" cy="3416400"/>
          </a:xfrm>
        </p:spPr>
        <p:txBody>
          <a:bodyPr/>
          <a:lstStyle/>
          <a:p>
            <a:r>
              <a:rPr lang="en-US" sz="1800" dirty="0">
                <a:latin typeface="Times New Roman" panose="02020603050405020304" pitchFamily="18" charset="0"/>
                <a:cs typeface="Times New Roman" panose="02020603050405020304" pitchFamily="18" charset="0"/>
              </a:rPr>
              <a:t>Released helper power is allocated to helper relay beams.</a:t>
            </a:r>
          </a:p>
          <a:p>
            <a:r>
              <a:rPr lang="en-US" sz="1800" dirty="0">
                <a:latin typeface="Times New Roman" panose="02020603050405020304" pitchFamily="18" charset="0"/>
                <a:cs typeface="Times New Roman" panose="02020603050405020304" pitchFamily="18" charset="0"/>
              </a:rPr>
              <a:t>Helper relay beams are responsible for serving users under critical closed beams.</a:t>
            </a:r>
          </a:p>
          <a:p>
            <a:r>
              <a:rPr lang="en-US" sz="1800" dirty="0">
                <a:latin typeface="Times New Roman" panose="02020603050405020304" pitchFamily="18" charset="0"/>
                <a:cs typeface="Times New Roman" panose="02020603050405020304" pitchFamily="18" charset="0"/>
              </a:rPr>
              <a:t>Power boosting is limited by the beam maximum transmit power and the satellite total power budget.</a:t>
            </a:r>
          </a:p>
          <a:p>
            <a:r>
              <a:rPr lang="en-US" sz="1800" dirty="0">
                <a:latin typeface="Times New Roman" panose="02020603050405020304" pitchFamily="18" charset="0"/>
                <a:cs typeface="Times New Roman" panose="02020603050405020304" pitchFamily="18" charset="0"/>
              </a:rPr>
              <a:t>Relay beams with more users to be served are given higher priority.</a:t>
            </a:r>
          </a:p>
        </p:txBody>
      </p:sp>
    </p:spTree>
    <p:extLst>
      <p:ext uri="{BB962C8B-B14F-4D97-AF65-F5344CB8AC3E}">
        <p14:creationId xmlns:p14="http://schemas.microsoft.com/office/powerpoint/2010/main" val="16280579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39EA7AA-2E67-814B-9455-867DD954C08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21DFA57-9CA3-AAE2-C9AC-384063999F59}"/>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Stage </a:t>
            </a:r>
            <a:r>
              <a:rPr lang="en-US" sz="1800" dirty="0">
                <a:latin typeface="Times New Roman" panose="02020603050405020304" pitchFamily="18" charset="0"/>
                <a:cs typeface="Times New Roman" panose="02020603050405020304" pitchFamily="18" charset="0"/>
              </a:rPr>
              <a:t>2</a:t>
            </a:r>
            <a:r>
              <a:rPr lang="en-US" sz="1800" dirty="0">
                <a:latin typeface="+mj-lt"/>
              </a:rPr>
              <a:t> </a:t>
            </a:r>
            <a:r>
              <a:rPr lang="vi-VN" sz="1800" dirty="0">
                <a:latin typeface="+mj-lt"/>
              </a:rPr>
              <a:t>: </a:t>
            </a:r>
            <a:r>
              <a:rPr lang="en-US" sz="1800" dirty="0">
                <a:latin typeface="Times New Roman" panose="02020603050405020304" pitchFamily="18" charset="0"/>
                <a:cs typeface="Times New Roman" panose="02020603050405020304" pitchFamily="18" charset="0"/>
              </a:rPr>
              <a:t>Beam-Pair Local Relay (BPLR)</a:t>
            </a:r>
            <a:r>
              <a:rPr lang="zh-TW" altLang="en-US" sz="1800" dirty="0">
                <a:latin typeface="Times New Roman" panose="02020603050405020304" pitchFamily="18" charset="0"/>
                <a:cs typeface="Times New Roman" panose="02020603050405020304" pitchFamily="18" charset="0"/>
              </a:rPr>
              <a:t> </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F624CB0A-51ED-B365-4F5C-4A1890CE92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50</a:t>
            </a:fld>
            <a:endParaRPr lang="en"/>
          </a:p>
        </p:txBody>
      </p:sp>
      <p:sp>
        <p:nvSpPr>
          <p:cNvPr id="4" name="內容版面配置區 3">
            <a:extLst>
              <a:ext uri="{FF2B5EF4-FFF2-40B4-BE49-F238E27FC236}">
                <a16:creationId xmlns:a16="http://schemas.microsoft.com/office/drawing/2014/main" id="{240398F3-F09B-628C-1D0B-C0DEDDC53B43}"/>
              </a:ext>
            </a:extLst>
          </p:cNvPr>
          <p:cNvSpPr>
            <a:spLocks noGrp="1"/>
          </p:cNvSpPr>
          <p:nvPr>
            <p:ph idx="1"/>
          </p:nvPr>
        </p:nvSpPr>
        <p:spPr>
          <a:xfrm>
            <a:off x="311700" y="1241630"/>
            <a:ext cx="3545926" cy="3416400"/>
          </a:xfrm>
        </p:spPr>
        <p:txBody>
          <a:bodyPr/>
          <a:lstStyle/>
          <a:p>
            <a:r>
              <a:rPr lang="en-US" sz="1800" dirty="0">
                <a:latin typeface="Times New Roman" panose="02020603050405020304" pitchFamily="18" charset="0"/>
                <a:cs typeface="Times New Roman" panose="02020603050405020304" pitchFamily="18" charset="0"/>
              </a:rPr>
              <a:t>Closed-beam users are reassociated to their corresponding helper relay beams based on the precomputed mapping.</a:t>
            </a:r>
            <a:r>
              <a:rPr lang="en-US" sz="1800" dirty="0"/>
              <a:t> </a:t>
            </a:r>
          </a:p>
          <a:p>
            <a:r>
              <a:rPr lang="en-US" sz="1800" dirty="0">
                <a:latin typeface="Times New Roman" panose="02020603050405020304" pitchFamily="18" charset="0"/>
                <a:cs typeface="Times New Roman" panose="02020603050405020304" pitchFamily="18" charset="0"/>
              </a:rPr>
              <a:t>Since relay capacity is limited, not all users are forced to be relayed.</a:t>
            </a:r>
          </a:p>
          <a:p>
            <a:r>
              <a:rPr lang="en-US" sz="1800" dirty="0">
                <a:latin typeface="Times New Roman" panose="02020603050405020304" pitchFamily="18" charset="0"/>
                <a:cs typeface="Times New Roman" panose="02020603050405020304" pitchFamily="18" charset="0"/>
              </a:rPr>
              <a:t>Users are relayed sequentially according to relay link quality and remaining relay capacity.</a:t>
            </a:r>
          </a:p>
        </p:txBody>
      </p:sp>
      <p:pic>
        <p:nvPicPr>
          <p:cNvPr id="6" name="圖片 5">
            <a:extLst>
              <a:ext uri="{FF2B5EF4-FFF2-40B4-BE49-F238E27FC236}">
                <a16:creationId xmlns:a16="http://schemas.microsoft.com/office/drawing/2014/main" id="{5F28BA85-54D5-A064-6409-756709721B03}"/>
              </a:ext>
            </a:extLst>
          </p:cNvPr>
          <p:cNvPicPr>
            <a:picLocks noChangeAspect="1"/>
          </p:cNvPicPr>
          <p:nvPr/>
        </p:nvPicPr>
        <p:blipFill>
          <a:blip r:embed="rId3"/>
          <a:stretch>
            <a:fillRect/>
          </a:stretch>
        </p:blipFill>
        <p:spPr>
          <a:xfrm>
            <a:off x="3857626" y="1516629"/>
            <a:ext cx="5291062" cy="2866401"/>
          </a:xfrm>
          <a:prstGeom prst="rect">
            <a:avLst/>
          </a:prstGeom>
        </p:spPr>
      </p:pic>
    </p:spTree>
    <p:extLst>
      <p:ext uri="{BB962C8B-B14F-4D97-AF65-F5344CB8AC3E}">
        <p14:creationId xmlns:p14="http://schemas.microsoft.com/office/powerpoint/2010/main" val="2467848664"/>
      </p:ext>
    </p:extLst>
  </p:cSld>
  <p:clrMapOvr>
    <a:masterClrMapping/>
  </p:clrMapOvr>
</p:sld>
</file>

<file path=ppt/theme/theme1.xml><?xml version="1.0" encoding="utf-8"?>
<a:theme xmlns:a="http://schemas.openxmlformats.org/drawingml/2006/main" name="Earth's Atmosphere Class by Slidesgo">
  <a:themeElements>
    <a:clrScheme name="Simple Light">
      <a:dk1>
        <a:srgbClr val="FFFFFF"/>
      </a:dk1>
      <a:lt1>
        <a:srgbClr val="979797"/>
      </a:lt1>
      <a:dk2>
        <a:srgbClr val="000000"/>
      </a:dk2>
      <a:lt2>
        <a:srgbClr val="061A38"/>
      </a:lt2>
      <a:accent1>
        <a:srgbClr val="052E3A"/>
      </a:accent1>
      <a:accent2>
        <a:srgbClr val="0088D3"/>
      </a:accent2>
      <a:accent3>
        <a:srgbClr val="00C970"/>
      </a:accent3>
      <a:accent4>
        <a:srgbClr val="740FA3"/>
      </a:accent4>
      <a:accent5>
        <a:srgbClr val="FF3121"/>
      </a:accent5>
      <a:accent6>
        <a:srgbClr val="FF9000"/>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46890</TotalTime>
  <Words>7340</Words>
  <Application>Microsoft Office PowerPoint</Application>
  <PresentationFormat>如螢幕大小 (16:9)</PresentationFormat>
  <Paragraphs>625</Paragraphs>
  <Slides>50</Slides>
  <Notes>50</Notes>
  <HiddenSlides>18</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50</vt:i4>
      </vt:variant>
    </vt:vector>
  </HeadingPairs>
  <TitlesOfParts>
    <vt:vector size="59" baseType="lpstr">
      <vt:lpstr>Times New Roman</vt:lpstr>
      <vt:lpstr>Wingdings</vt:lpstr>
      <vt:lpstr>Barlow Light</vt:lpstr>
      <vt:lpstr>Anton</vt:lpstr>
      <vt:lpstr>Cambria Math</vt:lpstr>
      <vt:lpstr>Barlow</vt:lpstr>
      <vt:lpstr>Arial</vt:lpstr>
      <vt:lpstr>PMingLiU</vt:lpstr>
      <vt:lpstr>Earth's Atmosphere Class by Slidesgo</vt:lpstr>
      <vt:lpstr>EPFD-Aware Beam Reassociation for Service Recovery in Multi-Beam LEO Satellite Systems under NGSO–GSO Coexistence</vt:lpstr>
      <vt:lpstr>Outline</vt:lpstr>
      <vt:lpstr>Introduction - Motivation</vt:lpstr>
      <vt:lpstr>Introduction - NGSO–GSO Coexistence</vt:lpstr>
      <vt:lpstr>Related Work</vt:lpstr>
      <vt:lpstr>Related Work - Research Gap</vt:lpstr>
      <vt:lpstr>System Model – Network Scenario</vt:lpstr>
      <vt:lpstr>System Model – Beam Power Model</vt:lpstr>
      <vt:lpstr>System Model – User Reassociation Setting</vt:lpstr>
      <vt:lpstr>System Model – Satisfaction Model</vt:lpstr>
      <vt:lpstr>Method – Design Motivation </vt:lpstr>
      <vt:lpstr>Method – Time-Slot Beam Role Record </vt:lpstr>
      <vt:lpstr>Method – Time-Slot Beam Role Record </vt:lpstr>
      <vt:lpstr>Method – Time-Slot Beam Role Record </vt:lpstr>
      <vt:lpstr>Method – Safe-Beam Reassociation for Helper Users (SBR)  </vt:lpstr>
      <vt:lpstr>Method – Safe-Beam Reassociation for Helper Users (SBR)  </vt:lpstr>
      <vt:lpstr>Method – Safe-Beam Reassociation for Helper Users (SBR)  </vt:lpstr>
      <vt:lpstr>Method – Safe-Beam Reassociation for Helper Users (SBR)  </vt:lpstr>
      <vt:lpstr>Method – Released Power Allocation  </vt:lpstr>
      <vt:lpstr>Method – Safe-Beam Reassociation for Helper Users (SBR)  </vt:lpstr>
      <vt:lpstr>Method – Helper-Beam Reassociation for Closed-Beam Users (HBR)   </vt:lpstr>
      <vt:lpstr>Method – Helper-Beam Reassociation for Closed-Beam Users (HBR)   </vt:lpstr>
      <vt:lpstr>Method – Helper-Beam Reassociation for Closed-Beam Users (HBR)  </vt:lpstr>
      <vt:lpstr>Evaluation – Simulation Setup</vt:lpstr>
      <vt:lpstr>Evaluation – Four Strategy</vt:lpstr>
      <vt:lpstr>Evaluation – Agg EPFD and number of closed beams</vt:lpstr>
      <vt:lpstr>Evaluation – Average user satisfaction</vt:lpstr>
      <vt:lpstr>Evaluation – Number of relayed critical users</vt:lpstr>
      <vt:lpstr>Evaluation – Satisfaction CDF</vt:lpstr>
      <vt:lpstr>Evaluation – Different EPFD limit</vt:lpstr>
      <vt:lpstr>Conclusion</vt:lpstr>
      <vt:lpstr>PowerPoint 簡報</vt:lpstr>
      <vt:lpstr>Related Work – Progressive Pitch Strategy</vt:lpstr>
      <vt:lpstr>Related Work – Joint Power and Tilt Control</vt:lpstr>
      <vt:lpstr>Related Work – Beamforming</vt:lpstr>
      <vt:lpstr>System Model – Critical / Helper Satellites</vt:lpstr>
      <vt:lpstr>System Model – Relay Feasibility</vt:lpstr>
      <vt:lpstr>System Model – User Association and Beam Loading </vt:lpstr>
      <vt:lpstr>System Model – Beam Power and Beam Status </vt:lpstr>
      <vt:lpstr>System Model – User Service Model  </vt:lpstr>
      <vt:lpstr>System Model – User Service Model  </vt:lpstr>
      <vt:lpstr>System Model – Beam-Level EPFD Model  </vt:lpstr>
      <vt:lpstr>Problem Formulation</vt:lpstr>
      <vt:lpstr>Method – Design Motivation </vt:lpstr>
      <vt:lpstr>Method – SAPR-R Overview </vt:lpstr>
      <vt:lpstr>Method – Beam Relation Precomputation </vt:lpstr>
      <vt:lpstr>Method – Beam Relation Precomputation </vt:lpstr>
      <vt:lpstr>Method – Stage 1-1 : Safe-Beam Assisted Power Release (SAHR) </vt:lpstr>
      <vt:lpstr>Method – Stage 1-2 : Helper Relay Beam Boosting  </vt:lpstr>
      <vt:lpstr>Method – Stage 2 : Beam-Pair Local Relay (BPLR)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Laser Pointing Accuracy Based ISL Quality Estimation Algorithm</dc:title>
  <dc:creator>Bakery</dc:creator>
  <cp:lastModifiedBy>胡嘉祐 (113522011)</cp:lastModifiedBy>
  <cp:revision>358</cp:revision>
  <cp:lastPrinted>2025-07-21T14:11:13Z</cp:lastPrinted>
  <dcterms:modified xsi:type="dcterms:W3CDTF">2026-07-06T04:37:03Z</dcterms:modified>
</cp:coreProperties>
</file>